
<file path=[Content_Types].xml><?xml version="1.0" encoding="utf-8"?>
<Types xmlns="http://schemas.openxmlformats.org/package/2006/content-types">
  <Default Extension="fntdata" ContentType="application/x-fontdata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12192000"/>
  <p:embeddedFontLst>
    <p:embeddedFont>
      <p:font typeface="微软雅黑" panose="020B0503020204020204" pitchFamily="34" charset="-122"/>
      <p:regular r:id="rId28"/>
      <p:bold r:id="rId29"/>
    </p:embeddedFont>
    <p:embeddedFont>
      <p:font typeface="MiSans" panose="020B0604020202020204" charset="-122"/>
      <p:regular r:id="rId30"/>
    </p:embeddedFont>
    <p:embeddedFont>
      <p:font typeface="Liter" panose="020B0604020202020204" charset="0"/>
      <p:regular r:id="rId31"/>
    </p:embeddedFont>
    <p:embeddedFont>
      <p:font typeface="Quattrocento Sans" panose="020B0502050000020003" pitchFamily="34" charset="0"/>
      <p:regular r:id="rId32"/>
      <p:bold r:id="rId33"/>
    </p:embeddedFont>
    <p:embeddedFont>
      <p:font typeface="Sorts Mill Goudy" panose="020B0604020202020204" charset="0"/>
      <p:regular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5033" autoAdjust="0"/>
  </p:normalViewPr>
  <p:slideViewPr>
    <p:cSldViewPr snapToGrid="0" snapToObjects="1">
      <p:cViewPr>
        <p:scale>
          <a:sx n="79" d="100"/>
          <a:sy n="79" d="100"/>
        </p:scale>
        <p:origin x="821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63710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b11ffe30880a2b091d0f26250f232f05c59262ed.jpg"/>
          <p:cNvPicPr>
            <a:picLocks noChangeAspect="1"/>
          </p:cNvPicPr>
          <p:nvPr/>
        </p:nvPicPr>
        <p:blipFill>
          <a:blip r:embed="rId3">
            <a:alphaModFix amt="30000"/>
          </a:blip>
          <a:srcRect t="8574" b="8574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5" name="Text 2"/>
          <p:cNvSpPr/>
          <p:nvPr/>
        </p:nvSpPr>
        <p:spPr>
          <a:xfrm>
            <a:off x="609600" y="495300"/>
            <a:ext cx="259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ALPHA COLLEGE OF ENGINEERING</a:t>
            </a:r>
            <a:endParaRPr lang="en-US" sz="1600" dirty="0"/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0E694A9D-95F6-570F-ED92-E747AD306DA8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rtlCol="0">
            <a:normAutofit fontScale="75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  <a:defRPr/>
            </a:pPr>
            <a:br>
              <a:rPr lang="en-US" sz="27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7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7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Content Placeholder 8">
            <a:extLst>
              <a:ext uri="{FF2B5EF4-FFF2-40B4-BE49-F238E27FC236}">
                <a16:creationId xmlns:a16="http://schemas.microsoft.com/office/drawing/2014/main" id="{F39A8E69-07A3-AEC1-348E-1AFAE46FF7DC}"/>
              </a:ext>
            </a:extLst>
          </p:cNvPr>
          <p:cNvSpPr txBox="1">
            <a:spLocks/>
          </p:cNvSpPr>
          <p:nvPr/>
        </p:nvSpPr>
        <p:spPr>
          <a:xfrm>
            <a:off x="551384" y="4683949"/>
            <a:ext cx="4955776" cy="2062503"/>
          </a:xfrm>
          <a:prstGeom prst="rect">
            <a:avLst/>
          </a:prstGeom>
        </p:spPr>
        <p:txBody>
          <a:bodyPr>
            <a:normAutofit fontScale="62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supervisor,</a:t>
            </a:r>
          </a:p>
          <a:p>
            <a:pPr marL="0" indent="0">
              <a:buFont typeface="Arial" pitchFamily="34" charset="0"/>
              <a:buNone/>
            </a:pPr>
            <a:r>
              <a:rPr lang="en-US" sz="29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Ms.A.Deepa</a:t>
            </a:r>
            <a:endParaRPr lang="en-US" sz="29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itchFamily="34" charset="0"/>
              <a:buNone/>
            </a:pPr>
            <a:endParaRPr lang="en-US" sz="29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itchFamily="34" charset="0"/>
              <a:buNone/>
            </a:pPr>
            <a:r>
              <a:rPr lang="en-US" sz="3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Professor,</a:t>
            </a:r>
          </a:p>
          <a:p>
            <a:pPr marL="0" indent="0">
              <a:buFont typeface="Arial" pitchFamily="34" charset="0"/>
              <a:buNone/>
            </a:pPr>
            <a:r>
              <a:rPr lang="en-US" sz="3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</a:t>
            </a:r>
          </a:p>
          <a:p>
            <a:pPr marL="0" indent="0">
              <a:buFont typeface="Arial" pitchFamily="34" charset="0"/>
              <a:buNone/>
            </a:pPr>
            <a:r>
              <a:rPr lang="en-IN" sz="3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Alpha college of engineering</a:t>
            </a:r>
          </a:p>
        </p:txBody>
      </p:sp>
      <p:sp>
        <p:nvSpPr>
          <p:cNvPr id="33" name="Content Placeholder 9">
            <a:extLst>
              <a:ext uri="{FF2B5EF4-FFF2-40B4-BE49-F238E27FC236}">
                <a16:creationId xmlns:a16="http://schemas.microsoft.com/office/drawing/2014/main" id="{2854C584-E54B-2648-14F1-81511533B506}"/>
              </a:ext>
            </a:extLst>
          </p:cNvPr>
          <p:cNvSpPr txBox="1">
            <a:spLocks/>
          </p:cNvSpPr>
          <p:nvPr/>
        </p:nvSpPr>
        <p:spPr>
          <a:xfrm>
            <a:off x="8122596" y="4658971"/>
            <a:ext cx="3910518" cy="2062504"/>
          </a:xfrm>
          <a:prstGeom prst="rect">
            <a:avLst/>
          </a:prstGeom>
        </p:spPr>
        <p:txBody>
          <a:bodyPr>
            <a:normAutofit fontScale="55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 Name and Register Number</a:t>
            </a:r>
            <a:r>
              <a:rPr lang="en-US" dirty="0">
                <a:solidFill>
                  <a:schemeClr val="bg1"/>
                </a:solidFill>
              </a:rPr>
              <a:t>,</a:t>
            </a:r>
          </a:p>
          <a:p>
            <a:pPr marL="0" indent="0">
              <a:buFont typeface="Arial" pitchFamily="34" charset="0"/>
              <a:buNone/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Sureshraj J – (210122104901)</a:t>
            </a:r>
          </a:p>
          <a:p>
            <a:pPr marL="0" indent="0">
              <a:buFont typeface="Arial" pitchFamily="34" charset="0"/>
              <a:buNone/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Adithya Yadav  R – (210122104002)</a:t>
            </a:r>
          </a:p>
          <a:p>
            <a:pPr marL="0" indent="0">
              <a:buFont typeface="Arial" pitchFamily="34" charset="0"/>
              <a:buNone/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Hariharan – (210122104902)</a:t>
            </a:r>
          </a:p>
          <a:p>
            <a:pPr marL="0" indent="0">
              <a:buFont typeface="Arial" pitchFamily="34" charset="0"/>
              <a:buNone/>
            </a:pPr>
            <a:r>
              <a:rPr lang="en-US" sz="3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</a:t>
            </a:r>
          </a:p>
          <a:p>
            <a:pPr marL="0" indent="0">
              <a:buFont typeface="Arial" pitchFamily="34" charset="0"/>
              <a:buNone/>
            </a:pPr>
            <a:r>
              <a:rPr lang="en-IN" sz="3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Alpha college of engineering</a:t>
            </a:r>
          </a:p>
          <a:p>
            <a:pPr marL="0" indent="0">
              <a:buFont typeface="Arial" pitchFamily="34" charset="0"/>
              <a:buNone/>
            </a:pP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DB9A2308-D784-67C5-473C-86AD89C61F57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3A3DCE3C-4340-4758-88C7-48F10387E72A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  <p:pic>
        <p:nvPicPr>
          <p:cNvPr id="35" name="Picture 4" descr="Alpha College of Engineering - Wikipedia">
            <a:extLst>
              <a:ext uri="{FF2B5EF4-FFF2-40B4-BE49-F238E27FC236}">
                <a16:creationId xmlns:a16="http://schemas.microsoft.com/office/drawing/2014/main" id="{7DCA2C19-1A00-451E-E04D-0E491E2254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976" y="476672"/>
            <a:ext cx="1230686" cy="1249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B344E07D-CA94-9CC2-D837-AD0D17EC27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1415922"/>
              </p:ext>
            </p:extLst>
          </p:nvPr>
        </p:nvGraphicFramePr>
        <p:xfrm>
          <a:off x="1840286" y="476672"/>
          <a:ext cx="9414616" cy="155930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414616">
                  <a:extLst>
                    <a:ext uri="{9D8B030D-6E8A-4147-A177-3AD203B41FA5}">
                      <a16:colId xmlns:a16="http://schemas.microsoft.com/office/drawing/2014/main" val="2363940955"/>
                    </a:ext>
                  </a:extLst>
                </a:gridCol>
              </a:tblGrid>
              <a:tr h="1559308">
                <a:tc>
                  <a:txBody>
                    <a:bodyPr/>
                    <a:lstStyle/>
                    <a:p>
                      <a:pPr algn="ctr"/>
                      <a:r>
                        <a:rPr lang="en-GB" sz="40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ALPHA COLLEGE OF ENGINEERING</a:t>
                      </a:r>
                    </a:p>
                    <a:p>
                      <a:pPr algn="ctr"/>
                      <a:r>
                        <a:rPr lang="en-GB" sz="1400" b="1" i="0" kern="12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34, </a:t>
                      </a:r>
                      <a:r>
                        <a:rPr lang="en-GB" sz="1400" b="1" i="0" kern="1200" dirty="0" err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Udayavar</a:t>
                      </a:r>
                      <a:r>
                        <a:rPr lang="en-GB" sz="1400" b="1" i="0" kern="12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GB" sz="1400" b="1" i="0" kern="1200" dirty="0" err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Thirumazhisai</a:t>
                      </a:r>
                      <a:r>
                        <a:rPr lang="en-GB" sz="1400" b="1" i="0" kern="12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 Koil St, </a:t>
                      </a:r>
                      <a:r>
                        <a:rPr lang="en-GB" sz="1400" b="1" i="0" kern="1200" dirty="0" err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Poonamallee</a:t>
                      </a:r>
                      <a:r>
                        <a:rPr lang="en-GB" sz="1400" b="1" i="0" kern="12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 Chennai, Tamil Nadu 600124</a:t>
                      </a:r>
                    </a:p>
                    <a:p>
                      <a:pPr algn="ctr"/>
                      <a:endParaRPr lang="en-GB" sz="1400" b="1" i="0" kern="12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GB" sz="1400" b="1" i="0" kern="12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(Approved by AICTE and Affiliated to Anna University) </a:t>
                      </a:r>
                      <a:endParaRPr lang="en-GB" sz="14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2209701"/>
                  </a:ext>
                </a:extLst>
              </a:tr>
            </a:tbl>
          </a:graphicData>
        </a:graphic>
      </p:graphicFrame>
      <p:sp>
        <p:nvSpPr>
          <p:cNvPr id="37" name="TextBox 36">
            <a:extLst>
              <a:ext uri="{FF2B5EF4-FFF2-40B4-BE49-F238E27FC236}">
                <a16:creationId xmlns:a16="http://schemas.microsoft.com/office/drawing/2014/main" id="{A9C8D9DA-EB42-7EE1-4FD3-34220C082A64}"/>
              </a:ext>
            </a:extLst>
          </p:cNvPr>
          <p:cNvSpPr txBox="1"/>
          <p:nvPr/>
        </p:nvSpPr>
        <p:spPr>
          <a:xfrm>
            <a:off x="2714017" y="2048150"/>
            <a:ext cx="715955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QuantShield</a:t>
            </a:r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Financial Portfolio Optimization and Risk Forecasting System</a:t>
            </a:r>
            <a:endParaRPr lang="en-GB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GB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Review No: 03</a:t>
            </a:r>
          </a:p>
          <a:p>
            <a:pPr algn="ctr"/>
            <a:r>
              <a:rPr lang="en-GB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 : 24/02/2026</a:t>
            </a: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76200" y="0"/>
                </a:moveTo>
                <a:lnTo>
                  <a:pt x="533400" y="0"/>
                </a:lnTo>
                <a:cubicBezTo>
                  <a:pt x="575456" y="0"/>
                  <a:pt x="609600" y="34144"/>
                  <a:pt x="609600" y="76200"/>
                </a:cubicBezTo>
                <a:lnTo>
                  <a:pt x="609600" y="533400"/>
                </a:lnTo>
                <a:cubicBezTo>
                  <a:pt x="609600" y="575456"/>
                  <a:pt x="575456" y="609600"/>
                  <a:pt x="53340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0000"/>
          </a:solidFill>
          <a:ln/>
        </p:spPr>
      </p:sp>
      <p:sp>
        <p:nvSpPr>
          <p:cNvPr id="3" name="Text 1"/>
          <p:cNvSpPr/>
          <p:nvPr/>
        </p:nvSpPr>
        <p:spPr>
          <a:xfrm>
            <a:off x="537210" y="514350"/>
            <a:ext cx="4381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43000" y="400050"/>
            <a:ext cx="2238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C75B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590550"/>
            <a:ext cx="23431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Challenge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00050" y="1219200"/>
            <a:ext cx="5581650" cy="1466850"/>
          </a:xfrm>
          <a:custGeom>
            <a:avLst/>
            <a:gdLst/>
            <a:ahLst/>
            <a:cxnLst/>
            <a:rect l="l" t="t" r="r" b="b"/>
            <a:pathLst>
              <a:path w="5581650" h="1466850">
                <a:moveTo>
                  <a:pt x="38100" y="0"/>
                </a:moveTo>
                <a:lnTo>
                  <a:pt x="5505447" y="0"/>
                </a:lnTo>
                <a:cubicBezTo>
                  <a:pt x="5547505" y="0"/>
                  <a:pt x="5581650" y="34145"/>
                  <a:pt x="5581650" y="76203"/>
                </a:cubicBezTo>
                <a:lnTo>
                  <a:pt x="5581650" y="1390647"/>
                </a:lnTo>
                <a:cubicBezTo>
                  <a:pt x="5581650" y="1432705"/>
                  <a:pt x="5547505" y="1466850"/>
                  <a:pt x="5505447" y="1466850"/>
                </a:cubicBezTo>
                <a:lnTo>
                  <a:pt x="38100" y="1466850"/>
                </a:lnTo>
                <a:cubicBezTo>
                  <a:pt x="17072" y="1466850"/>
                  <a:pt x="0" y="1449778"/>
                  <a:pt x="0" y="1428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>
            <a:solidFill>
              <a:schemeClr val="tx1"/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00050" y="1219200"/>
            <a:ext cx="38100" cy="1466850"/>
          </a:xfrm>
          <a:custGeom>
            <a:avLst/>
            <a:gdLst/>
            <a:ahLst/>
            <a:cxnLst/>
            <a:rect l="l" t="t" r="r" b="b"/>
            <a:pathLst>
              <a:path w="38100" h="1466850">
                <a:moveTo>
                  <a:pt x="38100" y="0"/>
                </a:moveTo>
                <a:lnTo>
                  <a:pt x="38100" y="0"/>
                </a:lnTo>
                <a:lnTo>
                  <a:pt x="38100" y="1466850"/>
                </a:lnTo>
                <a:lnTo>
                  <a:pt x="38100" y="1466850"/>
                </a:lnTo>
                <a:cubicBezTo>
                  <a:pt x="17072" y="1466850"/>
                  <a:pt x="0" y="1449778"/>
                  <a:pt x="0" y="1428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8" name="Shape 6"/>
          <p:cNvSpPr/>
          <p:nvPr/>
        </p:nvSpPr>
        <p:spPr>
          <a:xfrm>
            <a:off x="581025" y="14478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20863" y="0"/>
                  <a:pt x="126891" y="3617"/>
                  <a:pt x="130016" y="9376"/>
                </a:cubicBezTo>
                <a:lnTo>
                  <a:pt x="226457" y="187970"/>
                </a:lnTo>
                <a:cubicBezTo>
                  <a:pt x="229448" y="193506"/>
                  <a:pt x="229314" y="200204"/>
                  <a:pt x="226100" y="205606"/>
                </a:cubicBezTo>
                <a:cubicBezTo>
                  <a:pt x="222885" y="211009"/>
                  <a:pt x="217036" y="214313"/>
                  <a:pt x="210741" y="214313"/>
                </a:cubicBezTo>
                <a:lnTo>
                  <a:pt x="17859" y="214313"/>
                </a:lnTo>
                <a:cubicBezTo>
                  <a:pt x="11564" y="214313"/>
                  <a:pt x="5760" y="211009"/>
                  <a:pt x="2500" y="205606"/>
                </a:cubicBezTo>
                <a:cubicBezTo>
                  <a:pt x="-759" y="200204"/>
                  <a:pt x="-848" y="193506"/>
                  <a:pt x="2143" y="187970"/>
                </a:cubicBezTo>
                <a:lnTo>
                  <a:pt x="98584" y="9376"/>
                </a:lnTo>
                <a:cubicBezTo>
                  <a:pt x="101709" y="3617"/>
                  <a:pt x="107737" y="0"/>
                  <a:pt x="114300" y="0"/>
                </a:cubicBezTo>
                <a:close/>
                <a:moveTo>
                  <a:pt x="114300" y="75009"/>
                </a:moveTo>
                <a:cubicBezTo>
                  <a:pt x="108362" y="75009"/>
                  <a:pt x="103584" y="79787"/>
                  <a:pt x="103584" y="85725"/>
                </a:cubicBezTo>
                <a:lnTo>
                  <a:pt x="103584" y="135731"/>
                </a:lnTo>
                <a:cubicBezTo>
                  <a:pt x="103584" y="141669"/>
                  <a:pt x="108362" y="146447"/>
                  <a:pt x="114300" y="146447"/>
                </a:cubicBezTo>
                <a:cubicBezTo>
                  <a:pt x="120238" y="146447"/>
                  <a:pt x="125016" y="141669"/>
                  <a:pt x="125016" y="135731"/>
                </a:cubicBezTo>
                <a:lnTo>
                  <a:pt x="125016" y="85725"/>
                </a:lnTo>
                <a:cubicBezTo>
                  <a:pt x="125016" y="79787"/>
                  <a:pt x="120238" y="75009"/>
                  <a:pt x="114300" y="75009"/>
                </a:cubicBezTo>
                <a:close/>
                <a:moveTo>
                  <a:pt x="126221" y="171450"/>
                </a:moveTo>
                <a:cubicBezTo>
                  <a:pt x="126492" y="167025"/>
                  <a:pt x="124286" y="162815"/>
                  <a:pt x="120492" y="160521"/>
                </a:cubicBezTo>
                <a:cubicBezTo>
                  <a:pt x="116699" y="158226"/>
                  <a:pt x="111946" y="158226"/>
                  <a:pt x="108152" y="160521"/>
                </a:cubicBezTo>
                <a:cubicBezTo>
                  <a:pt x="104359" y="162815"/>
                  <a:pt x="102152" y="167025"/>
                  <a:pt x="102424" y="171450"/>
                </a:cubicBezTo>
                <a:cubicBezTo>
                  <a:pt x="102152" y="175875"/>
                  <a:pt x="104359" y="180085"/>
                  <a:pt x="108152" y="182379"/>
                </a:cubicBezTo>
                <a:cubicBezTo>
                  <a:pt x="111946" y="184674"/>
                  <a:pt x="116699" y="184674"/>
                  <a:pt x="120492" y="182379"/>
                </a:cubicBezTo>
                <a:cubicBezTo>
                  <a:pt x="124286" y="180085"/>
                  <a:pt x="126492" y="175875"/>
                  <a:pt x="126221" y="171450"/>
                </a:cubicBez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9" name="Text 7"/>
          <p:cNvSpPr/>
          <p:nvPr/>
        </p:nvSpPr>
        <p:spPr>
          <a:xfrm>
            <a:off x="899160" y="1409700"/>
            <a:ext cx="4991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Complex Market Data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99160" y="1752600"/>
            <a:ext cx="49720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Retail investors face overwhelming complexity in financial markets. Traditional analysis tools present static, disconnected data that fails to capture real-time market dynamics and volatility patterns.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00050" y="2838450"/>
            <a:ext cx="5581650" cy="1466850"/>
          </a:xfrm>
          <a:custGeom>
            <a:avLst/>
            <a:gdLst/>
            <a:ahLst/>
            <a:cxnLst/>
            <a:rect l="l" t="t" r="r" b="b"/>
            <a:pathLst>
              <a:path w="5581650" h="1466850">
                <a:moveTo>
                  <a:pt x="38100" y="0"/>
                </a:moveTo>
                <a:lnTo>
                  <a:pt x="5505447" y="0"/>
                </a:lnTo>
                <a:cubicBezTo>
                  <a:pt x="5547505" y="0"/>
                  <a:pt x="5581650" y="34145"/>
                  <a:pt x="5581650" y="76203"/>
                </a:cubicBezTo>
                <a:lnTo>
                  <a:pt x="5581650" y="1390647"/>
                </a:lnTo>
                <a:cubicBezTo>
                  <a:pt x="5581650" y="1432705"/>
                  <a:pt x="5547505" y="1466850"/>
                  <a:pt x="5505447" y="1466850"/>
                </a:cubicBezTo>
                <a:lnTo>
                  <a:pt x="38100" y="1466850"/>
                </a:lnTo>
                <a:cubicBezTo>
                  <a:pt x="17072" y="1466850"/>
                  <a:pt x="0" y="1449778"/>
                  <a:pt x="0" y="1428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glow rad="63500">
              <a:schemeClr val="accent5">
                <a:satMod val="175000"/>
                <a:alpha val="40000"/>
              </a:schemeClr>
            </a:glow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00050" y="2838450"/>
            <a:ext cx="38100" cy="1466850"/>
          </a:xfrm>
          <a:custGeom>
            <a:avLst/>
            <a:gdLst/>
            <a:ahLst/>
            <a:cxnLst/>
            <a:rect l="l" t="t" r="r" b="b"/>
            <a:pathLst>
              <a:path w="38100" h="1466850">
                <a:moveTo>
                  <a:pt x="38100" y="0"/>
                </a:moveTo>
                <a:lnTo>
                  <a:pt x="38100" y="0"/>
                </a:lnTo>
                <a:lnTo>
                  <a:pt x="38100" y="1466850"/>
                </a:lnTo>
                <a:lnTo>
                  <a:pt x="38100" y="1466850"/>
                </a:lnTo>
                <a:cubicBezTo>
                  <a:pt x="17072" y="1466850"/>
                  <a:pt x="0" y="1449778"/>
                  <a:pt x="0" y="1428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90A4"/>
          </a:solidFill>
          <a:ln/>
        </p:spPr>
      </p:sp>
      <p:sp>
        <p:nvSpPr>
          <p:cNvPr id="13" name="Shape 11"/>
          <p:cNvSpPr/>
          <p:nvPr/>
        </p:nvSpPr>
        <p:spPr>
          <a:xfrm>
            <a:off x="581025" y="30670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9427" y="14288"/>
                </a:moveTo>
                <a:cubicBezTo>
                  <a:pt x="67151" y="14288"/>
                  <a:pt x="74697" y="15806"/>
                  <a:pt x="81707" y="18618"/>
                </a:cubicBezTo>
                <a:lnTo>
                  <a:pt x="106174" y="56659"/>
                </a:lnTo>
                <a:lnTo>
                  <a:pt x="72509" y="90324"/>
                </a:lnTo>
                <a:cubicBezTo>
                  <a:pt x="71839" y="90994"/>
                  <a:pt x="71438" y="91931"/>
                  <a:pt x="71482" y="92913"/>
                </a:cubicBezTo>
                <a:cubicBezTo>
                  <a:pt x="71527" y="93896"/>
                  <a:pt x="71929" y="94789"/>
                  <a:pt x="72643" y="95458"/>
                </a:cubicBezTo>
                <a:lnTo>
                  <a:pt x="122649" y="141893"/>
                </a:lnTo>
                <a:cubicBezTo>
                  <a:pt x="123944" y="143098"/>
                  <a:pt x="125953" y="143188"/>
                  <a:pt x="127337" y="142027"/>
                </a:cubicBezTo>
                <a:cubicBezTo>
                  <a:pt x="128721" y="140866"/>
                  <a:pt x="129034" y="138901"/>
                  <a:pt x="128096" y="137383"/>
                </a:cubicBezTo>
                <a:lnTo>
                  <a:pt x="101129" y="93583"/>
                </a:lnTo>
                <a:lnTo>
                  <a:pt x="141625" y="59829"/>
                </a:lnTo>
                <a:cubicBezTo>
                  <a:pt x="142786" y="58891"/>
                  <a:pt x="143188" y="57284"/>
                  <a:pt x="142696" y="55900"/>
                </a:cubicBezTo>
                <a:lnTo>
                  <a:pt x="132338" y="27057"/>
                </a:lnTo>
                <a:cubicBezTo>
                  <a:pt x="142696" y="18886"/>
                  <a:pt x="155644" y="14288"/>
                  <a:pt x="169173" y="14288"/>
                </a:cubicBezTo>
                <a:cubicBezTo>
                  <a:pt x="201990" y="14288"/>
                  <a:pt x="228600" y="40898"/>
                  <a:pt x="228600" y="73715"/>
                </a:cubicBezTo>
                <a:lnTo>
                  <a:pt x="228600" y="74875"/>
                </a:lnTo>
                <a:cubicBezTo>
                  <a:pt x="228600" y="124971"/>
                  <a:pt x="166137" y="183148"/>
                  <a:pt x="133543" y="208017"/>
                </a:cubicBezTo>
                <a:cubicBezTo>
                  <a:pt x="128007" y="212214"/>
                  <a:pt x="121221" y="214313"/>
                  <a:pt x="114300" y="214313"/>
                </a:cubicBezTo>
                <a:cubicBezTo>
                  <a:pt x="107379" y="214313"/>
                  <a:pt x="100548" y="212259"/>
                  <a:pt x="95057" y="208017"/>
                </a:cubicBezTo>
                <a:cubicBezTo>
                  <a:pt x="62463" y="183148"/>
                  <a:pt x="0" y="124971"/>
                  <a:pt x="0" y="74875"/>
                </a:cubicBezTo>
                <a:lnTo>
                  <a:pt x="0" y="73715"/>
                </a:lnTo>
                <a:cubicBezTo>
                  <a:pt x="0" y="40898"/>
                  <a:pt x="26610" y="14288"/>
                  <a:pt x="59427" y="14288"/>
                </a:cubicBezTo>
                <a:close/>
              </a:path>
            </a:pathLst>
          </a:custGeom>
          <a:solidFill>
            <a:srgbClr val="4A90A4"/>
          </a:solidFill>
          <a:ln/>
        </p:spPr>
      </p:sp>
      <p:sp>
        <p:nvSpPr>
          <p:cNvPr id="14" name="Text 12"/>
          <p:cNvSpPr/>
          <p:nvPr/>
        </p:nvSpPr>
        <p:spPr>
          <a:xfrm>
            <a:off x="899160" y="3028950"/>
            <a:ext cx="4991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Emotional Bias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99160" y="3371850"/>
            <a:ext cx="49720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Human traders suffer from cognitive biases—fear, greed, overconfidence—that lead to poor decision-making. Studies show emotional trading reduces returns by 20-30% annually.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00050" y="4457700"/>
            <a:ext cx="5581650" cy="1466850"/>
          </a:xfrm>
          <a:custGeom>
            <a:avLst/>
            <a:gdLst/>
            <a:ahLst/>
            <a:cxnLst/>
            <a:rect l="l" t="t" r="r" b="b"/>
            <a:pathLst>
              <a:path w="5581650" h="1466850">
                <a:moveTo>
                  <a:pt x="38100" y="0"/>
                </a:moveTo>
                <a:lnTo>
                  <a:pt x="5505447" y="0"/>
                </a:lnTo>
                <a:cubicBezTo>
                  <a:pt x="5547505" y="0"/>
                  <a:pt x="5581650" y="34145"/>
                  <a:pt x="5581650" y="76203"/>
                </a:cubicBezTo>
                <a:lnTo>
                  <a:pt x="5581650" y="1390647"/>
                </a:lnTo>
                <a:cubicBezTo>
                  <a:pt x="5581650" y="1432705"/>
                  <a:pt x="5547505" y="1466850"/>
                  <a:pt x="5505447" y="1466850"/>
                </a:cubicBezTo>
                <a:lnTo>
                  <a:pt x="38100" y="1466850"/>
                </a:lnTo>
                <a:cubicBezTo>
                  <a:pt x="17072" y="1466850"/>
                  <a:pt x="0" y="1449778"/>
                  <a:pt x="0" y="1428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glow rad="63500">
              <a:schemeClr val="accent5">
                <a:satMod val="175000"/>
                <a:alpha val="40000"/>
              </a:schemeClr>
            </a:glow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00050" y="4457700"/>
            <a:ext cx="38100" cy="1466850"/>
          </a:xfrm>
          <a:custGeom>
            <a:avLst/>
            <a:gdLst/>
            <a:ahLst/>
            <a:cxnLst/>
            <a:rect l="l" t="t" r="r" b="b"/>
            <a:pathLst>
              <a:path w="38100" h="1466850">
                <a:moveTo>
                  <a:pt x="38100" y="0"/>
                </a:moveTo>
                <a:lnTo>
                  <a:pt x="38100" y="0"/>
                </a:lnTo>
                <a:lnTo>
                  <a:pt x="38100" y="1466850"/>
                </a:lnTo>
                <a:lnTo>
                  <a:pt x="38100" y="1466850"/>
                </a:lnTo>
                <a:cubicBezTo>
                  <a:pt x="17072" y="1466850"/>
                  <a:pt x="0" y="1449778"/>
                  <a:pt x="0" y="1428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E3A5F"/>
          </a:solidFill>
          <a:ln/>
        </p:spPr>
      </p:sp>
      <p:sp>
        <p:nvSpPr>
          <p:cNvPr id="18" name="Shape 16"/>
          <p:cNvSpPr/>
          <p:nvPr/>
        </p:nvSpPr>
        <p:spPr>
          <a:xfrm>
            <a:off x="581025" y="46863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ubicBezTo>
                  <a:pt x="0" y="51216"/>
                  <a:pt x="51216" y="0"/>
                  <a:pt x="114300" y="0"/>
                </a:cubicBezTo>
                <a:close/>
                <a:moveTo>
                  <a:pt x="103584" y="53578"/>
                </a:moveTo>
                <a:lnTo>
                  <a:pt x="103584" y="114300"/>
                </a:lnTo>
                <a:cubicBezTo>
                  <a:pt x="103584" y="117872"/>
                  <a:pt x="105370" y="121221"/>
                  <a:pt x="108362" y="123230"/>
                </a:cubicBezTo>
                <a:lnTo>
                  <a:pt x="151224" y="151805"/>
                </a:lnTo>
                <a:cubicBezTo>
                  <a:pt x="156136" y="155109"/>
                  <a:pt x="162788" y="153769"/>
                  <a:pt x="166092" y="148813"/>
                </a:cubicBezTo>
                <a:cubicBezTo>
                  <a:pt x="169396" y="143857"/>
                  <a:pt x="168057" y="137249"/>
                  <a:pt x="163101" y="133945"/>
                </a:cubicBezTo>
                <a:lnTo>
                  <a:pt x="125016" y="108585"/>
                </a:lnTo>
                <a:lnTo>
                  <a:pt x="125016" y="53578"/>
                </a:lnTo>
                <a:cubicBezTo>
                  <a:pt x="125016" y="47640"/>
                  <a:pt x="120238" y="42863"/>
                  <a:pt x="114300" y="42863"/>
                </a:cubicBezTo>
                <a:cubicBezTo>
                  <a:pt x="108362" y="42863"/>
                  <a:pt x="103584" y="47640"/>
                  <a:pt x="103584" y="53578"/>
                </a:cubicBezTo>
                <a:close/>
              </a:path>
            </a:pathLst>
          </a:custGeom>
          <a:solidFill>
            <a:srgbClr val="1E3A5F"/>
          </a:solidFill>
          <a:ln/>
        </p:spPr>
      </p:sp>
      <p:sp>
        <p:nvSpPr>
          <p:cNvPr id="19" name="Text 17"/>
          <p:cNvSpPr/>
          <p:nvPr/>
        </p:nvSpPr>
        <p:spPr>
          <a:xfrm>
            <a:off x="899160" y="4648200"/>
            <a:ext cx="4991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Time Constraints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99160" y="4991100"/>
            <a:ext cx="49720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Manual monitoring of portfolios is time-intensive and impractical. Markets move 24/7, requiring constant vigilance that individual investors cannot sustain.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210300" y="1219200"/>
            <a:ext cx="5600700" cy="3514725"/>
          </a:xfrm>
          <a:custGeom>
            <a:avLst/>
            <a:gdLst/>
            <a:ahLst/>
            <a:cxnLst/>
            <a:rect l="l" t="t" r="r" b="b"/>
            <a:pathLst>
              <a:path w="5600700" h="3514725">
                <a:moveTo>
                  <a:pt x="76199" y="0"/>
                </a:moveTo>
                <a:lnTo>
                  <a:pt x="5524501" y="0"/>
                </a:lnTo>
                <a:cubicBezTo>
                  <a:pt x="5566584" y="0"/>
                  <a:pt x="5600700" y="34116"/>
                  <a:pt x="5600700" y="76199"/>
                </a:cubicBezTo>
                <a:lnTo>
                  <a:pt x="5600700" y="3438526"/>
                </a:lnTo>
                <a:cubicBezTo>
                  <a:pt x="5600700" y="3480609"/>
                  <a:pt x="5566584" y="3514725"/>
                  <a:pt x="5524501" y="3514725"/>
                </a:cubicBezTo>
                <a:lnTo>
                  <a:pt x="76199" y="3514725"/>
                </a:lnTo>
                <a:cubicBezTo>
                  <a:pt x="34116" y="3514725"/>
                  <a:pt x="0" y="3480609"/>
                  <a:pt x="0" y="3438526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E3A5F"/>
          </a:solidFill>
          <a:ln>
            <a:solidFill>
              <a:schemeClr val="tx1"/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</p:sp>
      <p:sp>
        <p:nvSpPr>
          <p:cNvPr id="22" name="Shape 20"/>
          <p:cNvSpPr/>
          <p:nvPr/>
        </p:nvSpPr>
        <p:spPr>
          <a:xfrm>
            <a:off x="6496050" y="1485781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23" name="Text 21"/>
          <p:cNvSpPr/>
          <p:nvPr/>
        </p:nvSpPr>
        <p:spPr>
          <a:xfrm>
            <a:off x="6724650" y="1447800"/>
            <a:ext cx="49720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Solution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38900" y="1904881"/>
            <a:ext cx="5229225" cy="1114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QuantShield bridges the gap between complex market data and retail investment safety through an </a:t>
            </a:r>
            <a:r>
              <a:rPr lang="en-US" sz="1350" b="1" dirty="0">
                <a:solidFill>
                  <a:srgbClr val="C75B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AI-driven financial intelligence terminal</a:t>
            </a:r>
            <a:r>
              <a:rPr lang="en-US" sz="135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that transforms static analysis into dynamic, risk-first decision-making.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438900" y="3171706"/>
            <a:ext cx="2514600" cy="609600"/>
          </a:xfrm>
          <a:custGeom>
            <a:avLst/>
            <a:gdLst/>
            <a:ahLst/>
            <a:cxnLst/>
            <a:rect l="l" t="t" r="r" b="b"/>
            <a:pathLst>
              <a:path w="2514600" h="609600">
                <a:moveTo>
                  <a:pt x="38100" y="0"/>
                </a:moveTo>
                <a:lnTo>
                  <a:pt x="2476500" y="0"/>
                </a:lnTo>
                <a:cubicBezTo>
                  <a:pt x="2497528" y="0"/>
                  <a:pt x="2514600" y="17072"/>
                  <a:pt x="2514600" y="38100"/>
                </a:cubicBezTo>
                <a:lnTo>
                  <a:pt x="2514600" y="571500"/>
                </a:lnTo>
                <a:cubicBezTo>
                  <a:pt x="2514600" y="592528"/>
                  <a:pt x="2497528" y="609600"/>
                  <a:pt x="2476500" y="609600"/>
                </a:cubicBez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5F1EB">
              <a:alpha val="10196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6553200" y="3286006"/>
            <a:ext cx="2352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A90A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553200" y="3476506"/>
            <a:ext cx="2352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Pipeline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9067800" y="3171706"/>
            <a:ext cx="2514600" cy="609600"/>
          </a:xfrm>
          <a:custGeom>
            <a:avLst/>
            <a:gdLst/>
            <a:ahLst/>
            <a:cxnLst/>
            <a:rect l="l" t="t" r="r" b="b"/>
            <a:pathLst>
              <a:path w="2514600" h="609600">
                <a:moveTo>
                  <a:pt x="38100" y="0"/>
                </a:moveTo>
                <a:lnTo>
                  <a:pt x="2476500" y="0"/>
                </a:lnTo>
                <a:cubicBezTo>
                  <a:pt x="2497528" y="0"/>
                  <a:pt x="2514600" y="17072"/>
                  <a:pt x="2514600" y="38100"/>
                </a:cubicBezTo>
                <a:lnTo>
                  <a:pt x="2514600" y="571500"/>
                </a:lnTo>
                <a:cubicBezTo>
                  <a:pt x="2514600" y="592528"/>
                  <a:pt x="2497528" y="609600"/>
                  <a:pt x="2476500" y="609600"/>
                </a:cubicBez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5F1EB">
              <a:alpha val="10196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9182100" y="3286006"/>
            <a:ext cx="2352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A90A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Autonomous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182100" y="3476506"/>
            <a:ext cx="2352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Risk Management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38900" y="3895606"/>
            <a:ext cx="2514600" cy="609600"/>
          </a:xfrm>
          <a:custGeom>
            <a:avLst/>
            <a:gdLst/>
            <a:ahLst/>
            <a:cxnLst/>
            <a:rect l="l" t="t" r="r" b="b"/>
            <a:pathLst>
              <a:path w="2514600" h="609600">
                <a:moveTo>
                  <a:pt x="38100" y="0"/>
                </a:moveTo>
                <a:lnTo>
                  <a:pt x="2476500" y="0"/>
                </a:lnTo>
                <a:cubicBezTo>
                  <a:pt x="2497528" y="0"/>
                  <a:pt x="2514600" y="17072"/>
                  <a:pt x="2514600" y="38100"/>
                </a:cubicBezTo>
                <a:lnTo>
                  <a:pt x="2514600" y="571500"/>
                </a:lnTo>
                <a:cubicBezTo>
                  <a:pt x="2514600" y="592528"/>
                  <a:pt x="2497528" y="609600"/>
                  <a:pt x="2476500" y="609600"/>
                </a:cubicBez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5F1EB">
              <a:alpha val="10196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6553200" y="4009906"/>
            <a:ext cx="2352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A90A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Predictive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553200" y="4200406"/>
            <a:ext cx="2352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Analytics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9067800" y="3895606"/>
            <a:ext cx="2514600" cy="609600"/>
          </a:xfrm>
          <a:custGeom>
            <a:avLst/>
            <a:gdLst/>
            <a:ahLst/>
            <a:cxnLst/>
            <a:rect l="l" t="t" r="r" b="b"/>
            <a:pathLst>
              <a:path w="2514600" h="609600">
                <a:moveTo>
                  <a:pt x="38100" y="0"/>
                </a:moveTo>
                <a:lnTo>
                  <a:pt x="2476500" y="0"/>
                </a:lnTo>
                <a:cubicBezTo>
                  <a:pt x="2497528" y="0"/>
                  <a:pt x="2514600" y="17072"/>
                  <a:pt x="2514600" y="38100"/>
                </a:cubicBezTo>
                <a:lnTo>
                  <a:pt x="2514600" y="571500"/>
                </a:lnTo>
                <a:cubicBezTo>
                  <a:pt x="2514600" y="592528"/>
                  <a:pt x="2497528" y="609600"/>
                  <a:pt x="2476500" y="609600"/>
                </a:cubicBez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5F1EB">
              <a:alpha val="10196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9182100" y="4009906"/>
            <a:ext cx="2352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A90A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Zero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9182100" y="4200406"/>
            <a:ext cx="2352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Emotional Bias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210300" y="4886206"/>
            <a:ext cx="5600700" cy="1828800"/>
          </a:xfrm>
          <a:custGeom>
            <a:avLst/>
            <a:gdLst/>
            <a:ahLst/>
            <a:cxnLst/>
            <a:rect l="l" t="t" r="r" b="b"/>
            <a:pathLst>
              <a:path w="5600700" h="1828800">
                <a:moveTo>
                  <a:pt x="76206" y="0"/>
                </a:moveTo>
                <a:lnTo>
                  <a:pt x="5524494" y="0"/>
                </a:lnTo>
                <a:cubicBezTo>
                  <a:pt x="5566581" y="0"/>
                  <a:pt x="5600700" y="34119"/>
                  <a:pt x="5600700" y="76206"/>
                </a:cubicBezTo>
                <a:lnTo>
                  <a:pt x="5600700" y="1752594"/>
                </a:lnTo>
                <a:cubicBezTo>
                  <a:pt x="5600700" y="1794681"/>
                  <a:pt x="5566581" y="1828800"/>
                  <a:pt x="5524494" y="1828800"/>
                </a:cubicBezTo>
                <a:lnTo>
                  <a:pt x="76206" y="1828800"/>
                </a:lnTo>
                <a:cubicBezTo>
                  <a:pt x="34119" y="1828800"/>
                  <a:pt x="0" y="1794681"/>
                  <a:pt x="0" y="1752594"/>
                </a:cubicBezTo>
                <a:lnTo>
                  <a:pt x="0" y="76206"/>
                </a:lnTo>
                <a:cubicBezTo>
                  <a:pt x="0" y="34147"/>
                  <a:pt x="34147" y="0"/>
                  <a:pt x="76206" y="0"/>
                </a:cubicBezTo>
                <a:close/>
              </a:path>
            </a:pathLst>
          </a:custGeom>
          <a:solidFill>
            <a:srgbClr val="FFFFFF"/>
          </a:solidFill>
          <a:ln>
            <a:solidFill>
              <a:schemeClr val="tx1"/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400800" y="5076706"/>
            <a:ext cx="5305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Innovation Areas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400800" y="5457706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40" name="Text 38"/>
          <p:cNvSpPr/>
          <p:nvPr/>
        </p:nvSpPr>
        <p:spPr>
          <a:xfrm>
            <a:off x="6367463" y="5457706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819900" y="5514856"/>
            <a:ext cx="2457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Hybrid AI Engine:</a:t>
            </a:r>
            <a:r>
              <a:rPr lang="en-US" sz="105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BSI + Monte Carlo GBM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400800" y="5838706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43" name="Text 41"/>
          <p:cNvSpPr/>
          <p:nvPr/>
        </p:nvSpPr>
        <p:spPr>
          <a:xfrm>
            <a:off x="6367463" y="5838706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819900" y="5895856"/>
            <a:ext cx="2828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Ghost Hedge Protocol:</a:t>
            </a:r>
            <a:r>
              <a:rPr lang="en-US" sz="105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Autonomous protection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400800" y="6219706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46" name="Text 44"/>
          <p:cNvSpPr/>
          <p:nvPr/>
        </p:nvSpPr>
        <p:spPr>
          <a:xfrm>
            <a:off x="6367463" y="6219706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819900" y="6276856"/>
            <a:ext cx="2590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Quantum Verdict:</a:t>
            </a:r>
            <a:r>
              <a:rPr lang="en-US" sz="105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Real-time Buy/Sell/Hold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76200" y="0"/>
                </a:moveTo>
                <a:lnTo>
                  <a:pt x="533400" y="0"/>
                </a:lnTo>
                <a:cubicBezTo>
                  <a:pt x="575456" y="0"/>
                  <a:pt x="609600" y="34144"/>
                  <a:pt x="609600" y="76200"/>
                </a:cubicBezTo>
                <a:lnTo>
                  <a:pt x="609600" y="533400"/>
                </a:lnTo>
                <a:cubicBezTo>
                  <a:pt x="609600" y="575456"/>
                  <a:pt x="575456" y="609600"/>
                  <a:pt x="53340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0000"/>
          </a:solidFill>
          <a:ln/>
        </p:spPr>
      </p:sp>
      <p:sp>
        <p:nvSpPr>
          <p:cNvPr id="3" name="Text 1"/>
          <p:cNvSpPr/>
          <p:nvPr/>
        </p:nvSpPr>
        <p:spPr>
          <a:xfrm>
            <a:off x="510540" y="514350"/>
            <a:ext cx="495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43000" y="400050"/>
            <a:ext cx="2619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C75B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ABSTRACT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590550"/>
            <a:ext cx="27241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Overview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1000" y="1219200"/>
            <a:ext cx="6762750" cy="2552700"/>
          </a:xfrm>
          <a:custGeom>
            <a:avLst/>
            <a:gdLst/>
            <a:ahLst/>
            <a:cxnLst/>
            <a:rect l="l" t="t" r="r" b="b"/>
            <a:pathLst>
              <a:path w="6762750" h="2552700">
                <a:moveTo>
                  <a:pt x="76198" y="0"/>
                </a:moveTo>
                <a:lnTo>
                  <a:pt x="6686552" y="0"/>
                </a:lnTo>
                <a:cubicBezTo>
                  <a:pt x="6728635" y="0"/>
                  <a:pt x="6762750" y="34115"/>
                  <a:pt x="6762750" y="76198"/>
                </a:cubicBezTo>
                <a:lnTo>
                  <a:pt x="6762750" y="2476502"/>
                </a:lnTo>
                <a:cubicBezTo>
                  <a:pt x="6762750" y="2518585"/>
                  <a:pt x="6728635" y="2552700"/>
                  <a:pt x="6686552" y="2552700"/>
                </a:cubicBezTo>
                <a:lnTo>
                  <a:pt x="76198" y="2552700"/>
                </a:lnTo>
                <a:cubicBezTo>
                  <a:pt x="34115" y="2552700"/>
                  <a:pt x="0" y="2518585"/>
                  <a:pt x="0" y="24765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1E3A5F"/>
          </a:solidFill>
          <a:ln>
            <a:solidFill>
              <a:schemeClr val="tx1"/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</p:sp>
      <p:sp>
        <p:nvSpPr>
          <p:cNvPr id="7" name="Shape 5"/>
          <p:cNvSpPr/>
          <p:nvPr/>
        </p:nvSpPr>
        <p:spPr>
          <a:xfrm>
            <a:off x="638175" y="148578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7150" y="142875"/>
                </a:moveTo>
                <a:lnTo>
                  <a:pt x="10939" y="142875"/>
                </a:lnTo>
                <a:cubicBezTo>
                  <a:pt x="-179" y="142875"/>
                  <a:pt x="-7010" y="130775"/>
                  <a:pt x="-1295" y="121221"/>
                </a:cubicBezTo>
                <a:lnTo>
                  <a:pt x="22324" y="81841"/>
                </a:lnTo>
                <a:cubicBezTo>
                  <a:pt x="26209" y="75367"/>
                  <a:pt x="33174" y="71438"/>
                  <a:pt x="40719" y="71438"/>
                </a:cubicBezTo>
                <a:lnTo>
                  <a:pt x="83135" y="71438"/>
                </a:lnTo>
                <a:cubicBezTo>
                  <a:pt x="117113" y="13886"/>
                  <a:pt x="167789" y="10984"/>
                  <a:pt x="201677" y="15939"/>
                </a:cubicBezTo>
                <a:cubicBezTo>
                  <a:pt x="207392" y="16788"/>
                  <a:pt x="211857" y="21253"/>
                  <a:pt x="212661" y="26923"/>
                </a:cubicBezTo>
                <a:cubicBezTo>
                  <a:pt x="217616" y="60811"/>
                  <a:pt x="214714" y="111487"/>
                  <a:pt x="157163" y="145465"/>
                </a:cubicBezTo>
                <a:lnTo>
                  <a:pt x="157163" y="187881"/>
                </a:lnTo>
                <a:cubicBezTo>
                  <a:pt x="157163" y="195426"/>
                  <a:pt x="153233" y="202391"/>
                  <a:pt x="146759" y="206276"/>
                </a:cubicBezTo>
                <a:lnTo>
                  <a:pt x="107379" y="229895"/>
                </a:lnTo>
                <a:cubicBezTo>
                  <a:pt x="97869" y="235610"/>
                  <a:pt x="85725" y="228734"/>
                  <a:pt x="85725" y="217661"/>
                </a:cubicBezTo>
                <a:lnTo>
                  <a:pt x="85725" y="171450"/>
                </a:lnTo>
                <a:cubicBezTo>
                  <a:pt x="85725" y="155689"/>
                  <a:pt x="72911" y="142875"/>
                  <a:pt x="57150" y="142875"/>
                </a:cubicBezTo>
                <a:lnTo>
                  <a:pt x="57105" y="142875"/>
                </a:lnTo>
                <a:close/>
                <a:moveTo>
                  <a:pt x="178594" y="71438"/>
                </a:moveTo>
                <a:cubicBezTo>
                  <a:pt x="178594" y="59609"/>
                  <a:pt x="168991" y="50006"/>
                  <a:pt x="157163" y="50006"/>
                </a:cubicBezTo>
                <a:cubicBezTo>
                  <a:pt x="145334" y="50006"/>
                  <a:pt x="135731" y="59609"/>
                  <a:pt x="135731" y="71438"/>
                </a:cubicBezTo>
                <a:cubicBezTo>
                  <a:pt x="135731" y="83266"/>
                  <a:pt x="145334" y="92869"/>
                  <a:pt x="157163" y="92869"/>
                </a:cubicBezTo>
                <a:cubicBezTo>
                  <a:pt x="168991" y="92869"/>
                  <a:pt x="178594" y="83266"/>
                  <a:pt x="178594" y="71438"/>
                </a:cubicBez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8" name="Text 6"/>
          <p:cNvSpPr/>
          <p:nvPr/>
        </p:nvSpPr>
        <p:spPr>
          <a:xfrm>
            <a:off x="895350" y="1447800"/>
            <a:ext cx="6134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Innovation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09600" y="1904881"/>
            <a:ext cx="63817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QuantShield is an advanced </a:t>
            </a:r>
            <a:r>
              <a:rPr lang="en-US" sz="1200" b="1" dirty="0">
                <a:solidFill>
                  <a:srgbClr val="C75B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AI-driven financial intelligence terminal</a:t>
            </a:r>
            <a:r>
              <a:rPr lang="en-US" sz="12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that transitions from traditional static analysis to a dynamic, risk-first approach. The system integrates a real-time data pipeline via FastAPI backend and an interactive React.js frontend.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09600" y="2800231"/>
            <a:ext cx="63817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hybrid engine combines the </a:t>
            </a:r>
            <a:r>
              <a:rPr lang="en-US" sz="1200" b="1" dirty="0">
                <a:solidFill>
                  <a:srgbClr val="4A90A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Buy Strength Index (BSI)</a:t>
            </a:r>
            <a:r>
              <a:rPr lang="en-US" sz="12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—a proprietary sentiment-momentum oscillator—with </a:t>
            </a:r>
            <a:r>
              <a:rPr lang="en-US" sz="1200" b="1" dirty="0">
                <a:solidFill>
                  <a:srgbClr val="4A90A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Monte Carlo Simulations using Geometric Brownian Motion (GBM)</a:t>
            </a:r>
            <a:r>
              <a:rPr lang="en-US" sz="12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forecast 1,000+ probabilistic future price paths.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81000" y="3943231"/>
            <a:ext cx="6762750" cy="2114550"/>
          </a:xfrm>
          <a:custGeom>
            <a:avLst/>
            <a:gdLst/>
            <a:ahLst/>
            <a:cxnLst/>
            <a:rect l="l" t="t" r="r" b="b"/>
            <a:pathLst>
              <a:path w="6762750" h="2114550">
                <a:moveTo>
                  <a:pt x="38100" y="0"/>
                </a:moveTo>
                <a:lnTo>
                  <a:pt x="6724650" y="0"/>
                </a:lnTo>
                <a:cubicBezTo>
                  <a:pt x="6745678" y="0"/>
                  <a:pt x="6762750" y="17072"/>
                  <a:pt x="6762750" y="38100"/>
                </a:cubicBezTo>
                <a:lnTo>
                  <a:pt x="6762750" y="2038342"/>
                </a:lnTo>
                <a:cubicBezTo>
                  <a:pt x="6762750" y="2080430"/>
                  <a:pt x="6728630" y="2114550"/>
                  <a:pt x="6686542" y="2114550"/>
                </a:cubicBezTo>
                <a:lnTo>
                  <a:pt x="76208" y="2114550"/>
                </a:lnTo>
                <a:cubicBezTo>
                  <a:pt x="34120" y="2114550"/>
                  <a:pt x="0" y="2080430"/>
                  <a:pt x="0" y="2038342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>
            <a:solidFill>
              <a:schemeClr val="tx1"/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81000" y="3943231"/>
            <a:ext cx="6762750" cy="38100"/>
          </a:xfrm>
          <a:custGeom>
            <a:avLst/>
            <a:gdLst/>
            <a:ahLst/>
            <a:cxnLst/>
            <a:rect l="l" t="t" r="r" b="b"/>
            <a:pathLst>
              <a:path w="6762750" h="38100">
                <a:moveTo>
                  <a:pt x="38100" y="0"/>
                </a:moveTo>
                <a:lnTo>
                  <a:pt x="6724650" y="0"/>
                </a:lnTo>
                <a:cubicBezTo>
                  <a:pt x="6745678" y="0"/>
                  <a:pt x="6762750" y="17072"/>
                  <a:pt x="6762750" y="38100"/>
                </a:cubicBezTo>
                <a:lnTo>
                  <a:pt x="676275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13" name="Shape 11"/>
          <p:cNvSpPr/>
          <p:nvPr/>
        </p:nvSpPr>
        <p:spPr>
          <a:xfrm>
            <a:off x="595313" y="4190881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96962" y="0"/>
                  <a:pt x="98673" y="372"/>
                  <a:pt x="100236" y="1079"/>
                </a:cubicBezTo>
                <a:lnTo>
                  <a:pt x="170334" y="30807"/>
                </a:lnTo>
                <a:cubicBezTo>
                  <a:pt x="178519" y="34268"/>
                  <a:pt x="184621" y="42342"/>
                  <a:pt x="184584" y="52090"/>
                </a:cubicBezTo>
                <a:cubicBezTo>
                  <a:pt x="184398" y="88999"/>
                  <a:pt x="169218" y="156530"/>
                  <a:pt x="105110" y="187226"/>
                </a:cubicBezTo>
                <a:cubicBezTo>
                  <a:pt x="98896" y="190202"/>
                  <a:pt x="91678" y="190202"/>
                  <a:pt x="85465" y="187226"/>
                </a:cubicBezTo>
                <a:cubicBezTo>
                  <a:pt x="21320" y="156530"/>
                  <a:pt x="6176" y="88999"/>
                  <a:pt x="5990" y="52090"/>
                </a:cubicBezTo>
                <a:cubicBezTo>
                  <a:pt x="5953" y="42342"/>
                  <a:pt x="12055" y="34268"/>
                  <a:pt x="20241" y="30807"/>
                </a:cubicBezTo>
                <a:lnTo>
                  <a:pt x="90301" y="1079"/>
                </a:lnTo>
                <a:cubicBezTo>
                  <a:pt x="91864" y="372"/>
                  <a:pt x="93538" y="0"/>
                  <a:pt x="95250" y="0"/>
                </a:cubicBezTo>
                <a:close/>
                <a:moveTo>
                  <a:pt x="95250" y="24854"/>
                </a:moveTo>
                <a:lnTo>
                  <a:pt x="95250" y="165534"/>
                </a:lnTo>
                <a:cubicBezTo>
                  <a:pt x="146596" y="140680"/>
                  <a:pt x="160400" y="85613"/>
                  <a:pt x="160734" y="52648"/>
                </a:cubicBezTo>
                <a:lnTo>
                  <a:pt x="95250" y="24892"/>
                </a:lnTo>
                <a:lnTo>
                  <a:pt x="95250" y="24892"/>
                </a:ln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14" name="Text 12"/>
          <p:cNvSpPr/>
          <p:nvPr/>
        </p:nvSpPr>
        <p:spPr>
          <a:xfrm>
            <a:off x="809625" y="4152781"/>
            <a:ext cx="6238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Ghost Hedge Protocol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71500" y="4533781"/>
            <a:ext cx="64579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unique autonomous risk management system that monitors market volatility stress and triggers protective actions without human emotional bias: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71500" y="5143381"/>
            <a:ext cx="3133725" cy="723900"/>
          </a:xfrm>
          <a:custGeom>
            <a:avLst/>
            <a:gdLst/>
            <a:ahLst/>
            <a:cxnLst/>
            <a:rect l="l" t="t" r="r" b="b"/>
            <a:pathLst>
              <a:path w="3133725" h="723900">
                <a:moveTo>
                  <a:pt x="38099" y="0"/>
                </a:moveTo>
                <a:lnTo>
                  <a:pt x="3095626" y="0"/>
                </a:lnTo>
                <a:cubicBezTo>
                  <a:pt x="3116653" y="0"/>
                  <a:pt x="3133725" y="17072"/>
                  <a:pt x="3133725" y="38099"/>
                </a:cubicBezTo>
                <a:lnTo>
                  <a:pt x="3133725" y="685801"/>
                </a:lnTo>
                <a:cubicBezTo>
                  <a:pt x="3133725" y="706828"/>
                  <a:pt x="3116653" y="723900"/>
                  <a:pt x="3095626" y="723900"/>
                </a:cubicBezTo>
                <a:lnTo>
                  <a:pt x="38099" y="723900"/>
                </a:lnTo>
                <a:cubicBezTo>
                  <a:pt x="17072" y="723900"/>
                  <a:pt x="0" y="706828"/>
                  <a:pt x="0" y="685801"/>
                </a:cubicBezTo>
                <a:lnTo>
                  <a:pt x="0" y="38099"/>
                </a:lnTo>
                <a:cubicBezTo>
                  <a:pt x="0" y="17072"/>
                  <a:pt x="17072" y="0"/>
                  <a:pt x="38099" y="0"/>
                </a:cubicBezTo>
                <a:close/>
              </a:path>
            </a:pathLst>
          </a:custGeom>
          <a:solidFill>
            <a:srgbClr val="4A90A4">
              <a:alpha val="10196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28650" y="5257681"/>
            <a:ext cx="30194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4A90A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4.5%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2463" y="5562363"/>
            <a:ext cx="2971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Profit Booking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821430" y="5143381"/>
            <a:ext cx="3133725" cy="723900"/>
          </a:xfrm>
          <a:custGeom>
            <a:avLst/>
            <a:gdLst/>
            <a:ahLst/>
            <a:cxnLst/>
            <a:rect l="l" t="t" r="r" b="b"/>
            <a:pathLst>
              <a:path w="3133725" h="723900">
                <a:moveTo>
                  <a:pt x="38099" y="0"/>
                </a:moveTo>
                <a:lnTo>
                  <a:pt x="3095626" y="0"/>
                </a:lnTo>
                <a:cubicBezTo>
                  <a:pt x="3116653" y="0"/>
                  <a:pt x="3133725" y="17072"/>
                  <a:pt x="3133725" y="38099"/>
                </a:cubicBezTo>
                <a:lnTo>
                  <a:pt x="3133725" y="685801"/>
                </a:lnTo>
                <a:cubicBezTo>
                  <a:pt x="3133725" y="706828"/>
                  <a:pt x="3116653" y="723900"/>
                  <a:pt x="3095626" y="723900"/>
                </a:cubicBezTo>
                <a:lnTo>
                  <a:pt x="38099" y="723900"/>
                </a:lnTo>
                <a:cubicBezTo>
                  <a:pt x="17072" y="723900"/>
                  <a:pt x="0" y="706828"/>
                  <a:pt x="0" y="685801"/>
                </a:cubicBezTo>
                <a:lnTo>
                  <a:pt x="0" y="38099"/>
                </a:lnTo>
                <a:cubicBezTo>
                  <a:pt x="0" y="17072"/>
                  <a:pt x="17072" y="0"/>
                  <a:pt x="38099" y="0"/>
                </a:cubicBezTo>
                <a:close/>
              </a:path>
            </a:pathLst>
          </a:custGeom>
          <a:solidFill>
            <a:srgbClr val="C75B4A">
              <a:alpha val="10196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3878580" y="5257681"/>
            <a:ext cx="30194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C75B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10.0%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902393" y="5562363"/>
            <a:ext cx="2971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Stop-Loss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376160" y="1219200"/>
            <a:ext cx="4438650" cy="3200400"/>
          </a:xfrm>
          <a:custGeom>
            <a:avLst/>
            <a:gdLst/>
            <a:ahLst/>
            <a:cxnLst/>
            <a:rect l="l" t="t" r="r" b="b"/>
            <a:pathLst>
              <a:path w="4438650" h="3200400">
                <a:moveTo>
                  <a:pt x="76202" y="0"/>
                </a:moveTo>
                <a:lnTo>
                  <a:pt x="4362448" y="0"/>
                </a:lnTo>
                <a:cubicBezTo>
                  <a:pt x="4404533" y="0"/>
                  <a:pt x="4438650" y="34117"/>
                  <a:pt x="4438650" y="76202"/>
                </a:cubicBezTo>
                <a:lnTo>
                  <a:pt x="4438650" y="3124198"/>
                </a:lnTo>
                <a:cubicBezTo>
                  <a:pt x="4438650" y="3166283"/>
                  <a:pt x="4404533" y="3200400"/>
                  <a:pt x="4362448" y="3200400"/>
                </a:cubicBezTo>
                <a:lnTo>
                  <a:pt x="76202" y="3200400"/>
                </a:lnTo>
                <a:cubicBezTo>
                  <a:pt x="34117" y="3200400"/>
                  <a:pt x="0" y="3166283"/>
                  <a:pt x="0" y="3124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FFFFF"/>
          </a:solidFill>
          <a:ln>
            <a:solidFill>
              <a:schemeClr val="tx1"/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566660" y="1409700"/>
            <a:ext cx="4152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 Metrics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566660" y="1828800"/>
            <a:ext cx="4057650" cy="723900"/>
          </a:xfrm>
          <a:custGeom>
            <a:avLst/>
            <a:gdLst/>
            <a:ahLst/>
            <a:cxnLst/>
            <a:rect l="l" t="t" r="r" b="b"/>
            <a:pathLst>
              <a:path w="4057650" h="723900">
                <a:moveTo>
                  <a:pt x="76198" y="0"/>
                </a:moveTo>
                <a:lnTo>
                  <a:pt x="3981452" y="0"/>
                </a:lnTo>
                <a:cubicBezTo>
                  <a:pt x="4023507" y="0"/>
                  <a:pt x="4057650" y="34143"/>
                  <a:pt x="4057650" y="76198"/>
                </a:cubicBezTo>
                <a:lnTo>
                  <a:pt x="4057650" y="647702"/>
                </a:lnTo>
                <a:cubicBezTo>
                  <a:pt x="4057650" y="689757"/>
                  <a:pt x="4023507" y="723900"/>
                  <a:pt x="3981452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1E3A5F">
              <a:alpha val="5098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7680960" y="1943100"/>
            <a:ext cx="1219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Trend Classification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680960" y="2133600"/>
            <a:ext cx="12668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94.2%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1187113" y="2047756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50031" y="142875"/>
                </a:moveTo>
                <a:cubicBezTo>
                  <a:pt x="250031" y="83734"/>
                  <a:pt x="202016" y="35719"/>
                  <a:pt x="142875" y="35719"/>
                </a:cubicBezTo>
                <a:cubicBezTo>
                  <a:pt x="83734" y="35719"/>
                  <a:pt x="35719" y="83734"/>
                  <a:pt x="35719" y="142875"/>
                </a:cubicBezTo>
                <a:cubicBezTo>
                  <a:pt x="35719" y="202016"/>
                  <a:pt x="83734" y="250031"/>
                  <a:pt x="142875" y="250031"/>
                </a:cubicBezTo>
                <a:cubicBezTo>
                  <a:pt x="202016" y="250031"/>
                  <a:pt x="250031" y="202016"/>
                  <a:pt x="250031" y="142875"/>
                </a:cubicBezTo>
                <a:close/>
                <a:moveTo>
                  <a:pt x="0" y="142875"/>
                </a:moveTo>
                <a:cubicBezTo>
                  <a:pt x="0" y="64020"/>
                  <a:pt x="64020" y="0"/>
                  <a:pt x="142875" y="0"/>
                </a:cubicBezTo>
                <a:cubicBezTo>
                  <a:pt x="221730" y="0"/>
                  <a:pt x="285750" y="64020"/>
                  <a:pt x="285750" y="142875"/>
                </a:cubicBezTo>
                <a:cubicBezTo>
                  <a:pt x="285750" y="221730"/>
                  <a:pt x="221730" y="285750"/>
                  <a:pt x="142875" y="285750"/>
                </a:cubicBezTo>
                <a:cubicBezTo>
                  <a:pt x="64020" y="285750"/>
                  <a:pt x="0" y="221730"/>
                  <a:pt x="0" y="142875"/>
                </a:cubicBezTo>
                <a:close/>
                <a:moveTo>
                  <a:pt x="142875" y="187523"/>
                </a:moveTo>
                <a:cubicBezTo>
                  <a:pt x="167517" y="187523"/>
                  <a:pt x="187523" y="167517"/>
                  <a:pt x="187523" y="142875"/>
                </a:cubicBezTo>
                <a:cubicBezTo>
                  <a:pt x="187523" y="118233"/>
                  <a:pt x="167517" y="98227"/>
                  <a:pt x="142875" y="98227"/>
                </a:cubicBezTo>
                <a:cubicBezTo>
                  <a:pt x="118233" y="98227"/>
                  <a:pt x="98227" y="118233"/>
                  <a:pt x="98227" y="142875"/>
                </a:cubicBezTo>
                <a:cubicBezTo>
                  <a:pt x="98227" y="167517"/>
                  <a:pt x="118233" y="187523"/>
                  <a:pt x="142875" y="187523"/>
                </a:cubicBezTo>
                <a:close/>
                <a:moveTo>
                  <a:pt x="142875" y="62508"/>
                </a:moveTo>
                <a:cubicBezTo>
                  <a:pt x="187231" y="62508"/>
                  <a:pt x="223242" y="98519"/>
                  <a:pt x="223242" y="142875"/>
                </a:cubicBezTo>
                <a:cubicBezTo>
                  <a:pt x="223242" y="187231"/>
                  <a:pt x="187231" y="223242"/>
                  <a:pt x="142875" y="223242"/>
                </a:cubicBezTo>
                <a:cubicBezTo>
                  <a:pt x="98519" y="223242"/>
                  <a:pt x="62508" y="187231"/>
                  <a:pt x="62508" y="142875"/>
                </a:cubicBezTo>
                <a:cubicBezTo>
                  <a:pt x="62508" y="98519"/>
                  <a:pt x="98519" y="62508"/>
                  <a:pt x="142875" y="62508"/>
                </a:cubicBezTo>
                <a:close/>
                <a:moveTo>
                  <a:pt x="125016" y="142875"/>
                </a:moveTo>
                <a:cubicBezTo>
                  <a:pt x="125016" y="133018"/>
                  <a:pt x="133018" y="125016"/>
                  <a:pt x="142875" y="125016"/>
                </a:cubicBezTo>
                <a:cubicBezTo>
                  <a:pt x="152732" y="125016"/>
                  <a:pt x="160734" y="133018"/>
                  <a:pt x="160734" y="142875"/>
                </a:cubicBezTo>
                <a:cubicBezTo>
                  <a:pt x="160734" y="152732"/>
                  <a:pt x="152732" y="160734"/>
                  <a:pt x="142875" y="160734"/>
                </a:cubicBezTo>
                <a:cubicBezTo>
                  <a:pt x="133018" y="160734"/>
                  <a:pt x="125016" y="152732"/>
                  <a:pt x="125016" y="142875"/>
                </a:cubicBez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28" name="Shape 26"/>
          <p:cNvSpPr/>
          <p:nvPr/>
        </p:nvSpPr>
        <p:spPr>
          <a:xfrm>
            <a:off x="7566660" y="2666881"/>
            <a:ext cx="4057650" cy="723900"/>
          </a:xfrm>
          <a:custGeom>
            <a:avLst/>
            <a:gdLst/>
            <a:ahLst/>
            <a:cxnLst/>
            <a:rect l="l" t="t" r="r" b="b"/>
            <a:pathLst>
              <a:path w="4057650" h="723900">
                <a:moveTo>
                  <a:pt x="76198" y="0"/>
                </a:moveTo>
                <a:lnTo>
                  <a:pt x="3981452" y="0"/>
                </a:lnTo>
                <a:cubicBezTo>
                  <a:pt x="4023507" y="0"/>
                  <a:pt x="4057650" y="34143"/>
                  <a:pt x="4057650" y="76198"/>
                </a:cubicBezTo>
                <a:lnTo>
                  <a:pt x="4057650" y="647702"/>
                </a:lnTo>
                <a:cubicBezTo>
                  <a:pt x="4057650" y="689757"/>
                  <a:pt x="4023507" y="723900"/>
                  <a:pt x="3981452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4A90A4">
              <a:alpha val="5098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7680960" y="2781181"/>
            <a:ext cx="885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Success Ratio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680960" y="2971681"/>
            <a:ext cx="9334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4A90A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82%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11187113" y="2885837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80535" y="0"/>
                </a:moveTo>
                <a:lnTo>
                  <a:pt x="205550" y="0"/>
                </a:lnTo>
                <a:cubicBezTo>
                  <a:pt x="220340" y="0"/>
                  <a:pt x="232395" y="12167"/>
                  <a:pt x="231837" y="26901"/>
                </a:cubicBezTo>
                <a:cubicBezTo>
                  <a:pt x="231725" y="29859"/>
                  <a:pt x="231614" y="32817"/>
                  <a:pt x="231446" y="35719"/>
                </a:cubicBezTo>
                <a:lnTo>
                  <a:pt x="259128" y="35719"/>
                </a:lnTo>
                <a:cubicBezTo>
                  <a:pt x="273695" y="35719"/>
                  <a:pt x="286531" y="47774"/>
                  <a:pt x="285415" y="63512"/>
                </a:cubicBezTo>
                <a:cubicBezTo>
                  <a:pt x="281229" y="121388"/>
                  <a:pt x="251650" y="153200"/>
                  <a:pt x="219559" y="169831"/>
                </a:cubicBezTo>
                <a:cubicBezTo>
                  <a:pt x="210741" y="174408"/>
                  <a:pt x="201755" y="177812"/>
                  <a:pt x="193216" y="180324"/>
                </a:cubicBezTo>
                <a:cubicBezTo>
                  <a:pt x="181942" y="196286"/>
                  <a:pt x="170222" y="204713"/>
                  <a:pt x="160902" y="209234"/>
                </a:cubicBezTo>
                <a:lnTo>
                  <a:pt x="160902" y="250031"/>
                </a:lnTo>
                <a:lnTo>
                  <a:pt x="196621" y="250031"/>
                </a:lnTo>
                <a:cubicBezTo>
                  <a:pt x="206499" y="250031"/>
                  <a:pt x="214480" y="258012"/>
                  <a:pt x="214480" y="267891"/>
                </a:cubicBezTo>
                <a:cubicBezTo>
                  <a:pt x="214480" y="277769"/>
                  <a:pt x="206499" y="285750"/>
                  <a:pt x="196621" y="285750"/>
                </a:cubicBezTo>
                <a:lnTo>
                  <a:pt x="89464" y="285750"/>
                </a:lnTo>
                <a:cubicBezTo>
                  <a:pt x="79586" y="285750"/>
                  <a:pt x="71605" y="277769"/>
                  <a:pt x="71605" y="267891"/>
                </a:cubicBezTo>
                <a:cubicBezTo>
                  <a:pt x="71605" y="258012"/>
                  <a:pt x="79586" y="250031"/>
                  <a:pt x="89464" y="250031"/>
                </a:cubicBezTo>
                <a:lnTo>
                  <a:pt x="125183" y="250031"/>
                </a:lnTo>
                <a:lnTo>
                  <a:pt x="125183" y="209234"/>
                </a:lnTo>
                <a:cubicBezTo>
                  <a:pt x="116253" y="204936"/>
                  <a:pt x="105147" y="196955"/>
                  <a:pt x="94320" y="182277"/>
                </a:cubicBezTo>
                <a:cubicBezTo>
                  <a:pt x="84051" y="179598"/>
                  <a:pt x="72889" y="175524"/>
                  <a:pt x="62006" y="169385"/>
                </a:cubicBezTo>
                <a:cubicBezTo>
                  <a:pt x="31812" y="152474"/>
                  <a:pt x="4576" y="120607"/>
                  <a:pt x="670" y="63401"/>
                </a:cubicBezTo>
                <a:cubicBezTo>
                  <a:pt x="-391" y="47718"/>
                  <a:pt x="12390" y="35663"/>
                  <a:pt x="26956" y="35663"/>
                </a:cubicBezTo>
                <a:lnTo>
                  <a:pt x="54639" y="35663"/>
                </a:lnTo>
                <a:cubicBezTo>
                  <a:pt x="54471" y="32761"/>
                  <a:pt x="54359" y="29859"/>
                  <a:pt x="54248" y="26845"/>
                </a:cubicBezTo>
                <a:cubicBezTo>
                  <a:pt x="53690" y="12055"/>
                  <a:pt x="65745" y="-56"/>
                  <a:pt x="80535" y="-56"/>
                </a:cubicBezTo>
                <a:close/>
                <a:moveTo>
                  <a:pt x="56648" y="62508"/>
                </a:moveTo>
                <a:lnTo>
                  <a:pt x="27403" y="62508"/>
                </a:lnTo>
                <a:cubicBezTo>
                  <a:pt x="30863" y="109779"/>
                  <a:pt x="52574" y="133443"/>
                  <a:pt x="74954" y="146000"/>
                </a:cubicBezTo>
                <a:cubicBezTo>
                  <a:pt x="66917" y="125183"/>
                  <a:pt x="60275" y="98003"/>
                  <a:pt x="56648" y="62508"/>
                </a:cubicBezTo>
                <a:close/>
                <a:moveTo>
                  <a:pt x="212080" y="143321"/>
                </a:moveTo>
                <a:cubicBezTo>
                  <a:pt x="234683" y="130039"/>
                  <a:pt x="255110" y="106431"/>
                  <a:pt x="258570" y="62508"/>
                </a:cubicBezTo>
                <a:lnTo>
                  <a:pt x="229381" y="62508"/>
                </a:lnTo>
                <a:cubicBezTo>
                  <a:pt x="225921" y="96496"/>
                  <a:pt x="219670" y="122895"/>
                  <a:pt x="212080" y="143321"/>
                </a:cubicBezTo>
                <a:close/>
              </a:path>
            </a:pathLst>
          </a:custGeom>
          <a:solidFill>
            <a:srgbClr val="4A90A4"/>
          </a:solidFill>
          <a:ln/>
        </p:spPr>
      </p:sp>
      <p:sp>
        <p:nvSpPr>
          <p:cNvPr id="32" name="Shape 30"/>
          <p:cNvSpPr/>
          <p:nvPr/>
        </p:nvSpPr>
        <p:spPr>
          <a:xfrm>
            <a:off x="7566660" y="3504962"/>
            <a:ext cx="4057650" cy="723900"/>
          </a:xfrm>
          <a:custGeom>
            <a:avLst/>
            <a:gdLst/>
            <a:ahLst/>
            <a:cxnLst/>
            <a:rect l="l" t="t" r="r" b="b"/>
            <a:pathLst>
              <a:path w="4057650" h="723900">
                <a:moveTo>
                  <a:pt x="76198" y="0"/>
                </a:moveTo>
                <a:lnTo>
                  <a:pt x="3981452" y="0"/>
                </a:lnTo>
                <a:cubicBezTo>
                  <a:pt x="4023507" y="0"/>
                  <a:pt x="4057650" y="34143"/>
                  <a:pt x="4057650" y="76198"/>
                </a:cubicBezTo>
                <a:lnTo>
                  <a:pt x="4057650" y="647702"/>
                </a:lnTo>
                <a:cubicBezTo>
                  <a:pt x="4057650" y="689757"/>
                  <a:pt x="4023507" y="723900"/>
                  <a:pt x="3981452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C75B4A">
              <a:alpha val="5098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7680960" y="3619262"/>
            <a:ext cx="914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ROI (30 Days)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680960" y="3809762"/>
            <a:ext cx="9620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C75B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5.4%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11187113" y="3723918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35719" y="35719"/>
                </a:moveTo>
                <a:cubicBezTo>
                  <a:pt x="35719" y="25840"/>
                  <a:pt x="27738" y="17859"/>
                  <a:pt x="17859" y="17859"/>
                </a:cubicBezTo>
                <a:cubicBezTo>
                  <a:pt x="7981" y="17859"/>
                  <a:pt x="0" y="25840"/>
                  <a:pt x="0" y="35719"/>
                </a:cubicBezTo>
                <a:lnTo>
                  <a:pt x="0" y="223242"/>
                </a:lnTo>
                <a:cubicBezTo>
                  <a:pt x="0" y="247910"/>
                  <a:pt x="19980" y="267891"/>
                  <a:pt x="44648" y="267891"/>
                </a:cubicBezTo>
                <a:lnTo>
                  <a:pt x="267891" y="267891"/>
                </a:lnTo>
                <a:cubicBezTo>
                  <a:pt x="277769" y="267891"/>
                  <a:pt x="285750" y="259910"/>
                  <a:pt x="285750" y="250031"/>
                </a:cubicBezTo>
                <a:cubicBezTo>
                  <a:pt x="285750" y="240153"/>
                  <a:pt x="277769" y="232172"/>
                  <a:pt x="267891" y="232172"/>
                </a:cubicBezTo>
                <a:lnTo>
                  <a:pt x="44648" y="232172"/>
                </a:lnTo>
                <a:cubicBezTo>
                  <a:pt x="39737" y="232172"/>
                  <a:pt x="35719" y="228154"/>
                  <a:pt x="35719" y="223242"/>
                </a:cubicBezTo>
                <a:lnTo>
                  <a:pt x="35719" y="35719"/>
                </a:lnTo>
                <a:close/>
                <a:moveTo>
                  <a:pt x="262644" y="84051"/>
                </a:moveTo>
                <a:cubicBezTo>
                  <a:pt x="269621" y="77074"/>
                  <a:pt x="269621" y="65745"/>
                  <a:pt x="262644" y="58769"/>
                </a:cubicBezTo>
                <a:cubicBezTo>
                  <a:pt x="255668" y="51792"/>
                  <a:pt x="244339" y="51792"/>
                  <a:pt x="237362" y="58769"/>
                </a:cubicBezTo>
                <a:lnTo>
                  <a:pt x="178594" y="117593"/>
                </a:lnTo>
                <a:lnTo>
                  <a:pt x="146558" y="85613"/>
                </a:lnTo>
                <a:cubicBezTo>
                  <a:pt x="139582" y="78637"/>
                  <a:pt x="128253" y="78637"/>
                  <a:pt x="121276" y="85613"/>
                </a:cubicBezTo>
                <a:lnTo>
                  <a:pt x="67698" y="139192"/>
                </a:lnTo>
                <a:cubicBezTo>
                  <a:pt x="60722" y="146168"/>
                  <a:pt x="60722" y="157497"/>
                  <a:pt x="67698" y="164474"/>
                </a:cubicBezTo>
                <a:cubicBezTo>
                  <a:pt x="74675" y="171450"/>
                  <a:pt x="86004" y="171450"/>
                  <a:pt x="92980" y="164474"/>
                </a:cubicBezTo>
                <a:lnTo>
                  <a:pt x="133945" y="123509"/>
                </a:lnTo>
                <a:lnTo>
                  <a:pt x="165981" y="155544"/>
                </a:lnTo>
                <a:cubicBezTo>
                  <a:pt x="172957" y="162520"/>
                  <a:pt x="184286" y="162520"/>
                  <a:pt x="191263" y="155544"/>
                </a:cubicBezTo>
                <a:lnTo>
                  <a:pt x="262700" y="84106"/>
                </a:ln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36" name="Shape 34"/>
          <p:cNvSpPr/>
          <p:nvPr/>
        </p:nvSpPr>
        <p:spPr>
          <a:xfrm>
            <a:off x="7376160" y="4571643"/>
            <a:ext cx="4438650" cy="1752600"/>
          </a:xfrm>
          <a:custGeom>
            <a:avLst/>
            <a:gdLst/>
            <a:ahLst/>
            <a:cxnLst/>
            <a:rect l="l" t="t" r="r" b="b"/>
            <a:pathLst>
              <a:path w="4438650" h="1752600">
                <a:moveTo>
                  <a:pt x="76203" y="0"/>
                </a:moveTo>
                <a:lnTo>
                  <a:pt x="4362447" y="0"/>
                </a:lnTo>
                <a:cubicBezTo>
                  <a:pt x="4404533" y="0"/>
                  <a:pt x="4438650" y="34117"/>
                  <a:pt x="4438650" y="76203"/>
                </a:cubicBezTo>
                <a:lnTo>
                  <a:pt x="4438650" y="1676397"/>
                </a:lnTo>
                <a:cubicBezTo>
                  <a:pt x="4438650" y="1718483"/>
                  <a:pt x="4404533" y="1752600"/>
                  <a:pt x="4362447" y="1752600"/>
                </a:cubicBezTo>
                <a:lnTo>
                  <a:pt x="76203" y="1752600"/>
                </a:lnTo>
                <a:cubicBezTo>
                  <a:pt x="34117" y="1752600"/>
                  <a:pt x="0" y="1718483"/>
                  <a:pt x="0" y="16763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C75B4A"/>
          </a:solidFill>
          <a:ln>
            <a:solidFill>
              <a:schemeClr val="tx1"/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</p:sp>
      <p:sp>
        <p:nvSpPr>
          <p:cNvPr id="37" name="Text 35"/>
          <p:cNvSpPr/>
          <p:nvPr/>
        </p:nvSpPr>
        <p:spPr>
          <a:xfrm>
            <a:off x="7566660" y="4762144"/>
            <a:ext cx="4143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 Stack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7577376" y="5171719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93970" y="313"/>
                </a:moveTo>
                <a:cubicBezTo>
                  <a:pt x="89542" y="-964"/>
                  <a:pt x="84932" y="1615"/>
                  <a:pt x="83656" y="6042"/>
                </a:cubicBezTo>
                <a:lnTo>
                  <a:pt x="50319" y="122724"/>
                </a:lnTo>
                <a:cubicBezTo>
                  <a:pt x="49043" y="127151"/>
                  <a:pt x="51621" y="131761"/>
                  <a:pt x="56049" y="133037"/>
                </a:cubicBezTo>
                <a:cubicBezTo>
                  <a:pt x="60476" y="134314"/>
                  <a:pt x="65086" y="131735"/>
                  <a:pt x="66362" y="127308"/>
                </a:cubicBezTo>
                <a:lnTo>
                  <a:pt x="99700" y="10626"/>
                </a:lnTo>
                <a:cubicBezTo>
                  <a:pt x="100976" y="6199"/>
                  <a:pt x="98398" y="1589"/>
                  <a:pt x="93970" y="313"/>
                </a:cubicBezTo>
                <a:close/>
                <a:moveTo>
                  <a:pt x="110795" y="35760"/>
                </a:moveTo>
                <a:cubicBezTo>
                  <a:pt x="107539" y="39015"/>
                  <a:pt x="107539" y="44302"/>
                  <a:pt x="110795" y="47558"/>
                </a:cubicBezTo>
                <a:lnTo>
                  <a:pt x="129912" y="66675"/>
                </a:lnTo>
                <a:lnTo>
                  <a:pt x="110795" y="85792"/>
                </a:lnTo>
                <a:cubicBezTo>
                  <a:pt x="107539" y="89048"/>
                  <a:pt x="107539" y="94335"/>
                  <a:pt x="110795" y="97590"/>
                </a:cubicBezTo>
                <a:cubicBezTo>
                  <a:pt x="114051" y="100846"/>
                  <a:pt x="119338" y="100846"/>
                  <a:pt x="122593" y="97590"/>
                </a:cubicBezTo>
                <a:lnTo>
                  <a:pt x="147597" y="72587"/>
                </a:lnTo>
                <a:cubicBezTo>
                  <a:pt x="150852" y="69332"/>
                  <a:pt x="150852" y="64044"/>
                  <a:pt x="147597" y="60789"/>
                </a:cubicBezTo>
                <a:lnTo>
                  <a:pt x="122593" y="35786"/>
                </a:lnTo>
                <a:cubicBezTo>
                  <a:pt x="119338" y="32530"/>
                  <a:pt x="114051" y="32530"/>
                  <a:pt x="110795" y="35786"/>
                </a:cubicBezTo>
                <a:close/>
                <a:moveTo>
                  <a:pt x="39250" y="35760"/>
                </a:moveTo>
                <a:cubicBezTo>
                  <a:pt x="35994" y="32504"/>
                  <a:pt x="30707" y="32504"/>
                  <a:pt x="27451" y="35760"/>
                </a:cubicBezTo>
                <a:lnTo>
                  <a:pt x="2448" y="60763"/>
                </a:lnTo>
                <a:cubicBezTo>
                  <a:pt x="-807" y="64018"/>
                  <a:pt x="-807" y="69306"/>
                  <a:pt x="2448" y="72561"/>
                </a:cubicBezTo>
                <a:lnTo>
                  <a:pt x="27451" y="97564"/>
                </a:lnTo>
                <a:cubicBezTo>
                  <a:pt x="30707" y="100820"/>
                  <a:pt x="35994" y="100820"/>
                  <a:pt x="39250" y="97564"/>
                </a:cubicBezTo>
                <a:cubicBezTo>
                  <a:pt x="42505" y="94309"/>
                  <a:pt x="42505" y="89022"/>
                  <a:pt x="39250" y="85766"/>
                </a:cubicBezTo>
                <a:lnTo>
                  <a:pt x="20133" y="66675"/>
                </a:lnTo>
                <a:lnTo>
                  <a:pt x="39224" y="47558"/>
                </a:lnTo>
                <a:cubicBezTo>
                  <a:pt x="42479" y="44302"/>
                  <a:pt x="42479" y="39015"/>
                  <a:pt x="39224" y="35760"/>
                </a:cubicBezTo>
                <a:close/>
              </a:path>
            </a:pathLst>
          </a:custGeom>
          <a:solidFill>
            <a:srgbClr val="F5F1EB"/>
          </a:solidFill>
          <a:ln/>
        </p:spPr>
      </p:sp>
      <p:sp>
        <p:nvSpPr>
          <p:cNvPr id="39" name="Text 37"/>
          <p:cNvSpPr/>
          <p:nvPr/>
        </p:nvSpPr>
        <p:spPr>
          <a:xfrm>
            <a:off x="7809548" y="5143144"/>
            <a:ext cx="1114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Frontend:</a:t>
            </a:r>
            <a:r>
              <a:rPr lang="en-US" sz="105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React.js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594045" y="5438419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6669" y="8334"/>
                </a:moveTo>
                <a:cubicBezTo>
                  <a:pt x="7475" y="8334"/>
                  <a:pt x="0" y="15809"/>
                  <a:pt x="0" y="25003"/>
                </a:cubicBezTo>
                <a:lnTo>
                  <a:pt x="0" y="41672"/>
                </a:lnTo>
                <a:cubicBezTo>
                  <a:pt x="0" y="50866"/>
                  <a:pt x="7475" y="58341"/>
                  <a:pt x="16669" y="58341"/>
                </a:cubicBezTo>
                <a:lnTo>
                  <a:pt x="100013" y="58341"/>
                </a:lnTo>
                <a:cubicBezTo>
                  <a:pt x="109206" y="58341"/>
                  <a:pt x="116681" y="50866"/>
                  <a:pt x="116681" y="41672"/>
                </a:cubicBezTo>
                <a:lnTo>
                  <a:pt x="116681" y="25003"/>
                </a:lnTo>
                <a:cubicBezTo>
                  <a:pt x="116681" y="15809"/>
                  <a:pt x="109206" y="8334"/>
                  <a:pt x="100013" y="8334"/>
                </a:cubicBezTo>
                <a:lnTo>
                  <a:pt x="16669" y="8334"/>
                </a:lnTo>
                <a:close/>
                <a:moveTo>
                  <a:pt x="72926" y="27087"/>
                </a:moveTo>
                <a:cubicBezTo>
                  <a:pt x="76376" y="27087"/>
                  <a:pt x="79177" y="29888"/>
                  <a:pt x="79177" y="33337"/>
                </a:cubicBezTo>
                <a:cubicBezTo>
                  <a:pt x="79177" y="36787"/>
                  <a:pt x="76376" y="39588"/>
                  <a:pt x="72926" y="39588"/>
                </a:cubicBezTo>
                <a:cubicBezTo>
                  <a:pt x="69476" y="39588"/>
                  <a:pt x="66675" y="36787"/>
                  <a:pt x="66675" y="33337"/>
                </a:cubicBezTo>
                <a:cubicBezTo>
                  <a:pt x="66675" y="29888"/>
                  <a:pt x="69476" y="27087"/>
                  <a:pt x="72926" y="27087"/>
                </a:cubicBezTo>
                <a:close/>
                <a:moveTo>
                  <a:pt x="87511" y="33337"/>
                </a:moveTo>
                <a:cubicBezTo>
                  <a:pt x="87511" y="29888"/>
                  <a:pt x="90312" y="27087"/>
                  <a:pt x="93762" y="27087"/>
                </a:cubicBezTo>
                <a:cubicBezTo>
                  <a:pt x="97212" y="27087"/>
                  <a:pt x="100013" y="29888"/>
                  <a:pt x="100013" y="33337"/>
                </a:cubicBezTo>
                <a:cubicBezTo>
                  <a:pt x="100013" y="36787"/>
                  <a:pt x="97212" y="39588"/>
                  <a:pt x="93762" y="39588"/>
                </a:cubicBezTo>
                <a:cubicBezTo>
                  <a:pt x="90312" y="39588"/>
                  <a:pt x="87511" y="36787"/>
                  <a:pt x="87511" y="33337"/>
                </a:cubicBezTo>
                <a:close/>
                <a:moveTo>
                  <a:pt x="16669" y="75009"/>
                </a:moveTo>
                <a:cubicBezTo>
                  <a:pt x="7475" y="75009"/>
                  <a:pt x="0" y="82484"/>
                  <a:pt x="0" y="91678"/>
                </a:cubicBezTo>
                <a:lnTo>
                  <a:pt x="0" y="108347"/>
                </a:lnTo>
                <a:cubicBezTo>
                  <a:pt x="0" y="117541"/>
                  <a:pt x="7475" y="125016"/>
                  <a:pt x="16669" y="125016"/>
                </a:cubicBezTo>
                <a:lnTo>
                  <a:pt x="100013" y="125016"/>
                </a:lnTo>
                <a:cubicBezTo>
                  <a:pt x="109206" y="125016"/>
                  <a:pt x="116681" y="117541"/>
                  <a:pt x="116681" y="108347"/>
                </a:cubicBezTo>
                <a:lnTo>
                  <a:pt x="116681" y="91678"/>
                </a:lnTo>
                <a:cubicBezTo>
                  <a:pt x="116681" y="82484"/>
                  <a:pt x="109206" y="75009"/>
                  <a:pt x="100013" y="75009"/>
                </a:cubicBezTo>
                <a:lnTo>
                  <a:pt x="16669" y="75009"/>
                </a:lnTo>
                <a:close/>
                <a:moveTo>
                  <a:pt x="72926" y="93762"/>
                </a:moveTo>
                <a:cubicBezTo>
                  <a:pt x="76376" y="93762"/>
                  <a:pt x="79177" y="96563"/>
                  <a:pt x="79177" y="100013"/>
                </a:cubicBezTo>
                <a:cubicBezTo>
                  <a:pt x="79177" y="103462"/>
                  <a:pt x="76376" y="106263"/>
                  <a:pt x="72926" y="106263"/>
                </a:cubicBezTo>
                <a:cubicBezTo>
                  <a:pt x="69476" y="106263"/>
                  <a:pt x="66675" y="103462"/>
                  <a:pt x="66675" y="100013"/>
                </a:cubicBezTo>
                <a:cubicBezTo>
                  <a:pt x="66675" y="96563"/>
                  <a:pt x="69476" y="93762"/>
                  <a:pt x="72926" y="93762"/>
                </a:cubicBezTo>
                <a:close/>
                <a:moveTo>
                  <a:pt x="87511" y="100013"/>
                </a:moveTo>
                <a:cubicBezTo>
                  <a:pt x="87511" y="96563"/>
                  <a:pt x="90312" y="93762"/>
                  <a:pt x="93762" y="93762"/>
                </a:cubicBezTo>
                <a:cubicBezTo>
                  <a:pt x="97212" y="93762"/>
                  <a:pt x="100013" y="96563"/>
                  <a:pt x="100013" y="100013"/>
                </a:cubicBezTo>
                <a:cubicBezTo>
                  <a:pt x="100013" y="103462"/>
                  <a:pt x="97212" y="106263"/>
                  <a:pt x="93762" y="106263"/>
                </a:cubicBezTo>
                <a:cubicBezTo>
                  <a:pt x="90312" y="106263"/>
                  <a:pt x="87511" y="103462"/>
                  <a:pt x="87511" y="100013"/>
                </a:cubicBezTo>
                <a:close/>
              </a:path>
            </a:pathLst>
          </a:custGeom>
          <a:solidFill>
            <a:srgbClr val="F5F1EB"/>
          </a:solidFill>
          <a:ln/>
        </p:spPr>
      </p:sp>
      <p:sp>
        <p:nvSpPr>
          <p:cNvPr id="41" name="Text 39"/>
          <p:cNvSpPr/>
          <p:nvPr/>
        </p:nvSpPr>
        <p:spPr>
          <a:xfrm>
            <a:off x="7809548" y="5409844"/>
            <a:ext cx="1076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Backend:</a:t>
            </a:r>
            <a:r>
              <a:rPr lang="en-US" sz="105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FastAPI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7594045" y="5705119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6681" y="53600"/>
                </a:moveTo>
                <a:cubicBezTo>
                  <a:pt x="112827" y="56153"/>
                  <a:pt x="108399" y="58210"/>
                  <a:pt x="103789" y="59851"/>
                </a:cubicBezTo>
                <a:cubicBezTo>
                  <a:pt x="91548" y="64227"/>
                  <a:pt x="75478" y="66675"/>
                  <a:pt x="58341" y="66675"/>
                </a:cubicBezTo>
                <a:cubicBezTo>
                  <a:pt x="41203" y="66675"/>
                  <a:pt x="25107" y="64201"/>
                  <a:pt x="12892" y="59851"/>
                </a:cubicBezTo>
                <a:cubicBezTo>
                  <a:pt x="8308" y="58210"/>
                  <a:pt x="3855" y="56153"/>
                  <a:pt x="0" y="53600"/>
                </a:cubicBezTo>
                <a:lnTo>
                  <a:pt x="0" y="75009"/>
                </a:lnTo>
                <a:cubicBezTo>
                  <a:pt x="0" y="86521"/>
                  <a:pt x="26123" y="95845"/>
                  <a:pt x="58341" y="95845"/>
                </a:cubicBezTo>
                <a:cubicBezTo>
                  <a:pt x="90558" y="95845"/>
                  <a:pt x="116681" y="86521"/>
                  <a:pt x="116681" y="75009"/>
                </a:cubicBezTo>
                <a:lnTo>
                  <a:pt x="116681" y="53600"/>
                </a:lnTo>
                <a:close/>
                <a:moveTo>
                  <a:pt x="116681" y="33337"/>
                </a:moveTo>
                <a:lnTo>
                  <a:pt x="116681" y="20836"/>
                </a:lnTo>
                <a:cubicBezTo>
                  <a:pt x="116681" y="9324"/>
                  <a:pt x="90558" y="0"/>
                  <a:pt x="58341" y="0"/>
                </a:cubicBezTo>
                <a:cubicBezTo>
                  <a:pt x="26123" y="0"/>
                  <a:pt x="0" y="9324"/>
                  <a:pt x="0" y="20836"/>
                </a:cubicBezTo>
                <a:lnTo>
                  <a:pt x="0" y="33337"/>
                </a:lnTo>
                <a:cubicBezTo>
                  <a:pt x="0" y="44849"/>
                  <a:pt x="26123" y="54173"/>
                  <a:pt x="58341" y="54173"/>
                </a:cubicBezTo>
                <a:cubicBezTo>
                  <a:pt x="90558" y="54173"/>
                  <a:pt x="116681" y="44849"/>
                  <a:pt x="116681" y="33337"/>
                </a:cubicBezTo>
                <a:close/>
                <a:moveTo>
                  <a:pt x="103789" y="101523"/>
                </a:moveTo>
                <a:cubicBezTo>
                  <a:pt x="91574" y="105873"/>
                  <a:pt x="75504" y="108347"/>
                  <a:pt x="58341" y="108347"/>
                </a:cubicBezTo>
                <a:cubicBezTo>
                  <a:pt x="41177" y="108347"/>
                  <a:pt x="25107" y="105873"/>
                  <a:pt x="12892" y="101523"/>
                </a:cubicBezTo>
                <a:cubicBezTo>
                  <a:pt x="8308" y="99882"/>
                  <a:pt x="3855" y="97825"/>
                  <a:pt x="0" y="95272"/>
                </a:cubicBezTo>
                <a:lnTo>
                  <a:pt x="0" y="112514"/>
                </a:lnTo>
                <a:cubicBezTo>
                  <a:pt x="0" y="124026"/>
                  <a:pt x="26123" y="133350"/>
                  <a:pt x="58341" y="133350"/>
                </a:cubicBezTo>
                <a:cubicBezTo>
                  <a:pt x="90558" y="133350"/>
                  <a:pt x="116681" y="124026"/>
                  <a:pt x="116681" y="112514"/>
                </a:cubicBezTo>
                <a:lnTo>
                  <a:pt x="116681" y="95272"/>
                </a:lnTo>
                <a:cubicBezTo>
                  <a:pt x="112827" y="97825"/>
                  <a:pt x="108399" y="99882"/>
                  <a:pt x="103789" y="101523"/>
                </a:cubicBezTo>
                <a:close/>
              </a:path>
            </a:pathLst>
          </a:custGeom>
          <a:solidFill>
            <a:srgbClr val="F5F1EB"/>
          </a:solidFill>
          <a:ln/>
        </p:spPr>
      </p:sp>
      <p:sp>
        <p:nvSpPr>
          <p:cNvPr id="43" name="Text 41"/>
          <p:cNvSpPr/>
          <p:nvPr/>
        </p:nvSpPr>
        <p:spPr>
          <a:xfrm>
            <a:off x="7809548" y="5676544"/>
            <a:ext cx="1143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Data:</a:t>
            </a:r>
            <a:r>
              <a:rPr lang="en-US" sz="105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yfinance API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7585710" y="5971819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31254" y="14585"/>
                </a:moveTo>
                <a:cubicBezTo>
                  <a:pt x="31254" y="6537"/>
                  <a:pt x="37791" y="0"/>
                  <a:pt x="45839" y="0"/>
                </a:cubicBezTo>
                <a:lnTo>
                  <a:pt x="52090" y="0"/>
                </a:lnTo>
                <a:cubicBezTo>
                  <a:pt x="56700" y="0"/>
                  <a:pt x="60424" y="3724"/>
                  <a:pt x="60424" y="8334"/>
                </a:cubicBezTo>
                <a:lnTo>
                  <a:pt x="60424" y="125016"/>
                </a:lnTo>
                <a:cubicBezTo>
                  <a:pt x="60424" y="129626"/>
                  <a:pt x="56700" y="133350"/>
                  <a:pt x="52090" y="133350"/>
                </a:cubicBezTo>
                <a:lnTo>
                  <a:pt x="43755" y="133350"/>
                </a:lnTo>
                <a:cubicBezTo>
                  <a:pt x="35994" y="133350"/>
                  <a:pt x="29457" y="128037"/>
                  <a:pt x="27608" y="120848"/>
                </a:cubicBezTo>
                <a:cubicBezTo>
                  <a:pt x="27425" y="120848"/>
                  <a:pt x="27269" y="120848"/>
                  <a:pt x="27087" y="120848"/>
                </a:cubicBezTo>
                <a:cubicBezTo>
                  <a:pt x="15575" y="120848"/>
                  <a:pt x="6251" y="111524"/>
                  <a:pt x="6251" y="100013"/>
                </a:cubicBezTo>
                <a:cubicBezTo>
                  <a:pt x="6251" y="95324"/>
                  <a:pt x="7813" y="91001"/>
                  <a:pt x="10418" y="87511"/>
                </a:cubicBezTo>
                <a:cubicBezTo>
                  <a:pt x="5365" y="83708"/>
                  <a:pt x="2084" y="77666"/>
                  <a:pt x="2084" y="70842"/>
                </a:cubicBezTo>
                <a:cubicBezTo>
                  <a:pt x="2084" y="62794"/>
                  <a:pt x="6668" y="55788"/>
                  <a:pt x="13335" y="52324"/>
                </a:cubicBezTo>
                <a:cubicBezTo>
                  <a:pt x="11486" y="49199"/>
                  <a:pt x="10418" y="45553"/>
                  <a:pt x="10418" y="41672"/>
                </a:cubicBezTo>
                <a:cubicBezTo>
                  <a:pt x="10418" y="30160"/>
                  <a:pt x="19742" y="20836"/>
                  <a:pt x="31254" y="20836"/>
                </a:cubicBezTo>
                <a:lnTo>
                  <a:pt x="31254" y="14585"/>
                </a:lnTo>
                <a:close/>
                <a:moveTo>
                  <a:pt x="102096" y="14585"/>
                </a:moveTo>
                <a:lnTo>
                  <a:pt x="102096" y="20836"/>
                </a:lnTo>
                <a:cubicBezTo>
                  <a:pt x="113608" y="20836"/>
                  <a:pt x="122932" y="30160"/>
                  <a:pt x="122932" y="41672"/>
                </a:cubicBezTo>
                <a:cubicBezTo>
                  <a:pt x="122932" y="45579"/>
                  <a:pt x="121864" y="49225"/>
                  <a:pt x="120015" y="52324"/>
                </a:cubicBezTo>
                <a:cubicBezTo>
                  <a:pt x="126709" y="55788"/>
                  <a:pt x="131266" y="62768"/>
                  <a:pt x="131266" y="70842"/>
                </a:cubicBezTo>
                <a:cubicBezTo>
                  <a:pt x="131266" y="77666"/>
                  <a:pt x="127985" y="83708"/>
                  <a:pt x="122932" y="87511"/>
                </a:cubicBezTo>
                <a:cubicBezTo>
                  <a:pt x="125537" y="91001"/>
                  <a:pt x="127099" y="95324"/>
                  <a:pt x="127099" y="100013"/>
                </a:cubicBezTo>
                <a:cubicBezTo>
                  <a:pt x="127099" y="111524"/>
                  <a:pt x="117775" y="120848"/>
                  <a:pt x="106263" y="120848"/>
                </a:cubicBezTo>
                <a:cubicBezTo>
                  <a:pt x="106081" y="120848"/>
                  <a:pt x="105925" y="120848"/>
                  <a:pt x="105742" y="120848"/>
                </a:cubicBezTo>
                <a:cubicBezTo>
                  <a:pt x="103893" y="128037"/>
                  <a:pt x="97356" y="133350"/>
                  <a:pt x="89595" y="133350"/>
                </a:cubicBezTo>
                <a:lnTo>
                  <a:pt x="81260" y="133350"/>
                </a:lnTo>
                <a:cubicBezTo>
                  <a:pt x="76650" y="133350"/>
                  <a:pt x="72926" y="129626"/>
                  <a:pt x="72926" y="125016"/>
                </a:cubicBezTo>
                <a:lnTo>
                  <a:pt x="72926" y="8334"/>
                </a:lnTo>
                <a:cubicBezTo>
                  <a:pt x="72926" y="3724"/>
                  <a:pt x="76650" y="0"/>
                  <a:pt x="81260" y="0"/>
                </a:cubicBezTo>
                <a:lnTo>
                  <a:pt x="87511" y="0"/>
                </a:lnTo>
                <a:cubicBezTo>
                  <a:pt x="95559" y="0"/>
                  <a:pt x="102096" y="6537"/>
                  <a:pt x="102096" y="14585"/>
                </a:cubicBezTo>
                <a:close/>
              </a:path>
            </a:pathLst>
          </a:custGeom>
          <a:solidFill>
            <a:srgbClr val="F5F1EB"/>
          </a:solidFill>
          <a:ln/>
        </p:spPr>
      </p:sp>
      <p:sp>
        <p:nvSpPr>
          <p:cNvPr id="45" name="Text 43"/>
          <p:cNvSpPr/>
          <p:nvPr/>
        </p:nvSpPr>
        <p:spPr>
          <a:xfrm>
            <a:off x="7809548" y="5943244"/>
            <a:ext cx="1590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Engine:</a:t>
            </a:r>
            <a:r>
              <a:rPr lang="en-US" sz="105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Python/NumPy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76200" y="0"/>
                </a:moveTo>
                <a:lnTo>
                  <a:pt x="533400" y="0"/>
                </a:lnTo>
                <a:cubicBezTo>
                  <a:pt x="575456" y="0"/>
                  <a:pt x="609600" y="34144"/>
                  <a:pt x="609600" y="76200"/>
                </a:cubicBezTo>
                <a:lnTo>
                  <a:pt x="609600" y="533400"/>
                </a:lnTo>
                <a:cubicBezTo>
                  <a:pt x="609600" y="575456"/>
                  <a:pt x="575456" y="609600"/>
                  <a:pt x="53340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0000"/>
          </a:solidFill>
          <a:ln/>
        </p:spPr>
      </p:sp>
      <p:sp>
        <p:nvSpPr>
          <p:cNvPr id="3" name="Text 1"/>
          <p:cNvSpPr/>
          <p:nvPr/>
        </p:nvSpPr>
        <p:spPr>
          <a:xfrm>
            <a:off x="510540" y="514350"/>
            <a:ext cx="495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43000" y="400050"/>
            <a:ext cx="4981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C75B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LITERATURE SURVEY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590550"/>
            <a:ext cx="50863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Related Work (IEEE 2024-2025)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1000" y="1143000"/>
            <a:ext cx="11430000" cy="5334000"/>
          </a:xfrm>
          <a:custGeom>
            <a:avLst/>
            <a:gdLst/>
            <a:ahLst/>
            <a:cxnLst/>
            <a:rect l="l" t="t" r="r" b="b"/>
            <a:pathLst>
              <a:path w="11430000" h="5334000">
                <a:moveTo>
                  <a:pt x="76223" y="0"/>
                </a:moveTo>
                <a:lnTo>
                  <a:pt x="11353777" y="0"/>
                </a:lnTo>
                <a:cubicBezTo>
                  <a:pt x="11395874" y="0"/>
                  <a:pt x="11430000" y="34126"/>
                  <a:pt x="11430000" y="76223"/>
                </a:cubicBezTo>
                <a:lnTo>
                  <a:pt x="11430000" y="5257777"/>
                </a:lnTo>
                <a:cubicBezTo>
                  <a:pt x="11430000" y="5299874"/>
                  <a:pt x="11395874" y="5334000"/>
                  <a:pt x="11353777" y="5334000"/>
                </a:cubicBezTo>
                <a:lnTo>
                  <a:pt x="76223" y="5334000"/>
                </a:lnTo>
                <a:cubicBezTo>
                  <a:pt x="34126" y="5334000"/>
                  <a:pt x="0" y="5299874"/>
                  <a:pt x="0" y="5257777"/>
                </a:cubicBezTo>
                <a:lnTo>
                  <a:pt x="0" y="76223"/>
                </a:lnTo>
                <a:cubicBezTo>
                  <a:pt x="0" y="34154"/>
                  <a:pt x="34154" y="0"/>
                  <a:pt x="7622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3623476"/>
              </p:ext>
            </p:extLst>
          </p:nvPr>
        </p:nvGraphicFramePr>
        <p:xfrm>
          <a:off x="381000" y="1025142"/>
          <a:ext cx="11287125" cy="5738503"/>
        </p:xfrm>
        <a:graphic>
          <a:graphicData uri="http://schemas.openxmlformats.org/drawingml/2006/table">
            <a:tbl>
              <a:tblPr/>
              <a:tblGrid>
                <a:gridCol w="2076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0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57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384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24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56903"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F5F1E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Title &amp; Authors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F5F1E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Journal/Year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F5F1E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Architecture/Algorithm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F5F1E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Results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F5F1E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Drawbacks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2514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 Comparative Analysis of Stochastic Models for Stock Price Forecasting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1000" u="none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Aims Press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QFE Journal2025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GBM, Heston SV, Merton JD, SVJ models with MLE and Monte Carlo simulation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SVJ model achieved superior predictive performance with lowest RMSE and MAPE across volatility profiles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Limited to specific volatility regimes; requires extensive calibration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2514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Applications of Deep Learning in Financial Time Series Forecasting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1000" u="none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ACM Conference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Digital Economy &amp; IS2025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TCN-BNN hybrid model combining Temporal Convolutional Network with Bayesian Neural Network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MSE: 0.018, MAE: 0.012, MAPE: 2.17% on Apple dataset; PICP: 90.2%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High computational complexity; slow training due to Bayesian inference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2011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Automated Stock Trading by Reinforcement Learning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1000" u="none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ACM Conference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2025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TD3 algorithm with 50+ technical indicators, reward clipping, turbulence index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$7.4M profit on NASDAQ with $100K investment; 70-75% directional accuracy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Heterogeneous performance across markets; extreme drawdowns in volatile periods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2011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Deep Learning for Time Series Forecasting: A Survey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1000" u="none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Springer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2025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Comprehensive review of CNN, LSTM, TCN, Transformer, GAN architectures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Identified best practices; highlighted hybrid models outperform single architectures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Survey paper; no novel implementation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2011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Data-Driven Hedging with Generative Models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1000" u="none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EDHEC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2025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VoLGAN for implied volatility surfaces; local risk minimization with L1 penalty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Outperformed delta and delta-vega hedging; reduced tracking error significantly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Limited to option portfolios; requires large training datasets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2011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Enhancing Deep Hedging with IV Surface Feedback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1000" u="none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arXiv/IEEE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2024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Deep RL with LSTM and FFNN; JIVR model for S&amp;P 500 IV surface dynamics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Consistently outperformed traditional benchmarks; robust across economic states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Complex model architecture; requires expertise in options pricing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2011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Deep Learning Based Stock Trading Strategies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1000" u="none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IJSAT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2025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Hybrid RL framework with technical indicators as state space features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Outperformed SVM and moving average crossover rules; dynamic market adaptation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Manual feature engineering required; reward shaping complexity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62011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Predicting Stock Prices with Sentiment Analysis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1000" u="none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IEOM Society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Oman Conference2024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NLP and ML integration for news sentiment; topic modeling-based approach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Demonstrated correlation between sentiment scores and price movements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Sentiment lag issues; noise in social media data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8062" y="358062"/>
            <a:ext cx="572899" cy="572899"/>
          </a:xfrm>
          <a:custGeom>
            <a:avLst/>
            <a:gdLst/>
            <a:ahLst/>
            <a:cxnLst/>
            <a:rect l="l" t="t" r="r" b="b"/>
            <a:pathLst>
              <a:path w="572899" h="572899">
                <a:moveTo>
                  <a:pt x="71612" y="0"/>
                </a:moveTo>
                <a:lnTo>
                  <a:pt x="501286" y="0"/>
                </a:lnTo>
                <a:cubicBezTo>
                  <a:pt x="540837" y="0"/>
                  <a:pt x="572899" y="32062"/>
                  <a:pt x="572899" y="71612"/>
                </a:cubicBezTo>
                <a:lnTo>
                  <a:pt x="572899" y="501286"/>
                </a:lnTo>
                <a:cubicBezTo>
                  <a:pt x="572899" y="540837"/>
                  <a:pt x="540837" y="572899"/>
                  <a:pt x="501286" y="572899"/>
                </a:cubicBezTo>
                <a:lnTo>
                  <a:pt x="71612" y="572899"/>
                </a:lnTo>
                <a:cubicBezTo>
                  <a:pt x="32062" y="572899"/>
                  <a:pt x="0" y="540837"/>
                  <a:pt x="0" y="501286"/>
                </a:cubicBezTo>
                <a:lnTo>
                  <a:pt x="0" y="71612"/>
                </a:lnTo>
                <a:cubicBezTo>
                  <a:pt x="0" y="32062"/>
                  <a:pt x="32062" y="0"/>
                  <a:pt x="71612" y="0"/>
                </a:cubicBezTo>
                <a:close/>
              </a:path>
            </a:pathLst>
          </a:custGeom>
          <a:solidFill>
            <a:srgbClr val="FF0000"/>
          </a:solidFill>
          <a:ln/>
        </p:spPr>
      </p:sp>
      <p:sp>
        <p:nvSpPr>
          <p:cNvPr id="3" name="Text 1"/>
          <p:cNvSpPr/>
          <p:nvPr/>
        </p:nvSpPr>
        <p:spPr>
          <a:xfrm>
            <a:off x="479803" y="483383"/>
            <a:ext cx="465480" cy="32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15" b="1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74185" y="375965"/>
            <a:ext cx="5129233" cy="179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7" b="1" kern="0" spc="49" dirty="0">
                <a:solidFill>
                  <a:srgbClr val="C75B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RESEARCH GAPS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74185" y="554996"/>
            <a:ext cx="5227700" cy="3580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37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Identified Gaps in Existing Research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75965" y="1145797"/>
            <a:ext cx="5612617" cy="1808211"/>
          </a:xfrm>
          <a:custGeom>
            <a:avLst/>
            <a:gdLst/>
            <a:ahLst/>
            <a:cxnLst/>
            <a:rect l="l" t="t" r="r" b="b"/>
            <a:pathLst>
              <a:path w="5612617" h="1808211">
                <a:moveTo>
                  <a:pt x="35806" y="0"/>
                </a:moveTo>
                <a:lnTo>
                  <a:pt x="5541012" y="0"/>
                </a:lnTo>
                <a:cubicBezTo>
                  <a:pt x="5580558" y="0"/>
                  <a:pt x="5612617" y="32059"/>
                  <a:pt x="5612617" y="71605"/>
                </a:cubicBezTo>
                <a:lnTo>
                  <a:pt x="5612617" y="1736606"/>
                </a:lnTo>
                <a:cubicBezTo>
                  <a:pt x="5612617" y="1776153"/>
                  <a:pt x="5580558" y="1808211"/>
                  <a:pt x="5541012" y="1808211"/>
                </a:cubicBezTo>
                <a:lnTo>
                  <a:pt x="35806" y="1808211"/>
                </a:lnTo>
                <a:cubicBezTo>
                  <a:pt x="16031" y="1808211"/>
                  <a:pt x="0" y="1792180"/>
                  <a:pt x="0" y="1772405"/>
                </a:cubicBezTo>
                <a:lnTo>
                  <a:pt x="0" y="35806"/>
                </a:lnTo>
                <a:cubicBezTo>
                  <a:pt x="0" y="16031"/>
                  <a:pt x="16031" y="0"/>
                  <a:pt x="35806" y="0"/>
                </a:cubicBezTo>
                <a:close/>
              </a:path>
            </a:pathLst>
          </a:custGeom>
          <a:solidFill>
            <a:srgbClr val="FFFFFF"/>
          </a:solidFill>
          <a:ln>
            <a:solidFill>
              <a:schemeClr val="tx1"/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  <a:outerShdw blurRad="53709" dist="35806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75965" y="1145797"/>
            <a:ext cx="35806" cy="1808211"/>
          </a:xfrm>
          <a:custGeom>
            <a:avLst/>
            <a:gdLst/>
            <a:ahLst/>
            <a:cxnLst/>
            <a:rect l="l" t="t" r="r" b="b"/>
            <a:pathLst>
              <a:path w="35806" h="1808211">
                <a:moveTo>
                  <a:pt x="35806" y="0"/>
                </a:moveTo>
                <a:lnTo>
                  <a:pt x="35806" y="0"/>
                </a:lnTo>
                <a:lnTo>
                  <a:pt x="35806" y="1808211"/>
                </a:lnTo>
                <a:lnTo>
                  <a:pt x="35806" y="1808211"/>
                </a:lnTo>
                <a:cubicBezTo>
                  <a:pt x="16031" y="1808211"/>
                  <a:pt x="0" y="1792180"/>
                  <a:pt x="0" y="1772405"/>
                </a:cubicBezTo>
                <a:lnTo>
                  <a:pt x="0" y="35806"/>
                </a:lnTo>
                <a:cubicBezTo>
                  <a:pt x="0" y="16031"/>
                  <a:pt x="16031" y="0"/>
                  <a:pt x="35806" y="0"/>
                </a:cubicBez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8" name="Shape 6"/>
          <p:cNvSpPr/>
          <p:nvPr/>
        </p:nvSpPr>
        <p:spPr>
          <a:xfrm>
            <a:off x="572899" y="1324828"/>
            <a:ext cx="429674" cy="429674"/>
          </a:xfrm>
          <a:custGeom>
            <a:avLst/>
            <a:gdLst/>
            <a:ahLst/>
            <a:cxnLst/>
            <a:rect l="l" t="t" r="r" b="b"/>
            <a:pathLst>
              <a:path w="429674" h="429674">
                <a:moveTo>
                  <a:pt x="214837" y="0"/>
                </a:moveTo>
                <a:lnTo>
                  <a:pt x="214837" y="0"/>
                </a:lnTo>
                <a:cubicBezTo>
                  <a:pt x="333409" y="0"/>
                  <a:pt x="429674" y="96265"/>
                  <a:pt x="429674" y="214837"/>
                </a:cubicBezTo>
                <a:lnTo>
                  <a:pt x="429674" y="214837"/>
                </a:lnTo>
                <a:cubicBezTo>
                  <a:pt x="429674" y="333409"/>
                  <a:pt x="333409" y="429674"/>
                  <a:pt x="214837" y="429674"/>
                </a:cubicBezTo>
                <a:lnTo>
                  <a:pt x="214837" y="429674"/>
                </a:lnTo>
                <a:cubicBezTo>
                  <a:pt x="96265" y="429674"/>
                  <a:pt x="0" y="333409"/>
                  <a:pt x="0" y="214837"/>
                </a:cubicBezTo>
                <a:lnTo>
                  <a:pt x="0" y="214837"/>
                </a:lnTo>
                <a:cubicBezTo>
                  <a:pt x="0" y="96265"/>
                  <a:pt x="96265" y="0"/>
                  <a:pt x="214837" y="0"/>
                </a:cubicBez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9" name="Shape 7"/>
          <p:cNvSpPr/>
          <p:nvPr/>
        </p:nvSpPr>
        <p:spPr>
          <a:xfrm>
            <a:off x="698220" y="1450150"/>
            <a:ext cx="179031" cy="179031"/>
          </a:xfrm>
          <a:custGeom>
            <a:avLst/>
            <a:gdLst/>
            <a:ahLst/>
            <a:cxnLst/>
            <a:rect l="l" t="t" r="r" b="b"/>
            <a:pathLst>
              <a:path w="179031" h="179031">
                <a:moveTo>
                  <a:pt x="78326" y="0"/>
                </a:moveTo>
                <a:cubicBezTo>
                  <a:pt x="90669" y="0"/>
                  <a:pt x="100705" y="7518"/>
                  <a:pt x="100705" y="16784"/>
                </a:cubicBezTo>
                <a:cubicBezTo>
                  <a:pt x="100705" y="20421"/>
                  <a:pt x="99166" y="23778"/>
                  <a:pt x="96509" y="26540"/>
                </a:cubicBezTo>
                <a:cubicBezTo>
                  <a:pt x="94201" y="28953"/>
                  <a:pt x="92313" y="31890"/>
                  <a:pt x="92313" y="35247"/>
                </a:cubicBezTo>
                <a:cubicBezTo>
                  <a:pt x="92313" y="40492"/>
                  <a:pt x="96579" y="44758"/>
                  <a:pt x="101824" y="44758"/>
                </a:cubicBezTo>
                <a:lnTo>
                  <a:pt x="117489" y="44758"/>
                </a:lnTo>
                <a:cubicBezTo>
                  <a:pt x="126755" y="44758"/>
                  <a:pt x="134273" y="52276"/>
                  <a:pt x="134273" y="61542"/>
                </a:cubicBezTo>
                <a:lnTo>
                  <a:pt x="134273" y="77207"/>
                </a:lnTo>
                <a:cubicBezTo>
                  <a:pt x="134273" y="82452"/>
                  <a:pt x="138539" y="86718"/>
                  <a:pt x="143784" y="86718"/>
                </a:cubicBezTo>
                <a:cubicBezTo>
                  <a:pt x="147106" y="86718"/>
                  <a:pt x="150078" y="84830"/>
                  <a:pt x="152491" y="82522"/>
                </a:cubicBezTo>
                <a:cubicBezTo>
                  <a:pt x="155253" y="79900"/>
                  <a:pt x="158610" y="78326"/>
                  <a:pt x="162247" y="78326"/>
                </a:cubicBezTo>
                <a:cubicBezTo>
                  <a:pt x="171513" y="78326"/>
                  <a:pt x="179031" y="88362"/>
                  <a:pt x="179031" y="100705"/>
                </a:cubicBezTo>
                <a:cubicBezTo>
                  <a:pt x="179031" y="113048"/>
                  <a:pt x="171513" y="123084"/>
                  <a:pt x="162247" y="123084"/>
                </a:cubicBezTo>
                <a:cubicBezTo>
                  <a:pt x="158610" y="123084"/>
                  <a:pt x="155218" y="121545"/>
                  <a:pt x="152491" y="118888"/>
                </a:cubicBezTo>
                <a:cubicBezTo>
                  <a:pt x="150078" y="116580"/>
                  <a:pt x="147141" y="114692"/>
                  <a:pt x="143784" y="114692"/>
                </a:cubicBezTo>
                <a:cubicBezTo>
                  <a:pt x="138539" y="114692"/>
                  <a:pt x="134273" y="118958"/>
                  <a:pt x="134273" y="124203"/>
                </a:cubicBezTo>
                <a:lnTo>
                  <a:pt x="134273" y="162247"/>
                </a:lnTo>
                <a:cubicBezTo>
                  <a:pt x="134273" y="171513"/>
                  <a:pt x="126755" y="179031"/>
                  <a:pt x="117489" y="179031"/>
                </a:cubicBezTo>
                <a:lnTo>
                  <a:pt x="97628" y="179031"/>
                </a:lnTo>
                <a:cubicBezTo>
                  <a:pt x="93152" y="179031"/>
                  <a:pt x="89515" y="175394"/>
                  <a:pt x="89515" y="170919"/>
                </a:cubicBezTo>
                <a:cubicBezTo>
                  <a:pt x="89515" y="167702"/>
                  <a:pt x="91544" y="164869"/>
                  <a:pt x="94131" y="162946"/>
                </a:cubicBezTo>
                <a:cubicBezTo>
                  <a:pt x="98187" y="159904"/>
                  <a:pt x="100705" y="155708"/>
                  <a:pt x="100705" y="151057"/>
                </a:cubicBezTo>
                <a:cubicBezTo>
                  <a:pt x="100705" y="141791"/>
                  <a:pt x="90669" y="134273"/>
                  <a:pt x="78326" y="134273"/>
                </a:cubicBezTo>
                <a:cubicBezTo>
                  <a:pt x="65983" y="134273"/>
                  <a:pt x="55947" y="141791"/>
                  <a:pt x="55947" y="151057"/>
                </a:cubicBezTo>
                <a:cubicBezTo>
                  <a:pt x="55947" y="155708"/>
                  <a:pt x="58465" y="159904"/>
                  <a:pt x="62521" y="162946"/>
                </a:cubicBezTo>
                <a:cubicBezTo>
                  <a:pt x="65108" y="164869"/>
                  <a:pt x="67137" y="167667"/>
                  <a:pt x="67137" y="170919"/>
                </a:cubicBezTo>
                <a:cubicBezTo>
                  <a:pt x="67137" y="175394"/>
                  <a:pt x="63500" y="179031"/>
                  <a:pt x="59024" y="179031"/>
                </a:cubicBezTo>
                <a:lnTo>
                  <a:pt x="16784" y="179031"/>
                </a:lnTo>
                <a:cubicBezTo>
                  <a:pt x="7518" y="179031"/>
                  <a:pt x="0" y="171513"/>
                  <a:pt x="0" y="162247"/>
                </a:cubicBezTo>
                <a:lnTo>
                  <a:pt x="0" y="120007"/>
                </a:lnTo>
                <a:cubicBezTo>
                  <a:pt x="0" y="115531"/>
                  <a:pt x="3637" y="111894"/>
                  <a:pt x="8112" y="111894"/>
                </a:cubicBezTo>
                <a:cubicBezTo>
                  <a:pt x="11329" y="111894"/>
                  <a:pt x="14162" y="113922"/>
                  <a:pt x="16085" y="116510"/>
                </a:cubicBezTo>
                <a:cubicBezTo>
                  <a:pt x="19127" y="120566"/>
                  <a:pt x="23323" y="123084"/>
                  <a:pt x="27974" y="123084"/>
                </a:cubicBezTo>
                <a:cubicBezTo>
                  <a:pt x="37240" y="123084"/>
                  <a:pt x="44758" y="113048"/>
                  <a:pt x="44758" y="100705"/>
                </a:cubicBezTo>
                <a:cubicBezTo>
                  <a:pt x="44758" y="88362"/>
                  <a:pt x="37240" y="78326"/>
                  <a:pt x="27974" y="78326"/>
                </a:cubicBezTo>
                <a:cubicBezTo>
                  <a:pt x="23323" y="78326"/>
                  <a:pt x="19127" y="80844"/>
                  <a:pt x="16085" y="84900"/>
                </a:cubicBezTo>
                <a:cubicBezTo>
                  <a:pt x="14162" y="87487"/>
                  <a:pt x="11364" y="89515"/>
                  <a:pt x="8112" y="89515"/>
                </a:cubicBezTo>
                <a:cubicBezTo>
                  <a:pt x="3637" y="89515"/>
                  <a:pt x="0" y="85879"/>
                  <a:pt x="0" y="81403"/>
                </a:cubicBezTo>
                <a:lnTo>
                  <a:pt x="0" y="61542"/>
                </a:lnTo>
                <a:cubicBezTo>
                  <a:pt x="0" y="52276"/>
                  <a:pt x="7518" y="44758"/>
                  <a:pt x="16784" y="44758"/>
                </a:cubicBezTo>
                <a:lnTo>
                  <a:pt x="54828" y="44758"/>
                </a:lnTo>
                <a:cubicBezTo>
                  <a:pt x="60073" y="44758"/>
                  <a:pt x="64339" y="40492"/>
                  <a:pt x="64339" y="35247"/>
                </a:cubicBezTo>
                <a:cubicBezTo>
                  <a:pt x="64339" y="31925"/>
                  <a:pt x="62451" y="28953"/>
                  <a:pt x="60143" y="26540"/>
                </a:cubicBezTo>
                <a:cubicBezTo>
                  <a:pt x="57521" y="23778"/>
                  <a:pt x="55947" y="20421"/>
                  <a:pt x="55947" y="16784"/>
                </a:cubicBezTo>
                <a:cubicBezTo>
                  <a:pt x="55947" y="7518"/>
                  <a:pt x="65983" y="0"/>
                  <a:pt x="78326" y="0"/>
                </a:cubicBezTo>
                <a:close/>
              </a:path>
            </a:pathLst>
          </a:custGeom>
          <a:solidFill>
            <a:srgbClr val="F5F1EB"/>
          </a:solidFill>
          <a:ln/>
        </p:spPr>
      </p:sp>
      <p:sp>
        <p:nvSpPr>
          <p:cNvPr id="10" name="Text 8"/>
          <p:cNvSpPr/>
          <p:nvPr/>
        </p:nvSpPr>
        <p:spPr>
          <a:xfrm>
            <a:off x="1145797" y="1324828"/>
            <a:ext cx="4753269" cy="250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Gap 1: Integrated Sentiment-Momentum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5797" y="1647084"/>
            <a:ext cx="4735366" cy="698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8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Existing systems treat sentiment analysis and technical momentum indicators as separate components. There is no unified oscillator that combines both dimensions into a single actionable metric.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45797" y="2416916"/>
            <a:ext cx="4726414" cy="3580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7" b="1" dirty="0">
                <a:solidFill>
                  <a:srgbClr val="4A90A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 QuantShield Solution: BSI (Buy Strength Index) integrates sentiment and momentum into a 0-100 scale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75965" y="3097233"/>
            <a:ext cx="5612617" cy="1808211"/>
          </a:xfrm>
          <a:custGeom>
            <a:avLst/>
            <a:gdLst/>
            <a:ahLst/>
            <a:cxnLst/>
            <a:rect l="l" t="t" r="r" b="b"/>
            <a:pathLst>
              <a:path w="5612617" h="1808211">
                <a:moveTo>
                  <a:pt x="35806" y="0"/>
                </a:moveTo>
                <a:lnTo>
                  <a:pt x="5541012" y="0"/>
                </a:lnTo>
                <a:cubicBezTo>
                  <a:pt x="5580558" y="0"/>
                  <a:pt x="5612617" y="32059"/>
                  <a:pt x="5612617" y="71605"/>
                </a:cubicBezTo>
                <a:lnTo>
                  <a:pt x="5612617" y="1736606"/>
                </a:lnTo>
                <a:cubicBezTo>
                  <a:pt x="5612617" y="1776153"/>
                  <a:pt x="5580558" y="1808211"/>
                  <a:pt x="5541012" y="1808211"/>
                </a:cubicBezTo>
                <a:lnTo>
                  <a:pt x="35806" y="1808211"/>
                </a:lnTo>
                <a:cubicBezTo>
                  <a:pt x="16031" y="1808211"/>
                  <a:pt x="0" y="1792180"/>
                  <a:pt x="0" y="1772405"/>
                </a:cubicBezTo>
                <a:lnTo>
                  <a:pt x="0" y="35806"/>
                </a:lnTo>
                <a:cubicBezTo>
                  <a:pt x="0" y="16031"/>
                  <a:pt x="16031" y="0"/>
                  <a:pt x="35806" y="0"/>
                </a:cubicBezTo>
                <a:close/>
              </a:path>
            </a:pathLst>
          </a:custGeom>
          <a:solidFill>
            <a:srgbClr val="FFFFFF"/>
          </a:solidFill>
          <a:ln>
            <a:solidFill>
              <a:schemeClr val="tx1"/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3709" dist="35806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75965" y="3097233"/>
            <a:ext cx="35806" cy="1808211"/>
          </a:xfrm>
          <a:custGeom>
            <a:avLst/>
            <a:gdLst/>
            <a:ahLst/>
            <a:cxnLst/>
            <a:rect l="l" t="t" r="r" b="b"/>
            <a:pathLst>
              <a:path w="35806" h="1808211">
                <a:moveTo>
                  <a:pt x="35806" y="0"/>
                </a:moveTo>
                <a:lnTo>
                  <a:pt x="35806" y="0"/>
                </a:lnTo>
                <a:lnTo>
                  <a:pt x="35806" y="1808211"/>
                </a:lnTo>
                <a:lnTo>
                  <a:pt x="35806" y="1808211"/>
                </a:lnTo>
                <a:cubicBezTo>
                  <a:pt x="16031" y="1808211"/>
                  <a:pt x="0" y="1792180"/>
                  <a:pt x="0" y="1772405"/>
                </a:cubicBezTo>
                <a:lnTo>
                  <a:pt x="0" y="35806"/>
                </a:lnTo>
                <a:cubicBezTo>
                  <a:pt x="0" y="16031"/>
                  <a:pt x="16031" y="0"/>
                  <a:pt x="35806" y="0"/>
                </a:cubicBezTo>
                <a:close/>
              </a:path>
            </a:pathLst>
          </a:custGeom>
          <a:solidFill>
            <a:srgbClr val="4A90A4"/>
          </a:solidFill>
          <a:ln/>
        </p:spPr>
      </p:sp>
      <p:sp>
        <p:nvSpPr>
          <p:cNvPr id="15" name="Shape 13"/>
          <p:cNvSpPr/>
          <p:nvPr/>
        </p:nvSpPr>
        <p:spPr>
          <a:xfrm>
            <a:off x="572899" y="3276264"/>
            <a:ext cx="429674" cy="429674"/>
          </a:xfrm>
          <a:custGeom>
            <a:avLst/>
            <a:gdLst/>
            <a:ahLst/>
            <a:cxnLst/>
            <a:rect l="l" t="t" r="r" b="b"/>
            <a:pathLst>
              <a:path w="429674" h="429674">
                <a:moveTo>
                  <a:pt x="214837" y="0"/>
                </a:moveTo>
                <a:lnTo>
                  <a:pt x="214837" y="0"/>
                </a:lnTo>
                <a:cubicBezTo>
                  <a:pt x="333409" y="0"/>
                  <a:pt x="429674" y="96265"/>
                  <a:pt x="429674" y="214837"/>
                </a:cubicBezTo>
                <a:lnTo>
                  <a:pt x="429674" y="214837"/>
                </a:lnTo>
                <a:cubicBezTo>
                  <a:pt x="429674" y="333409"/>
                  <a:pt x="333409" y="429674"/>
                  <a:pt x="214837" y="429674"/>
                </a:cubicBezTo>
                <a:lnTo>
                  <a:pt x="214837" y="429674"/>
                </a:lnTo>
                <a:cubicBezTo>
                  <a:pt x="96265" y="429674"/>
                  <a:pt x="0" y="333409"/>
                  <a:pt x="0" y="214837"/>
                </a:cubicBezTo>
                <a:lnTo>
                  <a:pt x="0" y="214837"/>
                </a:lnTo>
                <a:cubicBezTo>
                  <a:pt x="0" y="96265"/>
                  <a:pt x="96265" y="0"/>
                  <a:pt x="214837" y="0"/>
                </a:cubicBezTo>
                <a:close/>
              </a:path>
            </a:pathLst>
          </a:custGeom>
          <a:solidFill>
            <a:srgbClr val="4A90A4"/>
          </a:solidFill>
          <a:ln/>
        </p:spPr>
      </p:sp>
      <p:sp>
        <p:nvSpPr>
          <p:cNvPr id="16" name="Shape 14"/>
          <p:cNvSpPr/>
          <p:nvPr/>
        </p:nvSpPr>
        <p:spPr>
          <a:xfrm>
            <a:off x="675841" y="3401586"/>
            <a:ext cx="223789" cy="179031"/>
          </a:xfrm>
          <a:custGeom>
            <a:avLst/>
            <a:gdLst/>
            <a:ahLst/>
            <a:cxnLst/>
            <a:rect l="l" t="t" r="r" b="b"/>
            <a:pathLst>
              <a:path w="223789" h="179031">
                <a:moveTo>
                  <a:pt x="123084" y="0"/>
                </a:moveTo>
                <a:cubicBezTo>
                  <a:pt x="123084" y="-6189"/>
                  <a:pt x="118083" y="-11189"/>
                  <a:pt x="111894" y="-11189"/>
                </a:cubicBezTo>
                <a:cubicBezTo>
                  <a:pt x="105705" y="-11189"/>
                  <a:pt x="100705" y="-6189"/>
                  <a:pt x="100705" y="0"/>
                </a:cubicBezTo>
                <a:lnTo>
                  <a:pt x="100705" y="22379"/>
                </a:lnTo>
                <a:lnTo>
                  <a:pt x="67137" y="22379"/>
                </a:lnTo>
                <a:cubicBezTo>
                  <a:pt x="48604" y="22379"/>
                  <a:pt x="33568" y="37415"/>
                  <a:pt x="33568" y="55947"/>
                </a:cubicBezTo>
                <a:lnTo>
                  <a:pt x="33568" y="134273"/>
                </a:lnTo>
                <a:cubicBezTo>
                  <a:pt x="33568" y="152806"/>
                  <a:pt x="48604" y="167841"/>
                  <a:pt x="67137" y="167841"/>
                </a:cubicBezTo>
                <a:lnTo>
                  <a:pt x="156652" y="167841"/>
                </a:lnTo>
                <a:cubicBezTo>
                  <a:pt x="175184" y="167841"/>
                  <a:pt x="190220" y="152806"/>
                  <a:pt x="190220" y="134273"/>
                </a:cubicBezTo>
                <a:lnTo>
                  <a:pt x="190220" y="55947"/>
                </a:lnTo>
                <a:cubicBezTo>
                  <a:pt x="190220" y="37415"/>
                  <a:pt x="175184" y="22379"/>
                  <a:pt x="156652" y="22379"/>
                </a:cubicBezTo>
                <a:lnTo>
                  <a:pt x="123084" y="22379"/>
                </a:lnTo>
                <a:lnTo>
                  <a:pt x="123084" y="0"/>
                </a:lnTo>
                <a:close/>
                <a:moveTo>
                  <a:pt x="55947" y="128678"/>
                </a:moveTo>
                <a:cubicBezTo>
                  <a:pt x="55947" y="124028"/>
                  <a:pt x="59689" y="120286"/>
                  <a:pt x="64339" y="120286"/>
                </a:cubicBezTo>
                <a:lnTo>
                  <a:pt x="75529" y="120286"/>
                </a:lnTo>
                <a:cubicBezTo>
                  <a:pt x="80179" y="120286"/>
                  <a:pt x="83921" y="124028"/>
                  <a:pt x="83921" y="128678"/>
                </a:cubicBezTo>
                <a:cubicBezTo>
                  <a:pt x="83921" y="133329"/>
                  <a:pt x="80179" y="137070"/>
                  <a:pt x="75529" y="137070"/>
                </a:cubicBezTo>
                <a:lnTo>
                  <a:pt x="64339" y="137070"/>
                </a:lnTo>
                <a:cubicBezTo>
                  <a:pt x="59689" y="137070"/>
                  <a:pt x="55947" y="133329"/>
                  <a:pt x="55947" y="128678"/>
                </a:cubicBezTo>
                <a:close/>
                <a:moveTo>
                  <a:pt x="97907" y="128678"/>
                </a:moveTo>
                <a:cubicBezTo>
                  <a:pt x="97907" y="124028"/>
                  <a:pt x="101649" y="120286"/>
                  <a:pt x="106300" y="120286"/>
                </a:cubicBezTo>
                <a:lnTo>
                  <a:pt x="117489" y="120286"/>
                </a:lnTo>
                <a:cubicBezTo>
                  <a:pt x="122140" y="120286"/>
                  <a:pt x="125881" y="124028"/>
                  <a:pt x="125881" y="128678"/>
                </a:cubicBezTo>
                <a:cubicBezTo>
                  <a:pt x="125881" y="133329"/>
                  <a:pt x="122140" y="137070"/>
                  <a:pt x="117489" y="137070"/>
                </a:cubicBezTo>
                <a:lnTo>
                  <a:pt x="106300" y="137070"/>
                </a:lnTo>
                <a:cubicBezTo>
                  <a:pt x="101649" y="137070"/>
                  <a:pt x="97907" y="133329"/>
                  <a:pt x="97907" y="128678"/>
                </a:cubicBezTo>
                <a:close/>
                <a:moveTo>
                  <a:pt x="139868" y="128678"/>
                </a:moveTo>
                <a:cubicBezTo>
                  <a:pt x="139868" y="124028"/>
                  <a:pt x="143609" y="120286"/>
                  <a:pt x="148260" y="120286"/>
                </a:cubicBezTo>
                <a:lnTo>
                  <a:pt x="159449" y="120286"/>
                </a:lnTo>
                <a:cubicBezTo>
                  <a:pt x="164100" y="120286"/>
                  <a:pt x="167841" y="124028"/>
                  <a:pt x="167841" y="128678"/>
                </a:cubicBezTo>
                <a:cubicBezTo>
                  <a:pt x="167841" y="133329"/>
                  <a:pt x="164100" y="137070"/>
                  <a:pt x="159449" y="137070"/>
                </a:cubicBezTo>
                <a:lnTo>
                  <a:pt x="148260" y="137070"/>
                </a:lnTo>
                <a:cubicBezTo>
                  <a:pt x="143609" y="137070"/>
                  <a:pt x="139868" y="133329"/>
                  <a:pt x="139868" y="128678"/>
                </a:cubicBezTo>
                <a:close/>
                <a:moveTo>
                  <a:pt x="78326" y="61542"/>
                </a:moveTo>
                <a:cubicBezTo>
                  <a:pt x="87589" y="61542"/>
                  <a:pt x="95110" y="69063"/>
                  <a:pt x="95110" y="78326"/>
                </a:cubicBezTo>
                <a:cubicBezTo>
                  <a:pt x="95110" y="87589"/>
                  <a:pt x="87589" y="95110"/>
                  <a:pt x="78326" y="95110"/>
                </a:cubicBezTo>
                <a:cubicBezTo>
                  <a:pt x="69063" y="95110"/>
                  <a:pt x="61542" y="87589"/>
                  <a:pt x="61542" y="78326"/>
                </a:cubicBezTo>
                <a:cubicBezTo>
                  <a:pt x="61542" y="69063"/>
                  <a:pt x="69063" y="61542"/>
                  <a:pt x="78326" y="61542"/>
                </a:cubicBezTo>
                <a:close/>
                <a:moveTo>
                  <a:pt x="128678" y="78326"/>
                </a:moveTo>
                <a:cubicBezTo>
                  <a:pt x="128678" y="69063"/>
                  <a:pt x="136199" y="61542"/>
                  <a:pt x="145463" y="61542"/>
                </a:cubicBezTo>
                <a:cubicBezTo>
                  <a:pt x="154726" y="61542"/>
                  <a:pt x="162247" y="69063"/>
                  <a:pt x="162247" y="78326"/>
                </a:cubicBezTo>
                <a:cubicBezTo>
                  <a:pt x="162247" y="87589"/>
                  <a:pt x="154726" y="95110"/>
                  <a:pt x="145463" y="95110"/>
                </a:cubicBezTo>
                <a:cubicBezTo>
                  <a:pt x="136199" y="95110"/>
                  <a:pt x="128678" y="87589"/>
                  <a:pt x="128678" y="78326"/>
                </a:cubicBezTo>
                <a:close/>
                <a:moveTo>
                  <a:pt x="22379" y="78326"/>
                </a:moveTo>
                <a:cubicBezTo>
                  <a:pt x="22379" y="72137"/>
                  <a:pt x="17379" y="67137"/>
                  <a:pt x="11189" y="67137"/>
                </a:cubicBezTo>
                <a:cubicBezTo>
                  <a:pt x="5000" y="67137"/>
                  <a:pt x="0" y="72137"/>
                  <a:pt x="0" y="78326"/>
                </a:cubicBezTo>
                <a:lnTo>
                  <a:pt x="0" y="111894"/>
                </a:lnTo>
                <a:cubicBezTo>
                  <a:pt x="0" y="118083"/>
                  <a:pt x="5000" y="123084"/>
                  <a:pt x="11189" y="123084"/>
                </a:cubicBezTo>
                <a:cubicBezTo>
                  <a:pt x="17379" y="123084"/>
                  <a:pt x="22379" y="118083"/>
                  <a:pt x="22379" y="111894"/>
                </a:cubicBezTo>
                <a:lnTo>
                  <a:pt x="22379" y="78326"/>
                </a:lnTo>
                <a:close/>
                <a:moveTo>
                  <a:pt x="212599" y="67137"/>
                </a:moveTo>
                <a:cubicBezTo>
                  <a:pt x="206410" y="67137"/>
                  <a:pt x="201410" y="72137"/>
                  <a:pt x="201410" y="78326"/>
                </a:cubicBezTo>
                <a:lnTo>
                  <a:pt x="201410" y="111894"/>
                </a:lnTo>
                <a:cubicBezTo>
                  <a:pt x="201410" y="118083"/>
                  <a:pt x="206410" y="123084"/>
                  <a:pt x="212599" y="123084"/>
                </a:cubicBezTo>
                <a:cubicBezTo>
                  <a:pt x="218788" y="123084"/>
                  <a:pt x="223789" y="118083"/>
                  <a:pt x="223789" y="111894"/>
                </a:cubicBezTo>
                <a:lnTo>
                  <a:pt x="223789" y="78326"/>
                </a:lnTo>
                <a:cubicBezTo>
                  <a:pt x="223789" y="72137"/>
                  <a:pt x="218788" y="67137"/>
                  <a:pt x="212599" y="67137"/>
                </a:cubicBezTo>
                <a:close/>
              </a:path>
            </a:pathLst>
          </a:custGeom>
          <a:solidFill>
            <a:srgbClr val="F5F1EB"/>
          </a:solidFill>
          <a:ln/>
        </p:spPr>
      </p:sp>
      <p:sp>
        <p:nvSpPr>
          <p:cNvPr id="17" name="Text 15"/>
          <p:cNvSpPr/>
          <p:nvPr/>
        </p:nvSpPr>
        <p:spPr>
          <a:xfrm>
            <a:off x="1145797" y="3276264"/>
            <a:ext cx="4753269" cy="250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Gap 2: Autonomous Risk Management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45797" y="3598520"/>
            <a:ext cx="4735366" cy="698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8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Current systems provide alerts but require manual intervention for risk actions. No existing solution offers fully autonomous capital protection with predetermined profit-booking and stop-loss triggers.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45797" y="4368352"/>
            <a:ext cx="4726414" cy="3580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7" b="1" dirty="0">
                <a:solidFill>
                  <a:srgbClr val="4A90A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 QuantShield Solution: Ghost Hedge Protocol with autonomous 4.5% profit booking and 10.0% stop-loss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75965" y="5048670"/>
            <a:ext cx="5612617" cy="1723919"/>
          </a:xfrm>
          <a:custGeom>
            <a:avLst/>
            <a:gdLst/>
            <a:ahLst/>
            <a:cxnLst/>
            <a:rect l="l" t="t" r="r" b="b"/>
            <a:pathLst>
              <a:path w="5612617" h="1808211">
                <a:moveTo>
                  <a:pt x="35806" y="0"/>
                </a:moveTo>
                <a:lnTo>
                  <a:pt x="5541012" y="0"/>
                </a:lnTo>
                <a:cubicBezTo>
                  <a:pt x="5580558" y="0"/>
                  <a:pt x="5612617" y="32059"/>
                  <a:pt x="5612617" y="71605"/>
                </a:cubicBezTo>
                <a:lnTo>
                  <a:pt x="5612617" y="1736606"/>
                </a:lnTo>
                <a:cubicBezTo>
                  <a:pt x="5612617" y="1776153"/>
                  <a:pt x="5580558" y="1808211"/>
                  <a:pt x="5541012" y="1808211"/>
                </a:cubicBezTo>
                <a:lnTo>
                  <a:pt x="35806" y="1808211"/>
                </a:lnTo>
                <a:cubicBezTo>
                  <a:pt x="16031" y="1808211"/>
                  <a:pt x="0" y="1792180"/>
                  <a:pt x="0" y="1772405"/>
                </a:cubicBezTo>
                <a:lnTo>
                  <a:pt x="0" y="35806"/>
                </a:lnTo>
                <a:cubicBezTo>
                  <a:pt x="0" y="16031"/>
                  <a:pt x="16031" y="0"/>
                  <a:pt x="35806" y="0"/>
                </a:cubicBezTo>
                <a:close/>
              </a:path>
            </a:pathLst>
          </a:custGeom>
          <a:solidFill>
            <a:srgbClr val="FFFFFF"/>
          </a:solidFill>
          <a:ln>
            <a:solidFill>
              <a:schemeClr val="tx1"/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  <a:outerShdw blurRad="53709" dist="35806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75965" y="5048670"/>
            <a:ext cx="35806" cy="1808211"/>
          </a:xfrm>
          <a:custGeom>
            <a:avLst/>
            <a:gdLst/>
            <a:ahLst/>
            <a:cxnLst/>
            <a:rect l="l" t="t" r="r" b="b"/>
            <a:pathLst>
              <a:path w="35806" h="1808211">
                <a:moveTo>
                  <a:pt x="35806" y="0"/>
                </a:moveTo>
                <a:lnTo>
                  <a:pt x="35806" y="0"/>
                </a:lnTo>
                <a:lnTo>
                  <a:pt x="35806" y="1808211"/>
                </a:lnTo>
                <a:lnTo>
                  <a:pt x="35806" y="1808211"/>
                </a:lnTo>
                <a:cubicBezTo>
                  <a:pt x="16031" y="1808211"/>
                  <a:pt x="0" y="1792180"/>
                  <a:pt x="0" y="1772405"/>
                </a:cubicBezTo>
                <a:lnTo>
                  <a:pt x="0" y="35806"/>
                </a:lnTo>
                <a:cubicBezTo>
                  <a:pt x="0" y="16031"/>
                  <a:pt x="16031" y="0"/>
                  <a:pt x="35806" y="0"/>
                </a:cubicBezTo>
                <a:close/>
              </a:path>
            </a:pathLst>
          </a:custGeom>
          <a:solidFill>
            <a:srgbClr val="1E3A5F"/>
          </a:solidFill>
          <a:ln/>
        </p:spPr>
      </p:sp>
      <p:sp>
        <p:nvSpPr>
          <p:cNvPr id="22" name="Shape 20"/>
          <p:cNvSpPr/>
          <p:nvPr/>
        </p:nvSpPr>
        <p:spPr>
          <a:xfrm>
            <a:off x="572899" y="5227700"/>
            <a:ext cx="429674" cy="429674"/>
          </a:xfrm>
          <a:custGeom>
            <a:avLst/>
            <a:gdLst/>
            <a:ahLst/>
            <a:cxnLst/>
            <a:rect l="l" t="t" r="r" b="b"/>
            <a:pathLst>
              <a:path w="429674" h="429674">
                <a:moveTo>
                  <a:pt x="214837" y="0"/>
                </a:moveTo>
                <a:lnTo>
                  <a:pt x="214837" y="0"/>
                </a:lnTo>
                <a:cubicBezTo>
                  <a:pt x="333409" y="0"/>
                  <a:pt x="429674" y="96265"/>
                  <a:pt x="429674" y="214837"/>
                </a:cubicBezTo>
                <a:lnTo>
                  <a:pt x="429674" y="214837"/>
                </a:lnTo>
                <a:cubicBezTo>
                  <a:pt x="429674" y="333409"/>
                  <a:pt x="333409" y="429674"/>
                  <a:pt x="214837" y="429674"/>
                </a:cubicBezTo>
                <a:lnTo>
                  <a:pt x="214837" y="429674"/>
                </a:lnTo>
                <a:cubicBezTo>
                  <a:pt x="96265" y="429674"/>
                  <a:pt x="0" y="333409"/>
                  <a:pt x="0" y="214837"/>
                </a:cubicBezTo>
                <a:lnTo>
                  <a:pt x="0" y="214837"/>
                </a:lnTo>
                <a:cubicBezTo>
                  <a:pt x="0" y="96265"/>
                  <a:pt x="96265" y="0"/>
                  <a:pt x="214837" y="0"/>
                </a:cubicBezTo>
                <a:close/>
              </a:path>
            </a:pathLst>
          </a:custGeom>
          <a:solidFill>
            <a:srgbClr val="1E3A5F"/>
          </a:solidFill>
          <a:ln/>
        </p:spPr>
      </p:sp>
      <p:sp>
        <p:nvSpPr>
          <p:cNvPr id="23" name="Shape 21"/>
          <p:cNvSpPr/>
          <p:nvPr/>
        </p:nvSpPr>
        <p:spPr>
          <a:xfrm>
            <a:off x="709410" y="5353022"/>
            <a:ext cx="156652" cy="179031"/>
          </a:xfrm>
          <a:custGeom>
            <a:avLst/>
            <a:gdLst/>
            <a:ahLst/>
            <a:cxnLst/>
            <a:rect l="l" t="t" r="r" b="b"/>
            <a:pathLst>
              <a:path w="156652" h="179031">
                <a:moveTo>
                  <a:pt x="118468" y="-3462"/>
                </a:moveTo>
                <a:cubicBezTo>
                  <a:pt x="122629" y="-455"/>
                  <a:pt x="124168" y="5000"/>
                  <a:pt x="122279" y="9756"/>
                </a:cubicBezTo>
                <a:lnTo>
                  <a:pt x="94865" y="78326"/>
                </a:lnTo>
                <a:lnTo>
                  <a:pt x="145463" y="78326"/>
                </a:lnTo>
                <a:cubicBezTo>
                  <a:pt x="150183" y="78326"/>
                  <a:pt x="154379" y="81263"/>
                  <a:pt x="155988" y="85704"/>
                </a:cubicBezTo>
                <a:cubicBezTo>
                  <a:pt x="157596" y="90145"/>
                  <a:pt x="156232" y="95110"/>
                  <a:pt x="152631" y="98117"/>
                </a:cubicBezTo>
                <a:lnTo>
                  <a:pt x="51926" y="182038"/>
                </a:lnTo>
                <a:cubicBezTo>
                  <a:pt x="47975" y="185325"/>
                  <a:pt x="42345" y="185500"/>
                  <a:pt x="38184" y="182493"/>
                </a:cubicBezTo>
                <a:cubicBezTo>
                  <a:pt x="34023" y="179485"/>
                  <a:pt x="32484" y="174031"/>
                  <a:pt x="34373" y="169275"/>
                </a:cubicBezTo>
                <a:lnTo>
                  <a:pt x="61787" y="100705"/>
                </a:lnTo>
                <a:lnTo>
                  <a:pt x="11189" y="100705"/>
                </a:lnTo>
                <a:cubicBezTo>
                  <a:pt x="6469" y="100705"/>
                  <a:pt x="2273" y="97768"/>
                  <a:pt x="664" y="93327"/>
                </a:cubicBezTo>
                <a:cubicBezTo>
                  <a:pt x="-944" y="88886"/>
                  <a:pt x="420" y="83921"/>
                  <a:pt x="4021" y="80914"/>
                </a:cubicBezTo>
                <a:lnTo>
                  <a:pt x="104726" y="-3007"/>
                </a:lnTo>
                <a:cubicBezTo>
                  <a:pt x="108677" y="-6294"/>
                  <a:pt x="114307" y="-6469"/>
                  <a:pt x="118468" y="-3462"/>
                </a:cubicBezTo>
                <a:close/>
              </a:path>
            </a:pathLst>
          </a:custGeom>
          <a:solidFill>
            <a:srgbClr val="F5F1EB"/>
          </a:solidFill>
          <a:ln/>
        </p:spPr>
      </p:sp>
      <p:sp>
        <p:nvSpPr>
          <p:cNvPr id="24" name="Text 22"/>
          <p:cNvSpPr/>
          <p:nvPr/>
        </p:nvSpPr>
        <p:spPr>
          <a:xfrm>
            <a:off x="1145797" y="5227700"/>
            <a:ext cx="4753269" cy="250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Gap 3: Real-Time Adaptive Hedging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45797" y="5549956"/>
            <a:ext cx="4735366" cy="698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8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Traditional hedging strategies are static and based on historical data. Markets require dynamic, real-time adaptation to volatility stress that existing systems fail to provide.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145797" y="6319789"/>
            <a:ext cx="4726414" cy="3580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7" b="1" dirty="0">
                <a:solidFill>
                  <a:srgbClr val="4A90A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 QuantShield Solution: Real-time volatility monitoring with adaptive hedging triggers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220315" y="1145797"/>
            <a:ext cx="5612617" cy="1808211"/>
          </a:xfrm>
          <a:custGeom>
            <a:avLst/>
            <a:gdLst/>
            <a:ahLst/>
            <a:cxnLst/>
            <a:rect l="l" t="t" r="r" b="b"/>
            <a:pathLst>
              <a:path w="5612617" h="1808211">
                <a:moveTo>
                  <a:pt x="35806" y="0"/>
                </a:moveTo>
                <a:lnTo>
                  <a:pt x="5541012" y="0"/>
                </a:lnTo>
                <a:cubicBezTo>
                  <a:pt x="5580558" y="0"/>
                  <a:pt x="5612617" y="32059"/>
                  <a:pt x="5612617" y="71605"/>
                </a:cubicBezTo>
                <a:lnTo>
                  <a:pt x="5612617" y="1736606"/>
                </a:lnTo>
                <a:cubicBezTo>
                  <a:pt x="5612617" y="1776153"/>
                  <a:pt x="5580558" y="1808211"/>
                  <a:pt x="5541012" y="1808211"/>
                </a:cubicBezTo>
                <a:lnTo>
                  <a:pt x="35806" y="1808211"/>
                </a:lnTo>
                <a:cubicBezTo>
                  <a:pt x="16031" y="1808211"/>
                  <a:pt x="0" y="1792180"/>
                  <a:pt x="0" y="1772405"/>
                </a:cubicBezTo>
                <a:lnTo>
                  <a:pt x="0" y="35806"/>
                </a:lnTo>
                <a:cubicBezTo>
                  <a:pt x="0" y="16031"/>
                  <a:pt x="16031" y="0"/>
                  <a:pt x="35806" y="0"/>
                </a:cubicBezTo>
                <a:close/>
              </a:path>
            </a:pathLst>
          </a:custGeom>
          <a:solidFill>
            <a:srgbClr val="FFFFFF"/>
          </a:solidFill>
          <a:ln>
            <a:solidFill>
              <a:schemeClr val="tx1"/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  <a:outerShdw blurRad="53709" dist="35806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220315" y="1145797"/>
            <a:ext cx="35806" cy="1808211"/>
          </a:xfrm>
          <a:custGeom>
            <a:avLst/>
            <a:gdLst/>
            <a:ahLst/>
            <a:cxnLst/>
            <a:rect l="l" t="t" r="r" b="b"/>
            <a:pathLst>
              <a:path w="35806" h="1808211">
                <a:moveTo>
                  <a:pt x="35806" y="0"/>
                </a:moveTo>
                <a:lnTo>
                  <a:pt x="35806" y="0"/>
                </a:lnTo>
                <a:lnTo>
                  <a:pt x="35806" y="1808211"/>
                </a:lnTo>
                <a:lnTo>
                  <a:pt x="35806" y="1808211"/>
                </a:lnTo>
                <a:cubicBezTo>
                  <a:pt x="16031" y="1808211"/>
                  <a:pt x="0" y="1792180"/>
                  <a:pt x="0" y="1772405"/>
                </a:cubicBezTo>
                <a:lnTo>
                  <a:pt x="0" y="35806"/>
                </a:lnTo>
                <a:cubicBezTo>
                  <a:pt x="0" y="16031"/>
                  <a:pt x="16031" y="0"/>
                  <a:pt x="35806" y="0"/>
                </a:cubicBez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29" name="Shape 27"/>
          <p:cNvSpPr/>
          <p:nvPr/>
        </p:nvSpPr>
        <p:spPr>
          <a:xfrm>
            <a:off x="6417249" y="1324828"/>
            <a:ext cx="429674" cy="429674"/>
          </a:xfrm>
          <a:custGeom>
            <a:avLst/>
            <a:gdLst/>
            <a:ahLst/>
            <a:cxnLst/>
            <a:rect l="l" t="t" r="r" b="b"/>
            <a:pathLst>
              <a:path w="429674" h="429674">
                <a:moveTo>
                  <a:pt x="214837" y="0"/>
                </a:moveTo>
                <a:lnTo>
                  <a:pt x="214837" y="0"/>
                </a:lnTo>
                <a:cubicBezTo>
                  <a:pt x="333409" y="0"/>
                  <a:pt x="429674" y="96265"/>
                  <a:pt x="429674" y="214837"/>
                </a:cubicBezTo>
                <a:lnTo>
                  <a:pt x="429674" y="214837"/>
                </a:lnTo>
                <a:cubicBezTo>
                  <a:pt x="429674" y="333409"/>
                  <a:pt x="333409" y="429674"/>
                  <a:pt x="214837" y="429674"/>
                </a:cubicBezTo>
                <a:lnTo>
                  <a:pt x="214837" y="429674"/>
                </a:lnTo>
                <a:cubicBezTo>
                  <a:pt x="96265" y="429674"/>
                  <a:pt x="0" y="333409"/>
                  <a:pt x="0" y="214837"/>
                </a:cubicBezTo>
                <a:lnTo>
                  <a:pt x="0" y="214837"/>
                </a:lnTo>
                <a:cubicBezTo>
                  <a:pt x="0" y="96265"/>
                  <a:pt x="96265" y="0"/>
                  <a:pt x="214837" y="0"/>
                </a:cubicBez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30" name="Shape 28"/>
          <p:cNvSpPr/>
          <p:nvPr/>
        </p:nvSpPr>
        <p:spPr>
          <a:xfrm>
            <a:off x="6520191" y="1450150"/>
            <a:ext cx="223789" cy="179031"/>
          </a:xfrm>
          <a:custGeom>
            <a:avLst/>
            <a:gdLst/>
            <a:ahLst/>
            <a:cxnLst/>
            <a:rect l="l" t="t" r="r" b="b"/>
            <a:pathLst>
              <a:path w="223789" h="179031">
                <a:moveTo>
                  <a:pt x="111894" y="5595"/>
                </a:moveTo>
                <a:cubicBezTo>
                  <a:pt x="131965" y="5595"/>
                  <a:pt x="148260" y="21890"/>
                  <a:pt x="148260" y="41960"/>
                </a:cubicBezTo>
                <a:cubicBezTo>
                  <a:pt x="148260" y="62031"/>
                  <a:pt x="131965" y="78326"/>
                  <a:pt x="111894" y="78326"/>
                </a:cubicBezTo>
                <a:cubicBezTo>
                  <a:pt x="91824" y="78326"/>
                  <a:pt x="75529" y="62031"/>
                  <a:pt x="75529" y="41960"/>
                </a:cubicBezTo>
                <a:cubicBezTo>
                  <a:pt x="75529" y="21890"/>
                  <a:pt x="91824" y="5595"/>
                  <a:pt x="111894" y="5595"/>
                </a:cubicBezTo>
                <a:close/>
                <a:moveTo>
                  <a:pt x="33568" y="30771"/>
                </a:moveTo>
                <a:cubicBezTo>
                  <a:pt x="47463" y="30771"/>
                  <a:pt x="58744" y="42052"/>
                  <a:pt x="58744" y="55947"/>
                </a:cubicBezTo>
                <a:cubicBezTo>
                  <a:pt x="58744" y="69842"/>
                  <a:pt x="47463" y="81123"/>
                  <a:pt x="33568" y="81123"/>
                </a:cubicBezTo>
                <a:cubicBezTo>
                  <a:pt x="19673" y="81123"/>
                  <a:pt x="8392" y="69842"/>
                  <a:pt x="8392" y="55947"/>
                </a:cubicBezTo>
                <a:cubicBezTo>
                  <a:pt x="8392" y="42052"/>
                  <a:pt x="19673" y="30771"/>
                  <a:pt x="33568" y="30771"/>
                </a:cubicBezTo>
                <a:close/>
                <a:moveTo>
                  <a:pt x="0" y="145463"/>
                </a:moveTo>
                <a:cubicBezTo>
                  <a:pt x="0" y="120741"/>
                  <a:pt x="20036" y="100705"/>
                  <a:pt x="44758" y="100705"/>
                </a:cubicBezTo>
                <a:cubicBezTo>
                  <a:pt x="49233" y="100705"/>
                  <a:pt x="53569" y="101369"/>
                  <a:pt x="57661" y="102593"/>
                </a:cubicBezTo>
                <a:cubicBezTo>
                  <a:pt x="46156" y="115461"/>
                  <a:pt x="39163" y="132455"/>
                  <a:pt x="39163" y="151057"/>
                </a:cubicBezTo>
                <a:lnTo>
                  <a:pt x="39163" y="156652"/>
                </a:lnTo>
                <a:cubicBezTo>
                  <a:pt x="39163" y="160638"/>
                  <a:pt x="40002" y="164415"/>
                  <a:pt x="41506" y="167841"/>
                </a:cubicBezTo>
                <a:lnTo>
                  <a:pt x="11189" y="167841"/>
                </a:lnTo>
                <a:cubicBezTo>
                  <a:pt x="5000" y="167841"/>
                  <a:pt x="0" y="162841"/>
                  <a:pt x="0" y="156652"/>
                </a:cubicBezTo>
                <a:lnTo>
                  <a:pt x="0" y="145463"/>
                </a:lnTo>
                <a:close/>
                <a:moveTo>
                  <a:pt x="182283" y="167841"/>
                </a:moveTo>
                <a:cubicBezTo>
                  <a:pt x="183786" y="164415"/>
                  <a:pt x="184626" y="160638"/>
                  <a:pt x="184626" y="156652"/>
                </a:cubicBezTo>
                <a:lnTo>
                  <a:pt x="184626" y="151057"/>
                </a:lnTo>
                <a:cubicBezTo>
                  <a:pt x="184626" y="132455"/>
                  <a:pt x="177632" y="115461"/>
                  <a:pt x="166128" y="102593"/>
                </a:cubicBezTo>
                <a:cubicBezTo>
                  <a:pt x="170219" y="101369"/>
                  <a:pt x="174555" y="100705"/>
                  <a:pt x="179031" y="100705"/>
                </a:cubicBezTo>
                <a:cubicBezTo>
                  <a:pt x="203752" y="100705"/>
                  <a:pt x="223789" y="120741"/>
                  <a:pt x="223789" y="145463"/>
                </a:cubicBezTo>
                <a:lnTo>
                  <a:pt x="223789" y="156652"/>
                </a:lnTo>
                <a:cubicBezTo>
                  <a:pt x="223789" y="162841"/>
                  <a:pt x="218788" y="167841"/>
                  <a:pt x="212599" y="167841"/>
                </a:cubicBezTo>
                <a:lnTo>
                  <a:pt x="182283" y="167841"/>
                </a:lnTo>
                <a:close/>
                <a:moveTo>
                  <a:pt x="165044" y="55947"/>
                </a:moveTo>
                <a:cubicBezTo>
                  <a:pt x="165044" y="42052"/>
                  <a:pt x="176325" y="30771"/>
                  <a:pt x="190220" y="30771"/>
                </a:cubicBezTo>
                <a:cubicBezTo>
                  <a:pt x="204115" y="30771"/>
                  <a:pt x="215396" y="42052"/>
                  <a:pt x="215396" y="55947"/>
                </a:cubicBezTo>
                <a:cubicBezTo>
                  <a:pt x="215396" y="69842"/>
                  <a:pt x="204115" y="81123"/>
                  <a:pt x="190220" y="81123"/>
                </a:cubicBezTo>
                <a:cubicBezTo>
                  <a:pt x="176325" y="81123"/>
                  <a:pt x="165044" y="69842"/>
                  <a:pt x="165044" y="55947"/>
                </a:cubicBezTo>
                <a:close/>
                <a:moveTo>
                  <a:pt x="55947" y="151057"/>
                </a:moveTo>
                <a:cubicBezTo>
                  <a:pt x="55947" y="120146"/>
                  <a:pt x="80983" y="95110"/>
                  <a:pt x="111894" y="95110"/>
                </a:cubicBezTo>
                <a:cubicBezTo>
                  <a:pt x="142805" y="95110"/>
                  <a:pt x="167841" y="120146"/>
                  <a:pt x="167841" y="151057"/>
                </a:cubicBezTo>
                <a:lnTo>
                  <a:pt x="167841" y="156652"/>
                </a:lnTo>
                <a:cubicBezTo>
                  <a:pt x="167841" y="162841"/>
                  <a:pt x="162841" y="167841"/>
                  <a:pt x="156652" y="167841"/>
                </a:cubicBezTo>
                <a:lnTo>
                  <a:pt x="67137" y="167841"/>
                </a:lnTo>
                <a:cubicBezTo>
                  <a:pt x="60947" y="167841"/>
                  <a:pt x="55947" y="162841"/>
                  <a:pt x="55947" y="156652"/>
                </a:cubicBezTo>
                <a:lnTo>
                  <a:pt x="55947" y="151057"/>
                </a:lnTo>
                <a:close/>
              </a:path>
            </a:pathLst>
          </a:custGeom>
          <a:solidFill>
            <a:srgbClr val="F5F1EB"/>
          </a:solidFill>
          <a:ln/>
        </p:spPr>
      </p:sp>
      <p:sp>
        <p:nvSpPr>
          <p:cNvPr id="31" name="Text 29"/>
          <p:cNvSpPr/>
          <p:nvPr/>
        </p:nvSpPr>
        <p:spPr>
          <a:xfrm>
            <a:off x="6990147" y="1324828"/>
            <a:ext cx="4753269" cy="250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Gap 4: Retail-Focused Solutions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990147" y="1647084"/>
            <a:ext cx="4735366" cy="698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8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Most AI trading systems are designed for institutional investors with complex requirements. Retail investors need simplified, accessible interfaces with intelligent automation.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990147" y="2416916"/>
            <a:ext cx="4726414" cy="3580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7" b="1" dirty="0">
                <a:solidFill>
                  <a:srgbClr val="4A90A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 QuantShield Solution: User-friendly React.js frontend with Quantum Verdict (Buy/Sell/Hold)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220315" y="3097233"/>
            <a:ext cx="5612617" cy="1629181"/>
          </a:xfrm>
          <a:custGeom>
            <a:avLst/>
            <a:gdLst/>
            <a:ahLst/>
            <a:cxnLst/>
            <a:rect l="l" t="t" r="r" b="b"/>
            <a:pathLst>
              <a:path w="5612617" h="1629181">
                <a:moveTo>
                  <a:pt x="35806" y="0"/>
                </a:moveTo>
                <a:lnTo>
                  <a:pt x="5540998" y="0"/>
                </a:lnTo>
                <a:cubicBezTo>
                  <a:pt x="5580552" y="0"/>
                  <a:pt x="5612617" y="32065"/>
                  <a:pt x="5612617" y="71619"/>
                </a:cubicBezTo>
                <a:lnTo>
                  <a:pt x="5612617" y="1557562"/>
                </a:lnTo>
                <a:cubicBezTo>
                  <a:pt x="5612617" y="1597116"/>
                  <a:pt x="5580552" y="1629181"/>
                  <a:pt x="5540998" y="1629181"/>
                </a:cubicBezTo>
                <a:lnTo>
                  <a:pt x="35806" y="1629181"/>
                </a:lnTo>
                <a:cubicBezTo>
                  <a:pt x="16031" y="1629181"/>
                  <a:pt x="0" y="1613150"/>
                  <a:pt x="0" y="1593374"/>
                </a:cubicBezTo>
                <a:lnTo>
                  <a:pt x="0" y="35806"/>
                </a:lnTo>
                <a:cubicBezTo>
                  <a:pt x="0" y="16044"/>
                  <a:pt x="16044" y="0"/>
                  <a:pt x="35806" y="0"/>
                </a:cubicBezTo>
                <a:close/>
              </a:path>
            </a:pathLst>
          </a:custGeom>
          <a:solidFill>
            <a:srgbClr val="FFFFFF"/>
          </a:solidFill>
          <a:ln>
            <a:solidFill>
              <a:schemeClr val="tx1"/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3709" dist="35806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220315" y="3097233"/>
            <a:ext cx="35806" cy="1629181"/>
          </a:xfrm>
          <a:custGeom>
            <a:avLst/>
            <a:gdLst/>
            <a:ahLst/>
            <a:cxnLst/>
            <a:rect l="l" t="t" r="r" b="b"/>
            <a:pathLst>
              <a:path w="35806" h="1629181">
                <a:moveTo>
                  <a:pt x="35806" y="0"/>
                </a:moveTo>
                <a:lnTo>
                  <a:pt x="35806" y="0"/>
                </a:lnTo>
                <a:lnTo>
                  <a:pt x="35806" y="1629181"/>
                </a:lnTo>
                <a:lnTo>
                  <a:pt x="35806" y="1629181"/>
                </a:lnTo>
                <a:cubicBezTo>
                  <a:pt x="16031" y="1629181"/>
                  <a:pt x="0" y="1613150"/>
                  <a:pt x="0" y="1593374"/>
                </a:cubicBezTo>
                <a:lnTo>
                  <a:pt x="0" y="35806"/>
                </a:lnTo>
                <a:cubicBezTo>
                  <a:pt x="0" y="16031"/>
                  <a:pt x="16031" y="0"/>
                  <a:pt x="35806" y="0"/>
                </a:cubicBezTo>
                <a:close/>
              </a:path>
            </a:pathLst>
          </a:custGeom>
          <a:solidFill>
            <a:srgbClr val="4A90A4"/>
          </a:solidFill>
          <a:ln/>
        </p:spPr>
      </p:sp>
      <p:sp>
        <p:nvSpPr>
          <p:cNvPr id="36" name="Shape 34"/>
          <p:cNvSpPr/>
          <p:nvPr/>
        </p:nvSpPr>
        <p:spPr>
          <a:xfrm>
            <a:off x="6417249" y="3276264"/>
            <a:ext cx="429674" cy="429674"/>
          </a:xfrm>
          <a:custGeom>
            <a:avLst/>
            <a:gdLst/>
            <a:ahLst/>
            <a:cxnLst/>
            <a:rect l="l" t="t" r="r" b="b"/>
            <a:pathLst>
              <a:path w="429674" h="429674">
                <a:moveTo>
                  <a:pt x="214837" y="0"/>
                </a:moveTo>
                <a:lnTo>
                  <a:pt x="214837" y="0"/>
                </a:lnTo>
                <a:cubicBezTo>
                  <a:pt x="333409" y="0"/>
                  <a:pt x="429674" y="96265"/>
                  <a:pt x="429674" y="214837"/>
                </a:cubicBezTo>
                <a:lnTo>
                  <a:pt x="429674" y="214837"/>
                </a:lnTo>
                <a:cubicBezTo>
                  <a:pt x="429674" y="333409"/>
                  <a:pt x="333409" y="429674"/>
                  <a:pt x="214837" y="429674"/>
                </a:cubicBezTo>
                <a:lnTo>
                  <a:pt x="214837" y="429674"/>
                </a:lnTo>
                <a:cubicBezTo>
                  <a:pt x="96265" y="429674"/>
                  <a:pt x="0" y="333409"/>
                  <a:pt x="0" y="214837"/>
                </a:cubicBezTo>
                <a:lnTo>
                  <a:pt x="0" y="214837"/>
                </a:lnTo>
                <a:cubicBezTo>
                  <a:pt x="0" y="96265"/>
                  <a:pt x="96265" y="0"/>
                  <a:pt x="214837" y="0"/>
                </a:cubicBezTo>
                <a:close/>
              </a:path>
            </a:pathLst>
          </a:custGeom>
          <a:solidFill>
            <a:srgbClr val="4A90A4"/>
          </a:solidFill>
          <a:ln/>
        </p:spPr>
      </p:sp>
      <p:sp>
        <p:nvSpPr>
          <p:cNvPr id="37" name="Shape 35"/>
          <p:cNvSpPr/>
          <p:nvPr/>
        </p:nvSpPr>
        <p:spPr>
          <a:xfrm>
            <a:off x="6542570" y="3401586"/>
            <a:ext cx="179031" cy="179031"/>
          </a:xfrm>
          <a:custGeom>
            <a:avLst/>
            <a:gdLst/>
            <a:ahLst/>
            <a:cxnLst/>
            <a:rect l="l" t="t" r="r" b="b"/>
            <a:pathLst>
              <a:path w="179031" h="179031">
                <a:moveTo>
                  <a:pt x="11189" y="11189"/>
                </a:moveTo>
                <a:cubicBezTo>
                  <a:pt x="17379" y="11189"/>
                  <a:pt x="22379" y="16190"/>
                  <a:pt x="22379" y="22379"/>
                </a:cubicBezTo>
                <a:lnTo>
                  <a:pt x="22379" y="139868"/>
                </a:lnTo>
                <a:cubicBezTo>
                  <a:pt x="22379" y="142945"/>
                  <a:pt x="24896" y="145463"/>
                  <a:pt x="27974" y="145463"/>
                </a:cubicBezTo>
                <a:lnTo>
                  <a:pt x="167841" y="145463"/>
                </a:lnTo>
                <a:cubicBezTo>
                  <a:pt x="174031" y="145463"/>
                  <a:pt x="179031" y="150463"/>
                  <a:pt x="179031" y="156652"/>
                </a:cubicBezTo>
                <a:cubicBezTo>
                  <a:pt x="179031" y="162841"/>
                  <a:pt x="174031" y="167841"/>
                  <a:pt x="167841" y="167841"/>
                </a:cubicBezTo>
                <a:lnTo>
                  <a:pt x="27974" y="167841"/>
                </a:lnTo>
                <a:cubicBezTo>
                  <a:pt x="12518" y="167841"/>
                  <a:pt x="0" y="155323"/>
                  <a:pt x="0" y="139868"/>
                </a:cubicBezTo>
                <a:lnTo>
                  <a:pt x="0" y="22379"/>
                </a:lnTo>
                <a:cubicBezTo>
                  <a:pt x="0" y="16190"/>
                  <a:pt x="5000" y="11189"/>
                  <a:pt x="11189" y="11189"/>
                </a:cubicBezTo>
                <a:close/>
                <a:moveTo>
                  <a:pt x="83921" y="33568"/>
                </a:moveTo>
                <a:cubicBezTo>
                  <a:pt x="86263" y="33568"/>
                  <a:pt x="88501" y="34547"/>
                  <a:pt x="90110" y="36296"/>
                </a:cubicBezTo>
                <a:lnTo>
                  <a:pt x="114971" y="63395"/>
                </a:lnTo>
                <a:lnTo>
                  <a:pt x="131126" y="47205"/>
                </a:lnTo>
                <a:cubicBezTo>
                  <a:pt x="134413" y="43919"/>
                  <a:pt x="139728" y="43919"/>
                  <a:pt x="142980" y="47205"/>
                </a:cubicBezTo>
                <a:lnTo>
                  <a:pt x="165359" y="69584"/>
                </a:lnTo>
                <a:cubicBezTo>
                  <a:pt x="166932" y="71158"/>
                  <a:pt x="167806" y="73291"/>
                  <a:pt x="167806" y="75529"/>
                </a:cubicBezTo>
                <a:lnTo>
                  <a:pt x="167806" y="114692"/>
                </a:lnTo>
                <a:cubicBezTo>
                  <a:pt x="167806" y="119342"/>
                  <a:pt x="164065" y="123084"/>
                  <a:pt x="159414" y="123084"/>
                </a:cubicBezTo>
                <a:lnTo>
                  <a:pt x="53115" y="123084"/>
                </a:lnTo>
                <a:cubicBezTo>
                  <a:pt x="48464" y="123084"/>
                  <a:pt x="44723" y="119342"/>
                  <a:pt x="44723" y="114692"/>
                </a:cubicBezTo>
                <a:lnTo>
                  <a:pt x="44723" y="75529"/>
                </a:lnTo>
                <a:cubicBezTo>
                  <a:pt x="44723" y="73431"/>
                  <a:pt x="45527" y="71403"/>
                  <a:pt x="46926" y="69864"/>
                </a:cubicBezTo>
                <a:lnTo>
                  <a:pt x="77697" y="36296"/>
                </a:lnTo>
                <a:cubicBezTo>
                  <a:pt x="79270" y="34547"/>
                  <a:pt x="81543" y="33568"/>
                  <a:pt x="83886" y="33568"/>
                </a:cubicBezTo>
                <a:close/>
              </a:path>
            </a:pathLst>
          </a:custGeom>
          <a:solidFill>
            <a:srgbClr val="F5F1EB"/>
          </a:solidFill>
          <a:ln/>
        </p:spPr>
      </p:sp>
      <p:sp>
        <p:nvSpPr>
          <p:cNvPr id="38" name="Text 36"/>
          <p:cNvSpPr/>
          <p:nvPr/>
        </p:nvSpPr>
        <p:spPr>
          <a:xfrm>
            <a:off x="6990147" y="3276264"/>
            <a:ext cx="4753269" cy="250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Gap 5: Probabilistic Forecasting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990147" y="3598520"/>
            <a:ext cx="4735366" cy="698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8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Single-point predictions fail to capture market uncertainty. Existing ML models output deterministic forecasts without confidence intervals or path visualization.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990147" y="4368352"/>
            <a:ext cx="4726414" cy="179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7" b="1" dirty="0">
                <a:solidFill>
                  <a:srgbClr val="4A90A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 QuantShield Solution: Monte Carlo GBM with 1000+ probabilistic price paths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202412" y="4869639"/>
            <a:ext cx="5630520" cy="1414344"/>
          </a:xfrm>
          <a:custGeom>
            <a:avLst/>
            <a:gdLst/>
            <a:ahLst/>
            <a:cxnLst/>
            <a:rect l="l" t="t" r="r" b="b"/>
            <a:pathLst>
              <a:path w="5630520" h="1414344">
                <a:moveTo>
                  <a:pt x="71608" y="0"/>
                </a:moveTo>
                <a:lnTo>
                  <a:pt x="5558912" y="0"/>
                </a:lnTo>
                <a:cubicBezTo>
                  <a:pt x="5598460" y="0"/>
                  <a:pt x="5630520" y="32060"/>
                  <a:pt x="5630520" y="71608"/>
                </a:cubicBezTo>
                <a:lnTo>
                  <a:pt x="5630520" y="1342735"/>
                </a:lnTo>
                <a:cubicBezTo>
                  <a:pt x="5630520" y="1382284"/>
                  <a:pt x="5598460" y="1414344"/>
                  <a:pt x="5558912" y="1414344"/>
                </a:cubicBezTo>
                <a:lnTo>
                  <a:pt x="71608" y="1414344"/>
                </a:lnTo>
                <a:cubicBezTo>
                  <a:pt x="32087" y="1414344"/>
                  <a:pt x="0" y="1382257"/>
                  <a:pt x="0" y="1342735"/>
                </a:cubicBezTo>
                <a:lnTo>
                  <a:pt x="0" y="71608"/>
                </a:lnTo>
                <a:cubicBezTo>
                  <a:pt x="0" y="32087"/>
                  <a:pt x="32087" y="0"/>
                  <a:pt x="71608" y="0"/>
                </a:cubicBezTo>
                <a:close/>
              </a:path>
            </a:pathLst>
          </a:custGeom>
          <a:solidFill>
            <a:srgbClr val="1E3A5F"/>
          </a:solidFill>
          <a:ln>
            <a:solidFill>
              <a:schemeClr val="tx1"/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</p:sp>
      <p:sp>
        <p:nvSpPr>
          <p:cNvPr id="42" name="Shape 40"/>
          <p:cNvSpPr/>
          <p:nvPr/>
        </p:nvSpPr>
        <p:spPr>
          <a:xfrm>
            <a:off x="6426200" y="5084476"/>
            <a:ext cx="134273" cy="179031"/>
          </a:xfrm>
          <a:custGeom>
            <a:avLst/>
            <a:gdLst/>
            <a:ahLst/>
            <a:cxnLst/>
            <a:rect l="l" t="t" r="r" b="b"/>
            <a:pathLst>
              <a:path w="134273" h="179031">
                <a:moveTo>
                  <a:pt x="102418" y="134273"/>
                </a:moveTo>
                <a:cubicBezTo>
                  <a:pt x="104971" y="126475"/>
                  <a:pt x="110076" y="119412"/>
                  <a:pt x="115846" y="113328"/>
                </a:cubicBezTo>
                <a:cubicBezTo>
                  <a:pt x="127280" y="101299"/>
                  <a:pt x="134273" y="85040"/>
                  <a:pt x="134273" y="67137"/>
                </a:cubicBezTo>
                <a:cubicBezTo>
                  <a:pt x="134273" y="30072"/>
                  <a:pt x="104202" y="0"/>
                  <a:pt x="67137" y="0"/>
                </a:cubicBezTo>
                <a:cubicBezTo>
                  <a:pt x="30072" y="0"/>
                  <a:pt x="0" y="30072"/>
                  <a:pt x="0" y="67137"/>
                </a:cubicBezTo>
                <a:cubicBezTo>
                  <a:pt x="0" y="85040"/>
                  <a:pt x="6993" y="101299"/>
                  <a:pt x="18428" y="113328"/>
                </a:cubicBezTo>
                <a:cubicBezTo>
                  <a:pt x="24197" y="119412"/>
                  <a:pt x="29337" y="126475"/>
                  <a:pt x="31855" y="134273"/>
                </a:cubicBezTo>
                <a:lnTo>
                  <a:pt x="102383" y="134273"/>
                </a:lnTo>
                <a:close/>
                <a:moveTo>
                  <a:pt x="100705" y="151057"/>
                </a:moveTo>
                <a:lnTo>
                  <a:pt x="33568" y="151057"/>
                </a:lnTo>
                <a:lnTo>
                  <a:pt x="33568" y="156652"/>
                </a:lnTo>
                <a:cubicBezTo>
                  <a:pt x="33568" y="172107"/>
                  <a:pt x="46086" y="184626"/>
                  <a:pt x="61542" y="184626"/>
                </a:cubicBezTo>
                <a:lnTo>
                  <a:pt x="72731" y="184626"/>
                </a:lnTo>
                <a:cubicBezTo>
                  <a:pt x="88187" y="184626"/>
                  <a:pt x="100705" y="172107"/>
                  <a:pt x="100705" y="156652"/>
                </a:cubicBezTo>
                <a:lnTo>
                  <a:pt x="100705" y="151057"/>
                </a:lnTo>
                <a:close/>
                <a:moveTo>
                  <a:pt x="64339" y="39163"/>
                </a:moveTo>
                <a:cubicBezTo>
                  <a:pt x="50422" y="39163"/>
                  <a:pt x="39163" y="50422"/>
                  <a:pt x="39163" y="64339"/>
                </a:cubicBezTo>
                <a:cubicBezTo>
                  <a:pt x="39163" y="68990"/>
                  <a:pt x="35422" y="72731"/>
                  <a:pt x="30771" y="72731"/>
                </a:cubicBezTo>
                <a:cubicBezTo>
                  <a:pt x="26120" y="72731"/>
                  <a:pt x="22379" y="68990"/>
                  <a:pt x="22379" y="64339"/>
                </a:cubicBezTo>
                <a:cubicBezTo>
                  <a:pt x="22379" y="41156"/>
                  <a:pt x="41156" y="22379"/>
                  <a:pt x="64339" y="22379"/>
                </a:cubicBezTo>
                <a:cubicBezTo>
                  <a:pt x="68990" y="22379"/>
                  <a:pt x="72731" y="26120"/>
                  <a:pt x="72731" y="30771"/>
                </a:cubicBezTo>
                <a:cubicBezTo>
                  <a:pt x="72731" y="35422"/>
                  <a:pt x="68990" y="39163"/>
                  <a:pt x="64339" y="39163"/>
                </a:cubicBez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43" name="Text 41"/>
          <p:cNvSpPr/>
          <p:nvPr/>
        </p:nvSpPr>
        <p:spPr>
          <a:xfrm>
            <a:off x="6605231" y="5048670"/>
            <a:ext cx="5138185" cy="250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0" b="1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Synthesis of Gaps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381442" y="5406731"/>
            <a:ext cx="5344070" cy="698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8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QuantShield addresses all identified gaps through a unified architecture that combines </a:t>
            </a:r>
            <a:r>
              <a:rPr lang="en-US" sz="1128" b="1" dirty="0">
                <a:solidFill>
                  <a:srgbClr val="C75B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sentiment-momentum analysis</a:t>
            </a:r>
            <a:r>
              <a:rPr lang="en-US" sz="1128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</a:t>
            </a:r>
            <a:r>
              <a:rPr lang="en-US" sz="1128" b="1" dirty="0">
                <a:solidFill>
                  <a:srgbClr val="4A90A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probabilistic forecasting</a:t>
            </a:r>
            <a:r>
              <a:rPr lang="en-US" sz="1128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and </a:t>
            </a:r>
            <a:r>
              <a:rPr lang="en-US" sz="1128" b="1" dirty="0">
                <a:solidFill>
                  <a:srgbClr val="C75B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autonomous risk management</a:t>
            </a:r>
            <a:r>
              <a:rPr lang="en-US" sz="1128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a retail-accessible platform.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76200" y="0"/>
                </a:moveTo>
                <a:lnTo>
                  <a:pt x="533400" y="0"/>
                </a:lnTo>
                <a:cubicBezTo>
                  <a:pt x="575456" y="0"/>
                  <a:pt x="609600" y="34144"/>
                  <a:pt x="609600" y="76200"/>
                </a:cubicBezTo>
                <a:lnTo>
                  <a:pt x="609600" y="533400"/>
                </a:lnTo>
                <a:cubicBezTo>
                  <a:pt x="609600" y="575456"/>
                  <a:pt x="575456" y="609600"/>
                  <a:pt x="53340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0000"/>
          </a:solidFill>
          <a:ln/>
        </p:spPr>
      </p:sp>
      <p:sp>
        <p:nvSpPr>
          <p:cNvPr id="3" name="Text 1"/>
          <p:cNvSpPr/>
          <p:nvPr/>
        </p:nvSpPr>
        <p:spPr>
          <a:xfrm>
            <a:off x="510540" y="514350"/>
            <a:ext cx="495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43000" y="400050"/>
            <a:ext cx="4886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C75B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PROBLEMS IDENTIFIED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590550"/>
            <a:ext cx="4991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Challenges in Retail Trading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1000" y="1219200"/>
            <a:ext cx="3686175" cy="4267200"/>
          </a:xfrm>
          <a:custGeom>
            <a:avLst/>
            <a:gdLst/>
            <a:ahLst/>
            <a:cxnLst/>
            <a:rect l="l" t="t" r="r" b="b"/>
            <a:pathLst>
              <a:path w="3686175" h="4267200">
                <a:moveTo>
                  <a:pt x="76193" y="0"/>
                </a:moveTo>
                <a:lnTo>
                  <a:pt x="3609982" y="0"/>
                </a:lnTo>
                <a:cubicBezTo>
                  <a:pt x="3652062" y="0"/>
                  <a:pt x="3686175" y="34113"/>
                  <a:pt x="3686175" y="76193"/>
                </a:cubicBezTo>
                <a:lnTo>
                  <a:pt x="3686175" y="4191007"/>
                </a:lnTo>
                <a:cubicBezTo>
                  <a:pt x="3686175" y="4233087"/>
                  <a:pt x="3652062" y="4267200"/>
                  <a:pt x="3609982" y="4267200"/>
                </a:cubicBezTo>
                <a:lnTo>
                  <a:pt x="76193" y="4267200"/>
                </a:lnTo>
                <a:cubicBezTo>
                  <a:pt x="34113" y="4267200"/>
                  <a:pt x="0" y="4233087"/>
                  <a:pt x="0" y="4191007"/>
                </a:cubicBezTo>
                <a:lnTo>
                  <a:pt x="0" y="76193"/>
                </a:lnTo>
                <a:cubicBezTo>
                  <a:pt x="0" y="34141"/>
                  <a:pt x="34141" y="0"/>
                  <a:pt x="76193" y="0"/>
                </a:cubicBezTo>
                <a:close/>
              </a:path>
            </a:pathLst>
          </a:custGeom>
          <a:solidFill>
            <a:srgbClr val="FFFFFF"/>
          </a:solidFill>
          <a:ln>
            <a:solidFill>
              <a:schemeClr val="tx1"/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71500" y="14097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15240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5719" y="16669"/>
                </a:moveTo>
                <a:cubicBezTo>
                  <a:pt x="35719" y="7471"/>
                  <a:pt x="43190" y="0"/>
                  <a:pt x="52388" y="0"/>
                </a:cubicBezTo>
                <a:lnTo>
                  <a:pt x="59531" y="0"/>
                </a:lnTo>
                <a:cubicBezTo>
                  <a:pt x="64800" y="0"/>
                  <a:pt x="69056" y="4256"/>
                  <a:pt x="69056" y="9525"/>
                </a:cubicBezTo>
                <a:lnTo>
                  <a:pt x="69056" y="142875"/>
                </a:lnTo>
                <a:cubicBezTo>
                  <a:pt x="69056" y="148144"/>
                  <a:pt x="64800" y="152400"/>
                  <a:pt x="59531" y="152400"/>
                </a:cubicBezTo>
                <a:lnTo>
                  <a:pt x="50006" y="152400"/>
                </a:lnTo>
                <a:cubicBezTo>
                  <a:pt x="41136" y="152400"/>
                  <a:pt x="33665" y="146328"/>
                  <a:pt x="31552" y="138113"/>
                </a:cubicBezTo>
                <a:cubicBezTo>
                  <a:pt x="31343" y="138113"/>
                  <a:pt x="31165" y="138113"/>
                  <a:pt x="30956" y="138113"/>
                </a:cubicBezTo>
                <a:cubicBezTo>
                  <a:pt x="17800" y="138113"/>
                  <a:pt x="7144" y="127456"/>
                  <a:pt x="7144" y="114300"/>
                </a:cubicBezTo>
                <a:cubicBezTo>
                  <a:pt x="7144" y="108942"/>
                  <a:pt x="8930" y="104001"/>
                  <a:pt x="11906" y="100013"/>
                </a:cubicBezTo>
                <a:cubicBezTo>
                  <a:pt x="6132" y="95667"/>
                  <a:pt x="2381" y="88761"/>
                  <a:pt x="2381" y="80962"/>
                </a:cubicBezTo>
                <a:cubicBezTo>
                  <a:pt x="2381" y="71765"/>
                  <a:pt x="7620" y="63758"/>
                  <a:pt x="15240" y="59799"/>
                </a:cubicBezTo>
                <a:cubicBezTo>
                  <a:pt x="13127" y="56227"/>
                  <a:pt x="11906" y="52060"/>
                  <a:pt x="11906" y="47625"/>
                </a:cubicBezTo>
                <a:cubicBezTo>
                  <a:pt x="11906" y="34469"/>
                  <a:pt x="22562" y="23813"/>
                  <a:pt x="35719" y="23813"/>
                </a:cubicBezTo>
                <a:lnTo>
                  <a:pt x="35719" y="16669"/>
                </a:lnTo>
                <a:close/>
                <a:moveTo>
                  <a:pt x="116681" y="16669"/>
                </a:moveTo>
                <a:lnTo>
                  <a:pt x="116681" y="23813"/>
                </a:lnTo>
                <a:cubicBezTo>
                  <a:pt x="129838" y="23813"/>
                  <a:pt x="140494" y="34469"/>
                  <a:pt x="140494" y="47625"/>
                </a:cubicBezTo>
                <a:cubicBezTo>
                  <a:pt x="140494" y="52090"/>
                  <a:pt x="139273" y="56257"/>
                  <a:pt x="137160" y="59799"/>
                </a:cubicBezTo>
                <a:cubicBezTo>
                  <a:pt x="144810" y="63758"/>
                  <a:pt x="150019" y="71735"/>
                  <a:pt x="150019" y="80962"/>
                </a:cubicBezTo>
                <a:cubicBezTo>
                  <a:pt x="150019" y="88761"/>
                  <a:pt x="146268" y="95667"/>
                  <a:pt x="140494" y="100013"/>
                </a:cubicBezTo>
                <a:cubicBezTo>
                  <a:pt x="143470" y="104001"/>
                  <a:pt x="145256" y="108942"/>
                  <a:pt x="145256" y="114300"/>
                </a:cubicBezTo>
                <a:cubicBezTo>
                  <a:pt x="145256" y="127456"/>
                  <a:pt x="134600" y="138113"/>
                  <a:pt x="121444" y="138113"/>
                </a:cubicBezTo>
                <a:cubicBezTo>
                  <a:pt x="121235" y="138113"/>
                  <a:pt x="121057" y="138113"/>
                  <a:pt x="120848" y="138113"/>
                </a:cubicBezTo>
                <a:cubicBezTo>
                  <a:pt x="118735" y="146328"/>
                  <a:pt x="111264" y="152400"/>
                  <a:pt x="102394" y="152400"/>
                </a:cubicBezTo>
                <a:lnTo>
                  <a:pt x="92869" y="152400"/>
                </a:lnTo>
                <a:cubicBezTo>
                  <a:pt x="87600" y="152400"/>
                  <a:pt x="83344" y="148144"/>
                  <a:pt x="83344" y="142875"/>
                </a:cubicBezTo>
                <a:lnTo>
                  <a:pt x="83344" y="9525"/>
                </a:lnTo>
                <a:cubicBezTo>
                  <a:pt x="83344" y="4256"/>
                  <a:pt x="87600" y="0"/>
                  <a:pt x="92869" y="0"/>
                </a:cubicBezTo>
                <a:lnTo>
                  <a:pt x="100013" y="0"/>
                </a:lnTo>
                <a:cubicBezTo>
                  <a:pt x="109210" y="0"/>
                  <a:pt x="116681" y="7471"/>
                  <a:pt x="116681" y="16669"/>
                </a:cubicBezTo>
                <a:close/>
              </a:path>
            </a:pathLst>
          </a:custGeom>
          <a:solidFill>
            <a:srgbClr val="F5F1EB"/>
          </a:solidFill>
          <a:ln/>
        </p:spPr>
      </p:sp>
      <p:sp>
        <p:nvSpPr>
          <p:cNvPr id="9" name="Text 7"/>
          <p:cNvSpPr/>
          <p:nvPr/>
        </p:nvSpPr>
        <p:spPr>
          <a:xfrm>
            <a:off x="1066800" y="1466850"/>
            <a:ext cx="1228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Emotional Bias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1500" y="1905000"/>
            <a:ext cx="3381375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Human traders suffer from cognitive biases that severely impact decision-making: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90550" y="35814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43495" y="43495"/>
                </a:moveTo>
                <a:cubicBezTo>
                  <a:pt x="45943" y="41047"/>
                  <a:pt x="49902" y="41047"/>
                  <a:pt x="52324" y="43495"/>
                </a:cubicBezTo>
                <a:lnTo>
                  <a:pt x="66649" y="57820"/>
                </a:lnTo>
                <a:lnTo>
                  <a:pt x="80974" y="43495"/>
                </a:lnTo>
                <a:cubicBezTo>
                  <a:pt x="83422" y="41047"/>
                  <a:pt x="87381" y="41047"/>
                  <a:pt x="89803" y="43495"/>
                </a:cubicBezTo>
                <a:cubicBezTo>
                  <a:pt x="92225" y="45943"/>
                  <a:pt x="92251" y="49902"/>
                  <a:pt x="89803" y="52324"/>
                </a:cubicBezTo>
                <a:lnTo>
                  <a:pt x="75478" y="66649"/>
                </a:lnTo>
                <a:lnTo>
                  <a:pt x="89803" y="80974"/>
                </a:lnTo>
                <a:cubicBezTo>
                  <a:pt x="92251" y="83422"/>
                  <a:pt x="92251" y="87381"/>
                  <a:pt x="89803" y="89803"/>
                </a:cubicBezTo>
                <a:cubicBezTo>
                  <a:pt x="87355" y="92225"/>
                  <a:pt x="83396" y="92251"/>
                  <a:pt x="80974" y="89803"/>
                </a:cubicBezTo>
                <a:lnTo>
                  <a:pt x="66649" y="75478"/>
                </a:lnTo>
                <a:lnTo>
                  <a:pt x="52324" y="89803"/>
                </a:lnTo>
                <a:cubicBezTo>
                  <a:pt x="49876" y="92251"/>
                  <a:pt x="45917" y="92251"/>
                  <a:pt x="43495" y="89803"/>
                </a:cubicBezTo>
                <a:cubicBezTo>
                  <a:pt x="41073" y="87355"/>
                  <a:pt x="41047" y="83396"/>
                  <a:pt x="43495" y="80974"/>
                </a:cubicBezTo>
                <a:lnTo>
                  <a:pt x="57820" y="66649"/>
                </a:lnTo>
                <a:lnTo>
                  <a:pt x="43495" y="52324"/>
                </a:lnTo>
                <a:cubicBezTo>
                  <a:pt x="41047" y="49876"/>
                  <a:pt x="41047" y="45917"/>
                  <a:pt x="43495" y="43495"/>
                </a:cubicBez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12" name="Text 10"/>
          <p:cNvSpPr/>
          <p:nvPr/>
        </p:nvSpPr>
        <p:spPr>
          <a:xfrm>
            <a:off x="814388" y="3543300"/>
            <a:ext cx="3076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Fear:</a:t>
            </a:r>
            <a:r>
              <a:rPr lang="en-US" sz="105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Panic selling during market dips locks in losses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90550" y="38481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43495" y="43495"/>
                </a:moveTo>
                <a:cubicBezTo>
                  <a:pt x="45943" y="41047"/>
                  <a:pt x="49902" y="41047"/>
                  <a:pt x="52324" y="43495"/>
                </a:cubicBezTo>
                <a:lnTo>
                  <a:pt x="66649" y="57820"/>
                </a:lnTo>
                <a:lnTo>
                  <a:pt x="80974" y="43495"/>
                </a:lnTo>
                <a:cubicBezTo>
                  <a:pt x="83422" y="41047"/>
                  <a:pt x="87381" y="41047"/>
                  <a:pt x="89803" y="43495"/>
                </a:cubicBezTo>
                <a:cubicBezTo>
                  <a:pt x="92225" y="45943"/>
                  <a:pt x="92251" y="49902"/>
                  <a:pt x="89803" y="52324"/>
                </a:cubicBezTo>
                <a:lnTo>
                  <a:pt x="75478" y="66649"/>
                </a:lnTo>
                <a:lnTo>
                  <a:pt x="89803" y="80974"/>
                </a:lnTo>
                <a:cubicBezTo>
                  <a:pt x="92251" y="83422"/>
                  <a:pt x="92251" y="87381"/>
                  <a:pt x="89803" y="89803"/>
                </a:cubicBezTo>
                <a:cubicBezTo>
                  <a:pt x="87355" y="92225"/>
                  <a:pt x="83396" y="92251"/>
                  <a:pt x="80974" y="89803"/>
                </a:cubicBezTo>
                <a:lnTo>
                  <a:pt x="66649" y="75478"/>
                </a:lnTo>
                <a:lnTo>
                  <a:pt x="52324" y="89803"/>
                </a:lnTo>
                <a:cubicBezTo>
                  <a:pt x="49876" y="92251"/>
                  <a:pt x="45917" y="92251"/>
                  <a:pt x="43495" y="89803"/>
                </a:cubicBezTo>
                <a:cubicBezTo>
                  <a:pt x="41073" y="87355"/>
                  <a:pt x="41047" y="83396"/>
                  <a:pt x="43495" y="80974"/>
                </a:cubicBezTo>
                <a:lnTo>
                  <a:pt x="57820" y="66649"/>
                </a:lnTo>
                <a:lnTo>
                  <a:pt x="43495" y="52324"/>
                </a:lnTo>
                <a:cubicBezTo>
                  <a:pt x="41047" y="49876"/>
                  <a:pt x="41047" y="45917"/>
                  <a:pt x="43495" y="43495"/>
                </a:cubicBez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14" name="Text 12"/>
          <p:cNvSpPr/>
          <p:nvPr/>
        </p:nvSpPr>
        <p:spPr>
          <a:xfrm>
            <a:off x="814388" y="3810000"/>
            <a:ext cx="2714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Greed:</a:t>
            </a:r>
            <a:r>
              <a:rPr lang="en-US" sz="105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Holding winners too long erodes gains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90550" y="41148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43495" y="43495"/>
                </a:moveTo>
                <a:cubicBezTo>
                  <a:pt x="45943" y="41047"/>
                  <a:pt x="49902" y="41047"/>
                  <a:pt x="52324" y="43495"/>
                </a:cubicBezTo>
                <a:lnTo>
                  <a:pt x="66649" y="57820"/>
                </a:lnTo>
                <a:lnTo>
                  <a:pt x="80974" y="43495"/>
                </a:lnTo>
                <a:cubicBezTo>
                  <a:pt x="83422" y="41047"/>
                  <a:pt x="87381" y="41047"/>
                  <a:pt x="89803" y="43495"/>
                </a:cubicBezTo>
                <a:cubicBezTo>
                  <a:pt x="92225" y="45943"/>
                  <a:pt x="92251" y="49902"/>
                  <a:pt x="89803" y="52324"/>
                </a:cubicBezTo>
                <a:lnTo>
                  <a:pt x="75478" y="66649"/>
                </a:lnTo>
                <a:lnTo>
                  <a:pt x="89803" y="80974"/>
                </a:lnTo>
                <a:cubicBezTo>
                  <a:pt x="92251" y="83422"/>
                  <a:pt x="92251" y="87381"/>
                  <a:pt x="89803" y="89803"/>
                </a:cubicBezTo>
                <a:cubicBezTo>
                  <a:pt x="87355" y="92225"/>
                  <a:pt x="83396" y="92251"/>
                  <a:pt x="80974" y="89803"/>
                </a:cubicBezTo>
                <a:lnTo>
                  <a:pt x="66649" y="75478"/>
                </a:lnTo>
                <a:lnTo>
                  <a:pt x="52324" y="89803"/>
                </a:lnTo>
                <a:cubicBezTo>
                  <a:pt x="49876" y="92251"/>
                  <a:pt x="45917" y="92251"/>
                  <a:pt x="43495" y="89803"/>
                </a:cubicBezTo>
                <a:cubicBezTo>
                  <a:pt x="41073" y="87355"/>
                  <a:pt x="41047" y="83396"/>
                  <a:pt x="43495" y="80974"/>
                </a:cubicBezTo>
                <a:lnTo>
                  <a:pt x="57820" y="66649"/>
                </a:lnTo>
                <a:lnTo>
                  <a:pt x="43495" y="52324"/>
                </a:lnTo>
                <a:cubicBezTo>
                  <a:pt x="41047" y="49876"/>
                  <a:pt x="41047" y="45917"/>
                  <a:pt x="43495" y="43495"/>
                </a:cubicBez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16" name="Text 14"/>
          <p:cNvSpPr/>
          <p:nvPr/>
        </p:nvSpPr>
        <p:spPr>
          <a:xfrm>
            <a:off x="814388" y="4076700"/>
            <a:ext cx="2990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Overconfidence:</a:t>
            </a:r>
            <a:r>
              <a:rPr lang="en-US" sz="105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Excessive trading increases costs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90550" y="43815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43495" y="43495"/>
                </a:moveTo>
                <a:cubicBezTo>
                  <a:pt x="45943" y="41047"/>
                  <a:pt x="49902" y="41047"/>
                  <a:pt x="52324" y="43495"/>
                </a:cubicBezTo>
                <a:lnTo>
                  <a:pt x="66649" y="57820"/>
                </a:lnTo>
                <a:lnTo>
                  <a:pt x="80974" y="43495"/>
                </a:lnTo>
                <a:cubicBezTo>
                  <a:pt x="83422" y="41047"/>
                  <a:pt x="87381" y="41047"/>
                  <a:pt x="89803" y="43495"/>
                </a:cubicBezTo>
                <a:cubicBezTo>
                  <a:pt x="92225" y="45943"/>
                  <a:pt x="92251" y="49902"/>
                  <a:pt x="89803" y="52324"/>
                </a:cubicBezTo>
                <a:lnTo>
                  <a:pt x="75478" y="66649"/>
                </a:lnTo>
                <a:lnTo>
                  <a:pt x="89803" y="80974"/>
                </a:lnTo>
                <a:cubicBezTo>
                  <a:pt x="92251" y="83422"/>
                  <a:pt x="92251" y="87381"/>
                  <a:pt x="89803" y="89803"/>
                </a:cubicBezTo>
                <a:cubicBezTo>
                  <a:pt x="87355" y="92225"/>
                  <a:pt x="83396" y="92251"/>
                  <a:pt x="80974" y="89803"/>
                </a:cubicBezTo>
                <a:lnTo>
                  <a:pt x="66649" y="75478"/>
                </a:lnTo>
                <a:lnTo>
                  <a:pt x="52324" y="89803"/>
                </a:lnTo>
                <a:cubicBezTo>
                  <a:pt x="49876" y="92251"/>
                  <a:pt x="45917" y="92251"/>
                  <a:pt x="43495" y="89803"/>
                </a:cubicBezTo>
                <a:cubicBezTo>
                  <a:pt x="41073" y="87355"/>
                  <a:pt x="41047" y="83396"/>
                  <a:pt x="43495" y="80974"/>
                </a:cubicBezTo>
                <a:lnTo>
                  <a:pt x="57820" y="66649"/>
                </a:lnTo>
                <a:lnTo>
                  <a:pt x="43495" y="52324"/>
                </a:lnTo>
                <a:cubicBezTo>
                  <a:pt x="41047" y="49876"/>
                  <a:pt x="41047" y="45917"/>
                  <a:pt x="43495" y="43495"/>
                </a:cubicBez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18" name="Text 16"/>
          <p:cNvSpPr/>
          <p:nvPr/>
        </p:nvSpPr>
        <p:spPr>
          <a:xfrm>
            <a:off x="814388" y="4343400"/>
            <a:ext cx="3124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Loss Aversion:</a:t>
            </a:r>
            <a:r>
              <a:rPr lang="en-US" sz="105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Reluctance to cut losses deepens drawdowns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71500" y="4876800"/>
            <a:ext cx="3305175" cy="419100"/>
          </a:xfrm>
          <a:custGeom>
            <a:avLst/>
            <a:gdLst/>
            <a:ahLst/>
            <a:cxnLst/>
            <a:rect l="l" t="t" r="r" b="b"/>
            <a:pathLst>
              <a:path w="3305175" h="419100">
                <a:moveTo>
                  <a:pt x="38100" y="0"/>
                </a:moveTo>
                <a:lnTo>
                  <a:pt x="3267075" y="0"/>
                </a:lnTo>
                <a:cubicBezTo>
                  <a:pt x="3288117" y="0"/>
                  <a:pt x="3305175" y="17058"/>
                  <a:pt x="3305175" y="38100"/>
                </a:cubicBezTo>
                <a:lnTo>
                  <a:pt x="3305175" y="381000"/>
                </a:lnTo>
                <a:cubicBezTo>
                  <a:pt x="3305175" y="402042"/>
                  <a:pt x="3288117" y="419100"/>
                  <a:pt x="3267075" y="419100"/>
                </a:cubicBezTo>
                <a:lnTo>
                  <a:pt x="38100" y="419100"/>
                </a:lnTo>
                <a:cubicBezTo>
                  <a:pt x="17058" y="419100"/>
                  <a:pt x="0" y="402042"/>
                  <a:pt x="0" y="381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75B4A">
              <a:alpha val="10196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4991100"/>
            <a:ext cx="3143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C75B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Impact: 20-30% annual return reduction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254460" y="1219200"/>
            <a:ext cx="3686175" cy="4267200"/>
          </a:xfrm>
          <a:custGeom>
            <a:avLst/>
            <a:gdLst/>
            <a:ahLst/>
            <a:cxnLst/>
            <a:rect l="l" t="t" r="r" b="b"/>
            <a:pathLst>
              <a:path w="3686175" h="4267200">
                <a:moveTo>
                  <a:pt x="76193" y="0"/>
                </a:moveTo>
                <a:lnTo>
                  <a:pt x="3609982" y="0"/>
                </a:lnTo>
                <a:cubicBezTo>
                  <a:pt x="3652062" y="0"/>
                  <a:pt x="3686175" y="34113"/>
                  <a:pt x="3686175" y="76193"/>
                </a:cubicBezTo>
                <a:lnTo>
                  <a:pt x="3686175" y="4191007"/>
                </a:lnTo>
                <a:cubicBezTo>
                  <a:pt x="3686175" y="4233087"/>
                  <a:pt x="3652062" y="4267200"/>
                  <a:pt x="3609982" y="4267200"/>
                </a:cubicBezTo>
                <a:lnTo>
                  <a:pt x="76193" y="4267200"/>
                </a:lnTo>
                <a:cubicBezTo>
                  <a:pt x="34113" y="4267200"/>
                  <a:pt x="0" y="4233087"/>
                  <a:pt x="0" y="4191007"/>
                </a:cubicBezTo>
                <a:lnTo>
                  <a:pt x="0" y="76193"/>
                </a:lnTo>
                <a:cubicBezTo>
                  <a:pt x="0" y="34141"/>
                  <a:pt x="34141" y="0"/>
                  <a:pt x="76193" y="0"/>
                </a:cubicBezTo>
                <a:close/>
              </a:path>
            </a:pathLst>
          </a:custGeom>
          <a:solidFill>
            <a:srgbClr val="FFFFFF"/>
          </a:solidFill>
          <a:ln>
            <a:solidFill>
              <a:schemeClr val="tx1"/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444960" y="14097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90A4"/>
          </a:solidFill>
          <a:ln/>
        </p:spPr>
      </p:sp>
      <p:sp>
        <p:nvSpPr>
          <p:cNvPr id="23" name="Shape 21"/>
          <p:cNvSpPr/>
          <p:nvPr/>
        </p:nvSpPr>
        <p:spPr>
          <a:xfrm>
            <a:off x="4559260" y="15240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9525" y="9525"/>
                </a:moveTo>
                <a:cubicBezTo>
                  <a:pt x="14794" y="9525"/>
                  <a:pt x="19050" y="13781"/>
                  <a:pt x="19050" y="19050"/>
                </a:cubicBezTo>
                <a:lnTo>
                  <a:pt x="19050" y="119062"/>
                </a:lnTo>
                <a:cubicBezTo>
                  <a:pt x="19050" y="121682"/>
                  <a:pt x="21193" y="123825"/>
                  <a:pt x="23813" y="123825"/>
                </a:cubicBezTo>
                <a:lnTo>
                  <a:pt x="142875" y="123825"/>
                </a:lnTo>
                <a:cubicBezTo>
                  <a:pt x="148144" y="123825"/>
                  <a:pt x="152400" y="128081"/>
                  <a:pt x="152400" y="133350"/>
                </a:cubicBezTo>
                <a:cubicBezTo>
                  <a:pt x="152400" y="138619"/>
                  <a:pt x="148144" y="142875"/>
                  <a:pt x="142875" y="142875"/>
                </a:cubicBezTo>
                <a:lnTo>
                  <a:pt x="23813" y="142875"/>
                </a:lnTo>
                <a:cubicBezTo>
                  <a:pt x="10656" y="142875"/>
                  <a:pt x="0" y="132219"/>
                  <a:pt x="0" y="119062"/>
                </a:cubicBezTo>
                <a:lnTo>
                  <a:pt x="0" y="19050"/>
                </a:lnTo>
                <a:cubicBezTo>
                  <a:pt x="0" y="13781"/>
                  <a:pt x="4256" y="9525"/>
                  <a:pt x="9525" y="9525"/>
                </a:cubicBezTo>
                <a:close/>
                <a:moveTo>
                  <a:pt x="38100" y="28575"/>
                </a:moveTo>
                <a:cubicBezTo>
                  <a:pt x="38100" y="23306"/>
                  <a:pt x="42356" y="19050"/>
                  <a:pt x="47625" y="19050"/>
                </a:cubicBezTo>
                <a:lnTo>
                  <a:pt x="104775" y="19050"/>
                </a:lnTo>
                <a:cubicBezTo>
                  <a:pt x="110044" y="19050"/>
                  <a:pt x="114300" y="23306"/>
                  <a:pt x="114300" y="28575"/>
                </a:cubicBezTo>
                <a:cubicBezTo>
                  <a:pt x="114300" y="33844"/>
                  <a:pt x="110044" y="38100"/>
                  <a:pt x="104775" y="38100"/>
                </a:cubicBezTo>
                <a:lnTo>
                  <a:pt x="47625" y="38100"/>
                </a:lnTo>
                <a:cubicBezTo>
                  <a:pt x="42356" y="38100"/>
                  <a:pt x="38100" y="33844"/>
                  <a:pt x="38100" y="28575"/>
                </a:cubicBezTo>
                <a:close/>
                <a:moveTo>
                  <a:pt x="47625" y="52388"/>
                </a:moveTo>
                <a:lnTo>
                  <a:pt x="85725" y="52388"/>
                </a:lnTo>
                <a:cubicBezTo>
                  <a:pt x="90994" y="52388"/>
                  <a:pt x="95250" y="56644"/>
                  <a:pt x="95250" y="61912"/>
                </a:cubicBezTo>
                <a:cubicBezTo>
                  <a:pt x="95250" y="67181"/>
                  <a:pt x="90994" y="71438"/>
                  <a:pt x="85725" y="71438"/>
                </a:cubicBezTo>
                <a:lnTo>
                  <a:pt x="47625" y="71438"/>
                </a:lnTo>
                <a:cubicBezTo>
                  <a:pt x="42356" y="71438"/>
                  <a:pt x="38100" y="67181"/>
                  <a:pt x="38100" y="61912"/>
                </a:cubicBezTo>
                <a:cubicBezTo>
                  <a:pt x="38100" y="56644"/>
                  <a:pt x="42356" y="52388"/>
                  <a:pt x="47625" y="52388"/>
                </a:cubicBezTo>
                <a:close/>
                <a:moveTo>
                  <a:pt x="47625" y="85725"/>
                </a:moveTo>
                <a:lnTo>
                  <a:pt x="123825" y="85725"/>
                </a:lnTo>
                <a:cubicBezTo>
                  <a:pt x="129094" y="85725"/>
                  <a:pt x="133350" y="89981"/>
                  <a:pt x="133350" y="95250"/>
                </a:cubicBezTo>
                <a:cubicBezTo>
                  <a:pt x="133350" y="100519"/>
                  <a:pt x="129094" y="104775"/>
                  <a:pt x="123825" y="104775"/>
                </a:cubicBezTo>
                <a:lnTo>
                  <a:pt x="47625" y="104775"/>
                </a:lnTo>
                <a:cubicBezTo>
                  <a:pt x="42356" y="104775"/>
                  <a:pt x="38100" y="100519"/>
                  <a:pt x="38100" y="95250"/>
                </a:cubicBezTo>
                <a:cubicBezTo>
                  <a:pt x="38100" y="89981"/>
                  <a:pt x="42356" y="85725"/>
                  <a:pt x="47625" y="85725"/>
                </a:cubicBezTo>
                <a:close/>
              </a:path>
            </a:pathLst>
          </a:custGeom>
          <a:solidFill>
            <a:srgbClr val="F5F1EB"/>
          </a:solidFill>
          <a:ln/>
        </p:spPr>
      </p:sp>
      <p:sp>
        <p:nvSpPr>
          <p:cNvPr id="24" name="Text 22"/>
          <p:cNvSpPr/>
          <p:nvPr/>
        </p:nvSpPr>
        <p:spPr>
          <a:xfrm>
            <a:off x="4940261" y="1466850"/>
            <a:ext cx="1209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Static Analysis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444960" y="1905000"/>
            <a:ext cx="3381375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Traditional technical analysis tools fail in modern markets: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464010" y="30099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43495" y="43495"/>
                </a:moveTo>
                <a:cubicBezTo>
                  <a:pt x="45943" y="41047"/>
                  <a:pt x="49902" y="41047"/>
                  <a:pt x="52324" y="43495"/>
                </a:cubicBezTo>
                <a:lnTo>
                  <a:pt x="66649" y="57820"/>
                </a:lnTo>
                <a:lnTo>
                  <a:pt x="80974" y="43495"/>
                </a:lnTo>
                <a:cubicBezTo>
                  <a:pt x="83422" y="41047"/>
                  <a:pt x="87381" y="41047"/>
                  <a:pt x="89803" y="43495"/>
                </a:cubicBezTo>
                <a:cubicBezTo>
                  <a:pt x="92225" y="45943"/>
                  <a:pt x="92251" y="49902"/>
                  <a:pt x="89803" y="52324"/>
                </a:cubicBezTo>
                <a:lnTo>
                  <a:pt x="75478" y="66649"/>
                </a:lnTo>
                <a:lnTo>
                  <a:pt x="89803" y="80974"/>
                </a:lnTo>
                <a:cubicBezTo>
                  <a:pt x="92251" y="83422"/>
                  <a:pt x="92251" y="87381"/>
                  <a:pt x="89803" y="89803"/>
                </a:cubicBezTo>
                <a:cubicBezTo>
                  <a:pt x="87355" y="92225"/>
                  <a:pt x="83396" y="92251"/>
                  <a:pt x="80974" y="89803"/>
                </a:cubicBezTo>
                <a:lnTo>
                  <a:pt x="66649" y="75478"/>
                </a:lnTo>
                <a:lnTo>
                  <a:pt x="52324" y="89803"/>
                </a:lnTo>
                <a:cubicBezTo>
                  <a:pt x="49876" y="92251"/>
                  <a:pt x="45917" y="92251"/>
                  <a:pt x="43495" y="89803"/>
                </a:cubicBezTo>
                <a:cubicBezTo>
                  <a:pt x="41073" y="87355"/>
                  <a:pt x="41047" y="83396"/>
                  <a:pt x="43495" y="80974"/>
                </a:cubicBezTo>
                <a:lnTo>
                  <a:pt x="57820" y="66649"/>
                </a:lnTo>
                <a:lnTo>
                  <a:pt x="43495" y="52324"/>
                </a:lnTo>
                <a:cubicBezTo>
                  <a:pt x="41047" y="49876"/>
                  <a:pt x="41047" y="45917"/>
                  <a:pt x="43495" y="43495"/>
                </a:cubicBezTo>
                <a:close/>
              </a:path>
            </a:pathLst>
          </a:custGeom>
          <a:solidFill>
            <a:srgbClr val="4A90A4"/>
          </a:solidFill>
          <a:ln/>
        </p:spPr>
      </p:sp>
      <p:sp>
        <p:nvSpPr>
          <p:cNvPr id="27" name="Text 25"/>
          <p:cNvSpPr/>
          <p:nvPr/>
        </p:nvSpPr>
        <p:spPr>
          <a:xfrm>
            <a:off x="4687848" y="2971800"/>
            <a:ext cx="3124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Lagging Indicators:</a:t>
            </a:r>
            <a:r>
              <a:rPr lang="en-US" sz="105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Moving averages react too slowly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464010" y="34671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43495" y="43495"/>
                </a:moveTo>
                <a:cubicBezTo>
                  <a:pt x="45943" y="41047"/>
                  <a:pt x="49902" y="41047"/>
                  <a:pt x="52324" y="43495"/>
                </a:cubicBezTo>
                <a:lnTo>
                  <a:pt x="66649" y="57820"/>
                </a:lnTo>
                <a:lnTo>
                  <a:pt x="80974" y="43495"/>
                </a:lnTo>
                <a:cubicBezTo>
                  <a:pt x="83422" y="41047"/>
                  <a:pt x="87381" y="41047"/>
                  <a:pt x="89803" y="43495"/>
                </a:cubicBezTo>
                <a:cubicBezTo>
                  <a:pt x="92225" y="45943"/>
                  <a:pt x="92251" y="49902"/>
                  <a:pt x="89803" y="52324"/>
                </a:cubicBezTo>
                <a:lnTo>
                  <a:pt x="75478" y="66649"/>
                </a:lnTo>
                <a:lnTo>
                  <a:pt x="89803" y="80974"/>
                </a:lnTo>
                <a:cubicBezTo>
                  <a:pt x="92251" y="83422"/>
                  <a:pt x="92251" y="87381"/>
                  <a:pt x="89803" y="89803"/>
                </a:cubicBezTo>
                <a:cubicBezTo>
                  <a:pt x="87355" y="92225"/>
                  <a:pt x="83396" y="92251"/>
                  <a:pt x="80974" y="89803"/>
                </a:cubicBezTo>
                <a:lnTo>
                  <a:pt x="66649" y="75478"/>
                </a:lnTo>
                <a:lnTo>
                  <a:pt x="52324" y="89803"/>
                </a:lnTo>
                <a:cubicBezTo>
                  <a:pt x="49876" y="92251"/>
                  <a:pt x="45917" y="92251"/>
                  <a:pt x="43495" y="89803"/>
                </a:cubicBezTo>
                <a:cubicBezTo>
                  <a:pt x="41073" y="87355"/>
                  <a:pt x="41047" y="83396"/>
                  <a:pt x="43495" y="80974"/>
                </a:cubicBezTo>
                <a:lnTo>
                  <a:pt x="57820" y="66649"/>
                </a:lnTo>
                <a:lnTo>
                  <a:pt x="43495" y="52324"/>
                </a:lnTo>
                <a:cubicBezTo>
                  <a:pt x="41047" y="49876"/>
                  <a:pt x="41047" y="45917"/>
                  <a:pt x="43495" y="43495"/>
                </a:cubicBezTo>
                <a:close/>
              </a:path>
            </a:pathLst>
          </a:custGeom>
          <a:solidFill>
            <a:srgbClr val="4A90A4"/>
          </a:solidFill>
          <a:ln/>
        </p:spPr>
      </p:sp>
      <p:sp>
        <p:nvSpPr>
          <p:cNvPr id="29" name="Text 27"/>
          <p:cNvSpPr/>
          <p:nvPr/>
        </p:nvSpPr>
        <p:spPr>
          <a:xfrm>
            <a:off x="4687848" y="3429000"/>
            <a:ext cx="3124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Static Thresholds:</a:t>
            </a:r>
            <a:r>
              <a:rPr lang="en-US" sz="105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Fixed parameters ignore volatility regimes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464010" y="39243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43495" y="43495"/>
                </a:moveTo>
                <a:cubicBezTo>
                  <a:pt x="45943" y="41047"/>
                  <a:pt x="49902" y="41047"/>
                  <a:pt x="52324" y="43495"/>
                </a:cubicBezTo>
                <a:lnTo>
                  <a:pt x="66649" y="57820"/>
                </a:lnTo>
                <a:lnTo>
                  <a:pt x="80974" y="43495"/>
                </a:lnTo>
                <a:cubicBezTo>
                  <a:pt x="83422" y="41047"/>
                  <a:pt x="87381" y="41047"/>
                  <a:pt x="89803" y="43495"/>
                </a:cubicBezTo>
                <a:cubicBezTo>
                  <a:pt x="92225" y="45943"/>
                  <a:pt x="92251" y="49902"/>
                  <a:pt x="89803" y="52324"/>
                </a:cubicBezTo>
                <a:lnTo>
                  <a:pt x="75478" y="66649"/>
                </a:lnTo>
                <a:lnTo>
                  <a:pt x="89803" y="80974"/>
                </a:lnTo>
                <a:cubicBezTo>
                  <a:pt x="92251" y="83422"/>
                  <a:pt x="92251" y="87381"/>
                  <a:pt x="89803" y="89803"/>
                </a:cubicBezTo>
                <a:cubicBezTo>
                  <a:pt x="87355" y="92225"/>
                  <a:pt x="83396" y="92251"/>
                  <a:pt x="80974" y="89803"/>
                </a:cubicBezTo>
                <a:lnTo>
                  <a:pt x="66649" y="75478"/>
                </a:lnTo>
                <a:lnTo>
                  <a:pt x="52324" y="89803"/>
                </a:lnTo>
                <a:cubicBezTo>
                  <a:pt x="49876" y="92251"/>
                  <a:pt x="45917" y="92251"/>
                  <a:pt x="43495" y="89803"/>
                </a:cubicBezTo>
                <a:cubicBezTo>
                  <a:pt x="41073" y="87355"/>
                  <a:pt x="41047" y="83396"/>
                  <a:pt x="43495" y="80974"/>
                </a:cubicBezTo>
                <a:lnTo>
                  <a:pt x="57820" y="66649"/>
                </a:lnTo>
                <a:lnTo>
                  <a:pt x="43495" y="52324"/>
                </a:lnTo>
                <a:cubicBezTo>
                  <a:pt x="41047" y="49876"/>
                  <a:pt x="41047" y="45917"/>
                  <a:pt x="43495" y="43495"/>
                </a:cubicBezTo>
                <a:close/>
              </a:path>
            </a:pathLst>
          </a:custGeom>
          <a:solidFill>
            <a:srgbClr val="4A90A4"/>
          </a:solidFill>
          <a:ln/>
        </p:spPr>
      </p:sp>
      <p:sp>
        <p:nvSpPr>
          <p:cNvPr id="31" name="Text 29"/>
          <p:cNvSpPr/>
          <p:nvPr/>
        </p:nvSpPr>
        <p:spPr>
          <a:xfrm>
            <a:off x="4687848" y="3886200"/>
            <a:ext cx="3124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Uncertainty:</a:t>
            </a:r>
            <a:r>
              <a:rPr lang="en-US" sz="105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Single-point predictions lack confidence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464010" y="43815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43495" y="43495"/>
                </a:moveTo>
                <a:cubicBezTo>
                  <a:pt x="45943" y="41047"/>
                  <a:pt x="49902" y="41047"/>
                  <a:pt x="52324" y="43495"/>
                </a:cubicBezTo>
                <a:lnTo>
                  <a:pt x="66649" y="57820"/>
                </a:lnTo>
                <a:lnTo>
                  <a:pt x="80974" y="43495"/>
                </a:lnTo>
                <a:cubicBezTo>
                  <a:pt x="83422" y="41047"/>
                  <a:pt x="87381" y="41047"/>
                  <a:pt x="89803" y="43495"/>
                </a:cubicBezTo>
                <a:cubicBezTo>
                  <a:pt x="92225" y="45943"/>
                  <a:pt x="92251" y="49902"/>
                  <a:pt x="89803" y="52324"/>
                </a:cubicBezTo>
                <a:lnTo>
                  <a:pt x="75478" y="66649"/>
                </a:lnTo>
                <a:lnTo>
                  <a:pt x="89803" y="80974"/>
                </a:lnTo>
                <a:cubicBezTo>
                  <a:pt x="92251" y="83422"/>
                  <a:pt x="92251" y="87381"/>
                  <a:pt x="89803" y="89803"/>
                </a:cubicBezTo>
                <a:cubicBezTo>
                  <a:pt x="87355" y="92225"/>
                  <a:pt x="83396" y="92251"/>
                  <a:pt x="80974" y="89803"/>
                </a:cubicBezTo>
                <a:lnTo>
                  <a:pt x="66649" y="75478"/>
                </a:lnTo>
                <a:lnTo>
                  <a:pt x="52324" y="89803"/>
                </a:lnTo>
                <a:cubicBezTo>
                  <a:pt x="49876" y="92251"/>
                  <a:pt x="45917" y="92251"/>
                  <a:pt x="43495" y="89803"/>
                </a:cubicBezTo>
                <a:cubicBezTo>
                  <a:pt x="41073" y="87355"/>
                  <a:pt x="41047" y="83396"/>
                  <a:pt x="43495" y="80974"/>
                </a:cubicBezTo>
                <a:lnTo>
                  <a:pt x="57820" y="66649"/>
                </a:lnTo>
                <a:lnTo>
                  <a:pt x="43495" y="52324"/>
                </a:lnTo>
                <a:cubicBezTo>
                  <a:pt x="41047" y="49876"/>
                  <a:pt x="41047" y="45917"/>
                  <a:pt x="43495" y="43495"/>
                </a:cubicBezTo>
                <a:close/>
              </a:path>
            </a:pathLst>
          </a:custGeom>
          <a:solidFill>
            <a:srgbClr val="4A90A4"/>
          </a:solidFill>
          <a:ln/>
        </p:spPr>
      </p:sp>
      <p:sp>
        <p:nvSpPr>
          <p:cNvPr id="33" name="Text 31"/>
          <p:cNvSpPr/>
          <p:nvPr/>
        </p:nvSpPr>
        <p:spPr>
          <a:xfrm>
            <a:off x="4687848" y="4343400"/>
            <a:ext cx="3124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Disconnected:</a:t>
            </a:r>
            <a:r>
              <a:rPr lang="en-US" sz="105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Sentiment and technicals analyzed separately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444960" y="4876800"/>
            <a:ext cx="3305175" cy="419100"/>
          </a:xfrm>
          <a:custGeom>
            <a:avLst/>
            <a:gdLst/>
            <a:ahLst/>
            <a:cxnLst/>
            <a:rect l="l" t="t" r="r" b="b"/>
            <a:pathLst>
              <a:path w="3305175" h="419100">
                <a:moveTo>
                  <a:pt x="38100" y="0"/>
                </a:moveTo>
                <a:lnTo>
                  <a:pt x="3267075" y="0"/>
                </a:lnTo>
                <a:cubicBezTo>
                  <a:pt x="3288117" y="0"/>
                  <a:pt x="3305175" y="17058"/>
                  <a:pt x="3305175" y="38100"/>
                </a:cubicBezTo>
                <a:lnTo>
                  <a:pt x="3305175" y="381000"/>
                </a:lnTo>
                <a:cubicBezTo>
                  <a:pt x="3305175" y="402042"/>
                  <a:pt x="3288117" y="419100"/>
                  <a:pt x="3267075" y="419100"/>
                </a:cubicBezTo>
                <a:lnTo>
                  <a:pt x="38100" y="419100"/>
                </a:lnTo>
                <a:cubicBezTo>
                  <a:pt x="17058" y="419100"/>
                  <a:pt x="0" y="402042"/>
                  <a:pt x="0" y="381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90A4">
              <a:alpha val="10196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4559260" y="4991100"/>
            <a:ext cx="3143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A90A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Impact: Poor timing in volatile markets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127921" y="1219200"/>
            <a:ext cx="3686175" cy="4267200"/>
          </a:xfrm>
          <a:custGeom>
            <a:avLst/>
            <a:gdLst/>
            <a:ahLst/>
            <a:cxnLst/>
            <a:rect l="l" t="t" r="r" b="b"/>
            <a:pathLst>
              <a:path w="3686175" h="4267200">
                <a:moveTo>
                  <a:pt x="76193" y="0"/>
                </a:moveTo>
                <a:lnTo>
                  <a:pt x="3609982" y="0"/>
                </a:lnTo>
                <a:cubicBezTo>
                  <a:pt x="3652062" y="0"/>
                  <a:pt x="3686175" y="34113"/>
                  <a:pt x="3686175" y="76193"/>
                </a:cubicBezTo>
                <a:lnTo>
                  <a:pt x="3686175" y="4191007"/>
                </a:lnTo>
                <a:cubicBezTo>
                  <a:pt x="3686175" y="4233087"/>
                  <a:pt x="3652062" y="4267200"/>
                  <a:pt x="3609982" y="4267200"/>
                </a:cubicBezTo>
                <a:lnTo>
                  <a:pt x="76193" y="4267200"/>
                </a:lnTo>
                <a:cubicBezTo>
                  <a:pt x="34113" y="4267200"/>
                  <a:pt x="0" y="4233087"/>
                  <a:pt x="0" y="4191007"/>
                </a:cubicBezTo>
                <a:lnTo>
                  <a:pt x="0" y="76193"/>
                </a:lnTo>
                <a:cubicBezTo>
                  <a:pt x="0" y="34141"/>
                  <a:pt x="34141" y="0"/>
                  <a:pt x="76193" y="0"/>
                </a:cubicBezTo>
                <a:close/>
              </a:path>
            </a:pathLst>
          </a:custGeom>
          <a:solidFill>
            <a:srgbClr val="FFFFFF"/>
          </a:solidFill>
          <a:ln>
            <a:solidFill>
              <a:schemeClr val="tx1"/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318421" y="14097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E3A5F"/>
          </a:solidFill>
          <a:ln/>
        </p:spPr>
      </p:sp>
      <p:sp>
        <p:nvSpPr>
          <p:cNvPr id="38" name="Shape 36"/>
          <p:cNvSpPr/>
          <p:nvPr/>
        </p:nvSpPr>
        <p:spPr>
          <a:xfrm>
            <a:off x="8432721" y="15240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ubicBezTo>
                  <a:pt x="0" y="34144"/>
                  <a:pt x="34144" y="0"/>
                  <a:pt x="76200" y="0"/>
                </a:cubicBezTo>
                <a:close/>
                <a:moveTo>
                  <a:pt x="69056" y="35719"/>
                </a:moveTo>
                <a:lnTo>
                  <a:pt x="69056" y="76200"/>
                </a:lnTo>
                <a:cubicBezTo>
                  <a:pt x="69056" y="78581"/>
                  <a:pt x="70247" y="80814"/>
                  <a:pt x="72241" y="82153"/>
                </a:cubicBezTo>
                <a:lnTo>
                  <a:pt x="100816" y="101203"/>
                </a:lnTo>
                <a:cubicBezTo>
                  <a:pt x="104090" y="103406"/>
                  <a:pt x="108525" y="102513"/>
                  <a:pt x="110728" y="99209"/>
                </a:cubicBezTo>
                <a:cubicBezTo>
                  <a:pt x="112931" y="95905"/>
                  <a:pt x="112038" y="91500"/>
                  <a:pt x="108734" y="89297"/>
                </a:cubicBezTo>
                <a:lnTo>
                  <a:pt x="83344" y="72390"/>
                </a:lnTo>
                <a:lnTo>
                  <a:pt x="83344" y="35719"/>
                </a:lnTo>
                <a:cubicBezTo>
                  <a:pt x="83344" y="31760"/>
                  <a:pt x="80159" y="28575"/>
                  <a:pt x="76200" y="28575"/>
                </a:cubicBezTo>
                <a:cubicBezTo>
                  <a:pt x="72241" y="28575"/>
                  <a:pt x="69056" y="31760"/>
                  <a:pt x="69056" y="35719"/>
                </a:cubicBezTo>
                <a:close/>
              </a:path>
            </a:pathLst>
          </a:custGeom>
          <a:solidFill>
            <a:srgbClr val="F5F1EB"/>
          </a:solidFill>
          <a:ln/>
        </p:spPr>
      </p:sp>
      <p:sp>
        <p:nvSpPr>
          <p:cNvPr id="39" name="Text 37"/>
          <p:cNvSpPr/>
          <p:nvPr/>
        </p:nvSpPr>
        <p:spPr>
          <a:xfrm>
            <a:off x="8813721" y="1466850"/>
            <a:ext cx="1409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Time Constraints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318421" y="1905000"/>
            <a:ext cx="338137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Manual portfolio management is unsustainable: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337471" y="32004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43495" y="43495"/>
                </a:moveTo>
                <a:cubicBezTo>
                  <a:pt x="45943" y="41047"/>
                  <a:pt x="49902" y="41047"/>
                  <a:pt x="52324" y="43495"/>
                </a:cubicBezTo>
                <a:lnTo>
                  <a:pt x="66649" y="57820"/>
                </a:lnTo>
                <a:lnTo>
                  <a:pt x="80974" y="43495"/>
                </a:lnTo>
                <a:cubicBezTo>
                  <a:pt x="83422" y="41047"/>
                  <a:pt x="87381" y="41047"/>
                  <a:pt x="89803" y="43495"/>
                </a:cubicBezTo>
                <a:cubicBezTo>
                  <a:pt x="92225" y="45943"/>
                  <a:pt x="92251" y="49902"/>
                  <a:pt x="89803" y="52324"/>
                </a:cubicBezTo>
                <a:lnTo>
                  <a:pt x="75478" y="66649"/>
                </a:lnTo>
                <a:lnTo>
                  <a:pt x="89803" y="80974"/>
                </a:lnTo>
                <a:cubicBezTo>
                  <a:pt x="92251" y="83422"/>
                  <a:pt x="92251" y="87381"/>
                  <a:pt x="89803" y="89803"/>
                </a:cubicBezTo>
                <a:cubicBezTo>
                  <a:pt x="87355" y="92225"/>
                  <a:pt x="83396" y="92251"/>
                  <a:pt x="80974" y="89803"/>
                </a:cubicBezTo>
                <a:lnTo>
                  <a:pt x="66649" y="75478"/>
                </a:lnTo>
                <a:lnTo>
                  <a:pt x="52324" y="89803"/>
                </a:lnTo>
                <a:cubicBezTo>
                  <a:pt x="49876" y="92251"/>
                  <a:pt x="45917" y="92251"/>
                  <a:pt x="43495" y="89803"/>
                </a:cubicBezTo>
                <a:cubicBezTo>
                  <a:pt x="41073" y="87355"/>
                  <a:pt x="41047" y="83396"/>
                  <a:pt x="43495" y="80974"/>
                </a:cubicBezTo>
                <a:lnTo>
                  <a:pt x="57820" y="66649"/>
                </a:lnTo>
                <a:lnTo>
                  <a:pt x="43495" y="52324"/>
                </a:lnTo>
                <a:cubicBezTo>
                  <a:pt x="41047" y="49876"/>
                  <a:pt x="41047" y="45917"/>
                  <a:pt x="43495" y="43495"/>
                </a:cubicBezTo>
                <a:close/>
              </a:path>
            </a:pathLst>
          </a:custGeom>
          <a:solidFill>
            <a:srgbClr val="1E3A5F"/>
          </a:solidFill>
          <a:ln/>
        </p:spPr>
      </p:sp>
      <p:sp>
        <p:nvSpPr>
          <p:cNvPr id="42" name="Text 40"/>
          <p:cNvSpPr/>
          <p:nvPr/>
        </p:nvSpPr>
        <p:spPr>
          <a:xfrm>
            <a:off x="8561308" y="3162300"/>
            <a:ext cx="2457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24/7 Markets:</a:t>
            </a:r>
            <a:r>
              <a:rPr lang="en-US" sz="105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Global markets never sleep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337471" y="34671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43495" y="43495"/>
                </a:moveTo>
                <a:cubicBezTo>
                  <a:pt x="45943" y="41047"/>
                  <a:pt x="49902" y="41047"/>
                  <a:pt x="52324" y="43495"/>
                </a:cubicBezTo>
                <a:lnTo>
                  <a:pt x="66649" y="57820"/>
                </a:lnTo>
                <a:lnTo>
                  <a:pt x="80974" y="43495"/>
                </a:lnTo>
                <a:cubicBezTo>
                  <a:pt x="83422" y="41047"/>
                  <a:pt x="87381" y="41047"/>
                  <a:pt x="89803" y="43495"/>
                </a:cubicBezTo>
                <a:cubicBezTo>
                  <a:pt x="92225" y="45943"/>
                  <a:pt x="92251" y="49902"/>
                  <a:pt x="89803" y="52324"/>
                </a:cubicBezTo>
                <a:lnTo>
                  <a:pt x="75478" y="66649"/>
                </a:lnTo>
                <a:lnTo>
                  <a:pt x="89803" y="80974"/>
                </a:lnTo>
                <a:cubicBezTo>
                  <a:pt x="92251" y="83422"/>
                  <a:pt x="92251" y="87381"/>
                  <a:pt x="89803" y="89803"/>
                </a:cubicBezTo>
                <a:cubicBezTo>
                  <a:pt x="87355" y="92225"/>
                  <a:pt x="83396" y="92251"/>
                  <a:pt x="80974" y="89803"/>
                </a:cubicBezTo>
                <a:lnTo>
                  <a:pt x="66649" y="75478"/>
                </a:lnTo>
                <a:lnTo>
                  <a:pt x="52324" y="89803"/>
                </a:lnTo>
                <a:cubicBezTo>
                  <a:pt x="49876" y="92251"/>
                  <a:pt x="45917" y="92251"/>
                  <a:pt x="43495" y="89803"/>
                </a:cubicBezTo>
                <a:cubicBezTo>
                  <a:pt x="41073" y="87355"/>
                  <a:pt x="41047" y="83396"/>
                  <a:pt x="43495" y="80974"/>
                </a:cubicBezTo>
                <a:lnTo>
                  <a:pt x="57820" y="66649"/>
                </a:lnTo>
                <a:lnTo>
                  <a:pt x="43495" y="52324"/>
                </a:lnTo>
                <a:cubicBezTo>
                  <a:pt x="41047" y="49876"/>
                  <a:pt x="41047" y="45917"/>
                  <a:pt x="43495" y="43495"/>
                </a:cubicBezTo>
                <a:close/>
              </a:path>
            </a:pathLst>
          </a:custGeom>
          <a:solidFill>
            <a:srgbClr val="1E3A5F"/>
          </a:solidFill>
          <a:ln/>
        </p:spPr>
      </p:sp>
      <p:sp>
        <p:nvSpPr>
          <p:cNvPr id="44" name="Text 42"/>
          <p:cNvSpPr/>
          <p:nvPr/>
        </p:nvSpPr>
        <p:spPr>
          <a:xfrm>
            <a:off x="8561308" y="3429000"/>
            <a:ext cx="3124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Overload:</a:t>
            </a:r>
            <a:r>
              <a:rPr lang="en-US" sz="105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Thousands of data points per second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337471" y="39243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43495" y="43495"/>
                </a:moveTo>
                <a:cubicBezTo>
                  <a:pt x="45943" y="41047"/>
                  <a:pt x="49902" y="41047"/>
                  <a:pt x="52324" y="43495"/>
                </a:cubicBezTo>
                <a:lnTo>
                  <a:pt x="66649" y="57820"/>
                </a:lnTo>
                <a:lnTo>
                  <a:pt x="80974" y="43495"/>
                </a:lnTo>
                <a:cubicBezTo>
                  <a:pt x="83422" y="41047"/>
                  <a:pt x="87381" y="41047"/>
                  <a:pt x="89803" y="43495"/>
                </a:cubicBezTo>
                <a:cubicBezTo>
                  <a:pt x="92225" y="45943"/>
                  <a:pt x="92251" y="49902"/>
                  <a:pt x="89803" y="52324"/>
                </a:cubicBezTo>
                <a:lnTo>
                  <a:pt x="75478" y="66649"/>
                </a:lnTo>
                <a:lnTo>
                  <a:pt x="89803" y="80974"/>
                </a:lnTo>
                <a:cubicBezTo>
                  <a:pt x="92251" y="83422"/>
                  <a:pt x="92251" y="87381"/>
                  <a:pt x="89803" y="89803"/>
                </a:cubicBezTo>
                <a:cubicBezTo>
                  <a:pt x="87355" y="92225"/>
                  <a:pt x="83396" y="92251"/>
                  <a:pt x="80974" y="89803"/>
                </a:cubicBezTo>
                <a:lnTo>
                  <a:pt x="66649" y="75478"/>
                </a:lnTo>
                <a:lnTo>
                  <a:pt x="52324" y="89803"/>
                </a:lnTo>
                <a:cubicBezTo>
                  <a:pt x="49876" y="92251"/>
                  <a:pt x="45917" y="92251"/>
                  <a:pt x="43495" y="89803"/>
                </a:cubicBezTo>
                <a:cubicBezTo>
                  <a:pt x="41073" y="87355"/>
                  <a:pt x="41047" y="83396"/>
                  <a:pt x="43495" y="80974"/>
                </a:cubicBezTo>
                <a:lnTo>
                  <a:pt x="57820" y="66649"/>
                </a:lnTo>
                <a:lnTo>
                  <a:pt x="43495" y="52324"/>
                </a:lnTo>
                <a:cubicBezTo>
                  <a:pt x="41047" y="49876"/>
                  <a:pt x="41047" y="45917"/>
                  <a:pt x="43495" y="43495"/>
                </a:cubicBezTo>
                <a:close/>
              </a:path>
            </a:pathLst>
          </a:custGeom>
          <a:solidFill>
            <a:srgbClr val="1E3A5F"/>
          </a:solidFill>
          <a:ln/>
        </p:spPr>
      </p:sp>
      <p:sp>
        <p:nvSpPr>
          <p:cNvPr id="46" name="Text 44"/>
          <p:cNvSpPr/>
          <p:nvPr/>
        </p:nvSpPr>
        <p:spPr>
          <a:xfrm>
            <a:off x="8561308" y="3886200"/>
            <a:ext cx="3124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Delayed Response:</a:t>
            </a:r>
            <a:r>
              <a:rPr lang="en-US" sz="105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Manual execution misses opportunities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8337471" y="43815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43495" y="43495"/>
                </a:moveTo>
                <a:cubicBezTo>
                  <a:pt x="45943" y="41047"/>
                  <a:pt x="49902" y="41047"/>
                  <a:pt x="52324" y="43495"/>
                </a:cubicBezTo>
                <a:lnTo>
                  <a:pt x="66649" y="57820"/>
                </a:lnTo>
                <a:lnTo>
                  <a:pt x="80974" y="43495"/>
                </a:lnTo>
                <a:cubicBezTo>
                  <a:pt x="83422" y="41047"/>
                  <a:pt x="87381" y="41047"/>
                  <a:pt x="89803" y="43495"/>
                </a:cubicBezTo>
                <a:cubicBezTo>
                  <a:pt x="92225" y="45943"/>
                  <a:pt x="92251" y="49902"/>
                  <a:pt x="89803" y="52324"/>
                </a:cubicBezTo>
                <a:lnTo>
                  <a:pt x="75478" y="66649"/>
                </a:lnTo>
                <a:lnTo>
                  <a:pt x="89803" y="80974"/>
                </a:lnTo>
                <a:cubicBezTo>
                  <a:pt x="92251" y="83422"/>
                  <a:pt x="92251" y="87381"/>
                  <a:pt x="89803" y="89803"/>
                </a:cubicBezTo>
                <a:cubicBezTo>
                  <a:pt x="87355" y="92225"/>
                  <a:pt x="83396" y="92251"/>
                  <a:pt x="80974" y="89803"/>
                </a:cubicBezTo>
                <a:lnTo>
                  <a:pt x="66649" y="75478"/>
                </a:lnTo>
                <a:lnTo>
                  <a:pt x="52324" y="89803"/>
                </a:lnTo>
                <a:cubicBezTo>
                  <a:pt x="49876" y="92251"/>
                  <a:pt x="45917" y="92251"/>
                  <a:pt x="43495" y="89803"/>
                </a:cubicBezTo>
                <a:cubicBezTo>
                  <a:pt x="41073" y="87355"/>
                  <a:pt x="41047" y="83396"/>
                  <a:pt x="43495" y="80974"/>
                </a:cubicBezTo>
                <a:lnTo>
                  <a:pt x="57820" y="66649"/>
                </a:lnTo>
                <a:lnTo>
                  <a:pt x="43495" y="52324"/>
                </a:lnTo>
                <a:cubicBezTo>
                  <a:pt x="41047" y="49876"/>
                  <a:pt x="41047" y="45917"/>
                  <a:pt x="43495" y="43495"/>
                </a:cubicBezTo>
                <a:close/>
              </a:path>
            </a:pathLst>
          </a:custGeom>
          <a:solidFill>
            <a:srgbClr val="1E3A5F"/>
          </a:solidFill>
          <a:ln/>
        </p:spPr>
      </p:sp>
      <p:sp>
        <p:nvSpPr>
          <p:cNvPr id="48" name="Text 46"/>
          <p:cNvSpPr/>
          <p:nvPr/>
        </p:nvSpPr>
        <p:spPr>
          <a:xfrm>
            <a:off x="8561308" y="4343400"/>
            <a:ext cx="3124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Monitoring Fatigue:</a:t>
            </a:r>
            <a:r>
              <a:rPr lang="en-US" sz="105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Human attention degrades over time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8318421" y="4876800"/>
            <a:ext cx="3305175" cy="419100"/>
          </a:xfrm>
          <a:custGeom>
            <a:avLst/>
            <a:gdLst/>
            <a:ahLst/>
            <a:cxnLst/>
            <a:rect l="l" t="t" r="r" b="b"/>
            <a:pathLst>
              <a:path w="3305175" h="419100">
                <a:moveTo>
                  <a:pt x="38100" y="0"/>
                </a:moveTo>
                <a:lnTo>
                  <a:pt x="3267075" y="0"/>
                </a:lnTo>
                <a:cubicBezTo>
                  <a:pt x="3288117" y="0"/>
                  <a:pt x="3305175" y="17058"/>
                  <a:pt x="3305175" y="38100"/>
                </a:cubicBezTo>
                <a:lnTo>
                  <a:pt x="3305175" y="381000"/>
                </a:lnTo>
                <a:cubicBezTo>
                  <a:pt x="3305175" y="402042"/>
                  <a:pt x="3288117" y="419100"/>
                  <a:pt x="3267075" y="419100"/>
                </a:cubicBezTo>
                <a:lnTo>
                  <a:pt x="38100" y="419100"/>
                </a:lnTo>
                <a:cubicBezTo>
                  <a:pt x="17058" y="419100"/>
                  <a:pt x="0" y="402042"/>
                  <a:pt x="0" y="381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E3A5F">
              <a:alpha val="10196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8432721" y="4991100"/>
            <a:ext cx="3143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Impact: Missed opportunities &amp; delayed exits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381000" y="5638800"/>
            <a:ext cx="3686175" cy="838200"/>
          </a:xfrm>
          <a:custGeom>
            <a:avLst/>
            <a:gdLst/>
            <a:ahLst/>
            <a:cxnLst/>
            <a:rect l="l" t="t" r="r" b="b"/>
            <a:pathLst>
              <a:path w="3686175" h="838200">
                <a:moveTo>
                  <a:pt x="76201" y="0"/>
                </a:moveTo>
                <a:lnTo>
                  <a:pt x="3609974" y="0"/>
                </a:lnTo>
                <a:cubicBezTo>
                  <a:pt x="3652059" y="0"/>
                  <a:pt x="3686175" y="34116"/>
                  <a:pt x="3686175" y="76201"/>
                </a:cubicBezTo>
                <a:lnTo>
                  <a:pt x="3686175" y="761999"/>
                </a:lnTo>
                <a:cubicBezTo>
                  <a:pt x="3686175" y="804084"/>
                  <a:pt x="3652059" y="838200"/>
                  <a:pt x="3609974" y="838200"/>
                </a:cubicBezTo>
                <a:lnTo>
                  <a:pt x="76201" y="838200"/>
                </a:lnTo>
                <a:cubicBezTo>
                  <a:pt x="34116" y="838200"/>
                  <a:pt x="0" y="804084"/>
                  <a:pt x="0" y="7619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C75B4A"/>
          </a:solidFill>
          <a:ln>
            <a:solidFill>
              <a:schemeClr val="tx1"/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</p:sp>
      <p:sp>
        <p:nvSpPr>
          <p:cNvPr id="52" name="Text 50"/>
          <p:cNvSpPr/>
          <p:nvPr/>
        </p:nvSpPr>
        <p:spPr>
          <a:xfrm>
            <a:off x="461963" y="5791200"/>
            <a:ext cx="3524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73%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500063" y="6134100"/>
            <a:ext cx="3448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of retail traders lose money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4254460" y="5638800"/>
            <a:ext cx="3686175" cy="838200"/>
          </a:xfrm>
          <a:custGeom>
            <a:avLst/>
            <a:gdLst/>
            <a:ahLst/>
            <a:cxnLst/>
            <a:rect l="l" t="t" r="r" b="b"/>
            <a:pathLst>
              <a:path w="3686175" h="838200">
                <a:moveTo>
                  <a:pt x="76201" y="0"/>
                </a:moveTo>
                <a:lnTo>
                  <a:pt x="3609974" y="0"/>
                </a:lnTo>
                <a:cubicBezTo>
                  <a:pt x="3652059" y="0"/>
                  <a:pt x="3686175" y="34116"/>
                  <a:pt x="3686175" y="76201"/>
                </a:cubicBezTo>
                <a:lnTo>
                  <a:pt x="3686175" y="761999"/>
                </a:lnTo>
                <a:cubicBezTo>
                  <a:pt x="3686175" y="804084"/>
                  <a:pt x="3652059" y="838200"/>
                  <a:pt x="3609974" y="838200"/>
                </a:cubicBezTo>
                <a:lnTo>
                  <a:pt x="76201" y="838200"/>
                </a:lnTo>
                <a:cubicBezTo>
                  <a:pt x="34116" y="838200"/>
                  <a:pt x="0" y="804084"/>
                  <a:pt x="0" y="7619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4A90A4"/>
          </a:solidFill>
          <a:ln>
            <a:solidFill>
              <a:schemeClr val="tx1"/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</p:sp>
      <p:sp>
        <p:nvSpPr>
          <p:cNvPr id="55" name="Text 53"/>
          <p:cNvSpPr/>
          <p:nvPr/>
        </p:nvSpPr>
        <p:spPr>
          <a:xfrm>
            <a:off x="4335423" y="5791200"/>
            <a:ext cx="3524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$2.4T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4373523" y="6134100"/>
            <a:ext cx="3448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annual losses from emotional trading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8127921" y="5638800"/>
            <a:ext cx="3686175" cy="838200"/>
          </a:xfrm>
          <a:custGeom>
            <a:avLst/>
            <a:gdLst/>
            <a:ahLst/>
            <a:cxnLst/>
            <a:rect l="l" t="t" r="r" b="b"/>
            <a:pathLst>
              <a:path w="3686175" h="838200">
                <a:moveTo>
                  <a:pt x="76201" y="0"/>
                </a:moveTo>
                <a:lnTo>
                  <a:pt x="3609974" y="0"/>
                </a:lnTo>
                <a:cubicBezTo>
                  <a:pt x="3652059" y="0"/>
                  <a:pt x="3686175" y="34116"/>
                  <a:pt x="3686175" y="76201"/>
                </a:cubicBezTo>
                <a:lnTo>
                  <a:pt x="3686175" y="761999"/>
                </a:lnTo>
                <a:cubicBezTo>
                  <a:pt x="3686175" y="804084"/>
                  <a:pt x="3652059" y="838200"/>
                  <a:pt x="3609974" y="838200"/>
                </a:cubicBezTo>
                <a:lnTo>
                  <a:pt x="76201" y="838200"/>
                </a:lnTo>
                <a:cubicBezTo>
                  <a:pt x="34116" y="838200"/>
                  <a:pt x="0" y="804084"/>
                  <a:pt x="0" y="7619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1E3A5F"/>
          </a:solidFill>
          <a:ln/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</p:sp>
      <p:sp>
        <p:nvSpPr>
          <p:cNvPr id="58" name="Text 56"/>
          <p:cNvSpPr/>
          <p:nvPr/>
        </p:nvSpPr>
        <p:spPr>
          <a:xfrm>
            <a:off x="8208883" y="5791200"/>
            <a:ext cx="3524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85%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8246983" y="6134100"/>
            <a:ext cx="3448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quit within 2 years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99662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76200" y="0"/>
                </a:moveTo>
                <a:lnTo>
                  <a:pt x="533400" y="0"/>
                </a:lnTo>
                <a:cubicBezTo>
                  <a:pt x="575456" y="0"/>
                  <a:pt x="609600" y="34144"/>
                  <a:pt x="609600" y="76200"/>
                </a:cubicBezTo>
                <a:lnTo>
                  <a:pt x="609600" y="533400"/>
                </a:lnTo>
                <a:cubicBezTo>
                  <a:pt x="609600" y="575456"/>
                  <a:pt x="575456" y="609600"/>
                  <a:pt x="53340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0000"/>
          </a:solidFill>
          <a:ln/>
        </p:spPr>
      </p:sp>
      <p:sp>
        <p:nvSpPr>
          <p:cNvPr id="3" name="Text 1"/>
          <p:cNvSpPr/>
          <p:nvPr/>
        </p:nvSpPr>
        <p:spPr>
          <a:xfrm>
            <a:off x="506730" y="514350"/>
            <a:ext cx="5048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43000" y="400050"/>
            <a:ext cx="2800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C75B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OBJECTIVE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590550"/>
            <a:ext cx="29051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Objectives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1000" y="1238250"/>
            <a:ext cx="5600700" cy="1485900"/>
          </a:xfrm>
          <a:custGeom>
            <a:avLst/>
            <a:gdLst/>
            <a:ahLst/>
            <a:cxnLst/>
            <a:rect l="l" t="t" r="r" b="b"/>
            <a:pathLst>
              <a:path w="5600700" h="1485900">
                <a:moveTo>
                  <a:pt x="38100" y="0"/>
                </a:moveTo>
                <a:lnTo>
                  <a:pt x="5562600" y="0"/>
                </a:lnTo>
                <a:cubicBezTo>
                  <a:pt x="5583628" y="0"/>
                  <a:pt x="5600700" y="17072"/>
                  <a:pt x="5600700" y="38100"/>
                </a:cubicBezTo>
                <a:lnTo>
                  <a:pt x="5600700" y="1409703"/>
                </a:lnTo>
                <a:cubicBezTo>
                  <a:pt x="5600700" y="1451785"/>
                  <a:pt x="5566585" y="1485900"/>
                  <a:pt x="5524503" y="1485900"/>
                </a:cubicBezTo>
                <a:lnTo>
                  <a:pt x="76197" y="1485900"/>
                </a:lnTo>
                <a:cubicBezTo>
                  <a:pt x="34115" y="1485900"/>
                  <a:pt x="0" y="1451785"/>
                  <a:pt x="0" y="1409703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>
            <a:solidFill>
              <a:schemeClr val="tx1"/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1000" y="1238250"/>
            <a:ext cx="5600700" cy="38100"/>
          </a:xfrm>
          <a:custGeom>
            <a:avLst/>
            <a:gdLst/>
            <a:ahLst/>
            <a:cxnLst/>
            <a:rect l="l" t="t" r="r" b="b"/>
            <a:pathLst>
              <a:path w="5600700" h="38100">
                <a:moveTo>
                  <a:pt x="38100" y="0"/>
                </a:moveTo>
                <a:lnTo>
                  <a:pt x="5562600" y="0"/>
                </a:lnTo>
                <a:cubicBezTo>
                  <a:pt x="5583628" y="0"/>
                  <a:pt x="5600700" y="17072"/>
                  <a:pt x="5600700" y="38100"/>
                </a:cubicBezTo>
                <a:lnTo>
                  <a:pt x="56007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8" name="Shape 6"/>
          <p:cNvSpPr/>
          <p:nvPr/>
        </p:nvSpPr>
        <p:spPr>
          <a:xfrm>
            <a:off x="571500" y="1447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9" name="Text 7"/>
          <p:cNvSpPr/>
          <p:nvPr/>
        </p:nvSpPr>
        <p:spPr>
          <a:xfrm>
            <a:off x="769620" y="1543050"/>
            <a:ext cx="152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1100" y="1447800"/>
            <a:ext cx="4705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Develop Dynamic Risk-First System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1100" y="1790700"/>
            <a:ext cx="46863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Create an AI-driven financial intelligence terminal that prioritizes capital preservation over profit maximization. The system must dynamically adapt to market conditions and volatility regimes.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81000" y="2895600"/>
            <a:ext cx="5600700" cy="1485900"/>
          </a:xfrm>
          <a:custGeom>
            <a:avLst/>
            <a:gdLst/>
            <a:ahLst/>
            <a:cxnLst/>
            <a:rect l="l" t="t" r="r" b="b"/>
            <a:pathLst>
              <a:path w="5600700" h="1485900">
                <a:moveTo>
                  <a:pt x="38100" y="0"/>
                </a:moveTo>
                <a:lnTo>
                  <a:pt x="5562600" y="0"/>
                </a:lnTo>
                <a:cubicBezTo>
                  <a:pt x="5583628" y="0"/>
                  <a:pt x="5600700" y="17072"/>
                  <a:pt x="5600700" y="38100"/>
                </a:cubicBezTo>
                <a:lnTo>
                  <a:pt x="5600700" y="1409703"/>
                </a:lnTo>
                <a:cubicBezTo>
                  <a:pt x="5600700" y="1451785"/>
                  <a:pt x="5566585" y="1485900"/>
                  <a:pt x="5524503" y="1485900"/>
                </a:cubicBezTo>
                <a:lnTo>
                  <a:pt x="76197" y="1485900"/>
                </a:lnTo>
                <a:cubicBezTo>
                  <a:pt x="34115" y="1485900"/>
                  <a:pt x="0" y="1451785"/>
                  <a:pt x="0" y="1409703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>
            <a:solidFill>
              <a:schemeClr val="tx1"/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81000" y="2895600"/>
            <a:ext cx="5600700" cy="38100"/>
          </a:xfrm>
          <a:custGeom>
            <a:avLst/>
            <a:gdLst/>
            <a:ahLst/>
            <a:cxnLst/>
            <a:rect l="l" t="t" r="r" b="b"/>
            <a:pathLst>
              <a:path w="5600700" h="38100">
                <a:moveTo>
                  <a:pt x="38100" y="0"/>
                </a:moveTo>
                <a:lnTo>
                  <a:pt x="5562600" y="0"/>
                </a:lnTo>
                <a:cubicBezTo>
                  <a:pt x="5583628" y="0"/>
                  <a:pt x="5600700" y="17072"/>
                  <a:pt x="5600700" y="38100"/>
                </a:cubicBezTo>
                <a:lnTo>
                  <a:pt x="56007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90A4"/>
          </a:solidFill>
          <a:ln/>
        </p:spPr>
      </p:sp>
      <p:sp>
        <p:nvSpPr>
          <p:cNvPr id="14" name="Shape 12"/>
          <p:cNvSpPr/>
          <p:nvPr/>
        </p:nvSpPr>
        <p:spPr>
          <a:xfrm>
            <a:off x="571500" y="31051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A90A4"/>
          </a:solidFill>
          <a:ln/>
        </p:spPr>
      </p:sp>
      <p:sp>
        <p:nvSpPr>
          <p:cNvPr id="15" name="Text 13"/>
          <p:cNvSpPr/>
          <p:nvPr/>
        </p:nvSpPr>
        <p:spPr>
          <a:xfrm>
            <a:off x="750570" y="3200400"/>
            <a:ext cx="190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81100" y="3105150"/>
            <a:ext cx="4705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Implement Real-Time Data Pipeline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81100" y="3448050"/>
            <a:ext cx="46863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Build a FastAPI backend that integrates with yfinance API to fetch live market data, process it in real-time, and serve it to the frontend with minimal latency (&lt;100ms).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81000" y="4552950"/>
            <a:ext cx="5600700" cy="1485900"/>
          </a:xfrm>
          <a:custGeom>
            <a:avLst/>
            <a:gdLst/>
            <a:ahLst/>
            <a:cxnLst/>
            <a:rect l="l" t="t" r="r" b="b"/>
            <a:pathLst>
              <a:path w="5600700" h="1485900">
                <a:moveTo>
                  <a:pt x="38100" y="0"/>
                </a:moveTo>
                <a:lnTo>
                  <a:pt x="5562600" y="0"/>
                </a:lnTo>
                <a:cubicBezTo>
                  <a:pt x="5583628" y="0"/>
                  <a:pt x="5600700" y="17072"/>
                  <a:pt x="5600700" y="38100"/>
                </a:cubicBezTo>
                <a:lnTo>
                  <a:pt x="5600700" y="1409703"/>
                </a:lnTo>
                <a:cubicBezTo>
                  <a:pt x="5600700" y="1451785"/>
                  <a:pt x="5566585" y="1485900"/>
                  <a:pt x="5524503" y="1485900"/>
                </a:cubicBezTo>
                <a:lnTo>
                  <a:pt x="76197" y="1485900"/>
                </a:lnTo>
                <a:cubicBezTo>
                  <a:pt x="34115" y="1485900"/>
                  <a:pt x="0" y="1451785"/>
                  <a:pt x="0" y="1409703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>
            <a:solidFill>
              <a:schemeClr val="tx1"/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81000" y="4552950"/>
            <a:ext cx="5600700" cy="38100"/>
          </a:xfrm>
          <a:custGeom>
            <a:avLst/>
            <a:gdLst/>
            <a:ahLst/>
            <a:cxnLst/>
            <a:rect l="l" t="t" r="r" b="b"/>
            <a:pathLst>
              <a:path w="5600700" h="38100">
                <a:moveTo>
                  <a:pt x="38100" y="0"/>
                </a:moveTo>
                <a:lnTo>
                  <a:pt x="5562600" y="0"/>
                </a:lnTo>
                <a:cubicBezTo>
                  <a:pt x="5583628" y="0"/>
                  <a:pt x="5600700" y="17072"/>
                  <a:pt x="5600700" y="38100"/>
                </a:cubicBezTo>
                <a:lnTo>
                  <a:pt x="56007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E3A5F"/>
          </a:solidFill>
          <a:ln/>
        </p:spPr>
      </p:sp>
      <p:sp>
        <p:nvSpPr>
          <p:cNvPr id="20" name="Shape 18"/>
          <p:cNvSpPr/>
          <p:nvPr/>
        </p:nvSpPr>
        <p:spPr>
          <a:xfrm>
            <a:off x="571500" y="4762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1E3A5F"/>
          </a:solidFill>
          <a:ln/>
        </p:spPr>
      </p:sp>
      <p:sp>
        <p:nvSpPr>
          <p:cNvPr id="21" name="Text 19"/>
          <p:cNvSpPr/>
          <p:nvPr/>
        </p:nvSpPr>
        <p:spPr>
          <a:xfrm>
            <a:off x="750570" y="4857750"/>
            <a:ext cx="190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81100" y="4762500"/>
            <a:ext cx="4705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Create Interactive Frontend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81100" y="5105400"/>
            <a:ext cx="46863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Develop a React.js frontend with intuitive dashboards, real-time charts, and clear visualizations that make complex financial data accessible to retail investors.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210300" y="1238250"/>
            <a:ext cx="5600700" cy="1485900"/>
          </a:xfrm>
          <a:custGeom>
            <a:avLst/>
            <a:gdLst/>
            <a:ahLst/>
            <a:cxnLst/>
            <a:rect l="l" t="t" r="r" b="b"/>
            <a:pathLst>
              <a:path w="5600700" h="1485900">
                <a:moveTo>
                  <a:pt x="38100" y="0"/>
                </a:moveTo>
                <a:lnTo>
                  <a:pt x="5562600" y="0"/>
                </a:lnTo>
                <a:cubicBezTo>
                  <a:pt x="5583628" y="0"/>
                  <a:pt x="5600700" y="17072"/>
                  <a:pt x="5600700" y="38100"/>
                </a:cubicBezTo>
                <a:lnTo>
                  <a:pt x="5600700" y="1409703"/>
                </a:lnTo>
                <a:cubicBezTo>
                  <a:pt x="5600700" y="1451785"/>
                  <a:pt x="5566585" y="1485900"/>
                  <a:pt x="5524503" y="1485900"/>
                </a:cubicBezTo>
                <a:lnTo>
                  <a:pt x="76197" y="1485900"/>
                </a:lnTo>
                <a:cubicBezTo>
                  <a:pt x="34115" y="1485900"/>
                  <a:pt x="0" y="1451785"/>
                  <a:pt x="0" y="1409703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>
            <a:solidFill>
              <a:schemeClr val="tx1"/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10300" y="1238250"/>
            <a:ext cx="5600700" cy="38100"/>
          </a:xfrm>
          <a:custGeom>
            <a:avLst/>
            <a:gdLst/>
            <a:ahLst/>
            <a:cxnLst/>
            <a:rect l="l" t="t" r="r" b="b"/>
            <a:pathLst>
              <a:path w="5600700" h="38100">
                <a:moveTo>
                  <a:pt x="38100" y="0"/>
                </a:moveTo>
                <a:lnTo>
                  <a:pt x="5562600" y="0"/>
                </a:lnTo>
                <a:cubicBezTo>
                  <a:pt x="5583628" y="0"/>
                  <a:pt x="5600700" y="17072"/>
                  <a:pt x="5600700" y="38100"/>
                </a:cubicBezTo>
                <a:lnTo>
                  <a:pt x="56007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26" name="Shape 24"/>
          <p:cNvSpPr/>
          <p:nvPr/>
        </p:nvSpPr>
        <p:spPr>
          <a:xfrm>
            <a:off x="6400800" y="1447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27" name="Text 25"/>
          <p:cNvSpPr/>
          <p:nvPr/>
        </p:nvSpPr>
        <p:spPr>
          <a:xfrm>
            <a:off x="6579870" y="1543050"/>
            <a:ext cx="190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010400" y="1447800"/>
            <a:ext cx="4705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Design Hybrid AI Engine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010400" y="1790700"/>
            <a:ext cx="46863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 a hybrid engine combining BSI (Buy Strength Index) for sentiment-momentum analysis and Monte Carlo GBM simulations for probabilistic price forecasting with 1000+ paths.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210300" y="2895600"/>
            <a:ext cx="5600700" cy="1485900"/>
          </a:xfrm>
          <a:custGeom>
            <a:avLst/>
            <a:gdLst/>
            <a:ahLst/>
            <a:cxnLst/>
            <a:rect l="l" t="t" r="r" b="b"/>
            <a:pathLst>
              <a:path w="5600700" h="1485900">
                <a:moveTo>
                  <a:pt x="38100" y="0"/>
                </a:moveTo>
                <a:lnTo>
                  <a:pt x="5562600" y="0"/>
                </a:lnTo>
                <a:cubicBezTo>
                  <a:pt x="5583628" y="0"/>
                  <a:pt x="5600700" y="17072"/>
                  <a:pt x="5600700" y="38100"/>
                </a:cubicBezTo>
                <a:lnTo>
                  <a:pt x="5600700" y="1409703"/>
                </a:lnTo>
                <a:cubicBezTo>
                  <a:pt x="5600700" y="1451785"/>
                  <a:pt x="5566585" y="1485900"/>
                  <a:pt x="5524503" y="1485900"/>
                </a:cubicBezTo>
                <a:lnTo>
                  <a:pt x="76197" y="1485900"/>
                </a:lnTo>
                <a:cubicBezTo>
                  <a:pt x="34115" y="1485900"/>
                  <a:pt x="0" y="1451785"/>
                  <a:pt x="0" y="1409703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>
            <a:solidFill>
              <a:schemeClr val="tx1"/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10300" y="2895600"/>
            <a:ext cx="5600700" cy="38100"/>
          </a:xfrm>
          <a:custGeom>
            <a:avLst/>
            <a:gdLst/>
            <a:ahLst/>
            <a:cxnLst/>
            <a:rect l="l" t="t" r="r" b="b"/>
            <a:pathLst>
              <a:path w="5600700" h="38100">
                <a:moveTo>
                  <a:pt x="38100" y="0"/>
                </a:moveTo>
                <a:lnTo>
                  <a:pt x="5562600" y="0"/>
                </a:lnTo>
                <a:cubicBezTo>
                  <a:pt x="5583628" y="0"/>
                  <a:pt x="5600700" y="17072"/>
                  <a:pt x="5600700" y="38100"/>
                </a:cubicBezTo>
                <a:lnTo>
                  <a:pt x="56007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90A4"/>
          </a:solidFill>
          <a:ln/>
        </p:spPr>
      </p:sp>
      <p:sp>
        <p:nvSpPr>
          <p:cNvPr id="32" name="Shape 30"/>
          <p:cNvSpPr/>
          <p:nvPr/>
        </p:nvSpPr>
        <p:spPr>
          <a:xfrm>
            <a:off x="6400800" y="31051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A90A4"/>
          </a:solidFill>
          <a:ln/>
        </p:spPr>
      </p:sp>
      <p:sp>
        <p:nvSpPr>
          <p:cNvPr id="33" name="Text 31"/>
          <p:cNvSpPr/>
          <p:nvPr/>
        </p:nvSpPr>
        <p:spPr>
          <a:xfrm>
            <a:off x="6579870" y="3200400"/>
            <a:ext cx="190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010400" y="3105150"/>
            <a:ext cx="4705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Implement Ghost Hedge Protocol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010400" y="3448050"/>
            <a:ext cx="46863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Develop an autonomous risk management system that monitors volatility stress and triggers protective actions: 4.5% profit booking and 10.0% stop-loss without human intervention.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210300" y="4533900"/>
            <a:ext cx="5600700" cy="2209800"/>
          </a:xfrm>
          <a:custGeom>
            <a:avLst/>
            <a:gdLst/>
            <a:ahLst/>
            <a:cxnLst/>
            <a:rect l="l" t="t" r="r" b="b"/>
            <a:pathLst>
              <a:path w="5600700" h="2324100">
                <a:moveTo>
                  <a:pt x="76207" y="0"/>
                </a:moveTo>
                <a:lnTo>
                  <a:pt x="5524493" y="0"/>
                </a:lnTo>
                <a:cubicBezTo>
                  <a:pt x="5566581" y="0"/>
                  <a:pt x="5600700" y="34119"/>
                  <a:pt x="5600700" y="76207"/>
                </a:cubicBezTo>
                <a:lnTo>
                  <a:pt x="5600700" y="2247893"/>
                </a:lnTo>
                <a:cubicBezTo>
                  <a:pt x="5600700" y="2289981"/>
                  <a:pt x="5566581" y="2324100"/>
                  <a:pt x="5524493" y="2324100"/>
                </a:cubicBezTo>
                <a:lnTo>
                  <a:pt x="76207" y="2324100"/>
                </a:lnTo>
                <a:cubicBezTo>
                  <a:pt x="34119" y="2324100"/>
                  <a:pt x="0" y="2289981"/>
                  <a:pt x="0" y="2247893"/>
                </a:cubicBezTo>
                <a:lnTo>
                  <a:pt x="0" y="76207"/>
                </a:lnTo>
                <a:cubicBezTo>
                  <a:pt x="0" y="34119"/>
                  <a:pt x="34119" y="0"/>
                  <a:pt x="76207" y="0"/>
                </a:cubicBezTo>
                <a:close/>
              </a:path>
            </a:pathLst>
          </a:custGeom>
          <a:solidFill>
            <a:srgbClr val="1E3A5F"/>
          </a:solidFill>
          <a:ln>
            <a:solidFill>
              <a:schemeClr val="tx1"/>
            </a:solidFill>
          </a:ln>
          <a:effectLst>
            <a:glow rad="101600">
              <a:schemeClr val="accent5">
                <a:satMod val="175000"/>
                <a:alpha val="40000"/>
              </a:schemeClr>
            </a:glow>
          </a:effectLst>
        </p:spPr>
      </p:sp>
      <p:sp>
        <p:nvSpPr>
          <p:cNvPr id="37" name="Shape 35"/>
          <p:cNvSpPr/>
          <p:nvPr/>
        </p:nvSpPr>
        <p:spPr>
          <a:xfrm>
            <a:off x="6424613" y="47625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53690" y="0"/>
                </a:moveTo>
                <a:lnTo>
                  <a:pt x="137033" y="0"/>
                </a:lnTo>
                <a:cubicBezTo>
                  <a:pt x="146893" y="0"/>
                  <a:pt x="154930" y="8111"/>
                  <a:pt x="154558" y="17934"/>
                </a:cubicBezTo>
                <a:cubicBezTo>
                  <a:pt x="154484" y="19906"/>
                  <a:pt x="154409" y="21878"/>
                  <a:pt x="154298" y="23812"/>
                </a:cubicBezTo>
                <a:lnTo>
                  <a:pt x="172752" y="23812"/>
                </a:lnTo>
                <a:cubicBezTo>
                  <a:pt x="182463" y="23812"/>
                  <a:pt x="191021" y="31849"/>
                  <a:pt x="190277" y="42342"/>
                </a:cubicBezTo>
                <a:cubicBezTo>
                  <a:pt x="187486" y="80925"/>
                  <a:pt x="167767" y="102133"/>
                  <a:pt x="146372" y="113221"/>
                </a:cubicBezTo>
                <a:cubicBezTo>
                  <a:pt x="140494" y="116272"/>
                  <a:pt x="134503" y="118542"/>
                  <a:pt x="128811" y="120216"/>
                </a:cubicBezTo>
                <a:cubicBezTo>
                  <a:pt x="121295" y="130857"/>
                  <a:pt x="113481" y="136475"/>
                  <a:pt x="107268" y="139489"/>
                </a:cubicBezTo>
                <a:lnTo>
                  <a:pt x="107268" y="166688"/>
                </a:lnTo>
                <a:lnTo>
                  <a:pt x="131080" y="166688"/>
                </a:lnTo>
                <a:cubicBezTo>
                  <a:pt x="137666" y="166688"/>
                  <a:pt x="142987" y="172008"/>
                  <a:pt x="142987" y="178594"/>
                </a:cubicBezTo>
                <a:cubicBezTo>
                  <a:pt x="142987" y="185179"/>
                  <a:pt x="137666" y="190500"/>
                  <a:pt x="131080" y="190500"/>
                </a:cubicBezTo>
                <a:lnTo>
                  <a:pt x="59643" y="190500"/>
                </a:lnTo>
                <a:cubicBezTo>
                  <a:pt x="53057" y="190500"/>
                  <a:pt x="47737" y="185179"/>
                  <a:pt x="47737" y="178594"/>
                </a:cubicBezTo>
                <a:cubicBezTo>
                  <a:pt x="47737" y="172008"/>
                  <a:pt x="53057" y="166688"/>
                  <a:pt x="59643" y="166688"/>
                </a:cubicBezTo>
                <a:lnTo>
                  <a:pt x="83455" y="166688"/>
                </a:lnTo>
                <a:lnTo>
                  <a:pt x="83455" y="139489"/>
                </a:lnTo>
                <a:cubicBezTo>
                  <a:pt x="77502" y="136624"/>
                  <a:pt x="70098" y="131304"/>
                  <a:pt x="62880" y="121518"/>
                </a:cubicBezTo>
                <a:cubicBezTo>
                  <a:pt x="56034" y="119732"/>
                  <a:pt x="48592" y="117016"/>
                  <a:pt x="41337" y="112923"/>
                </a:cubicBezTo>
                <a:cubicBezTo>
                  <a:pt x="21208" y="101650"/>
                  <a:pt x="3051" y="80404"/>
                  <a:pt x="446" y="42267"/>
                </a:cubicBezTo>
                <a:cubicBezTo>
                  <a:pt x="-260" y="31812"/>
                  <a:pt x="8260" y="23775"/>
                  <a:pt x="17971" y="23775"/>
                </a:cubicBezTo>
                <a:lnTo>
                  <a:pt x="36426" y="23775"/>
                </a:lnTo>
                <a:cubicBezTo>
                  <a:pt x="36314" y="21841"/>
                  <a:pt x="36240" y="19906"/>
                  <a:pt x="36165" y="17897"/>
                </a:cubicBezTo>
                <a:cubicBezTo>
                  <a:pt x="35793" y="8037"/>
                  <a:pt x="43830" y="-37"/>
                  <a:pt x="53690" y="-37"/>
                </a:cubicBezTo>
                <a:close/>
                <a:moveTo>
                  <a:pt x="37765" y="41672"/>
                </a:moveTo>
                <a:lnTo>
                  <a:pt x="18269" y="41672"/>
                </a:lnTo>
                <a:cubicBezTo>
                  <a:pt x="20575" y="73186"/>
                  <a:pt x="35049" y="88962"/>
                  <a:pt x="49969" y="97334"/>
                </a:cubicBezTo>
                <a:cubicBezTo>
                  <a:pt x="44611" y="83455"/>
                  <a:pt x="40184" y="65336"/>
                  <a:pt x="37765" y="41672"/>
                </a:cubicBezTo>
                <a:close/>
                <a:moveTo>
                  <a:pt x="141387" y="95548"/>
                </a:moveTo>
                <a:cubicBezTo>
                  <a:pt x="156456" y="86692"/>
                  <a:pt x="170073" y="70954"/>
                  <a:pt x="172380" y="41672"/>
                </a:cubicBezTo>
                <a:lnTo>
                  <a:pt x="152921" y="41672"/>
                </a:lnTo>
                <a:cubicBezTo>
                  <a:pt x="150614" y="64331"/>
                  <a:pt x="146447" y="81930"/>
                  <a:pt x="141387" y="95548"/>
                </a:cubicBez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38" name="Text 36"/>
          <p:cNvSpPr/>
          <p:nvPr/>
        </p:nvSpPr>
        <p:spPr>
          <a:xfrm>
            <a:off x="6638925" y="4724400"/>
            <a:ext cx="5076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Success Criteria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400800" y="5105400"/>
            <a:ext cx="2552700" cy="723900"/>
          </a:xfrm>
          <a:custGeom>
            <a:avLst/>
            <a:gdLst/>
            <a:ahLst/>
            <a:cxnLst/>
            <a:rect l="l" t="t" r="r" b="b"/>
            <a:pathLst>
              <a:path w="2552700" h="723900">
                <a:moveTo>
                  <a:pt x="38099" y="0"/>
                </a:moveTo>
                <a:lnTo>
                  <a:pt x="2514601" y="0"/>
                </a:lnTo>
                <a:cubicBezTo>
                  <a:pt x="2535628" y="0"/>
                  <a:pt x="2552700" y="17072"/>
                  <a:pt x="2552700" y="38099"/>
                </a:cubicBezTo>
                <a:lnTo>
                  <a:pt x="2552700" y="685801"/>
                </a:lnTo>
                <a:cubicBezTo>
                  <a:pt x="2552700" y="706828"/>
                  <a:pt x="2535628" y="723900"/>
                  <a:pt x="2514601" y="723900"/>
                </a:cubicBezTo>
                <a:lnTo>
                  <a:pt x="38099" y="723900"/>
                </a:lnTo>
                <a:cubicBezTo>
                  <a:pt x="17072" y="723900"/>
                  <a:pt x="0" y="706828"/>
                  <a:pt x="0" y="685801"/>
                </a:cubicBezTo>
                <a:lnTo>
                  <a:pt x="0" y="38099"/>
                </a:lnTo>
                <a:cubicBezTo>
                  <a:pt x="0" y="17072"/>
                  <a:pt x="17072" y="0"/>
                  <a:pt x="38099" y="0"/>
                </a:cubicBezTo>
                <a:close/>
              </a:path>
            </a:pathLst>
          </a:custGeom>
          <a:solidFill>
            <a:srgbClr val="F5F1EB">
              <a:alpha val="10196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6457950" y="5219700"/>
            <a:ext cx="2438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C75B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≥90%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481763" y="5524384"/>
            <a:ext cx="2390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Trend Accuracy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9067800" y="5105400"/>
            <a:ext cx="2552700" cy="723900"/>
          </a:xfrm>
          <a:custGeom>
            <a:avLst/>
            <a:gdLst/>
            <a:ahLst/>
            <a:cxnLst/>
            <a:rect l="l" t="t" r="r" b="b"/>
            <a:pathLst>
              <a:path w="2552700" h="723900">
                <a:moveTo>
                  <a:pt x="38099" y="0"/>
                </a:moveTo>
                <a:lnTo>
                  <a:pt x="2514601" y="0"/>
                </a:lnTo>
                <a:cubicBezTo>
                  <a:pt x="2535628" y="0"/>
                  <a:pt x="2552700" y="17072"/>
                  <a:pt x="2552700" y="38099"/>
                </a:cubicBezTo>
                <a:lnTo>
                  <a:pt x="2552700" y="685801"/>
                </a:lnTo>
                <a:cubicBezTo>
                  <a:pt x="2552700" y="706828"/>
                  <a:pt x="2535628" y="723900"/>
                  <a:pt x="2514601" y="723900"/>
                </a:cubicBezTo>
                <a:lnTo>
                  <a:pt x="38099" y="723900"/>
                </a:lnTo>
                <a:cubicBezTo>
                  <a:pt x="17072" y="723900"/>
                  <a:pt x="0" y="706828"/>
                  <a:pt x="0" y="685801"/>
                </a:cubicBezTo>
                <a:lnTo>
                  <a:pt x="0" y="38099"/>
                </a:lnTo>
                <a:cubicBezTo>
                  <a:pt x="0" y="17072"/>
                  <a:pt x="17072" y="0"/>
                  <a:pt x="38099" y="0"/>
                </a:cubicBezTo>
                <a:close/>
              </a:path>
            </a:pathLst>
          </a:custGeom>
          <a:solidFill>
            <a:srgbClr val="F5F1EB">
              <a:alpha val="10196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9124950" y="5219700"/>
            <a:ext cx="2438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4A90A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≥75%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9148763" y="5524384"/>
            <a:ext cx="2390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Success Ratio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400800" y="5943484"/>
            <a:ext cx="2552700" cy="723900"/>
          </a:xfrm>
          <a:custGeom>
            <a:avLst/>
            <a:gdLst/>
            <a:ahLst/>
            <a:cxnLst/>
            <a:rect l="l" t="t" r="r" b="b"/>
            <a:pathLst>
              <a:path w="2552700" h="723900">
                <a:moveTo>
                  <a:pt x="38099" y="0"/>
                </a:moveTo>
                <a:lnTo>
                  <a:pt x="2514601" y="0"/>
                </a:lnTo>
                <a:cubicBezTo>
                  <a:pt x="2535628" y="0"/>
                  <a:pt x="2552700" y="17072"/>
                  <a:pt x="2552700" y="38099"/>
                </a:cubicBezTo>
                <a:lnTo>
                  <a:pt x="2552700" y="685801"/>
                </a:lnTo>
                <a:cubicBezTo>
                  <a:pt x="2552700" y="706828"/>
                  <a:pt x="2535628" y="723900"/>
                  <a:pt x="2514601" y="723900"/>
                </a:cubicBezTo>
                <a:lnTo>
                  <a:pt x="38099" y="723900"/>
                </a:lnTo>
                <a:cubicBezTo>
                  <a:pt x="17072" y="723900"/>
                  <a:pt x="0" y="706828"/>
                  <a:pt x="0" y="685801"/>
                </a:cubicBezTo>
                <a:lnTo>
                  <a:pt x="0" y="38099"/>
                </a:lnTo>
                <a:cubicBezTo>
                  <a:pt x="0" y="17072"/>
                  <a:pt x="17072" y="0"/>
                  <a:pt x="38099" y="0"/>
                </a:cubicBezTo>
                <a:close/>
              </a:path>
            </a:pathLst>
          </a:custGeom>
          <a:solidFill>
            <a:srgbClr val="F5F1EB">
              <a:alpha val="10196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6457950" y="6057784"/>
            <a:ext cx="2438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C75B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&lt;5%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481763" y="6362463"/>
            <a:ext cx="2390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Max Drawdown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9067800" y="5943484"/>
            <a:ext cx="2552700" cy="723900"/>
          </a:xfrm>
          <a:custGeom>
            <a:avLst/>
            <a:gdLst/>
            <a:ahLst/>
            <a:cxnLst/>
            <a:rect l="l" t="t" r="r" b="b"/>
            <a:pathLst>
              <a:path w="2552700" h="723900">
                <a:moveTo>
                  <a:pt x="38099" y="0"/>
                </a:moveTo>
                <a:lnTo>
                  <a:pt x="2514601" y="0"/>
                </a:lnTo>
                <a:cubicBezTo>
                  <a:pt x="2535628" y="0"/>
                  <a:pt x="2552700" y="17072"/>
                  <a:pt x="2552700" y="38099"/>
                </a:cubicBezTo>
                <a:lnTo>
                  <a:pt x="2552700" y="685801"/>
                </a:lnTo>
                <a:cubicBezTo>
                  <a:pt x="2552700" y="706828"/>
                  <a:pt x="2535628" y="723900"/>
                  <a:pt x="2514601" y="723900"/>
                </a:cubicBezTo>
                <a:lnTo>
                  <a:pt x="38099" y="723900"/>
                </a:lnTo>
                <a:cubicBezTo>
                  <a:pt x="17072" y="723900"/>
                  <a:pt x="0" y="706828"/>
                  <a:pt x="0" y="685801"/>
                </a:cubicBezTo>
                <a:lnTo>
                  <a:pt x="0" y="38099"/>
                </a:lnTo>
                <a:cubicBezTo>
                  <a:pt x="0" y="17072"/>
                  <a:pt x="17072" y="0"/>
                  <a:pt x="38099" y="0"/>
                </a:cubicBezTo>
                <a:close/>
              </a:path>
            </a:pathLst>
          </a:custGeom>
          <a:solidFill>
            <a:srgbClr val="F5F1EB">
              <a:alpha val="10196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9124950" y="6057784"/>
            <a:ext cx="2438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4A90A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&lt;100ms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9148763" y="6362463"/>
            <a:ext cx="2390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Response Time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9842" y="349842"/>
            <a:ext cx="559747" cy="559747"/>
          </a:xfrm>
          <a:custGeom>
            <a:avLst/>
            <a:gdLst/>
            <a:ahLst/>
            <a:cxnLst/>
            <a:rect l="l" t="t" r="r" b="b"/>
            <a:pathLst>
              <a:path w="559747" h="559747">
                <a:moveTo>
                  <a:pt x="69968" y="0"/>
                </a:moveTo>
                <a:lnTo>
                  <a:pt x="489779" y="0"/>
                </a:lnTo>
                <a:cubicBezTo>
                  <a:pt x="528422" y="0"/>
                  <a:pt x="559747" y="31326"/>
                  <a:pt x="559747" y="69968"/>
                </a:cubicBezTo>
                <a:lnTo>
                  <a:pt x="559747" y="489779"/>
                </a:lnTo>
                <a:cubicBezTo>
                  <a:pt x="559747" y="528422"/>
                  <a:pt x="528422" y="559747"/>
                  <a:pt x="489779" y="559747"/>
                </a:cubicBezTo>
                <a:lnTo>
                  <a:pt x="69968" y="559747"/>
                </a:lnTo>
                <a:cubicBezTo>
                  <a:pt x="31326" y="559747"/>
                  <a:pt x="0" y="528422"/>
                  <a:pt x="0" y="489779"/>
                </a:cubicBezTo>
                <a:lnTo>
                  <a:pt x="0" y="69968"/>
                </a:lnTo>
                <a:cubicBezTo>
                  <a:pt x="0" y="31352"/>
                  <a:pt x="31352" y="0"/>
                  <a:pt x="69968" y="0"/>
                </a:cubicBezTo>
                <a:close/>
              </a:path>
            </a:pathLst>
          </a:custGeom>
          <a:solidFill>
            <a:srgbClr val="FF0000"/>
          </a:solidFill>
          <a:ln/>
        </p:spPr>
      </p:sp>
      <p:sp>
        <p:nvSpPr>
          <p:cNvPr id="3" name="Text 1"/>
          <p:cNvSpPr/>
          <p:nvPr/>
        </p:nvSpPr>
        <p:spPr>
          <a:xfrm>
            <a:off x="479284" y="472287"/>
            <a:ext cx="428557" cy="314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66" b="1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49527" y="367334"/>
            <a:ext cx="4364281" cy="174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4" b="1" kern="0" spc="48" dirty="0">
                <a:solidFill>
                  <a:srgbClr val="C75B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DATASET &amp; DESCRIPTION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49527" y="542255"/>
            <a:ext cx="4460488" cy="349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79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Sources &amp; Characteristics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49842" y="1119495"/>
            <a:ext cx="5641205" cy="3253532"/>
          </a:xfrm>
          <a:custGeom>
            <a:avLst/>
            <a:gdLst/>
            <a:ahLst/>
            <a:cxnLst/>
            <a:rect l="l" t="t" r="r" b="b"/>
            <a:pathLst>
              <a:path w="5641205" h="3253532">
                <a:moveTo>
                  <a:pt x="69983" y="0"/>
                </a:moveTo>
                <a:lnTo>
                  <a:pt x="5571222" y="0"/>
                </a:lnTo>
                <a:cubicBezTo>
                  <a:pt x="5609872" y="0"/>
                  <a:pt x="5641205" y="31333"/>
                  <a:pt x="5641205" y="69983"/>
                </a:cubicBezTo>
                <a:lnTo>
                  <a:pt x="5641205" y="3183549"/>
                </a:lnTo>
                <a:cubicBezTo>
                  <a:pt x="5641205" y="3222200"/>
                  <a:pt x="5609872" y="3253532"/>
                  <a:pt x="5571222" y="3253532"/>
                </a:cubicBezTo>
                <a:lnTo>
                  <a:pt x="69983" y="3253532"/>
                </a:lnTo>
                <a:cubicBezTo>
                  <a:pt x="31333" y="3253532"/>
                  <a:pt x="0" y="3222200"/>
                  <a:pt x="0" y="3183549"/>
                </a:cubicBezTo>
                <a:lnTo>
                  <a:pt x="0" y="69983"/>
                </a:lnTo>
                <a:cubicBezTo>
                  <a:pt x="0" y="31359"/>
                  <a:pt x="31359" y="0"/>
                  <a:pt x="69983" y="0"/>
                </a:cubicBezTo>
                <a:close/>
              </a:path>
            </a:pathLst>
          </a:custGeom>
          <a:solidFill>
            <a:srgbClr val="FFFFFF"/>
          </a:solidFill>
          <a:ln>
            <a:solidFill>
              <a:schemeClr val="tx1"/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2476" dist="34984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57561" y="1329400"/>
            <a:ext cx="153056" cy="174921"/>
          </a:xfrm>
          <a:custGeom>
            <a:avLst/>
            <a:gdLst/>
            <a:ahLst/>
            <a:cxnLst/>
            <a:rect l="l" t="t" r="r" b="b"/>
            <a:pathLst>
              <a:path w="153056" h="174921">
                <a:moveTo>
                  <a:pt x="153056" y="70310"/>
                </a:moveTo>
                <a:cubicBezTo>
                  <a:pt x="148000" y="73658"/>
                  <a:pt x="142192" y="76357"/>
                  <a:pt x="136145" y="78510"/>
                </a:cubicBezTo>
                <a:cubicBezTo>
                  <a:pt x="120087" y="84249"/>
                  <a:pt x="99008" y="87461"/>
                  <a:pt x="76528" y="87461"/>
                </a:cubicBezTo>
                <a:cubicBezTo>
                  <a:pt x="54048" y="87461"/>
                  <a:pt x="32934" y="84215"/>
                  <a:pt x="16911" y="78510"/>
                </a:cubicBezTo>
                <a:cubicBezTo>
                  <a:pt x="10898" y="76357"/>
                  <a:pt x="5056" y="73658"/>
                  <a:pt x="0" y="70310"/>
                </a:cubicBezTo>
                <a:lnTo>
                  <a:pt x="0" y="98393"/>
                </a:lnTo>
                <a:cubicBezTo>
                  <a:pt x="0" y="113494"/>
                  <a:pt x="34267" y="125725"/>
                  <a:pt x="76528" y="125725"/>
                </a:cubicBezTo>
                <a:cubicBezTo>
                  <a:pt x="118789" y="125725"/>
                  <a:pt x="153056" y="113494"/>
                  <a:pt x="153056" y="98393"/>
                </a:cubicBezTo>
                <a:lnTo>
                  <a:pt x="153056" y="70310"/>
                </a:lnTo>
                <a:close/>
                <a:moveTo>
                  <a:pt x="153056" y="43730"/>
                </a:moveTo>
                <a:lnTo>
                  <a:pt x="153056" y="27331"/>
                </a:lnTo>
                <a:cubicBezTo>
                  <a:pt x="153056" y="12231"/>
                  <a:pt x="118789" y="0"/>
                  <a:pt x="76528" y="0"/>
                </a:cubicBezTo>
                <a:cubicBezTo>
                  <a:pt x="34267" y="0"/>
                  <a:pt x="0" y="12231"/>
                  <a:pt x="0" y="27331"/>
                </a:cubicBezTo>
                <a:lnTo>
                  <a:pt x="0" y="43730"/>
                </a:lnTo>
                <a:cubicBezTo>
                  <a:pt x="0" y="58831"/>
                  <a:pt x="34267" y="71062"/>
                  <a:pt x="76528" y="71062"/>
                </a:cubicBezTo>
                <a:cubicBezTo>
                  <a:pt x="118789" y="71062"/>
                  <a:pt x="153056" y="58831"/>
                  <a:pt x="153056" y="43730"/>
                </a:cubicBezTo>
                <a:close/>
                <a:moveTo>
                  <a:pt x="136145" y="133172"/>
                </a:moveTo>
                <a:cubicBezTo>
                  <a:pt x="120122" y="138878"/>
                  <a:pt x="99042" y="142123"/>
                  <a:pt x="76528" y="142123"/>
                </a:cubicBezTo>
                <a:cubicBezTo>
                  <a:pt x="54014" y="142123"/>
                  <a:pt x="32934" y="138878"/>
                  <a:pt x="16911" y="133172"/>
                </a:cubicBezTo>
                <a:cubicBezTo>
                  <a:pt x="10898" y="131020"/>
                  <a:pt x="5056" y="128321"/>
                  <a:pt x="0" y="124973"/>
                </a:cubicBezTo>
                <a:lnTo>
                  <a:pt x="0" y="147590"/>
                </a:lnTo>
                <a:cubicBezTo>
                  <a:pt x="0" y="162690"/>
                  <a:pt x="34267" y="174921"/>
                  <a:pt x="76528" y="174921"/>
                </a:cubicBezTo>
                <a:cubicBezTo>
                  <a:pt x="118789" y="174921"/>
                  <a:pt x="153056" y="162690"/>
                  <a:pt x="153056" y="147590"/>
                </a:cubicBezTo>
                <a:lnTo>
                  <a:pt x="153056" y="124973"/>
                </a:lnTo>
                <a:cubicBezTo>
                  <a:pt x="148000" y="128321"/>
                  <a:pt x="142192" y="131020"/>
                  <a:pt x="136145" y="133172"/>
                </a:cubicBez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8" name="Text 6"/>
          <p:cNvSpPr/>
          <p:nvPr/>
        </p:nvSpPr>
        <p:spPr>
          <a:xfrm>
            <a:off x="743415" y="1294416"/>
            <a:ext cx="5160172" cy="244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7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Primary Data Sources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24763" y="1679242"/>
            <a:ext cx="5291363" cy="769653"/>
          </a:xfrm>
          <a:custGeom>
            <a:avLst/>
            <a:gdLst/>
            <a:ahLst/>
            <a:cxnLst/>
            <a:rect l="l" t="t" r="r" b="b"/>
            <a:pathLst>
              <a:path w="5291363" h="769653">
                <a:moveTo>
                  <a:pt x="69969" y="0"/>
                </a:moveTo>
                <a:lnTo>
                  <a:pt x="5221394" y="0"/>
                </a:lnTo>
                <a:cubicBezTo>
                  <a:pt x="5260037" y="0"/>
                  <a:pt x="5291363" y="31326"/>
                  <a:pt x="5291363" y="69969"/>
                </a:cubicBezTo>
                <a:lnTo>
                  <a:pt x="5291363" y="699684"/>
                </a:lnTo>
                <a:cubicBezTo>
                  <a:pt x="5291363" y="738327"/>
                  <a:pt x="5260037" y="769653"/>
                  <a:pt x="5221394" y="769653"/>
                </a:cubicBezTo>
                <a:lnTo>
                  <a:pt x="69969" y="769653"/>
                </a:lnTo>
                <a:cubicBezTo>
                  <a:pt x="31326" y="769653"/>
                  <a:pt x="0" y="738327"/>
                  <a:pt x="0" y="699684"/>
                </a:cubicBezTo>
                <a:lnTo>
                  <a:pt x="0" y="69969"/>
                </a:lnTo>
                <a:cubicBezTo>
                  <a:pt x="0" y="31352"/>
                  <a:pt x="31352" y="0"/>
                  <a:pt x="69969" y="0"/>
                </a:cubicBezTo>
                <a:close/>
              </a:path>
            </a:pathLst>
          </a:custGeom>
          <a:solidFill>
            <a:srgbClr val="1E3A5F">
              <a:alpha val="5098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29716" y="1784195"/>
            <a:ext cx="349842" cy="349842"/>
          </a:xfrm>
          <a:custGeom>
            <a:avLst/>
            <a:gdLst/>
            <a:ahLst/>
            <a:cxnLst/>
            <a:rect l="l" t="t" r="r" b="b"/>
            <a:pathLst>
              <a:path w="349842" h="349842">
                <a:moveTo>
                  <a:pt x="69968" y="0"/>
                </a:moveTo>
                <a:lnTo>
                  <a:pt x="279874" y="0"/>
                </a:lnTo>
                <a:cubicBezTo>
                  <a:pt x="318490" y="0"/>
                  <a:pt x="349842" y="31352"/>
                  <a:pt x="349842" y="69968"/>
                </a:cubicBezTo>
                <a:lnTo>
                  <a:pt x="349842" y="279874"/>
                </a:lnTo>
                <a:cubicBezTo>
                  <a:pt x="349842" y="318490"/>
                  <a:pt x="318490" y="349842"/>
                  <a:pt x="279874" y="349842"/>
                </a:cubicBezTo>
                <a:lnTo>
                  <a:pt x="69968" y="349842"/>
                </a:lnTo>
                <a:cubicBezTo>
                  <a:pt x="31352" y="349842"/>
                  <a:pt x="0" y="318490"/>
                  <a:pt x="0" y="279874"/>
                </a:cubicBezTo>
                <a:lnTo>
                  <a:pt x="0" y="69968"/>
                </a:lnTo>
                <a:cubicBezTo>
                  <a:pt x="0" y="31352"/>
                  <a:pt x="31352" y="0"/>
                  <a:pt x="69968" y="0"/>
                </a:cubicBezTo>
                <a:close/>
              </a:path>
            </a:pathLst>
          </a:custGeom>
          <a:solidFill>
            <a:srgbClr val="1E3A5F"/>
          </a:solidFill>
          <a:ln/>
        </p:spPr>
      </p:sp>
      <p:sp>
        <p:nvSpPr>
          <p:cNvPr id="11" name="Shape 9"/>
          <p:cNvSpPr/>
          <p:nvPr/>
        </p:nvSpPr>
        <p:spPr>
          <a:xfrm>
            <a:off x="734669" y="1889148"/>
            <a:ext cx="139937" cy="139937"/>
          </a:xfrm>
          <a:custGeom>
            <a:avLst/>
            <a:gdLst/>
            <a:ahLst/>
            <a:cxnLst/>
            <a:rect l="l" t="t" r="r" b="b"/>
            <a:pathLst>
              <a:path w="139937" h="139937">
                <a:moveTo>
                  <a:pt x="17492" y="17492"/>
                </a:moveTo>
                <a:cubicBezTo>
                  <a:pt x="17492" y="12654"/>
                  <a:pt x="13584" y="8746"/>
                  <a:pt x="8746" y="8746"/>
                </a:cubicBezTo>
                <a:cubicBezTo>
                  <a:pt x="3908" y="8746"/>
                  <a:pt x="0" y="12654"/>
                  <a:pt x="0" y="17492"/>
                </a:cubicBezTo>
                <a:lnTo>
                  <a:pt x="0" y="109326"/>
                </a:lnTo>
                <a:cubicBezTo>
                  <a:pt x="0" y="121406"/>
                  <a:pt x="9785" y="131191"/>
                  <a:pt x="21865" y="131191"/>
                </a:cubicBezTo>
                <a:lnTo>
                  <a:pt x="131191" y="131191"/>
                </a:lnTo>
                <a:cubicBezTo>
                  <a:pt x="136028" y="131191"/>
                  <a:pt x="139937" y="127282"/>
                  <a:pt x="139937" y="122445"/>
                </a:cubicBezTo>
                <a:cubicBezTo>
                  <a:pt x="139937" y="117607"/>
                  <a:pt x="136028" y="113699"/>
                  <a:pt x="131191" y="113699"/>
                </a:cubicBezTo>
                <a:lnTo>
                  <a:pt x="21865" y="113699"/>
                </a:lnTo>
                <a:cubicBezTo>
                  <a:pt x="19460" y="113699"/>
                  <a:pt x="17492" y="111731"/>
                  <a:pt x="17492" y="109326"/>
                </a:cubicBezTo>
                <a:lnTo>
                  <a:pt x="17492" y="17492"/>
                </a:lnTo>
                <a:close/>
                <a:moveTo>
                  <a:pt x="128622" y="41161"/>
                </a:moveTo>
                <a:cubicBezTo>
                  <a:pt x="132038" y="37745"/>
                  <a:pt x="132038" y="32196"/>
                  <a:pt x="128622" y="28780"/>
                </a:cubicBezTo>
                <a:cubicBezTo>
                  <a:pt x="125205" y="25364"/>
                  <a:pt x="119657" y="25364"/>
                  <a:pt x="116241" y="28780"/>
                </a:cubicBezTo>
                <a:lnTo>
                  <a:pt x="87461" y="57587"/>
                </a:lnTo>
                <a:lnTo>
                  <a:pt x="71772" y="41926"/>
                </a:lnTo>
                <a:cubicBezTo>
                  <a:pt x="68356" y="38510"/>
                  <a:pt x="62808" y="38510"/>
                  <a:pt x="59391" y="41926"/>
                </a:cubicBezTo>
                <a:lnTo>
                  <a:pt x="33153" y="68165"/>
                </a:lnTo>
                <a:cubicBezTo>
                  <a:pt x="29737" y="71581"/>
                  <a:pt x="29737" y="77129"/>
                  <a:pt x="33153" y="80546"/>
                </a:cubicBezTo>
                <a:cubicBezTo>
                  <a:pt x="36569" y="83962"/>
                  <a:pt x="42118" y="83962"/>
                  <a:pt x="45534" y="80546"/>
                </a:cubicBezTo>
                <a:lnTo>
                  <a:pt x="65595" y="60484"/>
                </a:lnTo>
                <a:lnTo>
                  <a:pt x="81284" y="76173"/>
                </a:lnTo>
                <a:cubicBezTo>
                  <a:pt x="84700" y="79589"/>
                  <a:pt x="90248" y="79589"/>
                  <a:pt x="93665" y="76173"/>
                </a:cubicBezTo>
                <a:lnTo>
                  <a:pt x="128649" y="41188"/>
                </a:lnTo>
                <a:close/>
              </a:path>
            </a:pathLst>
          </a:custGeom>
          <a:solidFill>
            <a:srgbClr val="F5F1EB"/>
          </a:solidFill>
          <a:ln/>
        </p:spPr>
      </p:sp>
      <p:sp>
        <p:nvSpPr>
          <p:cNvPr id="12" name="Text 10"/>
          <p:cNvSpPr/>
          <p:nvPr/>
        </p:nvSpPr>
        <p:spPr>
          <a:xfrm>
            <a:off x="1084511" y="1784195"/>
            <a:ext cx="3612121" cy="2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2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yfinance API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84511" y="1994100"/>
            <a:ext cx="3603374" cy="174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4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Live stock prices, OHLCV data, historical data from Yahoo Finance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84511" y="2204006"/>
            <a:ext cx="3594628" cy="139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26" dirty="0">
                <a:solidFill>
                  <a:srgbClr val="4A90A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Coverage: NSE &amp; BSE stocks, 1-min to daily intervals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24763" y="2553741"/>
            <a:ext cx="5291363" cy="769653"/>
          </a:xfrm>
          <a:custGeom>
            <a:avLst/>
            <a:gdLst/>
            <a:ahLst/>
            <a:cxnLst/>
            <a:rect l="l" t="t" r="r" b="b"/>
            <a:pathLst>
              <a:path w="5291363" h="769653">
                <a:moveTo>
                  <a:pt x="69969" y="0"/>
                </a:moveTo>
                <a:lnTo>
                  <a:pt x="5221394" y="0"/>
                </a:lnTo>
                <a:cubicBezTo>
                  <a:pt x="5260037" y="0"/>
                  <a:pt x="5291363" y="31326"/>
                  <a:pt x="5291363" y="69969"/>
                </a:cubicBezTo>
                <a:lnTo>
                  <a:pt x="5291363" y="699684"/>
                </a:lnTo>
                <a:cubicBezTo>
                  <a:pt x="5291363" y="738327"/>
                  <a:pt x="5260037" y="769653"/>
                  <a:pt x="5221394" y="769653"/>
                </a:cubicBezTo>
                <a:lnTo>
                  <a:pt x="69969" y="769653"/>
                </a:lnTo>
                <a:cubicBezTo>
                  <a:pt x="31326" y="769653"/>
                  <a:pt x="0" y="738327"/>
                  <a:pt x="0" y="699684"/>
                </a:cubicBezTo>
                <a:lnTo>
                  <a:pt x="0" y="69969"/>
                </a:lnTo>
                <a:cubicBezTo>
                  <a:pt x="0" y="31352"/>
                  <a:pt x="31352" y="0"/>
                  <a:pt x="69969" y="0"/>
                </a:cubicBezTo>
                <a:close/>
              </a:path>
            </a:pathLst>
          </a:custGeom>
          <a:solidFill>
            <a:srgbClr val="4A90A4">
              <a:alpha val="5098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29716" y="2658694"/>
            <a:ext cx="349842" cy="349842"/>
          </a:xfrm>
          <a:custGeom>
            <a:avLst/>
            <a:gdLst/>
            <a:ahLst/>
            <a:cxnLst/>
            <a:rect l="l" t="t" r="r" b="b"/>
            <a:pathLst>
              <a:path w="349842" h="349842">
                <a:moveTo>
                  <a:pt x="69968" y="0"/>
                </a:moveTo>
                <a:lnTo>
                  <a:pt x="279874" y="0"/>
                </a:lnTo>
                <a:cubicBezTo>
                  <a:pt x="318490" y="0"/>
                  <a:pt x="349842" y="31352"/>
                  <a:pt x="349842" y="69968"/>
                </a:cubicBezTo>
                <a:lnTo>
                  <a:pt x="349842" y="279874"/>
                </a:lnTo>
                <a:cubicBezTo>
                  <a:pt x="349842" y="318490"/>
                  <a:pt x="318490" y="349842"/>
                  <a:pt x="279874" y="349842"/>
                </a:cubicBezTo>
                <a:lnTo>
                  <a:pt x="69968" y="349842"/>
                </a:lnTo>
                <a:cubicBezTo>
                  <a:pt x="31352" y="349842"/>
                  <a:pt x="0" y="318490"/>
                  <a:pt x="0" y="279874"/>
                </a:cubicBezTo>
                <a:lnTo>
                  <a:pt x="0" y="69968"/>
                </a:lnTo>
                <a:cubicBezTo>
                  <a:pt x="0" y="31352"/>
                  <a:pt x="31352" y="0"/>
                  <a:pt x="69968" y="0"/>
                </a:cubicBezTo>
                <a:close/>
              </a:path>
            </a:pathLst>
          </a:custGeom>
          <a:solidFill>
            <a:srgbClr val="4A90A4"/>
          </a:solidFill>
          <a:ln/>
        </p:spPr>
      </p:sp>
      <p:sp>
        <p:nvSpPr>
          <p:cNvPr id="17" name="Shape 15"/>
          <p:cNvSpPr/>
          <p:nvPr/>
        </p:nvSpPr>
        <p:spPr>
          <a:xfrm>
            <a:off x="725923" y="2763646"/>
            <a:ext cx="157429" cy="139937"/>
          </a:xfrm>
          <a:custGeom>
            <a:avLst/>
            <a:gdLst/>
            <a:ahLst/>
            <a:cxnLst/>
            <a:rect l="l" t="t" r="r" b="b"/>
            <a:pathLst>
              <a:path w="157429" h="139937">
                <a:moveTo>
                  <a:pt x="78714" y="17492"/>
                </a:moveTo>
                <a:cubicBezTo>
                  <a:pt x="107686" y="17492"/>
                  <a:pt x="131191" y="40997"/>
                  <a:pt x="131191" y="69968"/>
                </a:cubicBezTo>
                <a:cubicBezTo>
                  <a:pt x="131191" y="98940"/>
                  <a:pt x="107686" y="122445"/>
                  <a:pt x="78714" y="122445"/>
                </a:cubicBezTo>
                <a:cubicBezTo>
                  <a:pt x="60894" y="122445"/>
                  <a:pt x="45124" y="113562"/>
                  <a:pt x="35640" y="99951"/>
                </a:cubicBezTo>
                <a:cubicBezTo>
                  <a:pt x="32880" y="95988"/>
                  <a:pt x="27413" y="95031"/>
                  <a:pt x="23450" y="97792"/>
                </a:cubicBezTo>
                <a:cubicBezTo>
                  <a:pt x="19487" y="100552"/>
                  <a:pt x="18531" y="106019"/>
                  <a:pt x="21291" y="109982"/>
                </a:cubicBezTo>
                <a:cubicBezTo>
                  <a:pt x="33918" y="128075"/>
                  <a:pt x="54936" y="139937"/>
                  <a:pt x="78714" y="139937"/>
                </a:cubicBezTo>
                <a:cubicBezTo>
                  <a:pt x="117361" y="139937"/>
                  <a:pt x="148683" y="108615"/>
                  <a:pt x="148683" y="69968"/>
                </a:cubicBezTo>
                <a:cubicBezTo>
                  <a:pt x="148683" y="31322"/>
                  <a:pt x="117361" y="0"/>
                  <a:pt x="78714" y="0"/>
                </a:cubicBezTo>
                <a:cubicBezTo>
                  <a:pt x="55291" y="0"/>
                  <a:pt x="34574" y="11507"/>
                  <a:pt x="21865" y="29163"/>
                </a:cubicBezTo>
                <a:lnTo>
                  <a:pt x="21865" y="21865"/>
                </a:lnTo>
                <a:cubicBezTo>
                  <a:pt x="21865" y="17027"/>
                  <a:pt x="17957" y="13119"/>
                  <a:pt x="13119" y="13119"/>
                </a:cubicBezTo>
                <a:cubicBezTo>
                  <a:pt x="8281" y="13119"/>
                  <a:pt x="4373" y="17027"/>
                  <a:pt x="4373" y="21865"/>
                </a:cubicBezTo>
                <a:lnTo>
                  <a:pt x="4373" y="52476"/>
                </a:lnTo>
                <a:cubicBezTo>
                  <a:pt x="4373" y="57314"/>
                  <a:pt x="8281" y="61222"/>
                  <a:pt x="13119" y="61222"/>
                </a:cubicBezTo>
                <a:lnTo>
                  <a:pt x="19843" y="61222"/>
                </a:lnTo>
                <a:cubicBezTo>
                  <a:pt x="19979" y="61222"/>
                  <a:pt x="20116" y="61222"/>
                  <a:pt x="20253" y="61222"/>
                </a:cubicBezTo>
                <a:lnTo>
                  <a:pt x="43758" y="61222"/>
                </a:lnTo>
                <a:cubicBezTo>
                  <a:pt x="48595" y="61222"/>
                  <a:pt x="52504" y="57314"/>
                  <a:pt x="52504" y="52476"/>
                </a:cubicBezTo>
                <a:cubicBezTo>
                  <a:pt x="52504" y="47639"/>
                  <a:pt x="48595" y="43730"/>
                  <a:pt x="43758" y="43730"/>
                </a:cubicBezTo>
                <a:lnTo>
                  <a:pt x="33290" y="43730"/>
                </a:lnTo>
                <a:cubicBezTo>
                  <a:pt x="42336" y="28042"/>
                  <a:pt x="59309" y="17492"/>
                  <a:pt x="78714" y="17492"/>
                </a:cubicBezTo>
                <a:close/>
                <a:moveTo>
                  <a:pt x="85274" y="41544"/>
                </a:moveTo>
                <a:cubicBezTo>
                  <a:pt x="85274" y="37909"/>
                  <a:pt x="82350" y="34984"/>
                  <a:pt x="78714" y="34984"/>
                </a:cubicBezTo>
                <a:cubicBezTo>
                  <a:pt x="75079" y="34984"/>
                  <a:pt x="72155" y="37909"/>
                  <a:pt x="72155" y="41544"/>
                </a:cubicBezTo>
                <a:lnTo>
                  <a:pt x="72155" y="69968"/>
                </a:lnTo>
                <a:cubicBezTo>
                  <a:pt x="72155" y="71718"/>
                  <a:pt x="72838" y="73385"/>
                  <a:pt x="74068" y="74615"/>
                </a:cubicBezTo>
                <a:lnTo>
                  <a:pt x="93747" y="94293"/>
                </a:lnTo>
                <a:cubicBezTo>
                  <a:pt x="96316" y="96863"/>
                  <a:pt x="100470" y="96863"/>
                  <a:pt x="103012" y="94293"/>
                </a:cubicBezTo>
                <a:cubicBezTo>
                  <a:pt x="105554" y="91724"/>
                  <a:pt x="105581" y="87570"/>
                  <a:pt x="103012" y="85028"/>
                </a:cubicBezTo>
                <a:lnTo>
                  <a:pt x="85247" y="67263"/>
                </a:lnTo>
                <a:lnTo>
                  <a:pt x="85247" y="41544"/>
                </a:lnTo>
                <a:close/>
              </a:path>
            </a:pathLst>
          </a:custGeom>
          <a:solidFill>
            <a:srgbClr val="F5F1EB"/>
          </a:solidFill>
          <a:ln/>
        </p:spPr>
      </p:sp>
      <p:sp>
        <p:nvSpPr>
          <p:cNvPr id="18" name="Text 16"/>
          <p:cNvSpPr/>
          <p:nvPr/>
        </p:nvSpPr>
        <p:spPr>
          <a:xfrm>
            <a:off x="1084511" y="2658694"/>
            <a:ext cx="3157326" cy="2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2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Historical Data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84511" y="2868599"/>
            <a:ext cx="3148580" cy="174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4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5-year historical prices for backtesting and model training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84511" y="3078504"/>
            <a:ext cx="3139834" cy="139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26" dirty="0">
                <a:solidFill>
                  <a:srgbClr val="4A90A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Period: 2019-2024, 50+ Indian stocks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24763" y="3428236"/>
            <a:ext cx="5291363" cy="769653"/>
          </a:xfrm>
          <a:custGeom>
            <a:avLst/>
            <a:gdLst/>
            <a:ahLst/>
            <a:cxnLst/>
            <a:rect l="l" t="t" r="r" b="b"/>
            <a:pathLst>
              <a:path w="5291363" h="769653">
                <a:moveTo>
                  <a:pt x="69969" y="0"/>
                </a:moveTo>
                <a:lnTo>
                  <a:pt x="5221394" y="0"/>
                </a:lnTo>
                <a:cubicBezTo>
                  <a:pt x="5260037" y="0"/>
                  <a:pt x="5291363" y="31326"/>
                  <a:pt x="5291363" y="69969"/>
                </a:cubicBezTo>
                <a:lnTo>
                  <a:pt x="5291363" y="699684"/>
                </a:lnTo>
                <a:cubicBezTo>
                  <a:pt x="5291363" y="738327"/>
                  <a:pt x="5260037" y="769653"/>
                  <a:pt x="5221394" y="769653"/>
                </a:cubicBezTo>
                <a:lnTo>
                  <a:pt x="69969" y="769653"/>
                </a:lnTo>
                <a:cubicBezTo>
                  <a:pt x="31326" y="769653"/>
                  <a:pt x="0" y="738327"/>
                  <a:pt x="0" y="699684"/>
                </a:cubicBezTo>
                <a:lnTo>
                  <a:pt x="0" y="69969"/>
                </a:lnTo>
                <a:cubicBezTo>
                  <a:pt x="0" y="31352"/>
                  <a:pt x="31352" y="0"/>
                  <a:pt x="69969" y="0"/>
                </a:cubicBezTo>
                <a:close/>
              </a:path>
            </a:pathLst>
          </a:custGeom>
          <a:solidFill>
            <a:srgbClr val="C75B4A">
              <a:alpha val="5098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629716" y="3533188"/>
            <a:ext cx="349842" cy="349842"/>
          </a:xfrm>
          <a:custGeom>
            <a:avLst/>
            <a:gdLst/>
            <a:ahLst/>
            <a:cxnLst/>
            <a:rect l="l" t="t" r="r" b="b"/>
            <a:pathLst>
              <a:path w="349842" h="349842">
                <a:moveTo>
                  <a:pt x="69968" y="0"/>
                </a:moveTo>
                <a:lnTo>
                  <a:pt x="279874" y="0"/>
                </a:lnTo>
                <a:cubicBezTo>
                  <a:pt x="318490" y="0"/>
                  <a:pt x="349842" y="31352"/>
                  <a:pt x="349842" y="69968"/>
                </a:cubicBezTo>
                <a:lnTo>
                  <a:pt x="349842" y="279874"/>
                </a:lnTo>
                <a:cubicBezTo>
                  <a:pt x="349842" y="318490"/>
                  <a:pt x="318490" y="349842"/>
                  <a:pt x="279874" y="349842"/>
                </a:cubicBezTo>
                <a:lnTo>
                  <a:pt x="69968" y="349842"/>
                </a:lnTo>
                <a:cubicBezTo>
                  <a:pt x="31352" y="349842"/>
                  <a:pt x="0" y="318490"/>
                  <a:pt x="0" y="279874"/>
                </a:cubicBezTo>
                <a:lnTo>
                  <a:pt x="0" y="69968"/>
                </a:lnTo>
                <a:cubicBezTo>
                  <a:pt x="0" y="31352"/>
                  <a:pt x="31352" y="0"/>
                  <a:pt x="69968" y="0"/>
                </a:cubicBez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23" name="Shape 21"/>
          <p:cNvSpPr/>
          <p:nvPr/>
        </p:nvSpPr>
        <p:spPr>
          <a:xfrm>
            <a:off x="734669" y="3638141"/>
            <a:ext cx="139937" cy="139937"/>
          </a:xfrm>
          <a:custGeom>
            <a:avLst/>
            <a:gdLst/>
            <a:ahLst/>
            <a:cxnLst/>
            <a:rect l="l" t="t" r="r" b="b"/>
            <a:pathLst>
              <a:path w="139937" h="139937">
                <a:moveTo>
                  <a:pt x="0" y="113699"/>
                </a:moveTo>
                <a:lnTo>
                  <a:pt x="0" y="32798"/>
                </a:lnTo>
                <a:cubicBezTo>
                  <a:pt x="0" y="29163"/>
                  <a:pt x="2924" y="26238"/>
                  <a:pt x="6560" y="26238"/>
                </a:cubicBezTo>
                <a:cubicBezTo>
                  <a:pt x="10195" y="26238"/>
                  <a:pt x="13119" y="29163"/>
                  <a:pt x="13119" y="32798"/>
                </a:cubicBezTo>
                <a:lnTo>
                  <a:pt x="13119" y="111512"/>
                </a:lnTo>
                <a:cubicBezTo>
                  <a:pt x="13119" y="115147"/>
                  <a:pt x="16044" y="118072"/>
                  <a:pt x="19679" y="118072"/>
                </a:cubicBezTo>
                <a:cubicBezTo>
                  <a:pt x="23314" y="118072"/>
                  <a:pt x="26238" y="115147"/>
                  <a:pt x="26238" y="111512"/>
                </a:cubicBezTo>
                <a:lnTo>
                  <a:pt x="26238" y="26238"/>
                </a:lnTo>
                <a:cubicBezTo>
                  <a:pt x="26238" y="16590"/>
                  <a:pt x="34082" y="8746"/>
                  <a:pt x="43730" y="8746"/>
                </a:cubicBezTo>
                <a:lnTo>
                  <a:pt x="122445" y="8746"/>
                </a:lnTo>
                <a:cubicBezTo>
                  <a:pt x="132093" y="8746"/>
                  <a:pt x="139937" y="16590"/>
                  <a:pt x="139937" y="26238"/>
                </a:cubicBezTo>
                <a:lnTo>
                  <a:pt x="139937" y="113699"/>
                </a:lnTo>
                <a:cubicBezTo>
                  <a:pt x="139937" y="123347"/>
                  <a:pt x="132093" y="131191"/>
                  <a:pt x="122445" y="131191"/>
                </a:cubicBezTo>
                <a:lnTo>
                  <a:pt x="17492" y="131191"/>
                </a:lnTo>
                <a:cubicBezTo>
                  <a:pt x="7844" y="131191"/>
                  <a:pt x="0" y="123347"/>
                  <a:pt x="0" y="113699"/>
                </a:cubicBezTo>
                <a:close/>
                <a:moveTo>
                  <a:pt x="43730" y="34984"/>
                </a:moveTo>
                <a:lnTo>
                  <a:pt x="43730" y="52476"/>
                </a:lnTo>
                <a:cubicBezTo>
                  <a:pt x="43730" y="57314"/>
                  <a:pt x="47639" y="61222"/>
                  <a:pt x="52476" y="61222"/>
                </a:cubicBezTo>
                <a:lnTo>
                  <a:pt x="69968" y="61222"/>
                </a:lnTo>
                <a:cubicBezTo>
                  <a:pt x="74806" y="61222"/>
                  <a:pt x="78714" y="57314"/>
                  <a:pt x="78714" y="52476"/>
                </a:cubicBezTo>
                <a:lnTo>
                  <a:pt x="78714" y="34984"/>
                </a:lnTo>
                <a:cubicBezTo>
                  <a:pt x="78714" y="30147"/>
                  <a:pt x="74806" y="26238"/>
                  <a:pt x="69968" y="26238"/>
                </a:cubicBezTo>
                <a:lnTo>
                  <a:pt x="52476" y="26238"/>
                </a:lnTo>
                <a:cubicBezTo>
                  <a:pt x="47639" y="26238"/>
                  <a:pt x="43730" y="30147"/>
                  <a:pt x="43730" y="34984"/>
                </a:cubicBezTo>
                <a:close/>
                <a:moveTo>
                  <a:pt x="50290" y="100580"/>
                </a:moveTo>
                <a:cubicBezTo>
                  <a:pt x="46655" y="100580"/>
                  <a:pt x="43730" y="103504"/>
                  <a:pt x="43730" y="107139"/>
                </a:cubicBezTo>
                <a:cubicBezTo>
                  <a:pt x="43730" y="110774"/>
                  <a:pt x="46655" y="113699"/>
                  <a:pt x="50290" y="113699"/>
                </a:cubicBezTo>
                <a:lnTo>
                  <a:pt x="115885" y="113699"/>
                </a:lnTo>
                <a:cubicBezTo>
                  <a:pt x="119520" y="113699"/>
                  <a:pt x="122445" y="110774"/>
                  <a:pt x="122445" y="107139"/>
                </a:cubicBezTo>
                <a:cubicBezTo>
                  <a:pt x="122445" y="103504"/>
                  <a:pt x="119520" y="100580"/>
                  <a:pt x="115885" y="100580"/>
                </a:cubicBezTo>
                <a:lnTo>
                  <a:pt x="50290" y="100580"/>
                </a:lnTo>
                <a:close/>
                <a:moveTo>
                  <a:pt x="43730" y="80901"/>
                </a:moveTo>
                <a:cubicBezTo>
                  <a:pt x="43730" y="84536"/>
                  <a:pt x="46655" y="87461"/>
                  <a:pt x="50290" y="87461"/>
                </a:cubicBezTo>
                <a:lnTo>
                  <a:pt x="115885" y="87461"/>
                </a:lnTo>
                <a:cubicBezTo>
                  <a:pt x="119520" y="87461"/>
                  <a:pt x="122445" y="84536"/>
                  <a:pt x="122445" y="80901"/>
                </a:cubicBezTo>
                <a:cubicBezTo>
                  <a:pt x="122445" y="77266"/>
                  <a:pt x="119520" y="74341"/>
                  <a:pt x="115885" y="74341"/>
                </a:cubicBezTo>
                <a:lnTo>
                  <a:pt x="50290" y="74341"/>
                </a:lnTo>
                <a:cubicBezTo>
                  <a:pt x="46655" y="74341"/>
                  <a:pt x="43730" y="77266"/>
                  <a:pt x="43730" y="80901"/>
                </a:cubicBezTo>
                <a:close/>
                <a:moveTo>
                  <a:pt x="98393" y="48103"/>
                </a:moveTo>
                <a:cubicBezTo>
                  <a:pt x="94758" y="48103"/>
                  <a:pt x="91834" y="51028"/>
                  <a:pt x="91834" y="54663"/>
                </a:cubicBezTo>
                <a:cubicBezTo>
                  <a:pt x="91834" y="58298"/>
                  <a:pt x="94758" y="61222"/>
                  <a:pt x="98393" y="61222"/>
                </a:cubicBezTo>
                <a:lnTo>
                  <a:pt x="115885" y="61222"/>
                </a:lnTo>
                <a:cubicBezTo>
                  <a:pt x="119520" y="61222"/>
                  <a:pt x="122445" y="58298"/>
                  <a:pt x="122445" y="54663"/>
                </a:cubicBezTo>
                <a:cubicBezTo>
                  <a:pt x="122445" y="51028"/>
                  <a:pt x="119520" y="48103"/>
                  <a:pt x="115885" y="48103"/>
                </a:cubicBezTo>
                <a:lnTo>
                  <a:pt x="98393" y="48103"/>
                </a:lnTo>
                <a:close/>
              </a:path>
            </a:pathLst>
          </a:custGeom>
          <a:solidFill>
            <a:srgbClr val="F5F1EB"/>
          </a:solidFill>
          <a:ln/>
        </p:spPr>
      </p:sp>
      <p:sp>
        <p:nvSpPr>
          <p:cNvPr id="24" name="Text 22"/>
          <p:cNvSpPr/>
          <p:nvPr/>
        </p:nvSpPr>
        <p:spPr>
          <a:xfrm>
            <a:off x="1084511" y="3533188"/>
            <a:ext cx="3201056" cy="2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2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Market Indicators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84511" y="3743094"/>
            <a:ext cx="3192310" cy="174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4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Volatility indices, sector performance, market breadth data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84511" y="3952999"/>
            <a:ext cx="3183564" cy="139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26" dirty="0">
                <a:solidFill>
                  <a:srgbClr val="4A90A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India VIX, Nifty Sectoral Indices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49842" y="4512635"/>
            <a:ext cx="5641205" cy="2168915"/>
          </a:xfrm>
          <a:custGeom>
            <a:avLst/>
            <a:gdLst/>
            <a:ahLst/>
            <a:cxnLst/>
            <a:rect l="l" t="t" r="r" b="b"/>
            <a:pathLst>
              <a:path w="5641205" h="2343943">
                <a:moveTo>
                  <a:pt x="69967" y="0"/>
                </a:moveTo>
                <a:lnTo>
                  <a:pt x="5571238" y="0"/>
                </a:lnTo>
                <a:cubicBezTo>
                  <a:pt x="5609880" y="0"/>
                  <a:pt x="5641205" y="31325"/>
                  <a:pt x="5641205" y="69967"/>
                </a:cubicBezTo>
                <a:lnTo>
                  <a:pt x="5641205" y="2273976"/>
                </a:lnTo>
                <a:cubicBezTo>
                  <a:pt x="5641205" y="2312617"/>
                  <a:pt x="5609880" y="2343943"/>
                  <a:pt x="5571238" y="2343943"/>
                </a:cubicBezTo>
                <a:lnTo>
                  <a:pt x="69967" y="2343943"/>
                </a:lnTo>
                <a:cubicBezTo>
                  <a:pt x="31325" y="2343943"/>
                  <a:pt x="0" y="2312617"/>
                  <a:pt x="0" y="2273976"/>
                </a:cubicBezTo>
                <a:lnTo>
                  <a:pt x="0" y="69967"/>
                </a:lnTo>
                <a:cubicBezTo>
                  <a:pt x="0" y="31351"/>
                  <a:pt x="31351" y="0"/>
                  <a:pt x="69967" y="0"/>
                </a:cubicBezTo>
                <a:close/>
              </a:path>
            </a:pathLst>
          </a:custGeom>
          <a:solidFill>
            <a:srgbClr val="FFFFFF"/>
          </a:solidFill>
          <a:ln>
            <a:solidFill>
              <a:schemeClr val="tx1"/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2476" dist="34984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24763" y="4687556"/>
            <a:ext cx="5370077" cy="244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Preprocessing Pipeline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24763" y="5037399"/>
            <a:ext cx="2588832" cy="769653"/>
          </a:xfrm>
          <a:custGeom>
            <a:avLst/>
            <a:gdLst/>
            <a:ahLst/>
            <a:cxnLst/>
            <a:rect l="l" t="t" r="r" b="b"/>
            <a:pathLst>
              <a:path w="2588832" h="769653">
                <a:moveTo>
                  <a:pt x="34981" y="0"/>
                </a:moveTo>
                <a:lnTo>
                  <a:pt x="2553851" y="0"/>
                </a:lnTo>
                <a:cubicBezTo>
                  <a:pt x="2573171" y="0"/>
                  <a:pt x="2588832" y="15661"/>
                  <a:pt x="2588832" y="34981"/>
                </a:cubicBezTo>
                <a:lnTo>
                  <a:pt x="2588832" y="734672"/>
                </a:lnTo>
                <a:cubicBezTo>
                  <a:pt x="2588832" y="753991"/>
                  <a:pt x="2573171" y="769653"/>
                  <a:pt x="2553851" y="769653"/>
                </a:cubicBezTo>
                <a:lnTo>
                  <a:pt x="34981" y="769653"/>
                </a:lnTo>
                <a:cubicBezTo>
                  <a:pt x="15661" y="769653"/>
                  <a:pt x="0" y="753991"/>
                  <a:pt x="0" y="734672"/>
                </a:cubicBezTo>
                <a:lnTo>
                  <a:pt x="0" y="34981"/>
                </a:lnTo>
                <a:cubicBezTo>
                  <a:pt x="0" y="15661"/>
                  <a:pt x="15661" y="0"/>
                  <a:pt x="34981" y="0"/>
                </a:cubicBezTo>
                <a:close/>
              </a:path>
            </a:pathLst>
          </a:custGeom>
          <a:solidFill>
            <a:srgbClr val="1E3A5F">
              <a:alpha val="5098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733577" y="5142351"/>
            <a:ext cx="174921" cy="174921"/>
          </a:xfrm>
          <a:custGeom>
            <a:avLst/>
            <a:gdLst/>
            <a:ahLst/>
            <a:cxnLst/>
            <a:rect l="l" t="t" r="r" b="b"/>
            <a:pathLst>
              <a:path w="174921" h="174921">
                <a:moveTo>
                  <a:pt x="10933" y="21865"/>
                </a:moveTo>
                <a:cubicBezTo>
                  <a:pt x="6525" y="21865"/>
                  <a:pt x="2528" y="24530"/>
                  <a:pt x="820" y="28630"/>
                </a:cubicBezTo>
                <a:cubicBezTo>
                  <a:pt x="-888" y="32729"/>
                  <a:pt x="68" y="37410"/>
                  <a:pt x="3211" y="40519"/>
                </a:cubicBezTo>
                <a:lnTo>
                  <a:pt x="65595" y="102937"/>
                </a:lnTo>
                <a:lnTo>
                  <a:pt x="65595" y="142123"/>
                </a:lnTo>
                <a:cubicBezTo>
                  <a:pt x="65595" y="145027"/>
                  <a:pt x="66757" y="147795"/>
                  <a:pt x="68807" y="149845"/>
                </a:cubicBezTo>
                <a:lnTo>
                  <a:pt x="90672" y="171710"/>
                </a:lnTo>
                <a:cubicBezTo>
                  <a:pt x="93815" y="174853"/>
                  <a:pt x="98496" y="175775"/>
                  <a:pt x="102595" y="174067"/>
                </a:cubicBezTo>
                <a:cubicBezTo>
                  <a:pt x="106695" y="172359"/>
                  <a:pt x="109326" y="168396"/>
                  <a:pt x="109326" y="163989"/>
                </a:cubicBezTo>
                <a:lnTo>
                  <a:pt x="109326" y="102937"/>
                </a:lnTo>
                <a:lnTo>
                  <a:pt x="171710" y="40553"/>
                </a:lnTo>
                <a:cubicBezTo>
                  <a:pt x="174853" y="37410"/>
                  <a:pt x="175775" y="32729"/>
                  <a:pt x="174067" y="28630"/>
                </a:cubicBezTo>
                <a:cubicBezTo>
                  <a:pt x="172359" y="24530"/>
                  <a:pt x="168396" y="21865"/>
                  <a:pt x="163989" y="21865"/>
                </a:cubicBezTo>
                <a:lnTo>
                  <a:pt x="10933" y="21865"/>
                </a:lnTo>
                <a:close/>
              </a:path>
            </a:pathLst>
          </a:custGeom>
          <a:solidFill>
            <a:srgbClr val="1E3A5F"/>
          </a:solidFill>
          <a:ln/>
        </p:spPr>
      </p:sp>
      <p:sp>
        <p:nvSpPr>
          <p:cNvPr id="31" name="Text 29"/>
          <p:cNvSpPr/>
          <p:nvPr/>
        </p:nvSpPr>
        <p:spPr>
          <a:xfrm>
            <a:off x="599105" y="5387241"/>
            <a:ext cx="2440149" cy="174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64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Cleaning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03478" y="5562162"/>
            <a:ext cx="2431403" cy="139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26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Missing values, outliers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222374" y="5037399"/>
            <a:ext cx="2588832" cy="769653"/>
          </a:xfrm>
          <a:custGeom>
            <a:avLst/>
            <a:gdLst/>
            <a:ahLst/>
            <a:cxnLst/>
            <a:rect l="l" t="t" r="r" b="b"/>
            <a:pathLst>
              <a:path w="2588832" h="769653">
                <a:moveTo>
                  <a:pt x="34981" y="0"/>
                </a:moveTo>
                <a:lnTo>
                  <a:pt x="2553851" y="0"/>
                </a:lnTo>
                <a:cubicBezTo>
                  <a:pt x="2573171" y="0"/>
                  <a:pt x="2588832" y="15661"/>
                  <a:pt x="2588832" y="34981"/>
                </a:cubicBezTo>
                <a:lnTo>
                  <a:pt x="2588832" y="734672"/>
                </a:lnTo>
                <a:cubicBezTo>
                  <a:pt x="2588832" y="753991"/>
                  <a:pt x="2573171" y="769653"/>
                  <a:pt x="2553851" y="769653"/>
                </a:cubicBezTo>
                <a:lnTo>
                  <a:pt x="34981" y="769653"/>
                </a:lnTo>
                <a:cubicBezTo>
                  <a:pt x="15661" y="769653"/>
                  <a:pt x="0" y="753991"/>
                  <a:pt x="0" y="734672"/>
                </a:cubicBezTo>
                <a:lnTo>
                  <a:pt x="0" y="34981"/>
                </a:lnTo>
                <a:cubicBezTo>
                  <a:pt x="0" y="15661"/>
                  <a:pt x="15661" y="0"/>
                  <a:pt x="34981" y="0"/>
                </a:cubicBezTo>
                <a:close/>
              </a:path>
            </a:pathLst>
          </a:custGeom>
          <a:solidFill>
            <a:srgbClr val="4A90A4">
              <a:alpha val="5098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409433" y="5142351"/>
            <a:ext cx="218651" cy="174921"/>
          </a:xfrm>
          <a:custGeom>
            <a:avLst/>
            <a:gdLst/>
            <a:ahLst/>
            <a:cxnLst/>
            <a:rect l="l" t="t" r="r" b="b"/>
            <a:pathLst>
              <a:path w="218651" h="174921">
                <a:moveTo>
                  <a:pt x="142089" y="71916"/>
                </a:moveTo>
                <a:cubicBezTo>
                  <a:pt x="146257" y="70788"/>
                  <a:pt x="150630" y="72770"/>
                  <a:pt x="152509" y="76630"/>
                </a:cubicBezTo>
                <a:lnTo>
                  <a:pt x="158864" y="89476"/>
                </a:lnTo>
                <a:cubicBezTo>
                  <a:pt x="162383" y="89955"/>
                  <a:pt x="165833" y="90911"/>
                  <a:pt x="169079" y="92244"/>
                </a:cubicBezTo>
                <a:lnTo>
                  <a:pt x="181036" y="84283"/>
                </a:lnTo>
                <a:cubicBezTo>
                  <a:pt x="184624" y="81892"/>
                  <a:pt x="189373" y="82370"/>
                  <a:pt x="192413" y="85411"/>
                </a:cubicBezTo>
                <a:lnTo>
                  <a:pt x="198973" y="91970"/>
                </a:lnTo>
                <a:cubicBezTo>
                  <a:pt x="202013" y="95011"/>
                  <a:pt x="202492" y="99794"/>
                  <a:pt x="200100" y="103347"/>
                </a:cubicBezTo>
                <a:lnTo>
                  <a:pt x="192140" y="115270"/>
                </a:lnTo>
                <a:cubicBezTo>
                  <a:pt x="192789" y="116876"/>
                  <a:pt x="193370" y="118550"/>
                  <a:pt x="193848" y="120292"/>
                </a:cubicBezTo>
                <a:cubicBezTo>
                  <a:pt x="194326" y="122035"/>
                  <a:pt x="194634" y="123743"/>
                  <a:pt x="194873" y="125485"/>
                </a:cubicBezTo>
                <a:lnTo>
                  <a:pt x="207753" y="131840"/>
                </a:lnTo>
                <a:cubicBezTo>
                  <a:pt x="211614" y="133753"/>
                  <a:pt x="213595" y="138126"/>
                  <a:pt x="212468" y="142260"/>
                </a:cubicBezTo>
                <a:lnTo>
                  <a:pt x="210076" y="151211"/>
                </a:lnTo>
                <a:cubicBezTo>
                  <a:pt x="208949" y="155345"/>
                  <a:pt x="205088" y="158146"/>
                  <a:pt x="200783" y="157873"/>
                </a:cubicBezTo>
                <a:lnTo>
                  <a:pt x="186434" y="156951"/>
                </a:lnTo>
                <a:cubicBezTo>
                  <a:pt x="184282" y="159718"/>
                  <a:pt x="181788" y="162280"/>
                  <a:pt x="178952" y="164467"/>
                </a:cubicBezTo>
                <a:lnTo>
                  <a:pt x="179875" y="178782"/>
                </a:lnTo>
                <a:cubicBezTo>
                  <a:pt x="180148" y="183086"/>
                  <a:pt x="177347" y="186981"/>
                  <a:pt x="173213" y="188074"/>
                </a:cubicBezTo>
                <a:lnTo>
                  <a:pt x="164262" y="190466"/>
                </a:lnTo>
                <a:cubicBezTo>
                  <a:pt x="160094" y="191593"/>
                  <a:pt x="155755" y="189612"/>
                  <a:pt x="153842" y="185751"/>
                </a:cubicBezTo>
                <a:lnTo>
                  <a:pt x="147487" y="172905"/>
                </a:lnTo>
                <a:cubicBezTo>
                  <a:pt x="143968" y="172427"/>
                  <a:pt x="140518" y="171470"/>
                  <a:pt x="137272" y="170138"/>
                </a:cubicBezTo>
                <a:lnTo>
                  <a:pt x="125315" y="178098"/>
                </a:lnTo>
                <a:cubicBezTo>
                  <a:pt x="121727" y="180490"/>
                  <a:pt x="116978" y="180012"/>
                  <a:pt x="113938" y="176971"/>
                </a:cubicBezTo>
                <a:lnTo>
                  <a:pt x="107378" y="170411"/>
                </a:lnTo>
                <a:cubicBezTo>
                  <a:pt x="104338" y="167371"/>
                  <a:pt x="103859" y="162622"/>
                  <a:pt x="106251" y="159035"/>
                </a:cubicBezTo>
                <a:lnTo>
                  <a:pt x="114211" y="147077"/>
                </a:lnTo>
                <a:cubicBezTo>
                  <a:pt x="113562" y="145471"/>
                  <a:pt x="112981" y="143797"/>
                  <a:pt x="112503" y="142055"/>
                </a:cubicBezTo>
                <a:cubicBezTo>
                  <a:pt x="112025" y="140313"/>
                  <a:pt x="111717" y="138570"/>
                  <a:pt x="111478" y="136862"/>
                </a:cubicBezTo>
                <a:lnTo>
                  <a:pt x="98598" y="130508"/>
                </a:lnTo>
                <a:cubicBezTo>
                  <a:pt x="94738" y="128594"/>
                  <a:pt x="92790" y="124221"/>
                  <a:pt x="93883" y="120087"/>
                </a:cubicBezTo>
                <a:lnTo>
                  <a:pt x="96275" y="111136"/>
                </a:lnTo>
                <a:cubicBezTo>
                  <a:pt x="97402" y="107003"/>
                  <a:pt x="101263" y="104201"/>
                  <a:pt x="105568" y="104474"/>
                </a:cubicBezTo>
                <a:lnTo>
                  <a:pt x="119882" y="105397"/>
                </a:lnTo>
                <a:cubicBezTo>
                  <a:pt x="122035" y="102629"/>
                  <a:pt x="124529" y="100067"/>
                  <a:pt x="127364" y="97881"/>
                </a:cubicBezTo>
                <a:lnTo>
                  <a:pt x="126442" y="83600"/>
                </a:lnTo>
                <a:cubicBezTo>
                  <a:pt x="126169" y="79295"/>
                  <a:pt x="128970" y="75401"/>
                  <a:pt x="133104" y="74307"/>
                </a:cubicBezTo>
                <a:lnTo>
                  <a:pt x="142055" y="71916"/>
                </a:lnTo>
                <a:close/>
                <a:moveTo>
                  <a:pt x="153193" y="116159"/>
                </a:moveTo>
                <a:cubicBezTo>
                  <a:pt x="144896" y="116168"/>
                  <a:pt x="138168" y="122911"/>
                  <a:pt x="138177" y="131208"/>
                </a:cubicBezTo>
                <a:cubicBezTo>
                  <a:pt x="138187" y="139504"/>
                  <a:pt x="144930" y="146233"/>
                  <a:pt x="153227" y="146223"/>
                </a:cubicBezTo>
                <a:cubicBezTo>
                  <a:pt x="161523" y="146214"/>
                  <a:pt x="168251" y="139470"/>
                  <a:pt x="168242" y="131174"/>
                </a:cubicBezTo>
                <a:cubicBezTo>
                  <a:pt x="168233" y="122877"/>
                  <a:pt x="161489" y="116149"/>
                  <a:pt x="153193" y="116159"/>
                </a:cubicBezTo>
                <a:close/>
                <a:moveTo>
                  <a:pt x="76835" y="-15545"/>
                </a:moveTo>
                <a:lnTo>
                  <a:pt x="85786" y="-13153"/>
                </a:lnTo>
                <a:cubicBezTo>
                  <a:pt x="89920" y="-12026"/>
                  <a:pt x="92722" y="-8131"/>
                  <a:pt x="92449" y="-3861"/>
                </a:cubicBezTo>
                <a:lnTo>
                  <a:pt x="91526" y="10420"/>
                </a:lnTo>
                <a:cubicBezTo>
                  <a:pt x="94362" y="12607"/>
                  <a:pt x="96856" y="15135"/>
                  <a:pt x="99008" y="17936"/>
                </a:cubicBezTo>
                <a:lnTo>
                  <a:pt x="113357" y="17014"/>
                </a:lnTo>
                <a:cubicBezTo>
                  <a:pt x="117628" y="16740"/>
                  <a:pt x="121522" y="19542"/>
                  <a:pt x="122650" y="23676"/>
                </a:cubicBezTo>
                <a:lnTo>
                  <a:pt x="125041" y="32627"/>
                </a:lnTo>
                <a:cubicBezTo>
                  <a:pt x="126135" y="36761"/>
                  <a:pt x="124187" y="41134"/>
                  <a:pt x="120327" y="43047"/>
                </a:cubicBezTo>
                <a:lnTo>
                  <a:pt x="107447" y="49402"/>
                </a:lnTo>
                <a:cubicBezTo>
                  <a:pt x="107207" y="51144"/>
                  <a:pt x="106866" y="52886"/>
                  <a:pt x="106422" y="54595"/>
                </a:cubicBezTo>
                <a:cubicBezTo>
                  <a:pt x="105978" y="56303"/>
                  <a:pt x="105363" y="58011"/>
                  <a:pt x="104714" y="59617"/>
                </a:cubicBezTo>
                <a:lnTo>
                  <a:pt x="112674" y="71574"/>
                </a:lnTo>
                <a:cubicBezTo>
                  <a:pt x="115065" y="75161"/>
                  <a:pt x="114587" y="79910"/>
                  <a:pt x="111546" y="82951"/>
                </a:cubicBezTo>
                <a:lnTo>
                  <a:pt x="104987" y="89510"/>
                </a:lnTo>
                <a:cubicBezTo>
                  <a:pt x="101946" y="92551"/>
                  <a:pt x="97197" y="93029"/>
                  <a:pt x="93610" y="90638"/>
                </a:cubicBezTo>
                <a:lnTo>
                  <a:pt x="81653" y="82678"/>
                </a:lnTo>
                <a:cubicBezTo>
                  <a:pt x="78407" y="84010"/>
                  <a:pt x="74956" y="84967"/>
                  <a:pt x="71438" y="85445"/>
                </a:cubicBezTo>
                <a:lnTo>
                  <a:pt x="65083" y="98291"/>
                </a:lnTo>
                <a:cubicBezTo>
                  <a:pt x="63170" y="102151"/>
                  <a:pt x="58797" y="104099"/>
                  <a:pt x="54663" y="103005"/>
                </a:cubicBezTo>
                <a:lnTo>
                  <a:pt x="45712" y="100614"/>
                </a:lnTo>
                <a:cubicBezTo>
                  <a:pt x="41544" y="99486"/>
                  <a:pt x="38776" y="95592"/>
                  <a:pt x="39050" y="91321"/>
                </a:cubicBezTo>
                <a:lnTo>
                  <a:pt x="39972" y="77006"/>
                </a:lnTo>
                <a:cubicBezTo>
                  <a:pt x="37137" y="74820"/>
                  <a:pt x="34643" y="72292"/>
                  <a:pt x="32490" y="69490"/>
                </a:cubicBezTo>
                <a:lnTo>
                  <a:pt x="18141" y="70413"/>
                </a:lnTo>
                <a:cubicBezTo>
                  <a:pt x="13871" y="70686"/>
                  <a:pt x="9976" y="67884"/>
                  <a:pt x="8849" y="63751"/>
                </a:cubicBezTo>
                <a:lnTo>
                  <a:pt x="6457" y="54799"/>
                </a:lnTo>
                <a:cubicBezTo>
                  <a:pt x="5364" y="50666"/>
                  <a:pt x="7311" y="46293"/>
                  <a:pt x="11172" y="44379"/>
                </a:cubicBezTo>
                <a:lnTo>
                  <a:pt x="24052" y="38025"/>
                </a:lnTo>
                <a:cubicBezTo>
                  <a:pt x="24291" y="36282"/>
                  <a:pt x="24632" y="34574"/>
                  <a:pt x="25077" y="32832"/>
                </a:cubicBezTo>
                <a:cubicBezTo>
                  <a:pt x="25555" y="31089"/>
                  <a:pt x="26102" y="29415"/>
                  <a:pt x="26785" y="27810"/>
                </a:cubicBezTo>
                <a:lnTo>
                  <a:pt x="18825" y="15886"/>
                </a:lnTo>
                <a:cubicBezTo>
                  <a:pt x="16433" y="12299"/>
                  <a:pt x="16911" y="7550"/>
                  <a:pt x="19952" y="4510"/>
                </a:cubicBezTo>
                <a:lnTo>
                  <a:pt x="26511" y="-2050"/>
                </a:lnTo>
                <a:cubicBezTo>
                  <a:pt x="29552" y="-5090"/>
                  <a:pt x="34301" y="-5569"/>
                  <a:pt x="37888" y="-3177"/>
                </a:cubicBezTo>
                <a:lnTo>
                  <a:pt x="49846" y="4783"/>
                </a:lnTo>
                <a:cubicBezTo>
                  <a:pt x="53091" y="3451"/>
                  <a:pt x="56542" y="2494"/>
                  <a:pt x="60061" y="2016"/>
                </a:cubicBezTo>
                <a:lnTo>
                  <a:pt x="66415" y="-10830"/>
                </a:lnTo>
                <a:cubicBezTo>
                  <a:pt x="68329" y="-14691"/>
                  <a:pt x="72667" y="-16638"/>
                  <a:pt x="76835" y="-15545"/>
                </a:cubicBezTo>
                <a:close/>
                <a:moveTo>
                  <a:pt x="65732" y="28698"/>
                </a:moveTo>
                <a:cubicBezTo>
                  <a:pt x="57436" y="28698"/>
                  <a:pt x="50700" y="35434"/>
                  <a:pt x="50700" y="43730"/>
                </a:cubicBezTo>
                <a:cubicBezTo>
                  <a:pt x="50700" y="52027"/>
                  <a:pt x="57436" y="58763"/>
                  <a:pt x="65732" y="58763"/>
                </a:cubicBezTo>
                <a:cubicBezTo>
                  <a:pt x="74029" y="58763"/>
                  <a:pt x="80764" y="52027"/>
                  <a:pt x="80764" y="43730"/>
                </a:cubicBezTo>
                <a:cubicBezTo>
                  <a:pt x="80764" y="35434"/>
                  <a:pt x="74029" y="28698"/>
                  <a:pt x="65732" y="28698"/>
                </a:cubicBezTo>
                <a:close/>
              </a:path>
            </a:pathLst>
          </a:custGeom>
          <a:solidFill>
            <a:srgbClr val="4A90A4"/>
          </a:solidFill>
          <a:ln/>
        </p:spPr>
      </p:sp>
      <p:sp>
        <p:nvSpPr>
          <p:cNvPr id="35" name="Text 33"/>
          <p:cNvSpPr/>
          <p:nvPr/>
        </p:nvSpPr>
        <p:spPr>
          <a:xfrm>
            <a:off x="3296716" y="5387241"/>
            <a:ext cx="2440149" cy="174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64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Feature Eng.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3301089" y="5562162"/>
            <a:ext cx="2431403" cy="139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26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Technical indicators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24763" y="5911897"/>
            <a:ext cx="2588832" cy="769653"/>
          </a:xfrm>
          <a:custGeom>
            <a:avLst/>
            <a:gdLst/>
            <a:ahLst/>
            <a:cxnLst/>
            <a:rect l="l" t="t" r="r" b="b"/>
            <a:pathLst>
              <a:path w="2588832" h="769653">
                <a:moveTo>
                  <a:pt x="34981" y="0"/>
                </a:moveTo>
                <a:lnTo>
                  <a:pt x="2553851" y="0"/>
                </a:lnTo>
                <a:cubicBezTo>
                  <a:pt x="2573171" y="0"/>
                  <a:pt x="2588832" y="15661"/>
                  <a:pt x="2588832" y="34981"/>
                </a:cubicBezTo>
                <a:lnTo>
                  <a:pt x="2588832" y="734672"/>
                </a:lnTo>
                <a:cubicBezTo>
                  <a:pt x="2588832" y="753991"/>
                  <a:pt x="2573171" y="769653"/>
                  <a:pt x="2553851" y="769653"/>
                </a:cubicBezTo>
                <a:lnTo>
                  <a:pt x="34981" y="769653"/>
                </a:lnTo>
                <a:cubicBezTo>
                  <a:pt x="15661" y="769653"/>
                  <a:pt x="0" y="753991"/>
                  <a:pt x="0" y="734672"/>
                </a:cubicBezTo>
                <a:lnTo>
                  <a:pt x="0" y="34981"/>
                </a:lnTo>
                <a:cubicBezTo>
                  <a:pt x="0" y="15661"/>
                  <a:pt x="15661" y="0"/>
                  <a:pt x="34981" y="0"/>
                </a:cubicBezTo>
                <a:close/>
              </a:path>
            </a:pathLst>
          </a:custGeom>
          <a:solidFill>
            <a:srgbClr val="C75B4A">
              <a:alpha val="5098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1711712" y="6016850"/>
            <a:ext cx="218651" cy="174921"/>
          </a:xfrm>
          <a:custGeom>
            <a:avLst/>
            <a:gdLst/>
            <a:ahLst/>
            <a:cxnLst/>
            <a:rect l="l" t="t" r="r" b="b"/>
            <a:pathLst>
              <a:path w="218651" h="174921">
                <a:moveTo>
                  <a:pt x="131191" y="10933"/>
                </a:moveTo>
                <a:lnTo>
                  <a:pt x="174921" y="10933"/>
                </a:lnTo>
                <a:cubicBezTo>
                  <a:pt x="180968" y="10933"/>
                  <a:pt x="185854" y="15818"/>
                  <a:pt x="185854" y="21865"/>
                </a:cubicBezTo>
                <a:cubicBezTo>
                  <a:pt x="185854" y="27912"/>
                  <a:pt x="180968" y="32798"/>
                  <a:pt x="174921" y="32798"/>
                </a:cubicBezTo>
                <a:lnTo>
                  <a:pt x="136110" y="32798"/>
                </a:lnTo>
                <a:cubicBezTo>
                  <a:pt x="134334" y="41612"/>
                  <a:pt x="128287" y="48889"/>
                  <a:pt x="120258" y="52374"/>
                </a:cubicBezTo>
                <a:lnTo>
                  <a:pt x="120258" y="153056"/>
                </a:lnTo>
                <a:lnTo>
                  <a:pt x="174921" y="153056"/>
                </a:lnTo>
                <a:cubicBezTo>
                  <a:pt x="180968" y="153056"/>
                  <a:pt x="185854" y="157941"/>
                  <a:pt x="185854" y="163989"/>
                </a:cubicBezTo>
                <a:cubicBezTo>
                  <a:pt x="185854" y="170036"/>
                  <a:pt x="180968" y="174921"/>
                  <a:pt x="174921" y="174921"/>
                </a:cubicBezTo>
                <a:lnTo>
                  <a:pt x="43730" y="174921"/>
                </a:lnTo>
                <a:cubicBezTo>
                  <a:pt x="37683" y="174921"/>
                  <a:pt x="32798" y="170036"/>
                  <a:pt x="32798" y="163989"/>
                </a:cubicBezTo>
                <a:cubicBezTo>
                  <a:pt x="32798" y="157941"/>
                  <a:pt x="37683" y="153056"/>
                  <a:pt x="43730" y="153056"/>
                </a:cubicBezTo>
                <a:lnTo>
                  <a:pt x="98393" y="153056"/>
                </a:lnTo>
                <a:lnTo>
                  <a:pt x="98393" y="52374"/>
                </a:lnTo>
                <a:cubicBezTo>
                  <a:pt x="90365" y="48855"/>
                  <a:pt x="84317" y="41578"/>
                  <a:pt x="82541" y="32798"/>
                </a:cubicBezTo>
                <a:lnTo>
                  <a:pt x="43730" y="32798"/>
                </a:lnTo>
                <a:cubicBezTo>
                  <a:pt x="37683" y="32798"/>
                  <a:pt x="32798" y="27912"/>
                  <a:pt x="32798" y="21865"/>
                </a:cubicBezTo>
                <a:cubicBezTo>
                  <a:pt x="32798" y="15818"/>
                  <a:pt x="37683" y="10933"/>
                  <a:pt x="43730" y="10933"/>
                </a:cubicBezTo>
                <a:lnTo>
                  <a:pt x="87461" y="10933"/>
                </a:lnTo>
                <a:cubicBezTo>
                  <a:pt x="92449" y="4305"/>
                  <a:pt x="100375" y="0"/>
                  <a:pt x="109326" y="0"/>
                </a:cubicBezTo>
                <a:cubicBezTo>
                  <a:pt x="118277" y="0"/>
                  <a:pt x="126203" y="4305"/>
                  <a:pt x="131191" y="10933"/>
                </a:cubicBezTo>
                <a:close/>
                <a:moveTo>
                  <a:pt x="150186" y="109326"/>
                </a:moveTo>
                <a:lnTo>
                  <a:pt x="199656" y="109326"/>
                </a:lnTo>
                <a:lnTo>
                  <a:pt x="174921" y="66894"/>
                </a:lnTo>
                <a:lnTo>
                  <a:pt x="150186" y="109326"/>
                </a:lnTo>
                <a:close/>
                <a:moveTo>
                  <a:pt x="174921" y="142123"/>
                </a:moveTo>
                <a:cubicBezTo>
                  <a:pt x="153432" y="142123"/>
                  <a:pt x="135564" y="130508"/>
                  <a:pt x="131874" y="115168"/>
                </a:cubicBezTo>
                <a:cubicBezTo>
                  <a:pt x="130986" y="111410"/>
                  <a:pt x="132216" y="107549"/>
                  <a:pt x="134163" y="104201"/>
                </a:cubicBezTo>
                <a:lnTo>
                  <a:pt x="166688" y="48445"/>
                </a:lnTo>
                <a:cubicBezTo>
                  <a:pt x="168396" y="45507"/>
                  <a:pt x="171539" y="43730"/>
                  <a:pt x="174921" y="43730"/>
                </a:cubicBezTo>
                <a:cubicBezTo>
                  <a:pt x="178303" y="43730"/>
                  <a:pt x="181446" y="45541"/>
                  <a:pt x="183155" y="48445"/>
                </a:cubicBezTo>
                <a:lnTo>
                  <a:pt x="215679" y="104201"/>
                </a:lnTo>
                <a:cubicBezTo>
                  <a:pt x="217626" y="107549"/>
                  <a:pt x="218856" y="111410"/>
                  <a:pt x="217968" y="115168"/>
                </a:cubicBezTo>
                <a:cubicBezTo>
                  <a:pt x="214278" y="130473"/>
                  <a:pt x="196410" y="142123"/>
                  <a:pt x="174921" y="142123"/>
                </a:cubicBezTo>
                <a:close/>
                <a:moveTo>
                  <a:pt x="43320" y="66894"/>
                </a:moveTo>
                <a:lnTo>
                  <a:pt x="18585" y="109326"/>
                </a:lnTo>
                <a:lnTo>
                  <a:pt x="68089" y="109326"/>
                </a:lnTo>
                <a:lnTo>
                  <a:pt x="43320" y="66894"/>
                </a:lnTo>
                <a:close/>
                <a:moveTo>
                  <a:pt x="307" y="115168"/>
                </a:moveTo>
                <a:cubicBezTo>
                  <a:pt x="-581" y="111410"/>
                  <a:pt x="649" y="107549"/>
                  <a:pt x="2596" y="104201"/>
                </a:cubicBezTo>
                <a:lnTo>
                  <a:pt x="35121" y="48445"/>
                </a:lnTo>
                <a:cubicBezTo>
                  <a:pt x="36829" y="45507"/>
                  <a:pt x="39972" y="43730"/>
                  <a:pt x="43354" y="43730"/>
                </a:cubicBezTo>
                <a:cubicBezTo>
                  <a:pt x="46737" y="43730"/>
                  <a:pt x="49880" y="45541"/>
                  <a:pt x="51588" y="48445"/>
                </a:cubicBezTo>
                <a:lnTo>
                  <a:pt x="84112" y="104201"/>
                </a:lnTo>
                <a:cubicBezTo>
                  <a:pt x="86060" y="107549"/>
                  <a:pt x="87290" y="111410"/>
                  <a:pt x="86401" y="115168"/>
                </a:cubicBezTo>
                <a:cubicBezTo>
                  <a:pt x="82712" y="130473"/>
                  <a:pt x="64844" y="142123"/>
                  <a:pt x="43354" y="142123"/>
                </a:cubicBezTo>
                <a:cubicBezTo>
                  <a:pt x="21865" y="142123"/>
                  <a:pt x="3997" y="130508"/>
                  <a:pt x="307" y="115168"/>
                </a:cubicBez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39" name="Text 37"/>
          <p:cNvSpPr/>
          <p:nvPr/>
        </p:nvSpPr>
        <p:spPr>
          <a:xfrm>
            <a:off x="599105" y="6261739"/>
            <a:ext cx="2440149" cy="174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64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Normalization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03478" y="6436661"/>
            <a:ext cx="2431403" cy="139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26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Z-score scaling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3222374" y="5911897"/>
            <a:ext cx="2588832" cy="769653"/>
          </a:xfrm>
          <a:custGeom>
            <a:avLst/>
            <a:gdLst/>
            <a:ahLst/>
            <a:cxnLst/>
            <a:rect l="l" t="t" r="r" b="b"/>
            <a:pathLst>
              <a:path w="2588832" h="769653">
                <a:moveTo>
                  <a:pt x="34981" y="0"/>
                </a:moveTo>
                <a:lnTo>
                  <a:pt x="2553851" y="0"/>
                </a:lnTo>
                <a:cubicBezTo>
                  <a:pt x="2573171" y="0"/>
                  <a:pt x="2588832" y="15661"/>
                  <a:pt x="2588832" y="34981"/>
                </a:cubicBezTo>
                <a:lnTo>
                  <a:pt x="2588832" y="734672"/>
                </a:lnTo>
                <a:cubicBezTo>
                  <a:pt x="2588832" y="753991"/>
                  <a:pt x="2573171" y="769653"/>
                  <a:pt x="2553851" y="769653"/>
                </a:cubicBezTo>
                <a:lnTo>
                  <a:pt x="34981" y="769653"/>
                </a:lnTo>
                <a:cubicBezTo>
                  <a:pt x="15661" y="769653"/>
                  <a:pt x="0" y="753991"/>
                  <a:pt x="0" y="734672"/>
                </a:cubicBezTo>
                <a:lnTo>
                  <a:pt x="0" y="34981"/>
                </a:lnTo>
                <a:cubicBezTo>
                  <a:pt x="0" y="15661"/>
                  <a:pt x="15661" y="0"/>
                  <a:pt x="34981" y="0"/>
                </a:cubicBezTo>
                <a:close/>
              </a:path>
            </a:pathLst>
          </a:custGeom>
          <a:solidFill>
            <a:srgbClr val="1E3A5F">
              <a:alpha val="5098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4431298" y="6016850"/>
            <a:ext cx="174921" cy="174921"/>
          </a:xfrm>
          <a:custGeom>
            <a:avLst/>
            <a:gdLst/>
            <a:ahLst/>
            <a:cxnLst/>
            <a:rect l="l" t="t" r="r" b="b"/>
            <a:pathLst>
              <a:path w="174921" h="174921">
                <a:moveTo>
                  <a:pt x="137955" y="11753"/>
                </a:moveTo>
                <a:cubicBezTo>
                  <a:pt x="142055" y="10044"/>
                  <a:pt x="146736" y="11001"/>
                  <a:pt x="149879" y="14110"/>
                </a:cubicBezTo>
                <a:lnTo>
                  <a:pt x="171744" y="35975"/>
                </a:lnTo>
                <a:cubicBezTo>
                  <a:pt x="173794" y="38025"/>
                  <a:pt x="174955" y="40792"/>
                  <a:pt x="174955" y="43696"/>
                </a:cubicBezTo>
                <a:cubicBezTo>
                  <a:pt x="174955" y="46600"/>
                  <a:pt x="173794" y="49367"/>
                  <a:pt x="171744" y="51417"/>
                </a:cubicBezTo>
                <a:lnTo>
                  <a:pt x="149879" y="73282"/>
                </a:lnTo>
                <a:cubicBezTo>
                  <a:pt x="146736" y="76425"/>
                  <a:pt x="142055" y="77348"/>
                  <a:pt x="137955" y="75640"/>
                </a:cubicBezTo>
                <a:cubicBezTo>
                  <a:pt x="133856" y="73931"/>
                  <a:pt x="131191" y="70003"/>
                  <a:pt x="131191" y="65595"/>
                </a:cubicBezTo>
                <a:lnTo>
                  <a:pt x="131191" y="54663"/>
                </a:lnTo>
                <a:lnTo>
                  <a:pt x="120258" y="54663"/>
                </a:lnTo>
                <a:cubicBezTo>
                  <a:pt x="116808" y="54663"/>
                  <a:pt x="113562" y="56269"/>
                  <a:pt x="111512" y="59036"/>
                </a:cubicBezTo>
                <a:lnTo>
                  <a:pt x="100443" y="73795"/>
                </a:lnTo>
                <a:lnTo>
                  <a:pt x="86777" y="55585"/>
                </a:lnTo>
                <a:lnTo>
                  <a:pt x="94020" y="45917"/>
                </a:lnTo>
                <a:cubicBezTo>
                  <a:pt x="100204" y="37649"/>
                  <a:pt x="109941" y="32798"/>
                  <a:pt x="120258" y="32798"/>
                </a:cubicBezTo>
                <a:lnTo>
                  <a:pt x="131191" y="32798"/>
                </a:lnTo>
                <a:lnTo>
                  <a:pt x="131191" y="21865"/>
                </a:lnTo>
                <a:cubicBezTo>
                  <a:pt x="131191" y="17458"/>
                  <a:pt x="133856" y="13461"/>
                  <a:pt x="137955" y="11753"/>
                </a:cubicBezTo>
                <a:close/>
                <a:moveTo>
                  <a:pt x="52613" y="101126"/>
                </a:moveTo>
                <a:lnTo>
                  <a:pt x="66279" y="119336"/>
                </a:lnTo>
                <a:lnTo>
                  <a:pt x="59036" y="129004"/>
                </a:lnTo>
                <a:cubicBezTo>
                  <a:pt x="52852" y="137272"/>
                  <a:pt x="43115" y="142123"/>
                  <a:pt x="32798" y="142123"/>
                </a:cubicBezTo>
                <a:lnTo>
                  <a:pt x="10933" y="142123"/>
                </a:lnTo>
                <a:cubicBezTo>
                  <a:pt x="4885" y="142123"/>
                  <a:pt x="0" y="137238"/>
                  <a:pt x="0" y="131191"/>
                </a:cubicBezTo>
                <a:cubicBezTo>
                  <a:pt x="0" y="125144"/>
                  <a:pt x="4885" y="120258"/>
                  <a:pt x="10933" y="120258"/>
                </a:cubicBezTo>
                <a:lnTo>
                  <a:pt x="32798" y="120258"/>
                </a:lnTo>
                <a:cubicBezTo>
                  <a:pt x="36248" y="120258"/>
                  <a:pt x="39494" y="118653"/>
                  <a:pt x="41544" y="115885"/>
                </a:cubicBezTo>
                <a:lnTo>
                  <a:pt x="52613" y="101126"/>
                </a:lnTo>
                <a:close/>
                <a:moveTo>
                  <a:pt x="149845" y="160777"/>
                </a:moveTo>
                <a:cubicBezTo>
                  <a:pt x="146701" y="163920"/>
                  <a:pt x="142021" y="164843"/>
                  <a:pt x="137921" y="163134"/>
                </a:cubicBezTo>
                <a:cubicBezTo>
                  <a:pt x="133821" y="161426"/>
                  <a:pt x="131191" y="157463"/>
                  <a:pt x="131191" y="153056"/>
                </a:cubicBezTo>
                <a:lnTo>
                  <a:pt x="131191" y="142123"/>
                </a:lnTo>
                <a:lnTo>
                  <a:pt x="120258" y="142123"/>
                </a:lnTo>
                <a:cubicBezTo>
                  <a:pt x="109941" y="142123"/>
                  <a:pt x="100204" y="137272"/>
                  <a:pt x="94020" y="129004"/>
                </a:cubicBezTo>
                <a:lnTo>
                  <a:pt x="41544" y="59036"/>
                </a:lnTo>
                <a:cubicBezTo>
                  <a:pt x="39494" y="56269"/>
                  <a:pt x="36248" y="54663"/>
                  <a:pt x="32798" y="54663"/>
                </a:cubicBezTo>
                <a:lnTo>
                  <a:pt x="10933" y="54663"/>
                </a:lnTo>
                <a:cubicBezTo>
                  <a:pt x="4885" y="54663"/>
                  <a:pt x="0" y="49777"/>
                  <a:pt x="0" y="43730"/>
                </a:cubicBezTo>
                <a:cubicBezTo>
                  <a:pt x="0" y="37683"/>
                  <a:pt x="4885" y="32798"/>
                  <a:pt x="10933" y="32798"/>
                </a:cubicBezTo>
                <a:lnTo>
                  <a:pt x="32798" y="32798"/>
                </a:lnTo>
                <a:cubicBezTo>
                  <a:pt x="43115" y="32798"/>
                  <a:pt x="52852" y="37649"/>
                  <a:pt x="59036" y="45917"/>
                </a:cubicBezTo>
                <a:lnTo>
                  <a:pt x="111512" y="115885"/>
                </a:lnTo>
                <a:cubicBezTo>
                  <a:pt x="113562" y="118653"/>
                  <a:pt x="116808" y="120258"/>
                  <a:pt x="120258" y="120258"/>
                </a:cubicBezTo>
                <a:lnTo>
                  <a:pt x="131191" y="120258"/>
                </a:lnTo>
                <a:lnTo>
                  <a:pt x="131191" y="109326"/>
                </a:lnTo>
                <a:cubicBezTo>
                  <a:pt x="131191" y="104918"/>
                  <a:pt x="133856" y="100921"/>
                  <a:pt x="137955" y="99213"/>
                </a:cubicBezTo>
                <a:cubicBezTo>
                  <a:pt x="142055" y="97505"/>
                  <a:pt x="146736" y="98461"/>
                  <a:pt x="149879" y="101570"/>
                </a:cubicBezTo>
                <a:lnTo>
                  <a:pt x="171744" y="123436"/>
                </a:lnTo>
                <a:cubicBezTo>
                  <a:pt x="173794" y="125485"/>
                  <a:pt x="174955" y="128253"/>
                  <a:pt x="174955" y="131157"/>
                </a:cubicBezTo>
                <a:cubicBezTo>
                  <a:pt x="174955" y="134061"/>
                  <a:pt x="173794" y="136828"/>
                  <a:pt x="171744" y="138878"/>
                </a:cubicBezTo>
                <a:lnTo>
                  <a:pt x="149879" y="160743"/>
                </a:lnTo>
                <a:close/>
              </a:path>
            </a:pathLst>
          </a:custGeom>
          <a:solidFill>
            <a:srgbClr val="1E3A5F"/>
          </a:solidFill>
          <a:ln/>
        </p:spPr>
      </p:sp>
      <p:sp>
        <p:nvSpPr>
          <p:cNvPr id="43" name="Text 41"/>
          <p:cNvSpPr/>
          <p:nvPr/>
        </p:nvSpPr>
        <p:spPr>
          <a:xfrm>
            <a:off x="3296716" y="6261739"/>
            <a:ext cx="2440149" cy="174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64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Augmentation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3301089" y="6436661"/>
            <a:ext cx="2431403" cy="139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26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Synthetic paths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199969" y="1119495"/>
            <a:ext cx="5641205" cy="3428453"/>
          </a:xfrm>
          <a:custGeom>
            <a:avLst/>
            <a:gdLst/>
            <a:ahLst/>
            <a:cxnLst/>
            <a:rect l="l" t="t" r="r" b="b"/>
            <a:pathLst>
              <a:path w="5641205" h="3428453">
                <a:moveTo>
                  <a:pt x="69975" y="0"/>
                </a:moveTo>
                <a:lnTo>
                  <a:pt x="5571230" y="0"/>
                </a:lnTo>
                <a:cubicBezTo>
                  <a:pt x="5609876" y="0"/>
                  <a:pt x="5641205" y="31329"/>
                  <a:pt x="5641205" y="69975"/>
                </a:cubicBezTo>
                <a:lnTo>
                  <a:pt x="5641205" y="3358479"/>
                </a:lnTo>
                <a:cubicBezTo>
                  <a:pt x="5641205" y="3397125"/>
                  <a:pt x="5609876" y="3428453"/>
                  <a:pt x="5571230" y="3428453"/>
                </a:cubicBezTo>
                <a:lnTo>
                  <a:pt x="69975" y="3428453"/>
                </a:lnTo>
                <a:cubicBezTo>
                  <a:pt x="31329" y="3428453"/>
                  <a:pt x="0" y="3397125"/>
                  <a:pt x="0" y="3358479"/>
                </a:cubicBezTo>
                <a:lnTo>
                  <a:pt x="0" y="69975"/>
                </a:lnTo>
                <a:cubicBezTo>
                  <a:pt x="0" y="31329"/>
                  <a:pt x="31329" y="0"/>
                  <a:pt x="69975" y="0"/>
                </a:cubicBezTo>
                <a:close/>
              </a:path>
            </a:pathLst>
          </a:custGeom>
          <a:solidFill>
            <a:srgbClr val="FFFFFF"/>
          </a:solidFill>
          <a:ln>
            <a:solidFill>
              <a:schemeClr val="tx1"/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2476" dist="34984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6374890" y="1294416"/>
            <a:ext cx="5378824" cy="244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7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Dataset Characteristics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374890" y="1679242"/>
            <a:ext cx="5291363" cy="454795"/>
          </a:xfrm>
          <a:custGeom>
            <a:avLst/>
            <a:gdLst/>
            <a:ahLst/>
            <a:cxnLst/>
            <a:rect l="l" t="t" r="r" b="b"/>
            <a:pathLst>
              <a:path w="5291363" h="454795">
                <a:moveTo>
                  <a:pt x="34983" y="0"/>
                </a:moveTo>
                <a:lnTo>
                  <a:pt x="5256380" y="0"/>
                </a:lnTo>
                <a:cubicBezTo>
                  <a:pt x="5275701" y="0"/>
                  <a:pt x="5291363" y="15662"/>
                  <a:pt x="5291363" y="34983"/>
                </a:cubicBezTo>
                <a:lnTo>
                  <a:pt x="5291363" y="419812"/>
                </a:lnTo>
                <a:cubicBezTo>
                  <a:pt x="5291363" y="439132"/>
                  <a:pt x="5275701" y="454795"/>
                  <a:pt x="5256380" y="454795"/>
                </a:cubicBezTo>
                <a:lnTo>
                  <a:pt x="34983" y="454795"/>
                </a:lnTo>
                <a:cubicBezTo>
                  <a:pt x="15662" y="454795"/>
                  <a:pt x="0" y="439132"/>
                  <a:pt x="0" y="419812"/>
                </a:cubicBezTo>
                <a:lnTo>
                  <a:pt x="0" y="34983"/>
                </a:lnTo>
                <a:cubicBezTo>
                  <a:pt x="0" y="15675"/>
                  <a:pt x="15675" y="0"/>
                  <a:pt x="34983" y="0"/>
                </a:cubicBezTo>
                <a:close/>
              </a:path>
            </a:pathLst>
          </a:custGeom>
          <a:solidFill>
            <a:srgbClr val="1E3A5F">
              <a:alpha val="5098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6479843" y="1801687"/>
            <a:ext cx="1311908" cy="2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2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Stocks Tracked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11273445" y="1784195"/>
            <a:ext cx="376080" cy="244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7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50+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374890" y="2238990"/>
            <a:ext cx="5291363" cy="454795"/>
          </a:xfrm>
          <a:custGeom>
            <a:avLst/>
            <a:gdLst/>
            <a:ahLst/>
            <a:cxnLst/>
            <a:rect l="l" t="t" r="r" b="b"/>
            <a:pathLst>
              <a:path w="5291363" h="454795">
                <a:moveTo>
                  <a:pt x="34983" y="0"/>
                </a:moveTo>
                <a:lnTo>
                  <a:pt x="5256380" y="0"/>
                </a:lnTo>
                <a:cubicBezTo>
                  <a:pt x="5275701" y="0"/>
                  <a:pt x="5291363" y="15662"/>
                  <a:pt x="5291363" y="34983"/>
                </a:cubicBezTo>
                <a:lnTo>
                  <a:pt x="5291363" y="419812"/>
                </a:lnTo>
                <a:cubicBezTo>
                  <a:pt x="5291363" y="439132"/>
                  <a:pt x="5275701" y="454795"/>
                  <a:pt x="5256380" y="454795"/>
                </a:cubicBezTo>
                <a:lnTo>
                  <a:pt x="34983" y="454795"/>
                </a:lnTo>
                <a:cubicBezTo>
                  <a:pt x="15662" y="454795"/>
                  <a:pt x="0" y="439132"/>
                  <a:pt x="0" y="419812"/>
                </a:cubicBezTo>
                <a:lnTo>
                  <a:pt x="0" y="34983"/>
                </a:lnTo>
                <a:cubicBezTo>
                  <a:pt x="0" y="15675"/>
                  <a:pt x="15675" y="0"/>
                  <a:pt x="34983" y="0"/>
                </a:cubicBezTo>
                <a:close/>
              </a:path>
            </a:pathLst>
          </a:custGeom>
          <a:solidFill>
            <a:srgbClr val="4A90A4">
              <a:alpha val="5098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6479843" y="2361435"/>
            <a:ext cx="1364385" cy="2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2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Historical Data Points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11182487" y="2343943"/>
            <a:ext cx="463541" cy="244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7" b="1" dirty="0">
                <a:solidFill>
                  <a:srgbClr val="4A90A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~62K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374890" y="2798737"/>
            <a:ext cx="5291363" cy="454795"/>
          </a:xfrm>
          <a:custGeom>
            <a:avLst/>
            <a:gdLst/>
            <a:ahLst/>
            <a:cxnLst/>
            <a:rect l="l" t="t" r="r" b="b"/>
            <a:pathLst>
              <a:path w="5291363" h="454795">
                <a:moveTo>
                  <a:pt x="34983" y="0"/>
                </a:moveTo>
                <a:lnTo>
                  <a:pt x="5256380" y="0"/>
                </a:lnTo>
                <a:cubicBezTo>
                  <a:pt x="5275701" y="0"/>
                  <a:pt x="5291363" y="15662"/>
                  <a:pt x="5291363" y="34983"/>
                </a:cubicBezTo>
                <a:lnTo>
                  <a:pt x="5291363" y="419812"/>
                </a:lnTo>
                <a:cubicBezTo>
                  <a:pt x="5291363" y="439132"/>
                  <a:pt x="5275701" y="454795"/>
                  <a:pt x="5256380" y="454795"/>
                </a:cubicBezTo>
                <a:lnTo>
                  <a:pt x="34983" y="454795"/>
                </a:lnTo>
                <a:cubicBezTo>
                  <a:pt x="15662" y="454795"/>
                  <a:pt x="0" y="439132"/>
                  <a:pt x="0" y="419812"/>
                </a:cubicBezTo>
                <a:lnTo>
                  <a:pt x="0" y="34983"/>
                </a:lnTo>
                <a:cubicBezTo>
                  <a:pt x="0" y="15675"/>
                  <a:pt x="15675" y="0"/>
                  <a:pt x="34983" y="0"/>
                </a:cubicBezTo>
                <a:close/>
              </a:path>
            </a:pathLst>
          </a:custGeom>
          <a:solidFill>
            <a:srgbClr val="C75B4A">
              <a:alpha val="5098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6479843" y="2921182"/>
            <a:ext cx="1180717" cy="2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2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Features per Stock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11294436" y="2903690"/>
            <a:ext cx="349842" cy="244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7" b="1" dirty="0">
                <a:solidFill>
                  <a:srgbClr val="C75B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25+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374890" y="3358485"/>
            <a:ext cx="5291363" cy="454795"/>
          </a:xfrm>
          <a:custGeom>
            <a:avLst/>
            <a:gdLst/>
            <a:ahLst/>
            <a:cxnLst/>
            <a:rect l="l" t="t" r="r" b="b"/>
            <a:pathLst>
              <a:path w="5291363" h="454795">
                <a:moveTo>
                  <a:pt x="34983" y="0"/>
                </a:moveTo>
                <a:lnTo>
                  <a:pt x="5256380" y="0"/>
                </a:lnTo>
                <a:cubicBezTo>
                  <a:pt x="5275701" y="0"/>
                  <a:pt x="5291363" y="15662"/>
                  <a:pt x="5291363" y="34983"/>
                </a:cubicBezTo>
                <a:lnTo>
                  <a:pt x="5291363" y="419812"/>
                </a:lnTo>
                <a:cubicBezTo>
                  <a:pt x="5291363" y="439132"/>
                  <a:pt x="5275701" y="454795"/>
                  <a:pt x="5256380" y="454795"/>
                </a:cubicBezTo>
                <a:lnTo>
                  <a:pt x="34983" y="454795"/>
                </a:lnTo>
                <a:cubicBezTo>
                  <a:pt x="15662" y="454795"/>
                  <a:pt x="0" y="439132"/>
                  <a:pt x="0" y="419812"/>
                </a:cubicBezTo>
                <a:lnTo>
                  <a:pt x="0" y="34983"/>
                </a:lnTo>
                <a:cubicBezTo>
                  <a:pt x="0" y="15675"/>
                  <a:pt x="15675" y="0"/>
                  <a:pt x="34983" y="0"/>
                </a:cubicBezTo>
                <a:close/>
              </a:path>
            </a:pathLst>
          </a:custGeom>
          <a:solidFill>
            <a:srgbClr val="1E3A5F">
              <a:alpha val="5098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6479843" y="3480930"/>
            <a:ext cx="1189463" cy="2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2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Update Frequency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10818651" y="3463438"/>
            <a:ext cx="830875" cy="244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7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374890" y="3918232"/>
            <a:ext cx="5291363" cy="454795"/>
          </a:xfrm>
          <a:custGeom>
            <a:avLst/>
            <a:gdLst/>
            <a:ahLst/>
            <a:cxnLst/>
            <a:rect l="l" t="t" r="r" b="b"/>
            <a:pathLst>
              <a:path w="5291363" h="454795">
                <a:moveTo>
                  <a:pt x="34983" y="0"/>
                </a:moveTo>
                <a:lnTo>
                  <a:pt x="5256380" y="0"/>
                </a:lnTo>
                <a:cubicBezTo>
                  <a:pt x="5275701" y="0"/>
                  <a:pt x="5291363" y="15662"/>
                  <a:pt x="5291363" y="34983"/>
                </a:cubicBezTo>
                <a:lnTo>
                  <a:pt x="5291363" y="419812"/>
                </a:lnTo>
                <a:cubicBezTo>
                  <a:pt x="5291363" y="439132"/>
                  <a:pt x="5275701" y="454795"/>
                  <a:pt x="5256380" y="454795"/>
                </a:cubicBezTo>
                <a:lnTo>
                  <a:pt x="34983" y="454795"/>
                </a:lnTo>
                <a:cubicBezTo>
                  <a:pt x="15662" y="454795"/>
                  <a:pt x="0" y="439132"/>
                  <a:pt x="0" y="419812"/>
                </a:cubicBezTo>
                <a:lnTo>
                  <a:pt x="0" y="34983"/>
                </a:lnTo>
                <a:cubicBezTo>
                  <a:pt x="0" y="15675"/>
                  <a:pt x="15675" y="0"/>
                  <a:pt x="34983" y="0"/>
                </a:cubicBezTo>
                <a:close/>
              </a:path>
            </a:pathLst>
          </a:custGeom>
          <a:solidFill>
            <a:srgbClr val="4A90A4">
              <a:alpha val="5098"/>
            </a:srgbClr>
          </a:solidFill>
          <a:ln/>
        </p:spPr>
      </p:sp>
      <p:sp>
        <p:nvSpPr>
          <p:cNvPr id="60" name="Text 58"/>
          <p:cNvSpPr/>
          <p:nvPr/>
        </p:nvSpPr>
        <p:spPr>
          <a:xfrm>
            <a:off x="6479843" y="4040677"/>
            <a:ext cx="857113" cy="2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2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Latency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11357408" y="4023185"/>
            <a:ext cx="288620" cy="244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7" b="1" dirty="0">
                <a:solidFill>
                  <a:srgbClr val="4A90A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&lt;1s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6199969" y="4687885"/>
            <a:ext cx="5641205" cy="1364385"/>
          </a:xfrm>
          <a:custGeom>
            <a:avLst/>
            <a:gdLst/>
            <a:ahLst/>
            <a:cxnLst/>
            <a:rect l="l" t="t" r="r" b="b"/>
            <a:pathLst>
              <a:path w="5641205" h="1364385">
                <a:moveTo>
                  <a:pt x="69966" y="0"/>
                </a:moveTo>
                <a:lnTo>
                  <a:pt x="5571240" y="0"/>
                </a:lnTo>
                <a:cubicBezTo>
                  <a:pt x="5609880" y="0"/>
                  <a:pt x="5641205" y="31325"/>
                  <a:pt x="5641205" y="69966"/>
                </a:cubicBezTo>
                <a:lnTo>
                  <a:pt x="5641205" y="1294419"/>
                </a:lnTo>
                <a:cubicBezTo>
                  <a:pt x="5641205" y="1333060"/>
                  <a:pt x="5609880" y="1364385"/>
                  <a:pt x="5571240" y="1364385"/>
                </a:cubicBezTo>
                <a:lnTo>
                  <a:pt x="69966" y="1364385"/>
                </a:lnTo>
                <a:cubicBezTo>
                  <a:pt x="31325" y="1364385"/>
                  <a:pt x="0" y="1333060"/>
                  <a:pt x="0" y="1294419"/>
                </a:cubicBezTo>
                <a:lnTo>
                  <a:pt x="0" y="69966"/>
                </a:lnTo>
                <a:cubicBezTo>
                  <a:pt x="0" y="31351"/>
                  <a:pt x="31351" y="0"/>
                  <a:pt x="69966" y="0"/>
                </a:cubicBezTo>
                <a:close/>
              </a:path>
            </a:pathLst>
          </a:custGeom>
          <a:solidFill>
            <a:srgbClr val="1E3A5F"/>
          </a:solidFill>
          <a:ln>
            <a:solidFill>
              <a:schemeClr val="tx1"/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</p:sp>
      <p:sp>
        <p:nvSpPr>
          <p:cNvPr id="63" name="Text 61"/>
          <p:cNvSpPr/>
          <p:nvPr/>
        </p:nvSpPr>
        <p:spPr>
          <a:xfrm>
            <a:off x="6374890" y="4862806"/>
            <a:ext cx="5370077" cy="244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0" b="1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Engineered Features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6392382" y="5238887"/>
            <a:ext cx="122445" cy="122445"/>
          </a:xfrm>
          <a:custGeom>
            <a:avLst/>
            <a:gdLst/>
            <a:ahLst/>
            <a:cxnLst/>
            <a:rect l="l" t="t" r="r" b="b"/>
            <a:pathLst>
              <a:path w="122445" h="122445">
                <a:moveTo>
                  <a:pt x="61222" y="122445"/>
                </a:moveTo>
                <a:cubicBezTo>
                  <a:pt x="95012" y="122445"/>
                  <a:pt x="122445" y="95012"/>
                  <a:pt x="122445" y="61222"/>
                </a:cubicBezTo>
                <a:cubicBezTo>
                  <a:pt x="122445" y="27433"/>
                  <a:pt x="95012" y="0"/>
                  <a:pt x="61222" y="0"/>
                </a:cubicBezTo>
                <a:cubicBezTo>
                  <a:pt x="27433" y="0"/>
                  <a:pt x="0" y="27433"/>
                  <a:pt x="0" y="61222"/>
                </a:cubicBezTo>
                <a:cubicBezTo>
                  <a:pt x="0" y="95012"/>
                  <a:pt x="27433" y="122445"/>
                  <a:pt x="61222" y="122445"/>
                </a:cubicBezTo>
                <a:close/>
                <a:moveTo>
                  <a:pt x="81407" y="50867"/>
                </a:moveTo>
                <a:lnTo>
                  <a:pt x="62275" y="81478"/>
                </a:lnTo>
                <a:cubicBezTo>
                  <a:pt x="61270" y="83081"/>
                  <a:pt x="59548" y="84085"/>
                  <a:pt x="57659" y="84181"/>
                </a:cubicBezTo>
                <a:cubicBezTo>
                  <a:pt x="55770" y="84276"/>
                  <a:pt x="53952" y="83415"/>
                  <a:pt x="52828" y="81885"/>
                </a:cubicBezTo>
                <a:lnTo>
                  <a:pt x="41349" y="66579"/>
                </a:lnTo>
                <a:cubicBezTo>
                  <a:pt x="39436" y="64044"/>
                  <a:pt x="39962" y="60457"/>
                  <a:pt x="42497" y="58544"/>
                </a:cubicBezTo>
                <a:cubicBezTo>
                  <a:pt x="45032" y="56631"/>
                  <a:pt x="48619" y="57157"/>
                  <a:pt x="50532" y="59692"/>
                </a:cubicBezTo>
                <a:lnTo>
                  <a:pt x="56989" y="68301"/>
                </a:lnTo>
                <a:lnTo>
                  <a:pt x="71673" y="44793"/>
                </a:lnTo>
                <a:cubicBezTo>
                  <a:pt x="73347" y="42114"/>
                  <a:pt x="76887" y="41277"/>
                  <a:pt x="79589" y="42975"/>
                </a:cubicBezTo>
                <a:cubicBezTo>
                  <a:pt x="82291" y="44673"/>
                  <a:pt x="83105" y="48189"/>
                  <a:pt x="81407" y="50891"/>
                </a:cubicBez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65" name="Text 63"/>
          <p:cNvSpPr/>
          <p:nvPr/>
        </p:nvSpPr>
        <p:spPr>
          <a:xfrm>
            <a:off x="6597914" y="5212648"/>
            <a:ext cx="1897894" cy="174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4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Price momentum (10, 20, 50-day)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9072502" y="5238887"/>
            <a:ext cx="122445" cy="122445"/>
          </a:xfrm>
          <a:custGeom>
            <a:avLst/>
            <a:gdLst/>
            <a:ahLst/>
            <a:cxnLst/>
            <a:rect l="l" t="t" r="r" b="b"/>
            <a:pathLst>
              <a:path w="122445" h="122445">
                <a:moveTo>
                  <a:pt x="61222" y="122445"/>
                </a:moveTo>
                <a:cubicBezTo>
                  <a:pt x="95012" y="122445"/>
                  <a:pt x="122445" y="95012"/>
                  <a:pt x="122445" y="61222"/>
                </a:cubicBezTo>
                <a:cubicBezTo>
                  <a:pt x="122445" y="27433"/>
                  <a:pt x="95012" y="0"/>
                  <a:pt x="61222" y="0"/>
                </a:cubicBezTo>
                <a:cubicBezTo>
                  <a:pt x="27433" y="0"/>
                  <a:pt x="0" y="27433"/>
                  <a:pt x="0" y="61222"/>
                </a:cubicBezTo>
                <a:cubicBezTo>
                  <a:pt x="0" y="95012"/>
                  <a:pt x="27433" y="122445"/>
                  <a:pt x="61222" y="122445"/>
                </a:cubicBezTo>
                <a:close/>
                <a:moveTo>
                  <a:pt x="81407" y="50867"/>
                </a:moveTo>
                <a:lnTo>
                  <a:pt x="62275" y="81478"/>
                </a:lnTo>
                <a:cubicBezTo>
                  <a:pt x="61270" y="83081"/>
                  <a:pt x="59548" y="84085"/>
                  <a:pt x="57659" y="84181"/>
                </a:cubicBezTo>
                <a:cubicBezTo>
                  <a:pt x="55770" y="84276"/>
                  <a:pt x="53952" y="83415"/>
                  <a:pt x="52828" y="81885"/>
                </a:cubicBezTo>
                <a:lnTo>
                  <a:pt x="41349" y="66579"/>
                </a:lnTo>
                <a:cubicBezTo>
                  <a:pt x="39436" y="64044"/>
                  <a:pt x="39962" y="60457"/>
                  <a:pt x="42497" y="58544"/>
                </a:cubicBezTo>
                <a:cubicBezTo>
                  <a:pt x="45032" y="56631"/>
                  <a:pt x="48619" y="57157"/>
                  <a:pt x="50532" y="59692"/>
                </a:cubicBezTo>
                <a:lnTo>
                  <a:pt x="56989" y="68301"/>
                </a:lnTo>
                <a:lnTo>
                  <a:pt x="71673" y="44793"/>
                </a:lnTo>
                <a:cubicBezTo>
                  <a:pt x="73347" y="42114"/>
                  <a:pt x="76887" y="41277"/>
                  <a:pt x="79589" y="42975"/>
                </a:cubicBezTo>
                <a:cubicBezTo>
                  <a:pt x="82291" y="44673"/>
                  <a:pt x="83105" y="48189"/>
                  <a:pt x="81407" y="50891"/>
                </a:cubicBez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67" name="Text 65"/>
          <p:cNvSpPr/>
          <p:nvPr/>
        </p:nvSpPr>
        <p:spPr>
          <a:xfrm>
            <a:off x="9278034" y="5212648"/>
            <a:ext cx="1757957" cy="174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4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Volatility (ATR, Bollinger Bands)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6392382" y="5483776"/>
            <a:ext cx="122445" cy="122445"/>
          </a:xfrm>
          <a:custGeom>
            <a:avLst/>
            <a:gdLst/>
            <a:ahLst/>
            <a:cxnLst/>
            <a:rect l="l" t="t" r="r" b="b"/>
            <a:pathLst>
              <a:path w="122445" h="122445">
                <a:moveTo>
                  <a:pt x="61222" y="122445"/>
                </a:moveTo>
                <a:cubicBezTo>
                  <a:pt x="95012" y="122445"/>
                  <a:pt x="122445" y="95012"/>
                  <a:pt x="122445" y="61222"/>
                </a:cubicBezTo>
                <a:cubicBezTo>
                  <a:pt x="122445" y="27433"/>
                  <a:pt x="95012" y="0"/>
                  <a:pt x="61222" y="0"/>
                </a:cubicBezTo>
                <a:cubicBezTo>
                  <a:pt x="27433" y="0"/>
                  <a:pt x="0" y="27433"/>
                  <a:pt x="0" y="61222"/>
                </a:cubicBezTo>
                <a:cubicBezTo>
                  <a:pt x="0" y="95012"/>
                  <a:pt x="27433" y="122445"/>
                  <a:pt x="61222" y="122445"/>
                </a:cubicBezTo>
                <a:close/>
                <a:moveTo>
                  <a:pt x="81407" y="50867"/>
                </a:moveTo>
                <a:lnTo>
                  <a:pt x="62275" y="81478"/>
                </a:lnTo>
                <a:cubicBezTo>
                  <a:pt x="61270" y="83081"/>
                  <a:pt x="59548" y="84085"/>
                  <a:pt x="57659" y="84181"/>
                </a:cubicBezTo>
                <a:cubicBezTo>
                  <a:pt x="55770" y="84276"/>
                  <a:pt x="53952" y="83415"/>
                  <a:pt x="52828" y="81885"/>
                </a:cubicBezTo>
                <a:lnTo>
                  <a:pt x="41349" y="66579"/>
                </a:lnTo>
                <a:cubicBezTo>
                  <a:pt x="39436" y="64044"/>
                  <a:pt x="39962" y="60457"/>
                  <a:pt x="42497" y="58544"/>
                </a:cubicBezTo>
                <a:cubicBezTo>
                  <a:pt x="45032" y="56631"/>
                  <a:pt x="48619" y="57157"/>
                  <a:pt x="50532" y="59692"/>
                </a:cubicBezTo>
                <a:lnTo>
                  <a:pt x="56989" y="68301"/>
                </a:lnTo>
                <a:lnTo>
                  <a:pt x="71673" y="44793"/>
                </a:lnTo>
                <a:cubicBezTo>
                  <a:pt x="73347" y="42114"/>
                  <a:pt x="76887" y="41277"/>
                  <a:pt x="79589" y="42975"/>
                </a:cubicBezTo>
                <a:cubicBezTo>
                  <a:pt x="82291" y="44673"/>
                  <a:pt x="83105" y="48189"/>
                  <a:pt x="81407" y="50891"/>
                </a:cubicBez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69" name="Text 67"/>
          <p:cNvSpPr/>
          <p:nvPr/>
        </p:nvSpPr>
        <p:spPr>
          <a:xfrm>
            <a:off x="6597914" y="5457538"/>
            <a:ext cx="1827925" cy="174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4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Volume indicators (OBV, VWAP)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9072502" y="5483776"/>
            <a:ext cx="122445" cy="122445"/>
          </a:xfrm>
          <a:custGeom>
            <a:avLst/>
            <a:gdLst/>
            <a:ahLst/>
            <a:cxnLst/>
            <a:rect l="l" t="t" r="r" b="b"/>
            <a:pathLst>
              <a:path w="122445" h="122445">
                <a:moveTo>
                  <a:pt x="61222" y="122445"/>
                </a:moveTo>
                <a:cubicBezTo>
                  <a:pt x="95012" y="122445"/>
                  <a:pt x="122445" y="95012"/>
                  <a:pt x="122445" y="61222"/>
                </a:cubicBezTo>
                <a:cubicBezTo>
                  <a:pt x="122445" y="27433"/>
                  <a:pt x="95012" y="0"/>
                  <a:pt x="61222" y="0"/>
                </a:cubicBezTo>
                <a:cubicBezTo>
                  <a:pt x="27433" y="0"/>
                  <a:pt x="0" y="27433"/>
                  <a:pt x="0" y="61222"/>
                </a:cubicBezTo>
                <a:cubicBezTo>
                  <a:pt x="0" y="95012"/>
                  <a:pt x="27433" y="122445"/>
                  <a:pt x="61222" y="122445"/>
                </a:cubicBezTo>
                <a:close/>
                <a:moveTo>
                  <a:pt x="81407" y="50867"/>
                </a:moveTo>
                <a:lnTo>
                  <a:pt x="62275" y="81478"/>
                </a:lnTo>
                <a:cubicBezTo>
                  <a:pt x="61270" y="83081"/>
                  <a:pt x="59548" y="84085"/>
                  <a:pt x="57659" y="84181"/>
                </a:cubicBezTo>
                <a:cubicBezTo>
                  <a:pt x="55770" y="84276"/>
                  <a:pt x="53952" y="83415"/>
                  <a:pt x="52828" y="81885"/>
                </a:cubicBezTo>
                <a:lnTo>
                  <a:pt x="41349" y="66579"/>
                </a:lnTo>
                <a:cubicBezTo>
                  <a:pt x="39436" y="64044"/>
                  <a:pt x="39962" y="60457"/>
                  <a:pt x="42497" y="58544"/>
                </a:cubicBezTo>
                <a:cubicBezTo>
                  <a:pt x="45032" y="56631"/>
                  <a:pt x="48619" y="57157"/>
                  <a:pt x="50532" y="59692"/>
                </a:cubicBezTo>
                <a:lnTo>
                  <a:pt x="56989" y="68301"/>
                </a:lnTo>
                <a:lnTo>
                  <a:pt x="71673" y="44793"/>
                </a:lnTo>
                <a:cubicBezTo>
                  <a:pt x="73347" y="42114"/>
                  <a:pt x="76887" y="41277"/>
                  <a:pt x="79589" y="42975"/>
                </a:cubicBezTo>
                <a:cubicBezTo>
                  <a:pt x="82291" y="44673"/>
                  <a:pt x="83105" y="48189"/>
                  <a:pt x="81407" y="50891"/>
                </a:cubicBez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71" name="Text 69"/>
          <p:cNvSpPr/>
          <p:nvPr/>
        </p:nvSpPr>
        <p:spPr>
          <a:xfrm>
            <a:off x="9278034" y="5457538"/>
            <a:ext cx="1285670" cy="174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4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RSI, MACD, Stochastic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6392382" y="5728666"/>
            <a:ext cx="122445" cy="122445"/>
          </a:xfrm>
          <a:custGeom>
            <a:avLst/>
            <a:gdLst/>
            <a:ahLst/>
            <a:cxnLst/>
            <a:rect l="l" t="t" r="r" b="b"/>
            <a:pathLst>
              <a:path w="122445" h="122445">
                <a:moveTo>
                  <a:pt x="61222" y="122445"/>
                </a:moveTo>
                <a:cubicBezTo>
                  <a:pt x="95012" y="122445"/>
                  <a:pt x="122445" y="95012"/>
                  <a:pt x="122445" y="61222"/>
                </a:cubicBezTo>
                <a:cubicBezTo>
                  <a:pt x="122445" y="27433"/>
                  <a:pt x="95012" y="0"/>
                  <a:pt x="61222" y="0"/>
                </a:cubicBezTo>
                <a:cubicBezTo>
                  <a:pt x="27433" y="0"/>
                  <a:pt x="0" y="27433"/>
                  <a:pt x="0" y="61222"/>
                </a:cubicBezTo>
                <a:cubicBezTo>
                  <a:pt x="0" y="95012"/>
                  <a:pt x="27433" y="122445"/>
                  <a:pt x="61222" y="122445"/>
                </a:cubicBezTo>
                <a:close/>
                <a:moveTo>
                  <a:pt x="81407" y="50867"/>
                </a:moveTo>
                <a:lnTo>
                  <a:pt x="62275" y="81478"/>
                </a:lnTo>
                <a:cubicBezTo>
                  <a:pt x="61270" y="83081"/>
                  <a:pt x="59548" y="84085"/>
                  <a:pt x="57659" y="84181"/>
                </a:cubicBezTo>
                <a:cubicBezTo>
                  <a:pt x="55770" y="84276"/>
                  <a:pt x="53952" y="83415"/>
                  <a:pt x="52828" y="81885"/>
                </a:cubicBezTo>
                <a:lnTo>
                  <a:pt x="41349" y="66579"/>
                </a:lnTo>
                <a:cubicBezTo>
                  <a:pt x="39436" y="64044"/>
                  <a:pt x="39962" y="60457"/>
                  <a:pt x="42497" y="58544"/>
                </a:cubicBezTo>
                <a:cubicBezTo>
                  <a:pt x="45032" y="56631"/>
                  <a:pt x="48619" y="57157"/>
                  <a:pt x="50532" y="59692"/>
                </a:cubicBezTo>
                <a:lnTo>
                  <a:pt x="56989" y="68301"/>
                </a:lnTo>
                <a:lnTo>
                  <a:pt x="71673" y="44793"/>
                </a:lnTo>
                <a:cubicBezTo>
                  <a:pt x="73347" y="42114"/>
                  <a:pt x="76887" y="41277"/>
                  <a:pt x="79589" y="42975"/>
                </a:cubicBezTo>
                <a:cubicBezTo>
                  <a:pt x="82291" y="44673"/>
                  <a:pt x="83105" y="48189"/>
                  <a:pt x="81407" y="50891"/>
                </a:cubicBez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73" name="Text 71"/>
          <p:cNvSpPr/>
          <p:nvPr/>
        </p:nvSpPr>
        <p:spPr>
          <a:xfrm>
            <a:off x="6597914" y="5702428"/>
            <a:ext cx="1504321" cy="174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4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Sentiment scores (derived)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9072502" y="5728666"/>
            <a:ext cx="122445" cy="122445"/>
          </a:xfrm>
          <a:custGeom>
            <a:avLst/>
            <a:gdLst/>
            <a:ahLst/>
            <a:cxnLst/>
            <a:rect l="l" t="t" r="r" b="b"/>
            <a:pathLst>
              <a:path w="122445" h="122445">
                <a:moveTo>
                  <a:pt x="61222" y="122445"/>
                </a:moveTo>
                <a:cubicBezTo>
                  <a:pt x="95012" y="122445"/>
                  <a:pt x="122445" y="95012"/>
                  <a:pt x="122445" y="61222"/>
                </a:cubicBezTo>
                <a:cubicBezTo>
                  <a:pt x="122445" y="27433"/>
                  <a:pt x="95012" y="0"/>
                  <a:pt x="61222" y="0"/>
                </a:cubicBezTo>
                <a:cubicBezTo>
                  <a:pt x="27433" y="0"/>
                  <a:pt x="0" y="27433"/>
                  <a:pt x="0" y="61222"/>
                </a:cubicBezTo>
                <a:cubicBezTo>
                  <a:pt x="0" y="95012"/>
                  <a:pt x="27433" y="122445"/>
                  <a:pt x="61222" y="122445"/>
                </a:cubicBezTo>
                <a:close/>
                <a:moveTo>
                  <a:pt x="81407" y="50867"/>
                </a:moveTo>
                <a:lnTo>
                  <a:pt x="62275" y="81478"/>
                </a:lnTo>
                <a:cubicBezTo>
                  <a:pt x="61270" y="83081"/>
                  <a:pt x="59548" y="84085"/>
                  <a:pt x="57659" y="84181"/>
                </a:cubicBezTo>
                <a:cubicBezTo>
                  <a:pt x="55770" y="84276"/>
                  <a:pt x="53952" y="83415"/>
                  <a:pt x="52828" y="81885"/>
                </a:cubicBezTo>
                <a:lnTo>
                  <a:pt x="41349" y="66579"/>
                </a:lnTo>
                <a:cubicBezTo>
                  <a:pt x="39436" y="64044"/>
                  <a:pt x="39962" y="60457"/>
                  <a:pt x="42497" y="58544"/>
                </a:cubicBezTo>
                <a:cubicBezTo>
                  <a:pt x="45032" y="56631"/>
                  <a:pt x="48619" y="57157"/>
                  <a:pt x="50532" y="59692"/>
                </a:cubicBezTo>
                <a:lnTo>
                  <a:pt x="56989" y="68301"/>
                </a:lnTo>
                <a:lnTo>
                  <a:pt x="71673" y="44793"/>
                </a:lnTo>
                <a:cubicBezTo>
                  <a:pt x="73347" y="42114"/>
                  <a:pt x="76887" y="41277"/>
                  <a:pt x="79589" y="42975"/>
                </a:cubicBezTo>
                <a:cubicBezTo>
                  <a:pt x="82291" y="44673"/>
                  <a:pt x="83105" y="48189"/>
                  <a:pt x="81407" y="50891"/>
                </a:cubicBez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75" name="Text 73"/>
          <p:cNvSpPr/>
          <p:nvPr/>
        </p:nvSpPr>
        <p:spPr>
          <a:xfrm>
            <a:off x="9278034" y="5702428"/>
            <a:ext cx="1390623" cy="174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4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Market regime indicators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7783" y="367783"/>
            <a:ext cx="588452" cy="588452"/>
          </a:xfrm>
          <a:custGeom>
            <a:avLst/>
            <a:gdLst/>
            <a:ahLst/>
            <a:cxnLst/>
            <a:rect l="l" t="t" r="r" b="b"/>
            <a:pathLst>
              <a:path w="588452" h="588452">
                <a:moveTo>
                  <a:pt x="73557" y="0"/>
                </a:moveTo>
                <a:lnTo>
                  <a:pt x="514896" y="0"/>
                </a:lnTo>
                <a:cubicBezTo>
                  <a:pt x="555493" y="0"/>
                  <a:pt x="588452" y="32960"/>
                  <a:pt x="588452" y="73557"/>
                </a:cubicBezTo>
                <a:lnTo>
                  <a:pt x="588452" y="514896"/>
                </a:lnTo>
                <a:cubicBezTo>
                  <a:pt x="588452" y="555520"/>
                  <a:pt x="555520" y="588452"/>
                  <a:pt x="514896" y="588452"/>
                </a:cubicBezTo>
                <a:lnTo>
                  <a:pt x="73557" y="588452"/>
                </a:lnTo>
                <a:cubicBezTo>
                  <a:pt x="32932" y="588452"/>
                  <a:pt x="0" y="555520"/>
                  <a:pt x="0" y="514896"/>
                </a:cubicBezTo>
                <a:lnTo>
                  <a:pt x="0" y="73557"/>
                </a:lnTo>
                <a:cubicBezTo>
                  <a:pt x="0" y="32960"/>
                  <a:pt x="32960" y="0"/>
                  <a:pt x="73557" y="0"/>
                </a:cubicBezTo>
                <a:close/>
              </a:path>
            </a:pathLst>
          </a:custGeom>
          <a:solidFill>
            <a:srgbClr val="FF0000"/>
          </a:solidFill>
          <a:ln/>
        </p:spPr>
      </p:sp>
      <p:sp>
        <p:nvSpPr>
          <p:cNvPr id="3" name="Text 1"/>
          <p:cNvSpPr/>
          <p:nvPr/>
        </p:nvSpPr>
        <p:spPr>
          <a:xfrm>
            <a:off x="489151" y="496507"/>
            <a:ext cx="487312" cy="331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72" b="1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08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03348" y="386172"/>
            <a:ext cx="4385810" cy="183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4" b="1" kern="0" spc="51" dirty="0">
                <a:solidFill>
                  <a:srgbClr val="C75B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PROPOSED METHOD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03348" y="570063"/>
            <a:ext cx="4486950" cy="367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06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Hybrid AI Engine Architecture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7783" y="1176905"/>
            <a:ext cx="11456434" cy="1250462"/>
          </a:xfrm>
          <a:custGeom>
            <a:avLst/>
            <a:gdLst/>
            <a:ahLst/>
            <a:cxnLst/>
            <a:rect l="l" t="t" r="r" b="b"/>
            <a:pathLst>
              <a:path w="11456434" h="1250462">
                <a:moveTo>
                  <a:pt x="73552" y="0"/>
                </a:moveTo>
                <a:lnTo>
                  <a:pt x="11382882" y="0"/>
                </a:lnTo>
                <a:cubicBezTo>
                  <a:pt x="11423504" y="0"/>
                  <a:pt x="11456434" y="32930"/>
                  <a:pt x="11456434" y="73552"/>
                </a:cubicBezTo>
                <a:lnTo>
                  <a:pt x="11456434" y="1176909"/>
                </a:lnTo>
                <a:cubicBezTo>
                  <a:pt x="11456434" y="1217531"/>
                  <a:pt x="11423504" y="1250462"/>
                  <a:pt x="11382882" y="1250462"/>
                </a:cubicBezTo>
                <a:lnTo>
                  <a:pt x="73552" y="1250462"/>
                </a:lnTo>
                <a:cubicBezTo>
                  <a:pt x="32930" y="1250462"/>
                  <a:pt x="0" y="1217531"/>
                  <a:pt x="0" y="1176909"/>
                </a:cubicBezTo>
                <a:lnTo>
                  <a:pt x="0" y="73552"/>
                </a:lnTo>
                <a:cubicBezTo>
                  <a:pt x="0" y="32958"/>
                  <a:pt x="32958" y="0"/>
                  <a:pt x="73552" y="0"/>
                </a:cubicBezTo>
                <a:close/>
              </a:path>
            </a:pathLst>
          </a:custGeom>
          <a:solidFill>
            <a:srgbClr val="1E3A5F"/>
          </a:solidFill>
          <a:ln/>
          <a:effectLst>
            <a:glow rad="101600">
              <a:schemeClr val="accent5">
                <a:satMod val="175000"/>
                <a:alpha val="40000"/>
              </a:schemeClr>
            </a:glow>
          </a:effectLst>
        </p:spPr>
      </p:sp>
      <p:sp>
        <p:nvSpPr>
          <p:cNvPr id="7" name="Shape 5"/>
          <p:cNvSpPr/>
          <p:nvPr/>
        </p:nvSpPr>
        <p:spPr>
          <a:xfrm>
            <a:off x="551674" y="1397462"/>
            <a:ext cx="275837" cy="220670"/>
          </a:xfrm>
          <a:custGeom>
            <a:avLst/>
            <a:gdLst/>
            <a:ahLst/>
            <a:cxnLst/>
            <a:rect l="l" t="t" r="r" b="b"/>
            <a:pathLst>
              <a:path w="275837" h="220670">
                <a:moveTo>
                  <a:pt x="179251" y="90725"/>
                </a:moveTo>
                <a:cubicBezTo>
                  <a:pt x="184509" y="89302"/>
                  <a:pt x="190026" y="91802"/>
                  <a:pt x="192396" y="96672"/>
                </a:cubicBezTo>
                <a:lnTo>
                  <a:pt x="200413" y="112878"/>
                </a:lnTo>
                <a:cubicBezTo>
                  <a:pt x="204852" y="113481"/>
                  <a:pt x="209205" y="114688"/>
                  <a:pt x="213300" y="116369"/>
                </a:cubicBezTo>
                <a:lnTo>
                  <a:pt x="228385" y="106327"/>
                </a:lnTo>
                <a:cubicBezTo>
                  <a:pt x="232910" y="103310"/>
                  <a:pt x="238901" y="103913"/>
                  <a:pt x="242737" y="107749"/>
                </a:cubicBezTo>
                <a:lnTo>
                  <a:pt x="251012" y="116024"/>
                </a:lnTo>
                <a:cubicBezTo>
                  <a:pt x="254848" y="119860"/>
                  <a:pt x="255451" y="125894"/>
                  <a:pt x="252434" y="130376"/>
                </a:cubicBezTo>
                <a:lnTo>
                  <a:pt x="242392" y="145418"/>
                </a:lnTo>
                <a:cubicBezTo>
                  <a:pt x="243211" y="147444"/>
                  <a:pt x="243943" y="149555"/>
                  <a:pt x="244547" y="151754"/>
                </a:cubicBezTo>
                <a:cubicBezTo>
                  <a:pt x="245150" y="153952"/>
                  <a:pt x="245538" y="156107"/>
                  <a:pt x="245840" y="158305"/>
                </a:cubicBezTo>
                <a:lnTo>
                  <a:pt x="262088" y="166321"/>
                </a:lnTo>
                <a:cubicBezTo>
                  <a:pt x="266959" y="168735"/>
                  <a:pt x="269458" y="174251"/>
                  <a:pt x="268036" y="179467"/>
                </a:cubicBezTo>
                <a:lnTo>
                  <a:pt x="265019" y="190759"/>
                </a:lnTo>
                <a:cubicBezTo>
                  <a:pt x="263597" y="195974"/>
                  <a:pt x="258727" y="199508"/>
                  <a:pt x="253296" y="199163"/>
                </a:cubicBezTo>
                <a:lnTo>
                  <a:pt x="235194" y="197999"/>
                </a:lnTo>
                <a:cubicBezTo>
                  <a:pt x="232479" y="201490"/>
                  <a:pt x="229333" y="204723"/>
                  <a:pt x="225755" y="207481"/>
                </a:cubicBezTo>
                <a:lnTo>
                  <a:pt x="226919" y="225540"/>
                </a:lnTo>
                <a:cubicBezTo>
                  <a:pt x="227264" y="230970"/>
                  <a:pt x="223730" y="235884"/>
                  <a:pt x="218515" y="237263"/>
                </a:cubicBezTo>
                <a:lnTo>
                  <a:pt x="207223" y="240280"/>
                </a:lnTo>
                <a:cubicBezTo>
                  <a:pt x="201964" y="241702"/>
                  <a:pt x="196491" y="239202"/>
                  <a:pt x="194077" y="234332"/>
                </a:cubicBezTo>
                <a:lnTo>
                  <a:pt x="186061" y="218127"/>
                </a:lnTo>
                <a:cubicBezTo>
                  <a:pt x="181621" y="217523"/>
                  <a:pt x="177268" y="216317"/>
                  <a:pt x="173174" y="214636"/>
                </a:cubicBezTo>
                <a:lnTo>
                  <a:pt x="158089" y="224678"/>
                </a:lnTo>
                <a:cubicBezTo>
                  <a:pt x="153564" y="227695"/>
                  <a:pt x="147573" y="227092"/>
                  <a:pt x="143737" y="223256"/>
                </a:cubicBezTo>
                <a:lnTo>
                  <a:pt x="135462" y="214981"/>
                </a:lnTo>
                <a:cubicBezTo>
                  <a:pt x="131626" y="211145"/>
                  <a:pt x="131023" y="205154"/>
                  <a:pt x="134040" y="200628"/>
                </a:cubicBezTo>
                <a:lnTo>
                  <a:pt x="144082" y="185544"/>
                </a:lnTo>
                <a:cubicBezTo>
                  <a:pt x="143263" y="183518"/>
                  <a:pt x="142530" y="181406"/>
                  <a:pt x="141927" y="179208"/>
                </a:cubicBezTo>
                <a:cubicBezTo>
                  <a:pt x="141323" y="177010"/>
                  <a:pt x="140936" y="174812"/>
                  <a:pt x="140634" y="172657"/>
                </a:cubicBezTo>
                <a:lnTo>
                  <a:pt x="124385" y="164640"/>
                </a:lnTo>
                <a:cubicBezTo>
                  <a:pt x="119515" y="162227"/>
                  <a:pt x="117058" y="156710"/>
                  <a:pt x="118438" y="151495"/>
                </a:cubicBezTo>
                <a:lnTo>
                  <a:pt x="121455" y="140203"/>
                </a:lnTo>
                <a:cubicBezTo>
                  <a:pt x="122877" y="134988"/>
                  <a:pt x="127747" y="131454"/>
                  <a:pt x="133178" y="131798"/>
                </a:cubicBezTo>
                <a:lnTo>
                  <a:pt x="151236" y="132962"/>
                </a:lnTo>
                <a:cubicBezTo>
                  <a:pt x="153952" y="129471"/>
                  <a:pt x="157098" y="126239"/>
                  <a:pt x="160675" y="123480"/>
                </a:cubicBezTo>
                <a:lnTo>
                  <a:pt x="159511" y="105465"/>
                </a:lnTo>
                <a:cubicBezTo>
                  <a:pt x="159167" y="100034"/>
                  <a:pt x="162701" y="95121"/>
                  <a:pt x="167916" y="93742"/>
                </a:cubicBezTo>
                <a:lnTo>
                  <a:pt x="179208" y="90725"/>
                </a:lnTo>
                <a:close/>
                <a:moveTo>
                  <a:pt x="193258" y="146538"/>
                </a:moveTo>
                <a:cubicBezTo>
                  <a:pt x="182792" y="146550"/>
                  <a:pt x="174304" y="155057"/>
                  <a:pt x="174316" y="165524"/>
                </a:cubicBezTo>
                <a:cubicBezTo>
                  <a:pt x="174328" y="175990"/>
                  <a:pt x="182835" y="184478"/>
                  <a:pt x="193301" y="184466"/>
                </a:cubicBezTo>
                <a:cubicBezTo>
                  <a:pt x="203768" y="184454"/>
                  <a:pt x="212256" y="175947"/>
                  <a:pt x="212244" y="165481"/>
                </a:cubicBezTo>
                <a:cubicBezTo>
                  <a:pt x="212232" y="155014"/>
                  <a:pt x="203725" y="146527"/>
                  <a:pt x="193258" y="146538"/>
                </a:cubicBezTo>
                <a:close/>
                <a:moveTo>
                  <a:pt x="96931" y="-19610"/>
                </a:moveTo>
                <a:lnTo>
                  <a:pt x="108223" y="-16593"/>
                </a:lnTo>
                <a:cubicBezTo>
                  <a:pt x="113438" y="-15171"/>
                  <a:pt x="116972" y="-10258"/>
                  <a:pt x="116627" y="-4870"/>
                </a:cubicBezTo>
                <a:lnTo>
                  <a:pt x="115464" y="13145"/>
                </a:lnTo>
                <a:cubicBezTo>
                  <a:pt x="119041" y="15904"/>
                  <a:pt x="122187" y="19093"/>
                  <a:pt x="124902" y="22627"/>
                </a:cubicBezTo>
                <a:lnTo>
                  <a:pt x="143004" y="21464"/>
                </a:lnTo>
                <a:cubicBezTo>
                  <a:pt x="148392" y="21119"/>
                  <a:pt x="153305" y="24653"/>
                  <a:pt x="154727" y="29868"/>
                </a:cubicBezTo>
                <a:lnTo>
                  <a:pt x="157744" y="41160"/>
                </a:lnTo>
                <a:cubicBezTo>
                  <a:pt x="159124" y="46375"/>
                  <a:pt x="156667" y="51892"/>
                  <a:pt x="151797" y="54305"/>
                </a:cubicBezTo>
                <a:lnTo>
                  <a:pt x="135548" y="62322"/>
                </a:lnTo>
                <a:cubicBezTo>
                  <a:pt x="135246" y="64520"/>
                  <a:pt x="134815" y="66718"/>
                  <a:pt x="134255" y="68873"/>
                </a:cubicBezTo>
                <a:cubicBezTo>
                  <a:pt x="133695" y="71028"/>
                  <a:pt x="132919" y="73183"/>
                  <a:pt x="132100" y="75209"/>
                </a:cubicBezTo>
                <a:lnTo>
                  <a:pt x="142142" y="90294"/>
                </a:lnTo>
                <a:cubicBezTo>
                  <a:pt x="145159" y="94819"/>
                  <a:pt x="144556" y="100810"/>
                  <a:pt x="140720" y="104646"/>
                </a:cubicBezTo>
                <a:lnTo>
                  <a:pt x="132445" y="112921"/>
                </a:lnTo>
                <a:cubicBezTo>
                  <a:pt x="128609" y="116757"/>
                  <a:pt x="122618" y="117360"/>
                  <a:pt x="118093" y="114343"/>
                </a:cubicBezTo>
                <a:lnTo>
                  <a:pt x="103008" y="104301"/>
                </a:lnTo>
                <a:cubicBezTo>
                  <a:pt x="98913" y="105982"/>
                  <a:pt x="94560" y="107189"/>
                  <a:pt x="90121" y="107792"/>
                </a:cubicBezTo>
                <a:lnTo>
                  <a:pt x="82105" y="123997"/>
                </a:lnTo>
                <a:cubicBezTo>
                  <a:pt x="79691" y="128868"/>
                  <a:pt x="74174" y="131324"/>
                  <a:pt x="68959" y="129945"/>
                </a:cubicBezTo>
                <a:lnTo>
                  <a:pt x="57667" y="126928"/>
                </a:lnTo>
                <a:cubicBezTo>
                  <a:pt x="52409" y="125506"/>
                  <a:pt x="48918" y="120593"/>
                  <a:pt x="49263" y="115205"/>
                </a:cubicBezTo>
                <a:lnTo>
                  <a:pt x="50426" y="97146"/>
                </a:lnTo>
                <a:cubicBezTo>
                  <a:pt x="46849" y="94388"/>
                  <a:pt x="43703" y="91199"/>
                  <a:pt x="40988" y="87664"/>
                </a:cubicBezTo>
                <a:lnTo>
                  <a:pt x="22886" y="88828"/>
                </a:lnTo>
                <a:cubicBezTo>
                  <a:pt x="17498" y="89173"/>
                  <a:pt x="12585" y="85639"/>
                  <a:pt x="11163" y="80424"/>
                </a:cubicBezTo>
                <a:lnTo>
                  <a:pt x="8146" y="69132"/>
                </a:lnTo>
                <a:cubicBezTo>
                  <a:pt x="6767" y="63917"/>
                  <a:pt x="9223" y="58400"/>
                  <a:pt x="14094" y="55986"/>
                </a:cubicBezTo>
                <a:lnTo>
                  <a:pt x="30342" y="47970"/>
                </a:lnTo>
                <a:cubicBezTo>
                  <a:pt x="30644" y="45772"/>
                  <a:pt x="31075" y="43617"/>
                  <a:pt x="31635" y="41419"/>
                </a:cubicBezTo>
                <a:cubicBezTo>
                  <a:pt x="32238" y="39221"/>
                  <a:pt x="32928" y="37109"/>
                  <a:pt x="33790" y="35083"/>
                </a:cubicBezTo>
                <a:lnTo>
                  <a:pt x="23748" y="20041"/>
                </a:lnTo>
                <a:cubicBezTo>
                  <a:pt x="20731" y="15516"/>
                  <a:pt x="21334" y="9525"/>
                  <a:pt x="25170" y="5689"/>
                </a:cubicBezTo>
                <a:lnTo>
                  <a:pt x="33445" y="-2586"/>
                </a:lnTo>
                <a:cubicBezTo>
                  <a:pt x="37281" y="-6422"/>
                  <a:pt x="43272" y="-7025"/>
                  <a:pt x="47797" y="-4008"/>
                </a:cubicBezTo>
                <a:lnTo>
                  <a:pt x="62882" y="6034"/>
                </a:lnTo>
                <a:cubicBezTo>
                  <a:pt x="66977" y="4353"/>
                  <a:pt x="71330" y="3146"/>
                  <a:pt x="75769" y="2543"/>
                </a:cubicBezTo>
                <a:lnTo>
                  <a:pt x="83786" y="-13663"/>
                </a:lnTo>
                <a:cubicBezTo>
                  <a:pt x="86199" y="-18533"/>
                  <a:pt x="91673" y="-20989"/>
                  <a:pt x="96931" y="-19610"/>
                </a:cubicBezTo>
                <a:close/>
                <a:moveTo>
                  <a:pt x="82924" y="36204"/>
                </a:moveTo>
                <a:cubicBezTo>
                  <a:pt x="72457" y="36204"/>
                  <a:pt x="63960" y="44701"/>
                  <a:pt x="63960" y="55167"/>
                </a:cubicBezTo>
                <a:cubicBezTo>
                  <a:pt x="63960" y="65634"/>
                  <a:pt x="72457" y="74131"/>
                  <a:pt x="82924" y="74131"/>
                </a:cubicBezTo>
                <a:cubicBezTo>
                  <a:pt x="93390" y="74131"/>
                  <a:pt x="101887" y="65634"/>
                  <a:pt x="101887" y="55167"/>
                </a:cubicBezTo>
                <a:cubicBezTo>
                  <a:pt x="101887" y="44701"/>
                  <a:pt x="93390" y="36204"/>
                  <a:pt x="82924" y="36204"/>
                </a:cubicBez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8" name="Text 6"/>
          <p:cNvSpPr/>
          <p:nvPr/>
        </p:nvSpPr>
        <p:spPr>
          <a:xfrm>
            <a:off x="827511" y="1360796"/>
            <a:ext cx="10923149" cy="294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38" b="1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Methodology Overview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51674" y="1765245"/>
            <a:ext cx="11162208" cy="478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58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QuantShield employs a </a:t>
            </a:r>
            <a:r>
              <a:rPr lang="en-US" sz="1158" b="1" dirty="0">
                <a:solidFill>
                  <a:srgbClr val="C75B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three-layer hybrid architecture</a:t>
            </a:r>
            <a:r>
              <a:rPr lang="en-US" sz="1158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that combines proprietary sentiment-momentum analysis, probabilistic price forecasting, and autonomous risk management into a unified decision-making system.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7783" y="2592757"/>
            <a:ext cx="3723801" cy="2464145"/>
          </a:xfrm>
          <a:custGeom>
            <a:avLst/>
            <a:gdLst/>
            <a:ahLst/>
            <a:cxnLst/>
            <a:rect l="l" t="t" r="r" b="b"/>
            <a:pathLst>
              <a:path w="3723801" h="2464145">
                <a:moveTo>
                  <a:pt x="36778" y="0"/>
                </a:moveTo>
                <a:lnTo>
                  <a:pt x="3687023" y="0"/>
                </a:lnTo>
                <a:cubicBezTo>
                  <a:pt x="3707335" y="0"/>
                  <a:pt x="3723801" y="16466"/>
                  <a:pt x="3723801" y="36778"/>
                </a:cubicBezTo>
                <a:lnTo>
                  <a:pt x="3723801" y="2390590"/>
                </a:lnTo>
                <a:cubicBezTo>
                  <a:pt x="3723801" y="2431213"/>
                  <a:pt x="3690869" y="2464145"/>
                  <a:pt x="3650246" y="2464145"/>
                </a:cubicBezTo>
                <a:lnTo>
                  <a:pt x="73555" y="2464145"/>
                </a:lnTo>
                <a:cubicBezTo>
                  <a:pt x="32932" y="2464145"/>
                  <a:pt x="0" y="2431213"/>
                  <a:pt x="0" y="2390590"/>
                </a:cubicBezTo>
                <a:lnTo>
                  <a:pt x="0" y="36778"/>
                </a:lnTo>
                <a:cubicBezTo>
                  <a:pt x="0" y="16480"/>
                  <a:pt x="16480" y="0"/>
                  <a:pt x="36778" y="0"/>
                </a:cubicBezTo>
                <a:close/>
              </a:path>
            </a:pathLst>
          </a:custGeom>
          <a:solidFill>
            <a:srgbClr val="FFFFFF"/>
          </a:solidFill>
          <a:ln>
            <a:solidFill>
              <a:schemeClr val="tx1"/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  <a:outerShdw blurRad="55167" dist="3677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7783" y="2592757"/>
            <a:ext cx="3723801" cy="36778"/>
          </a:xfrm>
          <a:custGeom>
            <a:avLst/>
            <a:gdLst/>
            <a:ahLst/>
            <a:cxnLst/>
            <a:rect l="l" t="t" r="r" b="b"/>
            <a:pathLst>
              <a:path w="3723801" h="36778">
                <a:moveTo>
                  <a:pt x="36778" y="0"/>
                </a:moveTo>
                <a:lnTo>
                  <a:pt x="3687023" y="0"/>
                </a:lnTo>
                <a:cubicBezTo>
                  <a:pt x="3707335" y="0"/>
                  <a:pt x="3723801" y="16466"/>
                  <a:pt x="3723801" y="36778"/>
                </a:cubicBezTo>
                <a:lnTo>
                  <a:pt x="3723801" y="36778"/>
                </a:lnTo>
                <a:lnTo>
                  <a:pt x="0" y="36778"/>
                </a:lnTo>
                <a:lnTo>
                  <a:pt x="0" y="36778"/>
                </a:lnTo>
                <a:cubicBezTo>
                  <a:pt x="0" y="16480"/>
                  <a:pt x="16480" y="0"/>
                  <a:pt x="36778" y="0"/>
                </a:cubicBez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12" name="Shape 10"/>
          <p:cNvSpPr/>
          <p:nvPr/>
        </p:nvSpPr>
        <p:spPr>
          <a:xfrm>
            <a:off x="551674" y="2795037"/>
            <a:ext cx="441339" cy="441339"/>
          </a:xfrm>
          <a:custGeom>
            <a:avLst/>
            <a:gdLst/>
            <a:ahLst/>
            <a:cxnLst/>
            <a:rect l="l" t="t" r="r" b="b"/>
            <a:pathLst>
              <a:path w="441339" h="441339">
                <a:moveTo>
                  <a:pt x="220670" y="0"/>
                </a:moveTo>
                <a:lnTo>
                  <a:pt x="220670" y="0"/>
                </a:lnTo>
                <a:cubicBezTo>
                  <a:pt x="342461" y="0"/>
                  <a:pt x="441339" y="98879"/>
                  <a:pt x="441339" y="220670"/>
                </a:cubicBezTo>
                <a:lnTo>
                  <a:pt x="441339" y="220670"/>
                </a:lnTo>
                <a:cubicBezTo>
                  <a:pt x="441339" y="342461"/>
                  <a:pt x="342461" y="441339"/>
                  <a:pt x="220670" y="441339"/>
                </a:cubicBezTo>
                <a:lnTo>
                  <a:pt x="220670" y="441339"/>
                </a:lnTo>
                <a:cubicBezTo>
                  <a:pt x="98879" y="441339"/>
                  <a:pt x="0" y="342461"/>
                  <a:pt x="0" y="220670"/>
                </a:cubicBezTo>
                <a:lnTo>
                  <a:pt x="0" y="220670"/>
                </a:lnTo>
                <a:cubicBezTo>
                  <a:pt x="0" y="98879"/>
                  <a:pt x="98879" y="0"/>
                  <a:pt x="220670" y="0"/>
                </a:cubicBez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13" name="Text 11"/>
          <p:cNvSpPr/>
          <p:nvPr/>
        </p:nvSpPr>
        <p:spPr>
          <a:xfrm>
            <a:off x="684076" y="2886983"/>
            <a:ext cx="266643" cy="257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48" b="1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03348" y="2886983"/>
            <a:ext cx="965430" cy="257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48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BSI Engine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51674" y="3346711"/>
            <a:ext cx="3429575" cy="717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58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Buy Strength Index</a:t>
            </a:r>
            <a:r>
              <a:rPr lang="en-US" sz="1158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—a proprietary sentiment-momentum oscillator that combines technical indicators with market sentiment signals.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70063" y="4201806"/>
            <a:ext cx="128724" cy="128724"/>
          </a:xfrm>
          <a:custGeom>
            <a:avLst/>
            <a:gdLst/>
            <a:ahLst/>
            <a:cxnLst/>
            <a:rect l="l" t="t" r="r" b="b"/>
            <a:pathLst>
              <a:path w="128724" h="128724">
                <a:moveTo>
                  <a:pt x="126361" y="70044"/>
                </a:moveTo>
                <a:cubicBezTo>
                  <a:pt x="129503" y="66901"/>
                  <a:pt x="129503" y="61798"/>
                  <a:pt x="126361" y="58655"/>
                </a:cubicBezTo>
                <a:lnTo>
                  <a:pt x="86134" y="18429"/>
                </a:lnTo>
                <a:cubicBezTo>
                  <a:pt x="82992" y="15286"/>
                  <a:pt x="77888" y="15286"/>
                  <a:pt x="74745" y="18429"/>
                </a:cubicBezTo>
                <a:cubicBezTo>
                  <a:pt x="71603" y="21571"/>
                  <a:pt x="71603" y="26675"/>
                  <a:pt x="74745" y="29818"/>
                </a:cubicBezTo>
                <a:lnTo>
                  <a:pt x="101244" y="56317"/>
                </a:lnTo>
                <a:lnTo>
                  <a:pt x="8045" y="56317"/>
                </a:lnTo>
                <a:cubicBezTo>
                  <a:pt x="3595" y="56317"/>
                  <a:pt x="0" y="59912"/>
                  <a:pt x="0" y="64362"/>
                </a:cubicBezTo>
                <a:cubicBezTo>
                  <a:pt x="0" y="68812"/>
                  <a:pt x="3595" y="72407"/>
                  <a:pt x="8045" y="72407"/>
                </a:cubicBezTo>
                <a:lnTo>
                  <a:pt x="101244" y="72407"/>
                </a:lnTo>
                <a:lnTo>
                  <a:pt x="74745" y="98906"/>
                </a:lnTo>
                <a:cubicBezTo>
                  <a:pt x="71603" y="102049"/>
                  <a:pt x="71603" y="107153"/>
                  <a:pt x="74745" y="110295"/>
                </a:cubicBezTo>
                <a:cubicBezTo>
                  <a:pt x="77888" y="113438"/>
                  <a:pt x="82992" y="113438"/>
                  <a:pt x="86134" y="110295"/>
                </a:cubicBezTo>
                <a:lnTo>
                  <a:pt x="126361" y="70069"/>
                </a:ln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17" name="Text 15"/>
          <p:cNvSpPr/>
          <p:nvPr/>
        </p:nvSpPr>
        <p:spPr>
          <a:xfrm>
            <a:off x="786136" y="4174223"/>
            <a:ext cx="1195294" cy="183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4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0-100 scale scoring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70063" y="4459254"/>
            <a:ext cx="128724" cy="128724"/>
          </a:xfrm>
          <a:custGeom>
            <a:avLst/>
            <a:gdLst/>
            <a:ahLst/>
            <a:cxnLst/>
            <a:rect l="l" t="t" r="r" b="b"/>
            <a:pathLst>
              <a:path w="128724" h="128724">
                <a:moveTo>
                  <a:pt x="126361" y="70044"/>
                </a:moveTo>
                <a:cubicBezTo>
                  <a:pt x="129503" y="66901"/>
                  <a:pt x="129503" y="61798"/>
                  <a:pt x="126361" y="58655"/>
                </a:cubicBezTo>
                <a:lnTo>
                  <a:pt x="86134" y="18429"/>
                </a:lnTo>
                <a:cubicBezTo>
                  <a:pt x="82992" y="15286"/>
                  <a:pt x="77888" y="15286"/>
                  <a:pt x="74745" y="18429"/>
                </a:cubicBezTo>
                <a:cubicBezTo>
                  <a:pt x="71603" y="21571"/>
                  <a:pt x="71603" y="26675"/>
                  <a:pt x="74745" y="29818"/>
                </a:cubicBezTo>
                <a:lnTo>
                  <a:pt x="101244" y="56317"/>
                </a:lnTo>
                <a:lnTo>
                  <a:pt x="8045" y="56317"/>
                </a:lnTo>
                <a:cubicBezTo>
                  <a:pt x="3595" y="56317"/>
                  <a:pt x="0" y="59912"/>
                  <a:pt x="0" y="64362"/>
                </a:cubicBezTo>
                <a:cubicBezTo>
                  <a:pt x="0" y="68812"/>
                  <a:pt x="3595" y="72407"/>
                  <a:pt x="8045" y="72407"/>
                </a:cubicBezTo>
                <a:lnTo>
                  <a:pt x="101244" y="72407"/>
                </a:lnTo>
                <a:lnTo>
                  <a:pt x="74745" y="98906"/>
                </a:lnTo>
                <a:cubicBezTo>
                  <a:pt x="71603" y="102049"/>
                  <a:pt x="71603" y="107153"/>
                  <a:pt x="74745" y="110295"/>
                </a:cubicBezTo>
                <a:cubicBezTo>
                  <a:pt x="77888" y="113438"/>
                  <a:pt x="82992" y="113438"/>
                  <a:pt x="86134" y="110295"/>
                </a:cubicBezTo>
                <a:lnTo>
                  <a:pt x="126361" y="70069"/>
                </a:ln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19" name="Text 17"/>
          <p:cNvSpPr/>
          <p:nvPr/>
        </p:nvSpPr>
        <p:spPr>
          <a:xfrm>
            <a:off x="786136" y="4431671"/>
            <a:ext cx="1333213" cy="183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4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Multi-factor weighting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70063" y="4716702"/>
            <a:ext cx="128724" cy="128724"/>
          </a:xfrm>
          <a:custGeom>
            <a:avLst/>
            <a:gdLst/>
            <a:ahLst/>
            <a:cxnLst/>
            <a:rect l="l" t="t" r="r" b="b"/>
            <a:pathLst>
              <a:path w="128724" h="128724">
                <a:moveTo>
                  <a:pt x="126361" y="70044"/>
                </a:moveTo>
                <a:cubicBezTo>
                  <a:pt x="129503" y="66901"/>
                  <a:pt x="129503" y="61798"/>
                  <a:pt x="126361" y="58655"/>
                </a:cubicBezTo>
                <a:lnTo>
                  <a:pt x="86134" y="18429"/>
                </a:lnTo>
                <a:cubicBezTo>
                  <a:pt x="82992" y="15286"/>
                  <a:pt x="77888" y="15286"/>
                  <a:pt x="74745" y="18429"/>
                </a:cubicBezTo>
                <a:cubicBezTo>
                  <a:pt x="71603" y="21571"/>
                  <a:pt x="71603" y="26675"/>
                  <a:pt x="74745" y="29818"/>
                </a:cubicBezTo>
                <a:lnTo>
                  <a:pt x="101244" y="56317"/>
                </a:lnTo>
                <a:lnTo>
                  <a:pt x="8045" y="56317"/>
                </a:lnTo>
                <a:cubicBezTo>
                  <a:pt x="3595" y="56317"/>
                  <a:pt x="0" y="59912"/>
                  <a:pt x="0" y="64362"/>
                </a:cubicBezTo>
                <a:cubicBezTo>
                  <a:pt x="0" y="68812"/>
                  <a:pt x="3595" y="72407"/>
                  <a:pt x="8045" y="72407"/>
                </a:cubicBezTo>
                <a:lnTo>
                  <a:pt x="101244" y="72407"/>
                </a:lnTo>
                <a:lnTo>
                  <a:pt x="74745" y="98906"/>
                </a:lnTo>
                <a:cubicBezTo>
                  <a:pt x="71603" y="102049"/>
                  <a:pt x="71603" y="107153"/>
                  <a:pt x="74745" y="110295"/>
                </a:cubicBezTo>
                <a:cubicBezTo>
                  <a:pt x="77888" y="113438"/>
                  <a:pt x="82992" y="113438"/>
                  <a:pt x="86134" y="110295"/>
                </a:cubicBezTo>
                <a:lnTo>
                  <a:pt x="126361" y="70069"/>
                </a:ln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21" name="Text 19"/>
          <p:cNvSpPr/>
          <p:nvPr/>
        </p:nvSpPr>
        <p:spPr>
          <a:xfrm>
            <a:off x="786136" y="4689119"/>
            <a:ext cx="1268851" cy="183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4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calculation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236283" y="2592757"/>
            <a:ext cx="3723801" cy="2464145"/>
          </a:xfrm>
          <a:custGeom>
            <a:avLst/>
            <a:gdLst/>
            <a:ahLst/>
            <a:cxnLst/>
            <a:rect l="l" t="t" r="r" b="b"/>
            <a:pathLst>
              <a:path w="3723801" h="2464145">
                <a:moveTo>
                  <a:pt x="36778" y="0"/>
                </a:moveTo>
                <a:lnTo>
                  <a:pt x="3687023" y="0"/>
                </a:lnTo>
                <a:cubicBezTo>
                  <a:pt x="3707335" y="0"/>
                  <a:pt x="3723801" y="16466"/>
                  <a:pt x="3723801" y="36778"/>
                </a:cubicBezTo>
                <a:lnTo>
                  <a:pt x="3723801" y="2390590"/>
                </a:lnTo>
                <a:cubicBezTo>
                  <a:pt x="3723801" y="2431213"/>
                  <a:pt x="3690869" y="2464145"/>
                  <a:pt x="3650246" y="2464145"/>
                </a:cubicBezTo>
                <a:lnTo>
                  <a:pt x="73555" y="2464145"/>
                </a:lnTo>
                <a:cubicBezTo>
                  <a:pt x="32932" y="2464145"/>
                  <a:pt x="0" y="2431213"/>
                  <a:pt x="0" y="2390590"/>
                </a:cubicBezTo>
                <a:lnTo>
                  <a:pt x="0" y="36778"/>
                </a:lnTo>
                <a:cubicBezTo>
                  <a:pt x="0" y="16480"/>
                  <a:pt x="16480" y="0"/>
                  <a:pt x="36778" y="0"/>
                </a:cubicBezTo>
                <a:close/>
              </a:path>
            </a:pathLst>
          </a:custGeom>
          <a:solidFill>
            <a:srgbClr val="FFFFFF"/>
          </a:solidFill>
          <a:ln>
            <a:solidFill>
              <a:schemeClr val="tx1"/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5167" dist="3677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236283" y="2592757"/>
            <a:ext cx="3723801" cy="36778"/>
          </a:xfrm>
          <a:custGeom>
            <a:avLst/>
            <a:gdLst/>
            <a:ahLst/>
            <a:cxnLst/>
            <a:rect l="l" t="t" r="r" b="b"/>
            <a:pathLst>
              <a:path w="3723801" h="36778">
                <a:moveTo>
                  <a:pt x="36778" y="0"/>
                </a:moveTo>
                <a:lnTo>
                  <a:pt x="3687023" y="0"/>
                </a:lnTo>
                <a:cubicBezTo>
                  <a:pt x="3707335" y="0"/>
                  <a:pt x="3723801" y="16466"/>
                  <a:pt x="3723801" y="36778"/>
                </a:cubicBezTo>
                <a:lnTo>
                  <a:pt x="3723801" y="36778"/>
                </a:lnTo>
                <a:lnTo>
                  <a:pt x="0" y="36778"/>
                </a:lnTo>
                <a:lnTo>
                  <a:pt x="0" y="36778"/>
                </a:lnTo>
                <a:cubicBezTo>
                  <a:pt x="0" y="16480"/>
                  <a:pt x="16480" y="0"/>
                  <a:pt x="36778" y="0"/>
                </a:cubicBezTo>
                <a:close/>
              </a:path>
            </a:pathLst>
          </a:custGeom>
          <a:solidFill>
            <a:srgbClr val="4A90A4"/>
          </a:solidFill>
          <a:ln/>
        </p:spPr>
      </p:sp>
      <p:sp>
        <p:nvSpPr>
          <p:cNvPr id="24" name="Shape 22"/>
          <p:cNvSpPr/>
          <p:nvPr/>
        </p:nvSpPr>
        <p:spPr>
          <a:xfrm>
            <a:off x="4420175" y="2795037"/>
            <a:ext cx="441339" cy="441339"/>
          </a:xfrm>
          <a:custGeom>
            <a:avLst/>
            <a:gdLst/>
            <a:ahLst/>
            <a:cxnLst/>
            <a:rect l="l" t="t" r="r" b="b"/>
            <a:pathLst>
              <a:path w="441339" h="441339">
                <a:moveTo>
                  <a:pt x="220670" y="0"/>
                </a:moveTo>
                <a:lnTo>
                  <a:pt x="220670" y="0"/>
                </a:lnTo>
                <a:cubicBezTo>
                  <a:pt x="342461" y="0"/>
                  <a:pt x="441339" y="98879"/>
                  <a:pt x="441339" y="220670"/>
                </a:cubicBezTo>
                <a:lnTo>
                  <a:pt x="441339" y="220670"/>
                </a:lnTo>
                <a:cubicBezTo>
                  <a:pt x="441339" y="342461"/>
                  <a:pt x="342461" y="441339"/>
                  <a:pt x="220670" y="441339"/>
                </a:cubicBezTo>
                <a:lnTo>
                  <a:pt x="220670" y="441339"/>
                </a:lnTo>
                <a:cubicBezTo>
                  <a:pt x="98879" y="441339"/>
                  <a:pt x="0" y="342461"/>
                  <a:pt x="0" y="220670"/>
                </a:cubicBezTo>
                <a:lnTo>
                  <a:pt x="0" y="220670"/>
                </a:lnTo>
                <a:cubicBezTo>
                  <a:pt x="0" y="98879"/>
                  <a:pt x="98879" y="0"/>
                  <a:pt x="220670" y="0"/>
                </a:cubicBezTo>
                <a:close/>
              </a:path>
            </a:pathLst>
          </a:custGeom>
          <a:solidFill>
            <a:srgbClr val="4A90A4"/>
          </a:solidFill>
          <a:ln/>
        </p:spPr>
      </p:sp>
      <p:sp>
        <p:nvSpPr>
          <p:cNvPr id="25" name="Text 23"/>
          <p:cNvSpPr/>
          <p:nvPr/>
        </p:nvSpPr>
        <p:spPr>
          <a:xfrm>
            <a:off x="4534187" y="2886983"/>
            <a:ext cx="303421" cy="257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48" b="1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971849" y="2886983"/>
            <a:ext cx="1535493" cy="257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48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Monte Carlo GBM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420175" y="3346711"/>
            <a:ext cx="3429575" cy="717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58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Geometric Brownian Motion</a:t>
            </a:r>
            <a:r>
              <a:rPr lang="en-US" sz="1158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simulations generate 1,000+ probabilistic future price paths for uncertainty quantification.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438564" y="4201806"/>
            <a:ext cx="128724" cy="128724"/>
          </a:xfrm>
          <a:custGeom>
            <a:avLst/>
            <a:gdLst/>
            <a:ahLst/>
            <a:cxnLst/>
            <a:rect l="l" t="t" r="r" b="b"/>
            <a:pathLst>
              <a:path w="128724" h="128724">
                <a:moveTo>
                  <a:pt x="126361" y="70044"/>
                </a:moveTo>
                <a:cubicBezTo>
                  <a:pt x="129503" y="66901"/>
                  <a:pt x="129503" y="61798"/>
                  <a:pt x="126361" y="58655"/>
                </a:cubicBezTo>
                <a:lnTo>
                  <a:pt x="86134" y="18429"/>
                </a:lnTo>
                <a:cubicBezTo>
                  <a:pt x="82992" y="15286"/>
                  <a:pt x="77888" y="15286"/>
                  <a:pt x="74745" y="18429"/>
                </a:cubicBezTo>
                <a:cubicBezTo>
                  <a:pt x="71603" y="21571"/>
                  <a:pt x="71603" y="26675"/>
                  <a:pt x="74745" y="29818"/>
                </a:cubicBezTo>
                <a:lnTo>
                  <a:pt x="101244" y="56317"/>
                </a:lnTo>
                <a:lnTo>
                  <a:pt x="8045" y="56317"/>
                </a:lnTo>
                <a:cubicBezTo>
                  <a:pt x="3595" y="56317"/>
                  <a:pt x="0" y="59912"/>
                  <a:pt x="0" y="64362"/>
                </a:cubicBezTo>
                <a:cubicBezTo>
                  <a:pt x="0" y="68812"/>
                  <a:pt x="3595" y="72407"/>
                  <a:pt x="8045" y="72407"/>
                </a:cubicBezTo>
                <a:lnTo>
                  <a:pt x="101244" y="72407"/>
                </a:lnTo>
                <a:lnTo>
                  <a:pt x="74745" y="98906"/>
                </a:lnTo>
                <a:cubicBezTo>
                  <a:pt x="71603" y="102049"/>
                  <a:pt x="71603" y="107153"/>
                  <a:pt x="74745" y="110295"/>
                </a:cubicBezTo>
                <a:cubicBezTo>
                  <a:pt x="77888" y="113438"/>
                  <a:pt x="82992" y="113438"/>
                  <a:pt x="86134" y="110295"/>
                </a:cubicBezTo>
                <a:lnTo>
                  <a:pt x="126361" y="70069"/>
                </a:lnTo>
                <a:close/>
              </a:path>
            </a:pathLst>
          </a:custGeom>
          <a:solidFill>
            <a:srgbClr val="4A90A4"/>
          </a:solidFill>
          <a:ln/>
        </p:spPr>
      </p:sp>
      <p:sp>
        <p:nvSpPr>
          <p:cNvPr id="29" name="Text 27"/>
          <p:cNvSpPr/>
          <p:nvPr/>
        </p:nvSpPr>
        <p:spPr>
          <a:xfrm>
            <a:off x="4654636" y="4174223"/>
            <a:ext cx="1121738" cy="183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4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1,000+ price paths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438564" y="4459254"/>
            <a:ext cx="128724" cy="128724"/>
          </a:xfrm>
          <a:custGeom>
            <a:avLst/>
            <a:gdLst/>
            <a:ahLst/>
            <a:cxnLst/>
            <a:rect l="l" t="t" r="r" b="b"/>
            <a:pathLst>
              <a:path w="128724" h="128724">
                <a:moveTo>
                  <a:pt x="126361" y="70044"/>
                </a:moveTo>
                <a:cubicBezTo>
                  <a:pt x="129503" y="66901"/>
                  <a:pt x="129503" y="61798"/>
                  <a:pt x="126361" y="58655"/>
                </a:cubicBezTo>
                <a:lnTo>
                  <a:pt x="86134" y="18429"/>
                </a:lnTo>
                <a:cubicBezTo>
                  <a:pt x="82992" y="15286"/>
                  <a:pt x="77888" y="15286"/>
                  <a:pt x="74745" y="18429"/>
                </a:cubicBezTo>
                <a:cubicBezTo>
                  <a:pt x="71603" y="21571"/>
                  <a:pt x="71603" y="26675"/>
                  <a:pt x="74745" y="29818"/>
                </a:cubicBezTo>
                <a:lnTo>
                  <a:pt x="101244" y="56317"/>
                </a:lnTo>
                <a:lnTo>
                  <a:pt x="8045" y="56317"/>
                </a:lnTo>
                <a:cubicBezTo>
                  <a:pt x="3595" y="56317"/>
                  <a:pt x="0" y="59912"/>
                  <a:pt x="0" y="64362"/>
                </a:cubicBezTo>
                <a:cubicBezTo>
                  <a:pt x="0" y="68812"/>
                  <a:pt x="3595" y="72407"/>
                  <a:pt x="8045" y="72407"/>
                </a:cubicBezTo>
                <a:lnTo>
                  <a:pt x="101244" y="72407"/>
                </a:lnTo>
                <a:lnTo>
                  <a:pt x="74745" y="98906"/>
                </a:lnTo>
                <a:cubicBezTo>
                  <a:pt x="71603" y="102049"/>
                  <a:pt x="71603" y="107153"/>
                  <a:pt x="74745" y="110295"/>
                </a:cubicBezTo>
                <a:cubicBezTo>
                  <a:pt x="77888" y="113438"/>
                  <a:pt x="82992" y="113438"/>
                  <a:pt x="86134" y="110295"/>
                </a:cubicBezTo>
                <a:lnTo>
                  <a:pt x="126361" y="70069"/>
                </a:lnTo>
                <a:close/>
              </a:path>
            </a:pathLst>
          </a:custGeom>
          <a:solidFill>
            <a:srgbClr val="4A90A4"/>
          </a:solidFill>
          <a:ln/>
        </p:spPr>
      </p:sp>
      <p:sp>
        <p:nvSpPr>
          <p:cNvPr id="31" name="Text 29"/>
          <p:cNvSpPr/>
          <p:nvPr/>
        </p:nvSpPr>
        <p:spPr>
          <a:xfrm>
            <a:off x="4654636" y="4431671"/>
            <a:ext cx="1222878" cy="183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4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Confidence intervals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438564" y="4716702"/>
            <a:ext cx="128724" cy="128724"/>
          </a:xfrm>
          <a:custGeom>
            <a:avLst/>
            <a:gdLst/>
            <a:ahLst/>
            <a:cxnLst/>
            <a:rect l="l" t="t" r="r" b="b"/>
            <a:pathLst>
              <a:path w="128724" h="128724">
                <a:moveTo>
                  <a:pt x="126361" y="70044"/>
                </a:moveTo>
                <a:cubicBezTo>
                  <a:pt x="129503" y="66901"/>
                  <a:pt x="129503" y="61798"/>
                  <a:pt x="126361" y="58655"/>
                </a:cubicBezTo>
                <a:lnTo>
                  <a:pt x="86134" y="18429"/>
                </a:lnTo>
                <a:cubicBezTo>
                  <a:pt x="82992" y="15286"/>
                  <a:pt x="77888" y="15286"/>
                  <a:pt x="74745" y="18429"/>
                </a:cubicBezTo>
                <a:cubicBezTo>
                  <a:pt x="71603" y="21571"/>
                  <a:pt x="71603" y="26675"/>
                  <a:pt x="74745" y="29818"/>
                </a:cubicBezTo>
                <a:lnTo>
                  <a:pt x="101244" y="56317"/>
                </a:lnTo>
                <a:lnTo>
                  <a:pt x="8045" y="56317"/>
                </a:lnTo>
                <a:cubicBezTo>
                  <a:pt x="3595" y="56317"/>
                  <a:pt x="0" y="59912"/>
                  <a:pt x="0" y="64362"/>
                </a:cubicBezTo>
                <a:cubicBezTo>
                  <a:pt x="0" y="68812"/>
                  <a:pt x="3595" y="72407"/>
                  <a:pt x="8045" y="72407"/>
                </a:cubicBezTo>
                <a:lnTo>
                  <a:pt x="101244" y="72407"/>
                </a:lnTo>
                <a:lnTo>
                  <a:pt x="74745" y="98906"/>
                </a:lnTo>
                <a:cubicBezTo>
                  <a:pt x="71603" y="102049"/>
                  <a:pt x="71603" y="107153"/>
                  <a:pt x="74745" y="110295"/>
                </a:cubicBezTo>
                <a:cubicBezTo>
                  <a:pt x="77888" y="113438"/>
                  <a:pt x="82992" y="113438"/>
                  <a:pt x="86134" y="110295"/>
                </a:cubicBezTo>
                <a:lnTo>
                  <a:pt x="126361" y="70069"/>
                </a:lnTo>
                <a:close/>
              </a:path>
            </a:pathLst>
          </a:custGeom>
          <a:solidFill>
            <a:srgbClr val="4A90A4"/>
          </a:solidFill>
          <a:ln/>
        </p:spPr>
      </p:sp>
      <p:sp>
        <p:nvSpPr>
          <p:cNvPr id="33" name="Text 31"/>
          <p:cNvSpPr/>
          <p:nvPr/>
        </p:nvSpPr>
        <p:spPr>
          <a:xfrm>
            <a:off x="4654636" y="4689119"/>
            <a:ext cx="928652" cy="183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4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Win probability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104784" y="2592757"/>
            <a:ext cx="3723801" cy="2464145"/>
          </a:xfrm>
          <a:custGeom>
            <a:avLst/>
            <a:gdLst/>
            <a:ahLst/>
            <a:cxnLst/>
            <a:rect l="l" t="t" r="r" b="b"/>
            <a:pathLst>
              <a:path w="3723801" h="2464145">
                <a:moveTo>
                  <a:pt x="36778" y="0"/>
                </a:moveTo>
                <a:lnTo>
                  <a:pt x="3687023" y="0"/>
                </a:lnTo>
                <a:cubicBezTo>
                  <a:pt x="3707335" y="0"/>
                  <a:pt x="3723801" y="16466"/>
                  <a:pt x="3723801" y="36778"/>
                </a:cubicBezTo>
                <a:lnTo>
                  <a:pt x="3723801" y="2390590"/>
                </a:lnTo>
                <a:cubicBezTo>
                  <a:pt x="3723801" y="2431213"/>
                  <a:pt x="3690869" y="2464145"/>
                  <a:pt x="3650246" y="2464145"/>
                </a:cubicBezTo>
                <a:lnTo>
                  <a:pt x="73555" y="2464145"/>
                </a:lnTo>
                <a:cubicBezTo>
                  <a:pt x="32932" y="2464145"/>
                  <a:pt x="0" y="2431213"/>
                  <a:pt x="0" y="2390590"/>
                </a:cubicBezTo>
                <a:lnTo>
                  <a:pt x="0" y="36778"/>
                </a:lnTo>
                <a:cubicBezTo>
                  <a:pt x="0" y="16480"/>
                  <a:pt x="16480" y="0"/>
                  <a:pt x="3677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glow rad="63500">
              <a:schemeClr val="accent1">
                <a:satMod val="175000"/>
                <a:alpha val="40000"/>
              </a:schemeClr>
            </a:glow>
            <a:outerShdw blurRad="55167" dist="3677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104784" y="2592757"/>
            <a:ext cx="3723801" cy="36778"/>
          </a:xfrm>
          <a:custGeom>
            <a:avLst/>
            <a:gdLst/>
            <a:ahLst/>
            <a:cxnLst/>
            <a:rect l="l" t="t" r="r" b="b"/>
            <a:pathLst>
              <a:path w="3723801" h="36778">
                <a:moveTo>
                  <a:pt x="36778" y="0"/>
                </a:moveTo>
                <a:lnTo>
                  <a:pt x="3687023" y="0"/>
                </a:lnTo>
                <a:cubicBezTo>
                  <a:pt x="3707335" y="0"/>
                  <a:pt x="3723801" y="16466"/>
                  <a:pt x="3723801" y="36778"/>
                </a:cubicBezTo>
                <a:lnTo>
                  <a:pt x="3723801" y="36778"/>
                </a:lnTo>
                <a:lnTo>
                  <a:pt x="0" y="36778"/>
                </a:lnTo>
                <a:lnTo>
                  <a:pt x="0" y="36778"/>
                </a:lnTo>
                <a:cubicBezTo>
                  <a:pt x="0" y="16480"/>
                  <a:pt x="16480" y="0"/>
                  <a:pt x="36778" y="0"/>
                </a:cubicBezTo>
                <a:close/>
              </a:path>
            </a:pathLst>
          </a:custGeom>
          <a:solidFill>
            <a:srgbClr val="1E3A5F"/>
          </a:solidFill>
          <a:ln/>
        </p:spPr>
      </p:sp>
      <p:sp>
        <p:nvSpPr>
          <p:cNvPr id="36" name="Shape 34"/>
          <p:cNvSpPr/>
          <p:nvPr/>
        </p:nvSpPr>
        <p:spPr>
          <a:xfrm>
            <a:off x="8288675" y="2795037"/>
            <a:ext cx="441339" cy="441339"/>
          </a:xfrm>
          <a:custGeom>
            <a:avLst/>
            <a:gdLst/>
            <a:ahLst/>
            <a:cxnLst/>
            <a:rect l="l" t="t" r="r" b="b"/>
            <a:pathLst>
              <a:path w="441339" h="441339">
                <a:moveTo>
                  <a:pt x="220670" y="0"/>
                </a:moveTo>
                <a:lnTo>
                  <a:pt x="220670" y="0"/>
                </a:lnTo>
                <a:cubicBezTo>
                  <a:pt x="342461" y="0"/>
                  <a:pt x="441339" y="98879"/>
                  <a:pt x="441339" y="220670"/>
                </a:cubicBezTo>
                <a:lnTo>
                  <a:pt x="441339" y="220670"/>
                </a:lnTo>
                <a:cubicBezTo>
                  <a:pt x="441339" y="342461"/>
                  <a:pt x="342461" y="441339"/>
                  <a:pt x="220670" y="441339"/>
                </a:cubicBezTo>
                <a:lnTo>
                  <a:pt x="220670" y="441339"/>
                </a:lnTo>
                <a:cubicBezTo>
                  <a:pt x="98879" y="441339"/>
                  <a:pt x="0" y="342461"/>
                  <a:pt x="0" y="220670"/>
                </a:cubicBezTo>
                <a:lnTo>
                  <a:pt x="0" y="220670"/>
                </a:lnTo>
                <a:cubicBezTo>
                  <a:pt x="0" y="98879"/>
                  <a:pt x="98879" y="0"/>
                  <a:pt x="220670" y="0"/>
                </a:cubicBezTo>
                <a:close/>
              </a:path>
            </a:pathLst>
          </a:custGeom>
          <a:solidFill>
            <a:srgbClr val="1E3A5F"/>
          </a:solidFill>
          <a:ln/>
        </p:spPr>
      </p:sp>
      <p:sp>
        <p:nvSpPr>
          <p:cNvPr id="37" name="Text 35"/>
          <p:cNvSpPr/>
          <p:nvPr/>
        </p:nvSpPr>
        <p:spPr>
          <a:xfrm>
            <a:off x="8402688" y="2886983"/>
            <a:ext cx="303421" cy="257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48" b="1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840350" y="2886983"/>
            <a:ext cx="1140127" cy="257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48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Ghost Hedge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288675" y="3346711"/>
            <a:ext cx="3429575" cy="717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58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Autonomous Risk Protocol</a:t>
            </a:r>
            <a:r>
              <a:rPr lang="en-US" sz="1158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monitors volatility stress and triggers protective actions without human bias.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307065" y="4201806"/>
            <a:ext cx="128724" cy="128724"/>
          </a:xfrm>
          <a:custGeom>
            <a:avLst/>
            <a:gdLst/>
            <a:ahLst/>
            <a:cxnLst/>
            <a:rect l="l" t="t" r="r" b="b"/>
            <a:pathLst>
              <a:path w="128724" h="128724">
                <a:moveTo>
                  <a:pt x="126361" y="70044"/>
                </a:moveTo>
                <a:cubicBezTo>
                  <a:pt x="129503" y="66901"/>
                  <a:pt x="129503" y="61798"/>
                  <a:pt x="126361" y="58655"/>
                </a:cubicBezTo>
                <a:lnTo>
                  <a:pt x="86134" y="18429"/>
                </a:lnTo>
                <a:cubicBezTo>
                  <a:pt x="82992" y="15286"/>
                  <a:pt x="77888" y="15286"/>
                  <a:pt x="74745" y="18429"/>
                </a:cubicBezTo>
                <a:cubicBezTo>
                  <a:pt x="71603" y="21571"/>
                  <a:pt x="71603" y="26675"/>
                  <a:pt x="74745" y="29818"/>
                </a:cubicBezTo>
                <a:lnTo>
                  <a:pt x="101244" y="56317"/>
                </a:lnTo>
                <a:lnTo>
                  <a:pt x="8045" y="56317"/>
                </a:lnTo>
                <a:cubicBezTo>
                  <a:pt x="3595" y="56317"/>
                  <a:pt x="0" y="59912"/>
                  <a:pt x="0" y="64362"/>
                </a:cubicBezTo>
                <a:cubicBezTo>
                  <a:pt x="0" y="68812"/>
                  <a:pt x="3595" y="72407"/>
                  <a:pt x="8045" y="72407"/>
                </a:cubicBezTo>
                <a:lnTo>
                  <a:pt x="101244" y="72407"/>
                </a:lnTo>
                <a:lnTo>
                  <a:pt x="74745" y="98906"/>
                </a:lnTo>
                <a:cubicBezTo>
                  <a:pt x="71603" y="102049"/>
                  <a:pt x="71603" y="107153"/>
                  <a:pt x="74745" y="110295"/>
                </a:cubicBezTo>
                <a:cubicBezTo>
                  <a:pt x="77888" y="113438"/>
                  <a:pt x="82992" y="113438"/>
                  <a:pt x="86134" y="110295"/>
                </a:cubicBezTo>
                <a:lnTo>
                  <a:pt x="126361" y="70069"/>
                </a:lnTo>
                <a:close/>
              </a:path>
            </a:pathLst>
          </a:custGeom>
          <a:solidFill>
            <a:srgbClr val="1E3A5F"/>
          </a:solidFill>
          <a:ln/>
        </p:spPr>
      </p:sp>
      <p:sp>
        <p:nvSpPr>
          <p:cNvPr id="41" name="Text 39"/>
          <p:cNvSpPr/>
          <p:nvPr/>
        </p:nvSpPr>
        <p:spPr>
          <a:xfrm>
            <a:off x="8523137" y="4174223"/>
            <a:ext cx="1158516" cy="183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4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4.5% profit booking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307065" y="4459254"/>
            <a:ext cx="128724" cy="128724"/>
          </a:xfrm>
          <a:custGeom>
            <a:avLst/>
            <a:gdLst/>
            <a:ahLst/>
            <a:cxnLst/>
            <a:rect l="l" t="t" r="r" b="b"/>
            <a:pathLst>
              <a:path w="128724" h="128724">
                <a:moveTo>
                  <a:pt x="126361" y="70044"/>
                </a:moveTo>
                <a:cubicBezTo>
                  <a:pt x="129503" y="66901"/>
                  <a:pt x="129503" y="61798"/>
                  <a:pt x="126361" y="58655"/>
                </a:cubicBezTo>
                <a:lnTo>
                  <a:pt x="86134" y="18429"/>
                </a:lnTo>
                <a:cubicBezTo>
                  <a:pt x="82992" y="15286"/>
                  <a:pt x="77888" y="15286"/>
                  <a:pt x="74745" y="18429"/>
                </a:cubicBezTo>
                <a:cubicBezTo>
                  <a:pt x="71603" y="21571"/>
                  <a:pt x="71603" y="26675"/>
                  <a:pt x="74745" y="29818"/>
                </a:cubicBezTo>
                <a:lnTo>
                  <a:pt x="101244" y="56317"/>
                </a:lnTo>
                <a:lnTo>
                  <a:pt x="8045" y="56317"/>
                </a:lnTo>
                <a:cubicBezTo>
                  <a:pt x="3595" y="56317"/>
                  <a:pt x="0" y="59912"/>
                  <a:pt x="0" y="64362"/>
                </a:cubicBezTo>
                <a:cubicBezTo>
                  <a:pt x="0" y="68812"/>
                  <a:pt x="3595" y="72407"/>
                  <a:pt x="8045" y="72407"/>
                </a:cubicBezTo>
                <a:lnTo>
                  <a:pt x="101244" y="72407"/>
                </a:lnTo>
                <a:lnTo>
                  <a:pt x="74745" y="98906"/>
                </a:lnTo>
                <a:cubicBezTo>
                  <a:pt x="71603" y="102049"/>
                  <a:pt x="71603" y="107153"/>
                  <a:pt x="74745" y="110295"/>
                </a:cubicBezTo>
                <a:cubicBezTo>
                  <a:pt x="77888" y="113438"/>
                  <a:pt x="82992" y="113438"/>
                  <a:pt x="86134" y="110295"/>
                </a:cubicBezTo>
                <a:lnTo>
                  <a:pt x="126361" y="70069"/>
                </a:lnTo>
                <a:close/>
              </a:path>
            </a:pathLst>
          </a:custGeom>
          <a:solidFill>
            <a:srgbClr val="1E3A5F"/>
          </a:solidFill>
          <a:ln/>
        </p:spPr>
      </p:sp>
      <p:sp>
        <p:nvSpPr>
          <p:cNvPr id="43" name="Text 41"/>
          <p:cNvSpPr/>
          <p:nvPr/>
        </p:nvSpPr>
        <p:spPr>
          <a:xfrm>
            <a:off x="8523137" y="4431671"/>
            <a:ext cx="993014" cy="183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4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10.0% stop-loss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307065" y="4716702"/>
            <a:ext cx="128724" cy="128724"/>
          </a:xfrm>
          <a:custGeom>
            <a:avLst/>
            <a:gdLst/>
            <a:ahLst/>
            <a:cxnLst/>
            <a:rect l="l" t="t" r="r" b="b"/>
            <a:pathLst>
              <a:path w="128724" h="128724">
                <a:moveTo>
                  <a:pt x="126361" y="70044"/>
                </a:moveTo>
                <a:cubicBezTo>
                  <a:pt x="129503" y="66901"/>
                  <a:pt x="129503" y="61798"/>
                  <a:pt x="126361" y="58655"/>
                </a:cubicBezTo>
                <a:lnTo>
                  <a:pt x="86134" y="18429"/>
                </a:lnTo>
                <a:cubicBezTo>
                  <a:pt x="82992" y="15286"/>
                  <a:pt x="77888" y="15286"/>
                  <a:pt x="74745" y="18429"/>
                </a:cubicBezTo>
                <a:cubicBezTo>
                  <a:pt x="71603" y="21571"/>
                  <a:pt x="71603" y="26675"/>
                  <a:pt x="74745" y="29818"/>
                </a:cubicBezTo>
                <a:lnTo>
                  <a:pt x="101244" y="56317"/>
                </a:lnTo>
                <a:lnTo>
                  <a:pt x="8045" y="56317"/>
                </a:lnTo>
                <a:cubicBezTo>
                  <a:pt x="3595" y="56317"/>
                  <a:pt x="0" y="59912"/>
                  <a:pt x="0" y="64362"/>
                </a:cubicBezTo>
                <a:cubicBezTo>
                  <a:pt x="0" y="68812"/>
                  <a:pt x="3595" y="72407"/>
                  <a:pt x="8045" y="72407"/>
                </a:cubicBezTo>
                <a:lnTo>
                  <a:pt x="101244" y="72407"/>
                </a:lnTo>
                <a:lnTo>
                  <a:pt x="74745" y="98906"/>
                </a:lnTo>
                <a:cubicBezTo>
                  <a:pt x="71603" y="102049"/>
                  <a:pt x="71603" y="107153"/>
                  <a:pt x="74745" y="110295"/>
                </a:cubicBezTo>
                <a:cubicBezTo>
                  <a:pt x="77888" y="113438"/>
                  <a:pt x="82992" y="113438"/>
                  <a:pt x="86134" y="110295"/>
                </a:cubicBezTo>
                <a:lnTo>
                  <a:pt x="126361" y="70069"/>
                </a:lnTo>
                <a:close/>
              </a:path>
            </a:pathLst>
          </a:custGeom>
          <a:solidFill>
            <a:srgbClr val="1E3A5F"/>
          </a:solidFill>
          <a:ln/>
        </p:spPr>
      </p:sp>
      <p:sp>
        <p:nvSpPr>
          <p:cNvPr id="45" name="Text 43"/>
          <p:cNvSpPr/>
          <p:nvPr/>
        </p:nvSpPr>
        <p:spPr>
          <a:xfrm>
            <a:off x="8523137" y="4689119"/>
            <a:ext cx="1176905" cy="183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4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Zero emotional bias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1477108" y="5204014"/>
            <a:ext cx="8953082" cy="1580431"/>
          </a:xfrm>
          <a:custGeom>
            <a:avLst/>
            <a:gdLst/>
            <a:ahLst/>
            <a:cxnLst/>
            <a:rect l="l" t="t" r="r" b="b"/>
            <a:pathLst>
              <a:path w="11456434" h="1655023">
                <a:moveTo>
                  <a:pt x="73549" y="0"/>
                </a:moveTo>
                <a:lnTo>
                  <a:pt x="11382885" y="0"/>
                </a:lnTo>
                <a:cubicBezTo>
                  <a:pt x="11423505" y="0"/>
                  <a:pt x="11456434" y="32929"/>
                  <a:pt x="11456434" y="73549"/>
                </a:cubicBezTo>
                <a:lnTo>
                  <a:pt x="11456434" y="1581473"/>
                </a:lnTo>
                <a:cubicBezTo>
                  <a:pt x="11456434" y="1622094"/>
                  <a:pt x="11423505" y="1655023"/>
                  <a:pt x="11382885" y="1655023"/>
                </a:cubicBezTo>
                <a:lnTo>
                  <a:pt x="73549" y="1655023"/>
                </a:lnTo>
                <a:cubicBezTo>
                  <a:pt x="32929" y="1655023"/>
                  <a:pt x="0" y="1622094"/>
                  <a:pt x="0" y="1581473"/>
                </a:cubicBezTo>
                <a:lnTo>
                  <a:pt x="0" y="73549"/>
                </a:lnTo>
                <a:cubicBezTo>
                  <a:pt x="0" y="32956"/>
                  <a:pt x="32956" y="0"/>
                  <a:pt x="73549" y="0"/>
                </a:cubicBezTo>
                <a:close/>
              </a:path>
            </a:pathLst>
          </a:custGeom>
          <a:solidFill>
            <a:srgbClr val="FFFFFF"/>
          </a:solidFill>
          <a:ln>
            <a:solidFill>
              <a:schemeClr val="tx1"/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5167" dist="3677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473520" y="5351128"/>
            <a:ext cx="11244959" cy="257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03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Flow Architecture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3147302" y="5718910"/>
            <a:ext cx="588452" cy="588452"/>
          </a:xfrm>
          <a:custGeom>
            <a:avLst/>
            <a:gdLst/>
            <a:ahLst/>
            <a:cxnLst/>
            <a:rect l="l" t="t" r="r" b="b"/>
            <a:pathLst>
              <a:path w="588452" h="588452">
                <a:moveTo>
                  <a:pt x="73557" y="0"/>
                </a:moveTo>
                <a:lnTo>
                  <a:pt x="514896" y="0"/>
                </a:lnTo>
                <a:cubicBezTo>
                  <a:pt x="555493" y="0"/>
                  <a:pt x="588452" y="32960"/>
                  <a:pt x="588452" y="73557"/>
                </a:cubicBezTo>
                <a:lnTo>
                  <a:pt x="588452" y="514896"/>
                </a:lnTo>
                <a:cubicBezTo>
                  <a:pt x="588452" y="555520"/>
                  <a:pt x="555520" y="588452"/>
                  <a:pt x="514896" y="588452"/>
                </a:cubicBezTo>
                <a:lnTo>
                  <a:pt x="73557" y="588452"/>
                </a:lnTo>
                <a:cubicBezTo>
                  <a:pt x="32932" y="588452"/>
                  <a:pt x="0" y="555520"/>
                  <a:pt x="0" y="514896"/>
                </a:cubicBezTo>
                <a:lnTo>
                  <a:pt x="0" y="73557"/>
                </a:lnTo>
                <a:cubicBezTo>
                  <a:pt x="0" y="32960"/>
                  <a:pt x="32960" y="0"/>
                  <a:pt x="73557" y="0"/>
                </a:cubicBezTo>
                <a:close/>
              </a:path>
            </a:pathLst>
          </a:custGeom>
          <a:solidFill>
            <a:srgbClr val="1E3A5F"/>
          </a:solidFill>
          <a:ln/>
        </p:spPr>
      </p:sp>
      <p:sp>
        <p:nvSpPr>
          <p:cNvPr id="49" name="Shape 47"/>
          <p:cNvSpPr/>
          <p:nvPr/>
        </p:nvSpPr>
        <p:spPr>
          <a:xfrm>
            <a:off x="3344985" y="5902802"/>
            <a:ext cx="193086" cy="220670"/>
          </a:xfrm>
          <a:custGeom>
            <a:avLst/>
            <a:gdLst/>
            <a:ahLst/>
            <a:cxnLst/>
            <a:rect l="l" t="t" r="r" b="b"/>
            <a:pathLst>
              <a:path w="193086" h="220670">
                <a:moveTo>
                  <a:pt x="193086" y="88699"/>
                </a:moveTo>
                <a:cubicBezTo>
                  <a:pt x="186707" y="92923"/>
                  <a:pt x="179380" y="96327"/>
                  <a:pt x="171752" y="99043"/>
                </a:cubicBezTo>
                <a:cubicBezTo>
                  <a:pt x="151495" y="106283"/>
                  <a:pt x="124902" y="110335"/>
                  <a:pt x="96543" y="110335"/>
                </a:cubicBezTo>
                <a:cubicBezTo>
                  <a:pt x="68183" y="110335"/>
                  <a:pt x="41548" y="106240"/>
                  <a:pt x="21334" y="99043"/>
                </a:cubicBezTo>
                <a:cubicBezTo>
                  <a:pt x="13749" y="96327"/>
                  <a:pt x="6379" y="92923"/>
                  <a:pt x="0" y="88699"/>
                </a:cubicBezTo>
                <a:lnTo>
                  <a:pt x="0" y="124127"/>
                </a:lnTo>
                <a:cubicBezTo>
                  <a:pt x="0" y="143177"/>
                  <a:pt x="43229" y="158606"/>
                  <a:pt x="96543" y="158606"/>
                </a:cubicBezTo>
                <a:cubicBezTo>
                  <a:pt x="149857" y="158606"/>
                  <a:pt x="193086" y="143177"/>
                  <a:pt x="193086" y="124127"/>
                </a:cubicBezTo>
                <a:lnTo>
                  <a:pt x="193086" y="88699"/>
                </a:lnTo>
                <a:close/>
                <a:moveTo>
                  <a:pt x="193086" y="55167"/>
                </a:moveTo>
                <a:lnTo>
                  <a:pt x="193086" y="34480"/>
                </a:lnTo>
                <a:cubicBezTo>
                  <a:pt x="193086" y="15430"/>
                  <a:pt x="149857" y="0"/>
                  <a:pt x="96543" y="0"/>
                </a:cubicBezTo>
                <a:cubicBezTo>
                  <a:pt x="43229" y="0"/>
                  <a:pt x="0" y="15430"/>
                  <a:pt x="0" y="34480"/>
                </a:cubicBezTo>
                <a:lnTo>
                  <a:pt x="0" y="55167"/>
                </a:lnTo>
                <a:cubicBezTo>
                  <a:pt x="0" y="74217"/>
                  <a:pt x="43229" y="89647"/>
                  <a:pt x="96543" y="89647"/>
                </a:cubicBezTo>
                <a:cubicBezTo>
                  <a:pt x="149857" y="89647"/>
                  <a:pt x="193086" y="74217"/>
                  <a:pt x="193086" y="55167"/>
                </a:cubicBezTo>
                <a:close/>
                <a:moveTo>
                  <a:pt x="171752" y="168002"/>
                </a:moveTo>
                <a:cubicBezTo>
                  <a:pt x="151538" y="175200"/>
                  <a:pt x="124946" y="179294"/>
                  <a:pt x="96543" y="179294"/>
                </a:cubicBezTo>
                <a:cubicBezTo>
                  <a:pt x="68140" y="179294"/>
                  <a:pt x="41548" y="175200"/>
                  <a:pt x="21334" y="168002"/>
                </a:cubicBezTo>
                <a:cubicBezTo>
                  <a:pt x="13749" y="165287"/>
                  <a:pt x="6379" y="161882"/>
                  <a:pt x="0" y="157658"/>
                </a:cubicBezTo>
                <a:lnTo>
                  <a:pt x="0" y="186190"/>
                </a:lnTo>
                <a:cubicBezTo>
                  <a:pt x="0" y="205240"/>
                  <a:pt x="43229" y="220670"/>
                  <a:pt x="96543" y="220670"/>
                </a:cubicBezTo>
                <a:cubicBezTo>
                  <a:pt x="149857" y="220670"/>
                  <a:pt x="193086" y="205240"/>
                  <a:pt x="193086" y="186190"/>
                </a:cubicBezTo>
                <a:lnTo>
                  <a:pt x="193086" y="157658"/>
                </a:lnTo>
                <a:cubicBezTo>
                  <a:pt x="186707" y="161882"/>
                  <a:pt x="179380" y="165287"/>
                  <a:pt x="171752" y="168002"/>
                </a:cubicBezTo>
                <a:close/>
              </a:path>
            </a:pathLst>
          </a:custGeom>
          <a:solidFill>
            <a:srgbClr val="F5F1EB"/>
          </a:solidFill>
          <a:ln/>
        </p:spPr>
      </p:sp>
      <p:sp>
        <p:nvSpPr>
          <p:cNvPr id="50" name="Text 48"/>
          <p:cNvSpPr/>
          <p:nvPr/>
        </p:nvSpPr>
        <p:spPr>
          <a:xfrm>
            <a:off x="3111442" y="6380919"/>
            <a:ext cx="662009" cy="183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14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Live Data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3116040" y="6564811"/>
            <a:ext cx="652814" cy="147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69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yfinance API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3914129" y="6104966"/>
            <a:ext cx="220670" cy="220670"/>
          </a:xfrm>
          <a:custGeom>
            <a:avLst/>
            <a:gdLst/>
            <a:ahLst/>
            <a:cxnLst/>
            <a:rect l="l" t="t" r="r" b="b"/>
            <a:pathLst>
              <a:path w="220670" h="220670">
                <a:moveTo>
                  <a:pt x="216618" y="120075"/>
                </a:moveTo>
                <a:cubicBezTo>
                  <a:pt x="222006" y="114688"/>
                  <a:pt x="222006" y="105939"/>
                  <a:pt x="216618" y="100551"/>
                </a:cubicBezTo>
                <a:lnTo>
                  <a:pt x="147659" y="31592"/>
                </a:lnTo>
                <a:cubicBezTo>
                  <a:pt x="142272" y="26205"/>
                  <a:pt x="133522" y="26205"/>
                  <a:pt x="128135" y="31592"/>
                </a:cubicBezTo>
                <a:cubicBezTo>
                  <a:pt x="122748" y="36979"/>
                  <a:pt x="122748" y="45729"/>
                  <a:pt x="128135" y="51116"/>
                </a:cubicBezTo>
                <a:lnTo>
                  <a:pt x="173562" y="96543"/>
                </a:lnTo>
                <a:lnTo>
                  <a:pt x="13792" y="96543"/>
                </a:lnTo>
                <a:cubicBezTo>
                  <a:pt x="6163" y="96543"/>
                  <a:pt x="0" y="102706"/>
                  <a:pt x="0" y="110335"/>
                </a:cubicBezTo>
                <a:cubicBezTo>
                  <a:pt x="0" y="117963"/>
                  <a:pt x="6163" y="124127"/>
                  <a:pt x="13792" y="124127"/>
                </a:cubicBezTo>
                <a:lnTo>
                  <a:pt x="173562" y="124127"/>
                </a:lnTo>
                <a:lnTo>
                  <a:pt x="128135" y="169554"/>
                </a:lnTo>
                <a:cubicBezTo>
                  <a:pt x="122748" y="174941"/>
                  <a:pt x="122748" y="183690"/>
                  <a:pt x="128135" y="189078"/>
                </a:cubicBezTo>
                <a:cubicBezTo>
                  <a:pt x="133522" y="194465"/>
                  <a:pt x="142272" y="194465"/>
                  <a:pt x="147659" y="189078"/>
                </a:cubicBezTo>
                <a:lnTo>
                  <a:pt x="216618" y="120118"/>
                </a:ln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53" name="Shape 51"/>
          <p:cNvSpPr/>
          <p:nvPr/>
        </p:nvSpPr>
        <p:spPr>
          <a:xfrm>
            <a:off x="4320528" y="5718910"/>
            <a:ext cx="588452" cy="588452"/>
          </a:xfrm>
          <a:custGeom>
            <a:avLst/>
            <a:gdLst/>
            <a:ahLst/>
            <a:cxnLst/>
            <a:rect l="l" t="t" r="r" b="b"/>
            <a:pathLst>
              <a:path w="588452" h="588452">
                <a:moveTo>
                  <a:pt x="73557" y="0"/>
                </a:moveTo>
                <a:lnTo>
                  <a:pt x="514896" y="0"/>
                </a:lnTo>
                <a:cubicBezTo>
                  <a:pt x="555493" y="0"/>
                  <a:pt x="588452" y="32960"/>
                  <a:pt x="588452" y="73557"/>
                </a:cubicBezTo>
                <a:lnTo>
                  <a:pt x="588452" y="514896"/>
                </a:lnTo>
                <a:cubicBezTo>
                  <a:pt x="588452" y="555520"/>
                  <a:pt x="555520" y="588452"/>
                  <a:pt x="514896" y="588452"/>
                </a:cubicBezTo>
                <a:lnTo>
                  <a:pt x="73557" y="588452"/>
                </a:lnTo>
                <a:cubicBezTo>
                  <a:pt x="32932" y="588452"/>
                  <a:pt x="0" y="555520"/>
                  <a:pt x="0" y="514896"/>
                </a:cubicBezTo>
                <a:lnTo>
                  <a:pt x="0" y="73557"/>
                </a:lnTo>
                <a:cubicBezTo>
                  <a:pt x="0" y="32960"/>
                  <a:pt x="32960" y="0"/>
                  <a:pt x="73557" y="0"/>
                </a:cubicBez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54" name="Shape 52"/>
          <p:cNvSpPr/>
          <p:nvPr/>
        </p:nvSpPr>
        <p:spPr>
          <a:xfrm>
            <a:off x="4504420" y="5902802"/>
            <a:ext cx="220670" cy="220670"/>
          </a:xfrm>
          <a:custGeom>
            <a:avLst/>
            <a:gdLst/>
            <a:ahLst/>
            <a:cxnLst/>
            <a:rect l="l" t="t" r="r" b="b"/>
            <a:pathLst>
              <a:path w="220670" h="220670">
                <a:moveTo>
                  <a:pt x="51719" y="24136"/>
                </a:moveTo>
                <a:cubicBezTo>
                  <a:pt x="51719" y="10818"/>
                  <a:pt x="62537" y="0"/>
                  <a:pt x="75855" y="0"/>
                </a:cubicBezTo>
                <a:lnTo>
                  <a:pt x="86199" y="0"/>
                </a:lnTo>
                <a:cubicBezTo>
                  <a:pt x="93828" y="0"/>
                  <a:pt x="99991" y="6163"/>
                  <a:pt x="99991" y="13792"/>
                </a:cubicBezTo>
                <a:lnTo>
                  <a:pt x="99991" y="206878"/>
                </a:lnTo>
                <a:cubicBezTo>
                  <a:pt x="99991" y="214506"/>
                  <a:pt x="93828" y="220670"/>
                  <a:pt x="86199" y="220670"/>
                </a:cubicBezTo>
                <a:lnTo>
                  <a:pt x="72407" y="220670"/>
                </a:lnTo>
                <a:cubicBezTo>
                  <a:pt x="59564" y="220670"/>
                  <a:pt x="48746" y="211877"/>
                  <a:pt x="45686" y="199982"/>
                </a:cubicBezTo>
                <a:cubicBezTo>
                  <a:pt x="45384" y="199982"/>
                  <a:pt x="45125" y="199982"/>
                  <a:pt x="44824" y="199982"/>
                </a:cubicBezTo>
                <a:cubicBezTo>
                  <a:pt x="25774" y="199982"/>
                  <a:pt x="10344" y="184552"/>
                  <a:pt x="10344" y="165502"/>
                </a:cubicBezTo>
                <a:cubicBezTo>
                  <a:pt x="10344" y="157744"/>
                  <a:pt x="12930" y="150590"/>
                  <a:pt x="17240" y="144814"/>
                </a:cubicBezTo>
                <a:cubicBezTo>
                  <a:pt x="8879" y="138522"/>
                  <a:pt x="3448" y="128523"/>
                  <a:pt x="3448" y="117231"/>
                </a:cubicBezTo>
                <a:cubicBezTo>
                  <a:pt x="3448" y="103913"/>
                  <a:pt x="11033" y="92319"/>
                  <a:pt x="22067" y="86587"/>
                </a:cubicBezTo>
                <a:cubicBezTo>
                  <a:pt x="19007" y="81415"/>
                  <a:pt x="17240" y="75381"/>
                  <a:pt x="17240" y="68959"/>
                </a:cubicBezTo>
                <a:cubicBezTo>
                  <a:pt x="17240" y="49909"/>
                  <a:pt x="32669" y="34480"/>
                  <a:pt x="51719" y="34480"/>
                </a:cubicBezTo>
                <a:lnTo>
                  <a:pt x="51719" y="24136"/>
                </a:lnTo>
                <a:close/>
                <a:moveTo>
                  <a:pt x="168950" y="24136"/>
                </a:moveTo>
                <a:lnTo>
                  <a:pt x="168950" y="34480"/>
                </a:lnTo>
                <a:cubicBezTo>
                  <a:pt x="188000" y="34480"/>
                  <a:pt x="203430" y="49909"/>
                  <a:pt x="203430" y="68959"/>
                </a:cubicBezTo>
                <a:cubicBezTo>
                  <a:pt x="203430" y="75424"/>
                  <a:pt x="201663" y="81458"/>
                  <a:pt x="198603" y="86587"/>
                </a:cubicBezTo>
                <a:cubicBezTo>
                  <a:pt x="209679" y="92319"/>
                  <a:pt x="217222" y="103870"/>
                  <a:pt x="217222" y="117231"/>
                </a:cubicBezTo>
                <a:cubicBezTo>
                  <a:pt x="217222" y="128523"/>
                  <a:pt x="211791" y="138522"/>
                  <a:pt x="203430" y="144814"/>
                </a:cubicBezTo>
                <a:cubicBezTo>
                  <a:pt x="207740" y="150590"/>
                  <a:pt x="210326" y="157744"/>
                  <a:pt x="210326" y="165502"/>
                </a:cubicBezTo>
                <a:cubicBezTo>
                  <a:pt x="210326" y="184552"/>
                  <a:pt x="194896" y="199982"/>
                  <a:pt x="175846" y="199982"/>
                </a:cubicBezTo>
                <a:cubicBezTo>
                  <a:pt x="175544" y="199982"/>
                  <a:pt x="175286" y="199982"/>
                  <a:pt x="174984" y="199982"/>
                </a:cubicBezTo>
                <a:cubicBezTo>
                  <a:pt x="171924" y="211877"/>
                  <a:pt x="161106" y="220670"/>
                  <a:pt x="148262" y="220670"/>
                </a:cubicBezTo>
                <a:lnTo>
                  <a:pt x="134471" y="220670"/>
                </a:lnTo>
                <a:cubicBezTo>
                  <a:pt x="126842" y="220670"/>
                  <a:pt x="120679" y="214506"/>
                  <a:pt x="120679" y="206878"/>
                </a:cubicBezTo>
                <a:lnTo>
                  <a:pt x="120679" y="13792"/>
                </a:lnTo>
                <a:cubicBezTo>
                  <a:pt x="120679" y="6163"/>
                  <a:pt x="126842" y="0"/>
                  <a:pt x="134471" y="0"/>
                </a:cubicBezTo>
                <a:lnTo>
                  <a:pt x="144814" y="0"/>
                </a:lnTo>
                <a:cubicBezTo>
                  <a:pt x="158132" y="0"/>
                  <a:pt x="168950" y="10818"/>
                  <a:pt x="168950" y="24136"/>
                </a:cubicBezTo>
                <a:close/>
              </a:path>
            </a:pathLst>
          </a:custGeom>
          <a:solidFill>
            <a:srgbClr val="F5F1EB"/>
          </a:solidFill>
          <a:ln/>
        </p:spPr>
      </p:sp>
      <p:sp>
        <p:nvSpPr>
          <p:cNvPr id="55" name="Text 53"/>
          <p:cNvSpPr/>
          <p:nvPr/>
        </p:nvSpPr>
        <p:spPr>
          <a:xfrm>
            <a:off x="4277314" y="6380919"/>
            <a:ext cx="671204" cy="183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14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BSI Engine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4281911" y="6564811"/>
            <a:ext cx="662009" cy="147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69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Score 0-100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5094712" y="6104966"/>
            <a:ext cx="220670" cy="220670"/>
          </a:xfrm>
          <a:custGeom>
            <a:avLst/>
            <a:gdLst/>
            <a:ahLst/>
            <a:cxnLst/>
            <a:rect l="l" t="t" r="r" b="b"/>
            <a:pathLst>
              <a:path w="220670" h="220670">
                <a:moveTo>
                  <a:pt x="216618" y="120075"/>
                </a:moveTo>
                <a:cubicBezTo>
                  <a:pt x="222006" y="114688"/>
                  <a:pt x="222006" y="105939"/>
                  <a:pt x="216618" y="100551"/>
                </a:cubicBezTo>
                <a:lnTo>
                  <a:pt x="147659" y="31592"/>
                </a:lnTo>
                <a:cubicBezTo>
                  <a:pt x="142272" y="26205"/>
                  <a:pt x="133522" y="26205"/>
                  <a:pt x="128135" y="31592"/>
                </a:cubicBezTo>
                <a:cubicBezTo>
                  <a:pt x="122748" y="36979"/>
                  <a:pt x="122748" y="45729"/>
                  <a:pt x="128135" y="51116"/>
                </a:cubicBezTo>
                <a:lnTo>
                  <a:pt x="173562" y="96543"/>
                </a:lnTo>
                <a:lnTo>
                  <a:pt x="13792" y="96543"/>
                </a:lnTo>
                <a:cubicBezTo>
                  <a:pt x="6163" y="96543"/>
                  <a:pt x="0" y="102706"/>
                  <a:pt x="0" y="110335"/>
                </a:cubicBezTo>
                <a:cubicBezTo>
                  <a:pt x="0" y="117963"/>
                  <a:pt x="6163" y="124127"/>
                  <a:pt x="13792" y="124127"/>
                </a:cubicBezTo>
                <a:lnTo>
                  <a:pt x="173562" y="124127"/>
                </a:lnTo>
                <a:lnTo>
                  <a:pt x="128135" y="169554"/>
                </a:lnTo>
                <a:cubicBezTo>
                  <a:pt x="122748" y="174941"/>
                  <a:pt x="122748" y="183690"/>
                  <a:pt x="128135" y="189078"/>
                </a:cubicBezTo>
                <a:cubicBezTo>
                  <a:pt x="133522" y="194465"/>
                  <a:pt x="142272" y="194465"/>
                  <a:pt x="147659" y="189078"/>
                </a:cubicBezTo>
                <a:lnTo>
                  <a:pt x="216618" y="120118"/>
                </a:ln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58" name="Shape 56"/>
          <p:cNvSpPr/>
          <p:nvPr/>
        </p:nvSpPr>
        <p:spPr>
          <a:xfrm>
            <a:off x="5545246" y="5718910"/>
            <a:ext cx="588452" cy="588452"/>
          </a:xfrm>
          <a:custGeom>
            <a:avLst/>
            <a:gdLst/>
            <a:ahLst/>
            <a:cxnLst/>
            <a:rect l="l" t="t" r="r" b="b"/>
            <a:pathLst>
              <a:path w="588452" h="588452">
                <a:moveTo>
                  <a:pt x="73557" y="0"/>
                </a:moveTo>
                <a:lnTo>
                  <a:pt x="514896" y="0"/>
                </a:lnTo>
                <a:cubicBezTo>
                  <a:pt x="555493" y="0"/>
                  <a:pt x="588452" y="32960"/>
                  <a:pt x="588452" y="73557"/>
                </a:cubicBezTo>
                <a:lnTo>
                  <a:pt x="588452" y="514896"/>
                </a:lnTo>
                <a:cubicBezTo>
                  <a:pt x="588452" y="555520"/>
                  <a:pt x="555520" y="588452"/>
                  <a:pt x="514896" y="588452"/>
                </a:cubicBezTo>
                <a:lnTo>
                  <a:pt x="73557" y="588452"/>
                </a:lnTo>
                <a:cubicBezTo>
                  <a:pt x="32932" y="588452"/>
                  <a:pt x="0" y="555520"/>
                  <a:pt x="0" y="514896"/>
                </a:cubicBezTo>
                <a:lnTo>
                  <a:pt x="0" y="73557"/>
                </a:lnTo>
                <a:cubicBezTo>
                  <a:pt x="0" y="32960"/>
                  <a:pt x="32960" y="0"/>
                  <a:pt x="73557" y="0"/>
                </a:cubicBezTo>
                <a:close/>
              </a:path>
            </a:pathLst>
          </a:custGeom>
          <a:solidFill>
            <a:srgbClr val="4A90A4"/>
          </a:solidFill>
          <a:ln/>
        </p:spPr>
      </p:sp>
      <p:sp>
        <p:nvSpPr>
          <p:cNvPr id="59" name="Shape 57"/>
          <p:cNvSpPr/>
          <p:nvPr/>
        </p:nvSpPr>
        <p:spPr>
          <a:xfrm>
            <a:off x="5729137" y="5902802"/>
            <a:ext cx="220670" cy="220670"/>
          </a:xfrm>
          <a:custGeom>
            <a:avLst/>
            <a:gdLst/>
            <a:ahLst/>
            <a:cxnLst/>
            <a:rect l="l" t="t" r="r" b="b"/>
            <a:pathLst>
              <a:path w="220670" h="220670">
                <a:moveTo>
                  <a:pt x="174036" y="14826"/>
                </a:moveTo>
                <a:cubicBezTo>
                  <a:pt x="179208" y="12671"/>
                  <a:pt x="185113" y="13878"/>
                  <a:pt x="189078" y="17800"/>
                </a:cubicBezTo>
                <a:lnTo>
                  <a:pt x="216661" y="45384"/>
                </a:lnTo>
                <a:cubicBezTo>
                  <a:pt x="219247" y="47970"/>
                  <a:pt x="220713" y="51461"/>
                  <a:pt x="220713" y="55124"/>
                </a:cubicBezTo>
                <a:cubicBezTo>
                  <a:pt x="220713" y="58788"/>
                  <a:pt x="219247" y="62279"/>
                  <a:pt x="216661" y="64865"/>
                </a:cubicBezTo>
                <a:lnTo>
                  <a:pt x="189078" y="92449"/>
                </a:lnTo>
                <a:cubicBezTo>
                  <a:pt x="185113" y="96414"/>
                  <a:pt x="179208" y="97577"/>
                  <a:pt x="174036" y="95422"/>
                </a:cubicBezTo>
                <a:cubicBezTo>
                  <a:pt x="168864" y="93267"/>
                  <a:pt x="165502" y="88311"/>
                  <a:pt x="165502" y="82751"/>
                </a:cubicBezTo>
                <a:lnTo>
                  <a:pt x="165502" y="68959"/>
                </a:lnTo>
                <a:lnTo>
                  <a:pt x="151710" y="68959"/>
                </a:lnTo>
                <a:cubicBezTo>
                  <a:pt x="147357" y="68959"/>
                  <a:pt x="143263" y="70985"/>
                  <a:pt x="140677" y="74476"/>
                </a:cubicBezTo>
                <a:lnTo>
                  <a:pt x="126713" y="93095"/>
                </a:lnTo>
                <a:lnTo>
                  <a:pt x="109473" y="70123"/>
                </a:lnTo>
                <a:lnTo>
                  <a:pt x="118610" y="57926"/>
                </a:lnTo>
                <a:cubicBezTo>
                  <a:pt x="126411" y="47496"/>
                  <a:pt x="138694" y="41376"/>
                  <a:pt x="151710" y="41376"/>
                </a:cubicBezTo>
                <a:lnTo>
                  <a:pt x="165502" y="41376"/>
                </a:lnTo>
                <a:lnTo>
                  <a:pt x="165502" y="27584"/>
                </a:lnTo>
                <a:cubicBezTo>
                  <a:pt x="165502" y="22024"/>
                  <a:pt x="168864" y="16981"/>
                  <a:pt x="174036" y="14826"/>
                </a:cubicBezTo>
                <a:close/>
                <a:moveTo>
                  <a:pt x="66373" y="127575"/>
                </a:moveTo>
                <a:lnTo>
                  <a:pt x="83613" y="150547"/>
                </a:lnTo>
                <a:lnTo>
                  <a:pt x="74476" y="162744"/>
                </a:lnTo>
                <a:cubicBezTo>
                  <a:pt x="66675" y="173174"/>
                  <a:pt x="54392" y="179294"/>
                  <a:pt x="41376" y="179294"/>
                </a:cubicBezTo>
                <a:lnTo>
                  <a:pt x="13792" y="179294"/>
                </a:lnTo>
                <a:cubicBezTo>
                  <a:pt x="6163" y="179294"/>
                  <a:pt x="0" y="173131"/>
                  <a:pt x="0" y="165502"/>
                </a:cubicBezTo>
                <a:cubicBezTo>
                  <a:pt x="0" y="157874"/>
                  <a:pt x="6163" y="151710"/>
                  <a:pt x="13792" y="151710"/>
                </a:cubicBezTo>
                <a:lnTo>
                  <a:pt x="41376" y="151710"/>
                </a:lnTo>
                <a:cubicBezTo>
                  <a:pt x="45729" y="151710"/>
                  <a:pt x="49823" y="149685"/>
                  <a:pt x="52409" y="146194"/>
                </a:cubicBezTo>
                <a:lnTo>
                  <a:pt x="66373" y="127575"/>
                </a:lnTo>
                <a:close/>
                <a:moveTo>
                  <a:pt x="189035" y="202826"/>
                </a:moveTo>
                <a:cubicBezTo>
                  <a:pt x="185069" y="206792"/>
                  <a:pt x="179165" y="207955"/>
                  <a:pt x="173993" y="205800"/>
                </a:cubicBezTo>
                <a:cubicBezTo>
                  <a:pt x="168821" y="203645"/>
                  <a:pt x="165502" y="198646"/>
                  <a:pt x="165502" y="193086"/>
                </a:cubicBezTo>
                <a:lnTo>
                  <a:pt x="165502" y="179294"/>
                </a:lnTo>
                <a:lnTo>
                  <a:pt x="151710" y="179294"/>
                </a:lnTo>
                <a:cubicBezTo>
                  <a:pt x="138694" y="179294"/>
                  <a:pt x="126411" y="173174"/>
                  <a:pt x="118610" y="162744"/>
                </a:cubicBezTo>
                <a:lnTo>
                  <a:pt x="52409" y="74476"/>
                </a:lnTo>
                <a:cubicBezTo>
                  <a:pt x="49823" y="70985"/>
                  <a:pt x="45729" y="68959"/>
                  <a:pt x="41376" y="68959"/>
                </a:cubicBezTo>
                <a:lnTo>
                  <a:pt x="13792" y="68959"/>
                </a:lnTo>
                <a:cubicBezTo>
                  <a:pt x="6163" y="68959"/>
                  <a:pt x="0" y="62796"/>
                  <a:pt x="0" y="55167"/>
                </a:cubicBezTo>
                <a:cubicBezTo>
                  <a:pt x="0" y="47539"/>
                  <a:pt x="6163" y="41376"/>
                  <a:pt x="13792" y="41376"/>
                </a:cubicBezTo>
                <a:lnTo>
                  <a:pt x="41376" y="41376"/>
                </a:lnTo>
                <a:cubicBezTo>
                  <a:pt x="54392" y="41376"/>
                  <a:pt x="66675" y="47496"/>
                  <a:pt x="74476" y="57926"/>
                </a:cubicBezTo>
                <a:lnTo>
                  <a:pt x="140677" y="146194"/>
                </a:lnTo>
                <a:cubicBezTo>
                  <a:pt x="143263" y="149685"/>
                  <a:pt x="147357" y="151710"/>
                  <a:pt x="151710" y="151710"/>
                </a:cubicBezTo>
                <a:lnTo>
                  <a:pt x="165502" y="151710"/>
                </a:lnTo>
                <a:lnTo>
                  <a:pt x="165502" y="137919"/>
                </a:lnTo>
                <a:cubicBezTo>
                  <a:pt x="165502" y="132359"/>
                  <a:pt x="168864" y="127316"/>
                  <a:pt x="174036" y="125161"/>
                </a:cubicBezTo>
                <a:cubicBezTo>
                  <a:pt x="179208" y="123006"/>
                  <a:pt x="185113" y="124213"/>
                  <a:pt x="189078" y="128135"/>
                </a:cubicBezTo>
                <a:lnTo>
                  <a:pt x="216661" y="155719"/>
                </a:lnTo>
                <a:cubicBezTo>
                  <a:pt x="219247" y="158305"/>
                  <a:pt x="220713" y="161796"/>
                  <a:pt x="220713" y="165459"/>
                </a:cubicBezTo>
                <a:cubicBezTo>
                  <a:pt x="220713" y="169123"/>
                  <a:pt x="219247" y="172614"/>
                  <a:pt x="216661" y="175200"/>
                </a:cubicBezTo>
                <a:lnTo>
                  <a:pt x="189078" y="202783"/>
                </a:lnTo>
                <a:close/>
              </a:path>
            </a:pathLst>
          </a:custGeom>
          <a:solidFill>
            <a:srgbClr val="F5F1EB"/>
          </a:solidFill>
          <a:ln/>
        </p:spPr>
      </p:sp>
      <p:sp>
        <p:nvSpPr>
          <p:cNvPr id="60" name="Text 58"/>
          <p:cNvSpPr/>
          <p:nvPr/>
        </p:nvSpPr>
        <p:spPr>
          <a:xfrm>
            <a:off x="5457897" y="6380919"/>
            <a:ext cx="763149" cy="183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14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Monte Carlo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5462494" y="6564811"/>
            <a:ext cx="753955" cy="147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69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1000+ Paths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6363562" y="6104966"/>
            <a:ext cx="220670" cy="220670"/>
          </a:xfrm>
          <a:custGeom>
            <a:avLst/>
            <a:gdLst/>
            <a:ahLst/>
            <a:cxnLst/>
            <a:rect l="l" t="t" r="r" b="b"/>
            <a:pathLst>
              <a:path w="220670" h="220670">
                <a:moveTo>
                  <a:pt x="216618" y="120075"/>
                </a:moveTo>
                <a:cubicBezTo>
                  <a:pt x="222006" y="114688"/>
                  <a:pt x="222006" y="105939"/>
                  <a:pt x="216618" y="100551"/>
                </a:cubicBezTo>
                <a:lnTo>
                  <a:pt x="147659" y="31592"/>
                </a:lnTo>
                <a:cubicBezTo>
                  <a:pt x="142272" y="26205"/>
                  <a:pt x="133522" y="26205"/>
                  <a:pt x="128135" y="31592"/>
                </a:cubicBezTo>
                <a:cubicBezTo>
                  <a:pt x="122748" y="36979"/>
                  <a:pt x="122748" y="45729"/>
                  <a:pt x="128135" y="51116"/>
                </a:cubicBezTo>
                <a:lnTo>
                  <a:pt x="173562" y="96543"/>
                </a:lnTo>
                <a:lnTo>
                  <a:pt x="13792" y="96543"/>
                </a:lnTo>
                <a:cubicBezTo>
                  <a:pt x="6163" y="96543"/>
                  <a:pt x="0" y="102706"/>
                  <a:pt x="0" y="110335"/>
                </a:cubicBezTo>
                <a:cubicBezTo>
                  <a:pt x="0" y="117963"/>
                  <a:pt x="6163" y="124127"/>
                  <a:pt x="13792" y="124127"/>
                </a:cubicBezTo>
                <a:lnTo>
                  <a:pt x="173562" y="124127"/>
                </a:lnTo>
                <a:lnTo>
                  <a:pt x="128135" y="169554"/>
                </a:lnTo>
                <a:cubicBezTo>
                  <a:pt x="122748" y="174941"/>
                  <a:pt x="122748" y="183690"/>
                  <a:pt x="128135" y="189078"/>
                </a:cubicBezTo>
                <a:cubicBezTo>
                  <a:pt x="133522" y="194465"/>
                  <a:pt x="142272" y="194465"/>
                  <a:pt x="147659" y="189078"/>
                </a:cubicBezTo>
                <a:lnTo>
                  <a:pt x="216618" y="120118"/>
                </a:ln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63" name="Shape 61"/>
          <p:cNvSpPr/>
          <p:nvPr/>
        </p:nvSpPr>
        <p:spPr>
          <a:xfrm>
            <a:off x="6832485" y="5718910"/>
            <a:ext cx="588452" cy="588452"/>
          </a:xfrm>
          <a:custGeom>
            <a:avLst/>
            <a:gdLst/>
            <a:ahLst/>
            <a:cxnLst/>
            <a:rect l="l" t="t" r="r" b="b"/>
            <a:pathLst>
              <a:path w="588452" h="588452">
                <a:moveTo>
                  <a:pt x="73557" y="0"/>
                </a:moveTo>
                <a:lnTo>
                  <a:pt x="514896" y="0"/>
                </a:lnTo>
                <a:cubicBezTo>
                  <a:pt x="555493" y="0"/>
                  <a:pt x="588452" y="32960"/>
                  <a:pt x="588452" y="73557"/>
                </a:cubicBezTo>
                <a:lnTo>
                  <a:pt x="588452" y="514896"/>
                </a:lnTo>
                <a:cubicBezTo>
                  <a:pt x="588452" y="555520"/>
                  <a:pt x="555520" y="588452"/>
                  <a:pt x="514896" y="588452"/>
                </a:cubicBezTo>
                <a:lnTo>
                  <a:pt x="73557" y="588452"/>
                </a:lnTo>
                <a:cubicBezTo>
                  <a:pt x="32932" y="588452"/>
                  <a:pt x="0" y="555520"/>
                  <a:pt x="0" y="514896"/>
                </a:cubicBezTo>
                <a:lnTo>
                  <a:pt x="0" y="73557"/>
                </a:lnTo>
                <a:cubicBezTo>
                  <a:pt x="0" y="32960"/>
                  <a:pt x="32960" y="0"/>
                  <a:pt x="73557" y="0"/>
                </a:cubicBezTo>
                <a:close/>
              </a:path>
            </a:pathLst>
          </a:custGeom>
          <a:solidFill>
            <a:srgbClr val="1E3A5F"/>
          </a:solidFill>
          <a:ln/>
        </p:spPr>
      </p:sp>
      <p:sp>
        <p:nvSpPr>
          <p:cNvPr id="64" name="Shape 62"/>
          <p:cNvSpPr/>
          <p:nvPr/>
        </p:nvSpPr>
        <p:spPr>
          <a:xfrm>
            <a:off x="7016377" y="5902802"/>
            <a:ext cx="220670" cy="220670"/>
          </a:xfrm>
          <a:custGeom>
            <a:avLst/>
            <a:gdLst/>
            <a:ahLst/>
            <a:cxnLst/>
            <a:rect l="l" t="t" r="r" b="b"/>
            <a:pathLst>
              <a:path w="220670" h="220670">
                <a:moveTo>
                  <a:pt x="110335" y="0"/>
                </a:moveTo>
                <a:cubicBezTo>
                  <a:pt x="112317" y="0"/>
                  <a:pt x="114300" y="431"/>
                  <a:pt x="116110" y="1250"/>
                </a:cubicBezTo>
                <a:lnTo>
                  <a:pt x="197310" y="35686"/>
                </a:lnTo>
                <a:cubicBezTo>
                  <a:pt x="206792" y="39695"/>
                  <a:pt x="213860" y="49047"/>
                  <a:pt x="213817" y="60339"/>
                </a:cubicBezTo>
                <a:cubicBezTo>
                  <a:pt x="213601" y="103094"/>
                  <a:pt x="196017" y="181320"/>
                  <a:pt x="121756" y="216877"/>
                </a:cubicBezTo>
                <a:cubicBezTo>
                  <a:pt x="114559" y="220325"/>
                  <a:pt x="106197" y="220325"/>
                  <a:pt x="99000" y="216877"/>
                </a:cubicBezTo>
                <a:cubicBezTo>
                  <a:pt x="24696" y="181320"/>
                  <a:pt x="7155" y="103094"/>
                  <a:pt x="6939" y="60339"/>
                </a:cubicBezTo>
                <a:cubicBezTo>
                  <a:pt x="6896" y="49047"/>
                  <a:pt x="13964" y="39695"/>
                  <a:pt x="23446" y="35686"/>
                </a:cubicBezTo>
                <a:lnTo>
                  <a:pt x="104603" y="1250"/>
                </a:lnTo>
                <a:cubicBezTo>
                  <a:pt x="106413" y="431"/>
                  <a:pt x="108352" y="0"/>
                  <a:pt x="110335" y="0"/>
                </a:cubicBezTo>
                <a:close/>
                <a:moveTo>
                  <a:pt x="110335" y="28790"/>
                </a:moveTo>
                <a:lnTo>
                  <a:pt x="110335" y="191750"/>
                </a:lnTo>
                <a:cubicBezTo>
                  <a:pt x="169812" y="162959"/>
                  <a:pt x="185802" y="99172"/>
                  <a:pt x="186190" y="60986"/>
                </a:cubicBezTo>
                <a:lnTo>
                  <a:pt x="110335" y="28834"/>
                </a:lnTo>
                <a:lnTo>
                  <a:pt x="110335" y="28834"/>
                </a:lnTo>
                <a:close/>
              </a:path>
            </a:pathLst>
          </a:custGeom>
          <a:solidFill>
            <a:srgbClr val="F5F1EB"/>
          </a:solidFill>
          <a:ln/>
        </p:spPr>
      </p:sp>
      <p:sp>
        <p:nvSpPr>
          <p:cNvPr id="65" name="Text 63"/>
          <p:cNvSpPr/>
          <p:nvPr/>
        </p:nvSpPr>
        <p:spPr>
          <a:xfrm>
            <a:off x="6726748" y="6380919"/>
            <a:ext cx="799928" cy="183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14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Ghost Hedge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6731345" y="6564811"/>
            <a:ext cx="790733" cy="147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69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Protection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7669191" y="6104966"/>
            <a:ext cx="220670" cy="220670"/>
          </a:xfrm>
          <a:custGeom>
            <a:avLst/>
            <a:gdLst/>
            <a:ahLst/>
            <a:cxnLst/>
            <a:rect l="l" t="t" r="r" b="b"/>
            <a:pathLst>
              <a:path w="220670" h="220670">
                <a:moveTo>
                  <a:pt x="216618" y="120075"/>
                </a:moveTo>
                <a:cubicBezTo>
                  <a:pt x="222006" y="114688"/>
                  <a:pt x="222006" y="105939"/>
                  <a:pt x="216618" y="100551"/>
                </a:cubicBezTo>
                <a:lnTo>
                  <a:pt x="147659" y="31592"/>
                </a:lnTo>
                <a:cubicBezTo>
                  <a:pt x="142272" y="26205"/>
                  <a:pt x="133522" y="26205"/>
                  <a:pt x="128135" y="31592"/>
                </a:cubicBezTo>
                <a:cubicBezTo>
                  <a:pt x="122748" y="36979"/>
                  <a:pt x="122748" y="45729"/>
                  <a:pt x="128135" y="51116"/>
                </a:cubicBezTo>
                <a:lnTo>
                  <a:pt x="173562" y="96543"/>
                </a:lnTo>
                <a:lnTo>
                  <a:pt x="13792" y="96543"/>
                </a:lnTo>
                <a:cubicBezTo>
                  <a:pt x="6163" y="96543"/>
                  <a:pt x="0" y="102706"/>
                  <a:pt x="0" y="110335"/>
                </a:cubicBezTo>
                <a:cubicBezTo>
                  <a:pt x="0" y="117963"/>
                  <a:pt x="6163" y="124127"/>
                  <a:pt x="13792" y="124127"/>
                </a:cubicBezTo>
                <a:lnTo>
                  <a:pt x="173562" y="124127"/>
                </a:lnTo>
                <a:lnTo>
                  <a:pt x="128135" y="169554"/>
                </a:lnTo>
                <a:cubicBezTo>
                  <a:pt x="122748" y="174941"/>
                  <a:pt x="122748" y="183690"/>
                  <a:pt x="128135" y="189078"/>
                </a:cubicBezTo>
                <a:cubicBezTo>
                  <a:pt x="133522" y="194465"/>
                  <a:pt x="142272" y="194465"/>
                  <a:pt x="147659" y="189078"/>
                </a:cubicBezTo>
                <a:lnTo>
                  <a:pt x="216618" y="120118"/>
                </a:ln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68" name="Shape 66"/>
          <p:cNvSpPr/>
          <p:nvPr/>
        </p:nvSpPr>
        <p:spPr>
          <a:xfrm>
            <a:off x="8263160" y="5718910"/>
            <a:ext cx="588452" cy="588452"/>
          </a:xfrm>
          <a:custGeom>
            <a:avLst/>
            <a:gdLst/>
            <a:ahLst/>
            <a:cxnLst/>
            <a:rect l="l" t="t" r="r" b="b"/>
            <a:pathLst>
              <a:path w="588452" h="588452">
                <a:moveTo>
                  <a:pt x="73557" y="0"/>
                </a:moveTo>
                <a:lnTo>
                  <a:pt x="514896" y="0"/>
                </a:lnTo>
                <a:cubicBezTo>
                  <a:pt x="555493" y="0"/>
                  <a:pt x="588452" y="32960"/>
                  <a:pt x="588452" y="73557"/>
                </a:cubicBezTo>
                <a:lnTo>
                  <a:pt x="588452" y="514896"/>
                </a:lnTo>
                <a:cubicBezTo>
                  <a:pt x="588452" y="555520"/>
                  <a:pt x="555520" y="588452"/>
                  <a:pt x="514896" y="588452"/>
                </a:cubicBezTo>
                <a:lnTo>
                  <a:pt x="73557" y="588452"/>
                </a:lnTo>
                <a:cubicBezTo>
                  <a:pt x="32932" y="588452"/>
                  <a:pt x="0" y="555520"/>
                  <a:pt x="0" y="514896"/>
                </a:cubicBezTo>
                <a:lnTo>
                  <a:pt x="0" y="73557"/>
                </a:lnTo>
                <a:cubicBezTo>
                  <a:pt x="0" y="32960"/>
                  <a:pt x="32960" y="0"/>
                  <a:pt x="73557" y="0"/>
                </a:cubicBez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69" name="Shape 67"/>
          <p:cNvSpPr/>
          <p:nvPr/>
        </p:nvSpPr>
        <p:spPr>
          <a:xfrm>
            <a:off x="8433260" y="5902802"/>
            <a:ext cx="248253" cy="220670"/>
          </a:xfrm>
          <a:custGeom>
            <a:avLst/>
            <a:gdLst/>
            <a:ahLst/>
            <a:cxnLst/>
            <a:rect l="l" t="t" r="r" b="b"/>
            <a:pathLst>
              <a:path w="248253" h="220670">
                <a:moveTo>
                  <a:pt x="73097" y="66115"/>
                </a:moveTo>
                <a:lnTo>
                  <a:pt x="65037" y="58055"/>
                </a:lnTo>
                <a:cubicBezTo>
                  <a:pt x="59650" y="52668"/>
                  <a:pt x="59650" y="43918"/>
                  <a:pt x="65037" y="38531"/>
                </a:cubicBezTo>
                <a:lnTo>
                  <a:pt x="114472" y="-10947"/>
                </a:lnTo>
                <a:cubicBezTo>
                  <a:pt x="119860" y="-16335"/>
                  <a:pt x="128609" y="-16335"/>
                  <a:pt x="133996" y="-10947"/>
                </a:cubicBezTo>
                <a:lnTo>
                  <a:pt x="142056" y="-2845"/>
                </a:lnTo>
                <a:cubicBezTo>
                  <a:pt x="147444" y="2543"/>
                  <a:pt x="147444" y="11292"/>
                  <a:pt x="142056" y="16680"/>
                </a:cubicBezTo>
                <a:lnTo>
                  <a:pt x="92621" y="66115"/>
                </a:lnTo>
                <a:cubicBezTo>
                  <a:pt x="87233" y="71502"/>
                  <a:pt x="78484" y="71502"/>
                  <a:pt x="73097" y="66115"/>
                </a:cubicBezTo>
                <a:close/>
                <a:moveTo>
                  <a:pt x="118955" y="91242"/>
                </a:moveTo>
                <a:lnTo>
                  <a:pt x="105421" y="77708"/>
                </a:lnTo>
                <a:lnTo>
                  <a:pt x="153693" y="29437"/>
                </a:lnTo>
                <a:lnTo>
                  <a:pt x="205154" y="80898"/>
                </a:lnTo>
                <a:lnTo>
                  <a:pt x="156882" y="129169"/>
                </a:lnTo>
                <a:lnTo>
                  <a:pt x="143349" y="115636"/>
                </a:lnTo>
                <a:lnTo>
                  <a:pt x="43358" y="215627"/>
                </a:lnTo>
                <a:cubicBezTo>
                  <a:pt x="36635" y="222351"/>
                  <a:pt x="25730" y="222351"/>
                  <a:pt x="18964" y="215627"/>
                </a:cubicBezTo>
                <a:cubicBezTo>
                  <a:pt x="12197" y="208904"/>
                  <a:pt x="12240" y="197999"/>
                  <a:pt x="18964" y="191233"/>
                </a:cubicBezTo>
                <a:lnTo>
                  <a:pt x="118955" y="91242"/>
                </a:lnTo>
                <a:close/>
                <a:moveTo>
                  <a:pt x="168476" y="161451"/>
                </a:moveTo>
                <a:cubicBezTo>
                  <a:pt x="163089" y="156063"/>
                  <a:pt x="163089" y="147314"/>
                  <a:pt x="168476" y="141927"/>
                </a:cubicBezTo>
                <a:lnTo>
                  <a:pt x="217911" y="92492"/>
                </a:lnTo>
                <a:cubicBezTo>
                  <a:pt x="223299" y="87104"/>
                  <a:pt x="232048" y="87104"/>
                  <a:pt x="237435" y="92492"/>
                </a:cubicBezTo>
                <a:lnTo>
                  <a:pt x="245495" y="100551"/>
                </a:lnTo>
                <a:cubicBezTo>
                  <a:pt x="250882" y="105939"/>
                  <a:pt x="250882" y="114688"/>
                  <a:pt x="245495" y="120075"/>
                </a:cubicBezTo>
                <a:lnTo>
                  <a:pt x="196060" y="169554"/>
                </a:lnTo>
                <a:cubicBezTo>
                  <a:pt x="190672" y="174941"/>
                  <a:pt x="181923" y="174941"/>
                  <a:pt x="176536" y="169554"/>
                </a:cubicBezTo>
                <a:lnTo>
                  <a:pt x="168476" y="161494"/>
                </a:lnTo>
                <a:close/>
              </a:path>
            </a:pathLst>
          </a:custGeom>
          <a:solidFill>
            <a:srgbClr val="F5F1EB"/>
          </a:solidFill>
          <a:ln/>
        </p:spPr>
      </p:sp>
      <p:sp>
        <p:nvSpPr>
          <p:cNvPr id="70" name="Text 68"/>
          <p:cNvSpPr/>
          <p:nvPr/>
        </p:nvSpPr>
        <p:spPr>
          <a:xfrm>
            <a:off x="8032377" y="6380919"/>
            <a:ext cx="1048181" cy="183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14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Quantum Verdict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8036974" y="6564811"/>
            <a:ext cx="1038986" cy="147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69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Buy/Sell/Hold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76200" y="0"/>
                </a:moveTo>
                <a:lnTo>
                  <a:pt x="533400" y="0"/>
                </a:lnTo>
                <a:cubicBezTo>
                  <a:pt x="575456" y="0"/>
                  <a:pt x="609600" y="34144"/>
                  <a:pt x="609600" y="76200"/>
                </a:cubicBezTo>
                <a:lnTo>
                  <a:pt x="609600" y="533400"/>
                </a:lnTo>
                <a:cubicBezTo>
                  <a:pt x="609600" y="575456"/>
                  <a:pt x="575456" y="609600"/>
                  <a:pt x="53340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0000"/>
          </a:solidFill>
          <a:ln/>
        </p:spPr>
      </p:sp>
      <p:sp>
        <p:nvSpPr>
          <p:cNvPr id="3" name="Text 1"/>
          <p:cNvSpPr/>
          <p:nvPr/>
        </p:nvSpPr>
        <p:spPr>
          <a:xfrm>
            <a:off x="506730" y="514350"/>
            <a:ext cx="5048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08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43000" y="400050"/>
            <a:ext cx="3933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C75B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PROPOSED METHOD (CONTINUED)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590550"/>
            <a:ext cx="4038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BSI &amp; Monte Carlo Details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00050" y="1143000"/>
            <a:ext cx="5581650" cy="3695700"/>
          </a:xfrm>
          <a:custGeom>
            <a:avLst/>
            <a:gdLst/>
            <a:ahLst/>
            <a:cxnLst/>
            <a:rect l="l" t="t" r="r" b="b"/>
            <a:pathLst>
              <a:path w="5581650" h="3695700">
                <a:moveTo>
                  <a:pt x="38100" y="0"/>
                </a:moveTo>
                <a:lnTo>
                  <a:pt x="5505445" y="0"/>
                </a:lnTo>
                <a:cubicBezTo>
                  <a:pt x="5547532" y="0"/>
                  <a:pt x="5581650" y="34118"/>
                  <a:pt x="5581650" y="76205"/>
                </a:cubicBezTo>
                <a:lnTo>
                  <a:pt x="5581650" y="3619495"/>
                </a:lnTo>
                <a:cubicBezTo>
                  <a:pt x="5581650" y="3661582"/>
                  <a:pt x="5547532" y="3695700"/>
                  <a:pt x="5505445" y="3695700"/>
                </a:cubicBezTo>
                <a:lnTo>
                  <a:pt x="38100" y="3695700"/>
                </a:lnTo>
                <a:cubicBezTo>
                  <a:pt x="17072" y="3695700"/>
                  <a:pt x="0" y="3678628"/>
                  <a:pt x="0" y="3657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>
            <a:solidFill>
              <a:schemeClr val="tx1"/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00050" y="1143000"/>
            <a:ext cx="38100" cy="3695700"/>
          </a:xfrm>
          <a:custGeom>
            <a:avLst/>
            <a:gdLst/>
            <a:ahLst/>
            <a:cxnLst/>
            <a:rect l="l" t="t" r="r" b="b"/>
            <a:pathLst>
              <a:path w="38100" h="3695700">
                <a:moveTo>
                  <a:pt x="38100" y="0"/>
                </a:moveTo>
                <a:lnTo>
                  <a:pt x="38100" y="0"/>
                </a:lnTo>
                <a:lnTo>
                  <a:pt x="38100" y="3695700"/>
                </a:lnTo>
                <a:lnTo>
                  <a:pt x="38100" y="3695700"/>
                </a:lnTo>
                <a:cubicBezTo>
                  <a:pt x="17072" y="3695700"/>
                  <a:pt x="0" y="3678628"/>
                  <a:pt x="0" y="3657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8" name="Shape 6"/>
          <p:cNvSpPr/>
          <p:nvPr/>
        </p:nvSpPr>
        <p:spPr>
          <a:xfrm>
            <a:off x="633413" y="13716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  <a:moveTo>
                  <a:pt x="107156" y="35719"/>
                </a:moveTo>
                <a:cubicBezTo>
                  <a:pt x="107156" y="29148"/>
                  <a:pt x="101821" y="23812"/>
                  <a:pt x="95250" y="23812"/>
                </a:cubicBezTo>
                <a:cubicBezTo>
                  <a:pt x="88679" y="23812"/>
                  <a:pt x="83344" y="29148"/>
                  <a:pt x="83344" y="35719"/>
                </a:cubicBezTo>
                <a:cubicBezTo>
                  <a:pt x="83344" y="42290"/>
                  <a:pt x="88679" y="47625"/>
                  <a:pt x="95250" y="47625"/>
                </a:cubicBezTo>
                <a:cubicBezTo>
                  <a:pt x="101821" y="47625"/>
                  <a:pt x="107156" y="42290"/>
                  <a:pt x="107156" y="35719"/>
                </a:cubicBezTo>
                <a:close/>
                <a:moveTo>
                  <a:pt x="95250" y="154781"/>
                </a:moveTo>
                <a:cubicBezTo>
                  <a:pt x="108384" y="154781"/>
                  <a:pt x="119063" y="144103"/>
                  <a:pt x="119063" y="130969"/>
                </a:cubicBezTo>
                <a:cubicBezTo>
                  <a:pt x="119063" y="124941"/>
                  <a:pt x="116830" y="119397"/>
                  <a:pt x="113109" y="115230"/>
                </a:cubicBezTo>
                <a:lnTo>
                  <a:pt x="138968" y="63550"/>
                </a:lnTo>
                <a:cubicBezTo>
                  <a:pt x="141163" y="59122"/>
                  <a:pt x="139378" y="53764"/>
                  <a:pt x="134987" y="51569"/>
                </a:cubicBezTo>
                <a:cubicBezTo>
                  <a:pt x="130597" y="49374"/>
                  <a:pt x="125202" y="51160"/>
                  <a:pt x="123006" y="55550"/>
                </a:cubicBezTo>
                <a:lnTo>
                  <a:pt x="97148" y="107231"/>
                </a:lnTo>
                <a:cubicBezTo>
                  <a:pt x="96515" y="107193"/>
                  <a:pt x="95883" y="107156"/>
                  <a:pt x="95250" y="107156"/>
                </a:cubicBezTo>
                <a:cubicBezTo>
                  <a:pt x="82116" y="107156"/>
                  <a:pt x="71438" y="117835"/>
                  <a:pt x="71438" y="130969"/>
                </a:cubicBezTo>
                <a:cubicBezTo>
                  <a:pt x="71438" y="144103"/>
                  <a:pt x="82116" y="154781"/>
                  <a:pt x="95250" y="154781"/>
                </a:cubicBezTo>
                <a:close/>
                <a:moveTo>
                  <a:pt x="65484" y="53578"/>
                </a:moveTo>
                <a:cubicBezTo>
                  <a:pt x="65484" y="47007"/>
                  <a:pt x="60149" y="41672"/>
                  <a:pt x="53578" y="41672"/>
                </a:cubicBezTo>
                <a:cubicBezTo>
                  <a:pt x="47007" y="41672"/>
                  <a:pt x="41672" y="47007"/>
                  <a:pt x="41672" y="53578"/>
                </a:cubicBezTo>
                <a:cubicBezTo>
                  <a:pt x="41672" y="60149"/>
                  <a:pt x="47007" y="65484"/>
                  <a:pt x="53578" y="65484"/>
                </a:cubicBezTo>
                <a:cubicBezTo>
                  <a:pt x="60149" y="65484"/>
                  <a:pt x="65484" y="60149"/>
                  <a:pt x="65484" y="53578"/>
                </a:cubicBezTo>
                <a:close/>
                <a:moveTo>
                  <a:pt x="35719" y="107156"/>
                </a:moveTo>
                <a:cubicBezTo>
                  <a:pt x="42290" y="107156"/>
                  <a:pt x="47625" y="101821"/>
                  <a:pt x="47625" y="95250"/>
                </a:cubicBezTo>
                <a:cubicBezTo>
                  <a:pt x="47625" y="88679"/>
                  <a:pt x="42290" y="83344"/>
                  <a:pt x="35719" y="83344"/>
                </a:cubicBezTo>
                <a:cubicBezTo>
                  <a:pt x="29148" y="83344"/>
                  <a:pt x="23812" y="88679"/>
                  <a:pt x="23812" y="95250"/>
                </a:cubicBezTo>
                <a:cubicBezTo>
                  <a:pt x="23812" y="101821"/>
                  <a:pt x="29148" y="107156"/>
                  <a:pt x="35719" y="107156"/>
                </a:cubicBezTo>
                <a:close/>
                <a:moveTo>
                  <a:pt x="166688" y="95250"/>
                </a:moveTo>
                <a:cubicBezTo>
                  <a:pt x="166688" y="88679"/>
                  <a:pt x="161352" y="83344"/>
                  <a:pt x="154781" y="83344"/>
                </a:cubicBezTo>
                <a:cubicBezTo>
                  <a:pt x="148210" y="83344"/>
                  <a:pt x="142875" y="88679"/>
                  <a:pt x="142875" y="95250"/>
                </a:cubicBezTo>
                <a:cubicBezTo>
                  <a:pt x="142875" y="101821"/>
                  <a:pt x="148210" y="107156"/>
                  <a:pt x="154781" y="107156"/>
                </a:cubicBezTo>
                <a:cubicBezTo>
                  <a:pt x="161352" y="107156"/>
                  <a:pt x="166688" y="101821"/>
                  <a:pt x="166688" y="95250"/>
                </a:cubicBez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9" name="Text 7"/>
          <p:cNvSpPr/>
          <p:nvPr/>
        </p:nvSpPr>
        <p:spPr>
          <a:xfrm>
            <a:off x="847725" y="1333500"/>
            <a:ext cx="5038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BSI (Buy Strength Index)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09600" y="1714500"/>
            <a:ext cx="52578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BSI is a proprietary sentiment-momentum oscillator that generates a score from 0 to 100, where: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09600" y="2324100"/>
            <a:ext cx="1676400" cy="609600"/>
          </a:xfrm>
          <a:custGeom>
            <a:avLst/>
            <a:gdLst/>
            <a:ahLst/>
            <a:cxnLst/>
            <a:rect l="l" t="t" r="r" b="b"/>
            <a:pathLst>
              <a:path w="1676400" h="609600">
                <a:moveTo>
                  <a:pt x="38100" y="0"/>
                </a:moveTo>
                <a:lnTo>
                  <a:pt x="1638300" y="0"/>
                </a:lnTo>
                <a:cubicBezTo>
                  <a:pt x="1659328" y="0"/>
                  <a:pt x="1676400" y="17072"/>
                  <a:pt x="1676400" y="38100"/>
                </a:cubicBezTo>
                <a:lnTo>
                  <a:pt x="1676400" y="571500"/>
                </a:lnTo>
                <a:cubicBezTo>
                  <a:pt x="1676400" y="592528"/>
                  <a:pt x="1659328" y="609600"/>
                  <a:pt x="1638300" y="609600"/>
                </a:cubicBez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E2E2"/>
          </a:solidFill>
          <a:ln/>
        </p:spPr>
      </p:sp>
      <p:sp>
        <p:nvSpPr>
          <p:cNvPr id="12" name="Text 10"/>
          <p:cNvSpPr/>
          <p:nvPr/>
        </p:nvSpPr>
        <p:spPr>
          <a:xfrm>
            <a:off x="628650" y="2400300"/>
            <a:ext cx="1638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E700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0-30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7225" y="2704984"/>
            <a:ext cx="1581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Strong Sell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362200" y="2324100"/>
            <a:ext cx="1676400" cy="609600"/>
          </a:xfrm>
          <a:custGeom>
            <a:avLst/>
            <a:gdLst/>
            <a:ahLst/>
            <a:cxnLst/>
            <a:rect l="l" t="t" r="r" b="b"/>
            <a:pathLst>
              <a:path w="1676400" h="609600">
                <a:moveTo>
                  <a:pt x="38100" y="0"/>
                </a:moveTo>
                <a:lnTo>
                  <a:pt x="1638300" y="0"/>
                </a:lnTo>
                <a:cubicBezTo>
                  <a:pt x="1659328" y="0"/>
                  <a:pt x="1676400" y="17072"/>
                  <a:pt x="1676400" y="38100"/>
                </a:cubicBezTo>
                <a:lnTo>
                  <a:pt x="1676400" y="571500"/>
                </a:lnTo>
                <a:cubicBezTo>
                  <a:pt x="1676400" y="592528"/>
                  <a:pt x="1659328" y="609600"/>
                  <a:pt x="1638300" y="609600"/>
                </a:cubicBez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EF9C2"/>
          </a:solidFill>
          <a:ln/>
        </p:spPr>
      </p:sp>
      <p:sp>
        <p:nvSpPr>
          <p:cNvPr id="15" name="Text 13"/>
          <p:cNvSpPr/>
          <p:nvPr/>
        </p:nvSpPr>
        <p:spPr>
          <a:xfrm>
            <a:off x="2381250" y="2400300"/>
            <a:ext cx="1638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D087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30-70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409825" y="2704984"/>
            <a:ext cx="1581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Neutral/Hold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114800" y="2324100"/>
            <a:ext cx="1676400" cy="609600"/>
          </a:xfrm>
          <a:custGeom>
            <a:avLst/>
            <a:gdLst/>
            <a:ahLst/>
            <a:cxnLst/>
            <a:rect l="l" t="t" r="r" b="b"/>
            <a:pathLst>
              <a:path w="1676400" h="609600">
                <a:moveTo>
                  <a:pt x="38100" y="0"/>
                </a:moveTo>
                <a:lnTo>
                  <a:pt x="1638300" y="0"/>
                </a:lnTo>
                <a:cubicBezTo>
                  <a:pt x="1659328" y="0"/>
                  <a:pt x="1676400" y="17072"/>
                  <a:pt x="1676400" y="38100"/>
                </a:cubicBezTo>
                <a:lnTo>
                  <a:pt x="1676400" y="571500"/>
                </a:lnTo>
                <a:cubicBezTo>
                  <a:pt x="1676400" y="592528"/>
                  <a:pt x="1659328" y="609600"/>
                  <a:pt x="1638300" y="609600"/>
                </a:cubicBez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CFCE7"/>
          </a:solidFill>
          <a:ln/>
        </p:spPr>
      </p:sp>
      <p:sp>
        <p:nvSpPr>
          <p:cNvPr id="18" name="Text 16"/>
          <p:cNvSpPr/>
          <p:nvPr/>
        </p:nvSpPr>
        <p:spPr>
          <a:xfrm>
            <a:off x="4133850" y="2400300"/>
            <a:ext cx="1638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00A6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70-100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162425" y="2704984"/>
            <a:ext cx="1581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Strong Buy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09600" y="3047763"/>
            <a:ext cx="5181600" cy="1600200"/>
          </a:xfrm>
          <a:custGeom>
            <a:avLst/>
            <a:gdLst/>
            <a:ahLst/>
            <a:cxnLst/>
            <a:rect l="l" t="t" r="r" b="b"/>
            <a:pathLst>
              <a:path w="5181600" h="1600200">
                <a:moveTo>
                  <a:pt x="38101" y="0"/>
                </a:moveTo>
                <a:lnTo>
                  <a:pt x="5143499" y="0"/>
                </a:lnTo>
                <a:cubicBezTo>
                  <a:pt x="5164542" y="0"/>
                  <a:pt x="5181600" y="17058"/>
                  <a:pt x="5181600" y="38101"/>
                </a:cubicBezTo>
                <a:lnTo>
                  <a:pt x="5181600" y="1562099"/>
                </a:lnTo>
                <a:cubicBezTo>
                  <a:pt x="5181600" y="1583142"/>
                  <a:pt x="5164542" y="1600200"/>
                  <a:pt x="5143499" y="1600200"/>
                </a:cubicBezTo>
                <a:lnTo>
                  <a:pt x="38101" y="1600200"/>
                </a:lnTo>
                <a:cubicBezTo>
                  <a:pt x="17058" y="1600200"/>
                  <a:pt x="0" y="1583142"/>
                  <a:pt x="0" y="15620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1E3A5F">
              <a:alpha val="5098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723900" y="3162063"/>
            <a:ext cx="5019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BSI Components: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23900" y="3428763"/>
            <a:ext cx="1714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Price Momentum (20-day)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394960" y="3428763"/>
            <a:ext cx="352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C75B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30%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23900" y="3657363"/>
            <a:ext cx="1133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Volume Strength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417820" y="3657363"/>
            <a:ext cx="323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C75B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25%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23900" y="3885963"/>
            <a:ext cx="1123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Volatility Regime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402580" y="3885963"/>
            <a:ext cx="342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C75B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20%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23900" y="4114563"/>
            <a:ext cx="1190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Market Sentiment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440680" y="4114563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C75B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15%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23900" y="4343163"/>
            <a:ext cx="1238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Sector Momentum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425440" y="4343163"/>
            <a:ext cx="314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C75B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10%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81000" y="4990863"/>
            <a:ext cx="5600700" cy="1514475"/>
          </a:xfrm>
          <a:custGeom>
            <a:avLst/>
            <a:gdLst/>
            <a:ahLst/>
            <a:cxnLst/>
            <a:rect l="l" t="t" r="r" b="b"/>
            <a:pathLst>
              <a:path w="5600700" h="1514475">
                <a:moveTo>
                  <a:pt x="76193" y="0"/>
                </a:moveTo>
                <a:lnTo>
                  <a:pt x="5524507" y="0"/>
                </a:lnTo>
                <a:cubicBezTo>
                  <a:pt x="5566587" y="0"/>
                  <a:pt x="5600700" y="34113"/>
                  <a:pt x="5600700" y="76193"/>
                </a:cubicBezTo>
                <a:lnTo>
                  <a:pt x="5600700" y="1438282"/>
                </a:lnTo>
                <a:cubicBezTo>
                  <a:pt x="5600700" y="1480362"/>
                  <a:pt x="5566587" y="1514475"/>
                  <a:pt x="5524507" y="1514475"/>
                </a:cubicBezTo>
                <a:lnTo>
                  <a:pt x="76193" y="1514475"/>
                </a:lnTo>
                <a:cubicBezTo>
                  <a:pt x="34113" y="1514475"/>
                  <a:pt x="0" y="1480362"/>
                  <a:pt x="0" y="1438282"/>
                </a:cubicBezTo>
                <a:lnTo>
                  <a:pt x="0" y="76193"/>
                </a:lnTo>
                <a:cubicBezTo>
                  <a:pt x="0" y="34141"/>
                  <a:pt x="34141" y="0"/>
                  <a:pt x="76193" y="0"/>
                </a:cubicBezTo>
                <a:close/>
              </a:path>
            </a:pathLst>
          </a:custGeom>
          <a:solidFill>
            <a:srgbClr val="1E3A5F"/>
          </a:solidFill>
          <a:ln>
            <a:solidFill>
              <a:schemeClr val="tx1"/>
            </a:solidFill>
          </a:ln>
          <a:effectLst>
            <a:glow rad="101600">
              <a:schemeClr val="accent5">
                <a:satMod val="175000"/>
                <a:alpha val="40000"/>
              </a:schemeClr>
            </a:glow>
          </a:effectLst>
        </p:spPr>
      </p:sp>
      <p:sp>
        <p:nvSpPr>
          <p:cNvPr id="33" name="Text 31"/>
          <p:cNvSpPr/>
          <p:nvPr/>
        </p:nvSpPr>
        <p:spPr>
          <a:xfrm>
            <a:off x="533400" y="5143263"/>
            <a:ext cx="5381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Quantum Verdict Generation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33400" y="5486163"/>
            <a:ext cx="536257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BSI Score → Threshold Analysis → Action Recommendation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1893570" y="5817157"/>
            <a:ext cx="819150" cy="533400"/>
          </a:xfrm>
          <a:custGeom>
            <a:avLst/>
            <a:gdLst/>
            <a:ahLst/>
            <a:cxnLst/>
            <a:rect l="l" t="t" r="r" b="b"/>
            <a:pathLst>
              <a:path w="819150" h="533400">
                <a:moveTo>
                  <a:pt x="38101" y="0"/>
                </a:moveTo>
                <a:lnTo>
                  <a:pt x="781049" y="0"/>
                </a:lnTo>
                <a:cubicBezTo>
                  <a:pt x="802092" y="0"/>
                  <a:pt x="819150" y="17058"/>
                  <a:pt x="819150" y="38101"/>
                </a:cubicBezTo>
                <a:lnTo>
                  <a:pt x="819150" y="495299"/>
                </a:lnTo>
                <a:cubicBezTo>
                  <a:pt x="819150" y="516342"/>
                  <a:pt x="802092" y="533400"/>
                  <a:pt x="781049" y="533400"/>
                </a:cubicBezTo>
                <a:lnTo>
                  <a:pt x="38101" y="533400"/>
                </a:lnTo>
                <a:cubicBezTo>
                  <a:pt x="17058" y="533400"/>
                  <a:pt x="0" y="516342"/>
                  <a:pt x="0" y="4952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36" name="Text 34"/>
          <p:cNvSpPr/>
          <p:nvPr/>
        </p:nvSpPr>
        <p:spPr>
          <a:xfrm>
            <a:off x="2007870" y="5893357"/>
            <a:ext cx="590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BSI &lt; 35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2017395" y="6121957"/>
            <a:ext cx="571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SELL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2823210" y="5817157"/>
            <a:ext cx="714375" cy="533400"/>
          </a:xfrm>
          <a:custGeom>
            <a:avLst/>
            <a:gdLst/>
            <a:ahLst/>
            <a:cxnLst/>
            <a:rect l="l" t="t" r="r" b="b"/>
            <a:pathLst>
              <a:path w="714375" h="533400">
                <a:moveTo>
                  <a:pt x="38101" y="0"/>
                </a:moveTo>
                <a:lnTo>
                  <a:pt x="676274" y="0"/>
                </a:lnTo>
                <a:cubicBezTo>
                  <a:pt x="697317" y="0"/>
                  <a:pt x="714375" y="17058"/>
                  <a:pt x="714375" y="38101"/>
                </a:cubicBezTo>
                <a:lnTo>
                  <a:pt x="714375" y="495299"/>
                </a:lnTo>
                <a:cubicBezTo>
                  <a:pt x="714375" y="516342"/>
                  <a:pt x="697317" y="533400"/>
                  <a:pt x="676274" y="533400"/>
                </a:cubicBezTo>
                <a:lnTo>
                  <a:pt x="38101" y="533400"/>
                </a:lnTo>
                <a:cubicBezTo>
                  <a:pt x="17058" y="533400"/>
                  <a:pt x="0" y="516342"/>
                  <a:pt x="0" y="4952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4A90A4"/>
          </a:solidFill>
          <a:ln/>
        </p:spPr>
      </p:sp>
      <p:sp>
        <p:nvSpPr>
          <p:cNvPr id="39" name="Text 37"/>
          <p:cNvSpPr/>
          <p:nvPr/>
        </p:nvSpPr>
        <p:spPr>
          <a:xfrm>
            <a:off x="2937510" y="5893357"/>
            <a:ext cx="485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35-65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2947035" y="6121957"/>
            <a:ext cx="4667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HOLD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3653790" y="5817157"/>
            <a:ext cx="819150" cy="533400"/>
          </a:xfrm>
          <a:custGeom>
            <a:avLst/>
            <a:gdLst/>
            <a:ahLst/>
            <a:cxnLst/>
            <a:rect l="l" t="t" r="r" b="b"/>
            <a:pathLst>
              <a:path w="819150" h="533400">
                <a:moveTo>
                  <a:pt x="38101" y="0"/>
                </a:moveTo>
                <a:lnTo>
                  <a:pt x="781049" y="0"/>
                </a:lnTo>
                <a:cubicBezTo>
                  <a:pt x="802092" y="0"/>
                  <a:pt x="819150" y="17058"/>
                  <a:pt x="819150" y="38101"/>
                </a:cubicBezTo>
                <a:lnTo>
                  <a:pt x="819150" y="495299"/>
                </a:lnTo>
                <a:cubicBezTo>
                  <a:pt x="819150" y="516342"/>
                  <a:pt x="802092" y="533400"/>
                  <a:pt x="781049" y="533400"/>
                </a:cubicBezTo>
                <a:lnTo>
                  <a:pt x="38101" y="533400"/>
                </a:lnTo>
                <a:cubicBezTo>
                  <a:pt x="17058" y="533400"/>
                  <a:pt x="0" y="516342"/>
                  <a:pt x="0" y="4952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42" name="Text 40"/>
          <p:cNvSpPr/>
          <p:nvPr/>
        </p:nvSpPr>
        <p:spPr>
          <a:xfrm>
            <a:off x="3768090" y="5893357"/>
            <a:ext cx="590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BSI &gt; 65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3777615" y="6121957"/>
            <a:ext cx="571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BUY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229350" y="1143000"/>
            <a:ext cx="5581650" cy="3200400"/>
          </a:xfrm>
          <a:custGeom>
            <a:avLst/>
            <a:gdLst/>
            <a:ahLst/>
            <a:cxnLst/>
            <a:rect l="l" t="t" r="r" b="b"/>
            <a:pathLst>
              <a:path w="5581650" h="3200400">
                <a:moveTo>
                  <a:pt x="38100" y="0"/>
                </a:moveTo>
                <a:lnTo>
                  <a:pt x="5505448" y="0"/>
                </a:lnTo>
                <a:cubicBezTo>
                  <a:pt x="5547533" y="0"/>
                  <a:pt x="5581650" y="34117"/>
                  <a:pt x="5581650" y="76202"/>
                </a:cubicBezTo>
                <a:lnTo>
                  <a:pt x="5581650" y="3124198"/>
                </a:lnTo>
                <a:cubicBezTo>
                  <a:pt x="5581650" y="3166283"/>
                  <a:pt x="5547533" y="3200400"/>
                  <a:pt x="5505448" y="3200400"/>
                </a:cubicBezTo>
                <a:lnTo>
                  <a:pt x="38100" y="3200400"/>
                </a:lnTo>
                <a:cubicBezTo>
                  <a:pt x="17072" y="3200400"/>
                  <a:pt x="0" y="3183328"/>
                  <a:pt x="0" y="3162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>
            <a:solidFill>
              <a:schemeClr val="tx1"/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229350" y="1143000"/>
            <a:ext cx="38100" cy="3200400"/>
          </a:xfrm>
          <a:custGeom>
            <a:avLst/>
            <a:gdLst/>
            <a:ahLst/>
            <a:cxnLst/>
            <a:rect l="l" t="t" r="r" b="b"/>
            <a:pathLst>
              <a:path w="38100" h="3200400">
                <a:moveTo>
                  <a:pt x="38100" y="0"/>
                </a:moveTo>
                <a:lnTo>
                  <a:pt x="38100" y="0"/>
                </a:lnTo>
                <a:lnTo>
                  <a:pt x="38100" y="3200400"/>
                </a:lnTo>
                <a:lnTo>
                  <a:pt x="38100" y="3200400"/>
                </a:lnTo>
                <a:cubicBezTo>
                  <a:pt x="17072" y="3200400"/>
                  <a:pt x="0" y="3183328"/>
                  <a:pt x="0" y="3162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90A4"/>
          </a:solidFill>
          <a:ln/>
        </p:spPr>
      </p:sp>
      <p:sp>
        <p:nvSpPr>
          <p:cNvPr id="46" name="Shape 44"/>
          <p:cNvSpPr/>
          <p:nvPr/>
        </p:nvSpPr>
        <p:spPr>
          <a:xfrm>
            <a:off x="6462713" y="13716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29766"/>
                </a:moveTo>
                <a:cubicBezTo>
                  <a:pt x="0" y="19906"/>
                  <a:pt x="8000" y="11906"/>
                  <a:pt x="17859" y="11906"/>
                </a:cubicBezTo>
                <a:lnTo>
                  <a:pt x="53578" y="11906"/>
                </a:lnTo>
                <a:cubicBezTo>
                  <a:pt x="63438" y="11906"/>
                  <a:pt x="71438" y="19906"/>
                  <a:pt x="71438" y="29766"/>
                </a:cubicBezTo>
                <a:lnTo>
                  <a:pt x="71438" y="35719"/>
                </a:lnTo>
                <a:lnTo>
                  <a:pt x="119063" y="35719"/>
                </a:lnTo>
                <a:lnTo>
                  <a:pt x="119063" y="29766"/>
                </a:lnTo>
                <a:cubicBezTo>
                  <a:pt x="119063" y="19906"/>
                  <a:pt x="127062" y="11906"/>
                  <a:pt x="136922" y="11906"/>
                </a:cubicBezTo>
                <a:lnTo>
                  <a:pt x="172641" y="11906"/>
                </a:lnTo>
                <a:cubicBezTo>
                  <a:pt x="182500" y="11906"/>
                  <a:pt x="190500" y="19906"/>
                  <a:pt x="190500" y="29766"/>
                </a:cubicBezTo>
                <a:lnTo>
                  <a:pt x="190500" y="65484"/>
                </a:lnTo>
                <a:cubicBezTo>
                  <a:pt x="190500" y="75344"/>
                  <a:pt x="182500" y="83344"/>
                  <a:pt x="172641" y="83344"/>
                </a:cubicBezTo>
                <a:lnTo>
                  <a:pt x="136922" y="83344"/>
                </a:lnTo>
                <a:cubicBezTo>
                  <a:pt x="127062" y="83344"/>
                  <a:pt x="119063" y="75344"/>
                  <a:pt x="119063" y="65484"/>
                </a:cubicBezTo>
                <a:lnTo>
                  <a:pt x="119063" y="59531"/>
                </a:lnTo>
                <a:lnTo>
                  <a:pt x="71438" y="59531"/>
                </a:lnTo>
                <a:lnTo>
                  <a:pt x="71438" y="65484"/>
                </a:lnTo>
                <a:cubicBezTo>
                  <a:pt x="71438" y="68200"/>
                  <a:pt x="70805" y="70805"/>
                  <a:pt x="69726" y="73112"/>
                </a:cubicBezTo>
                <a:lnTo>
                  <a:pt x="95250" y="107156"/>
                </a:lnTo>
                <a:lnTo>
                  <a:pt x="125016" y="107156"/>
                </a:lnTo>
                <a:cubicBezTo>
                  <a:pt x="134875" y="107156"/>
                  <a:pt x="142875" y="115156"/>
                  <a:pt x="142875" y="125016"/>
                </a:cubicBezTo>
                <a:lnTo>
                  <a:pt x="142875" y="160734"/>
                </a:lnTo>
                <a:cubicBezTo>
                  <a:pt x="142875" y="170594"/>
                  <a:pt x="134875" y="178594"/>
                  <a:pt x="125016" y="178594"/>
                </a:cubicBezTo>
                <a:lnTo>
                  <a:pt x="89297" y="178594"/>
                </a:lnTo>
                <a:cubicBezTo>
                  <a:pt x="79437" y="178594"/>
                  <a:pt x="71438" y="170594"/>
                  <a:pt x="71438" y="160734"/>
                </a:cubicBezTo>
                <a:lnTo>
                  <a:pt x="71438" y="125016"/>
                </a:lnTo>
                <a:cubicBezTo>
                  <a:pt x="71438" y="122300"/>
                  <a:pt x="72070" y="119695"/>
                  <a:pt x="73149" y="117388"/>
                </a:cubicBezTo>
                <a:lnTo>
                  <a:pt x="47625" y="83344"/>
                </a:lnTo>
                <a:lnTo>
                  <a:pt x="17859" y="83344"/>
                </a:lnTo>
                <a:cubicBezTo>
                  <a:pt x="8000" y="83344"/>
                  <a:pt x="0" y="75344"/>
                  <a:pt x="0" y="65484"/>
                </a:cubicBezTo>
                <a:lnTo>
                  <a:pt x="0" y="29766"/>
                </a:lnTo>
                <a:close/>
              </a:path>
            </a:pathLst>
          </a:custGeom>
          <a:solidFill>
            <a:srgbClr val="4A90A4"/>
          </a:solidFill>
          <a:ln/>
        </p:spPr>
      </p:sp>
      <p:sp>
        <p:nvSpPr>
          <p:cNvPr id="47" name="Text 45"/>
          <p:cNvSpPr/>
          <p:nvPr/>
        </p:nvSpPr>
        <p:spPr>
          <a:xfrm>
            <a:off x="6677025" y="1333500"/>
            <a:ext cx="5038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Monte Carlo GBM Simulation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438900" y="1714500"/>
            <a:ext cx="52578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Geometric Brownian Motion models stock price movements as stochastic processes: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438900" y="2324100"/>
            <a:ext cx="5181600" cy="723900"/>
          </a:xfrm>
          <a:custGeom>
            <a:avLst/>
            <a:gdLst/>
            <a:ahLst/>
            <a:cxnLst/>
            <a:rect l="l" t="t" r="r" b="b"/>
            <a:pathLst>
              <a:path w="5181600" h="723900">
                <a:moveTo>
                  <a:pt x="38099" y="0"/>
                </a:moveTo>
                <a:lnTo>
                  <a:pt x="5143501" y="0"/>
                </a:lnTo>
                <a:cubicBezTo>
                  <a:pt x="5164528" y="0"/>
                  <a:pt x="5181600" y="17072"/>
                  <a:pt x="5181600" y="38099"/>
                </a:cubicBezTo>
                <a:lnTo>
                  <a:pt x="5181600" y="685801"/>
                </a:lnTo>
                <a:cubicBezTo>
                  <a:pt x="5181600" y="706828"/>
                  <a:pt x="5164528" y="723900"/>
                  <a:pt x="5143501" y="723900"/>
                </a:cubicBezTo>
                <a:lnTo>
                  <a:pt x="38099" y="723900"/>
                </a:lnTo>
                <a:cubicBezTo>
                  <a:pt x="17072" y="723900"/>
                  <a:pt x="0" y="706828"/>
                  <a:pt x="0" y="685801"/>
                </a:cubicBezTo>
                <a:lnTo>
                  <a:pt x="0" y="38099"/>
                </a:lnTo>
                <a:cubicBezTo>
                  <a:pt x="0" y="17072"/>
                  <a:pt x="17072" y="0"/>
                  <a:pt x="38099" y="0"/>
                </a:cubicBezTo>
                <a:close/>
              </a:path>
            </a:pathLst>
          </a:custGeom>
          <a:solidFill>
            <a:srgbClr val="1E3A5F">
              <a:alpha val="5098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6510338" y="2438400"/>
            <a:ext cx="5038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1E3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dS</a:t>
            </a:r>
            <a:r>
              <a:rPr lang="en-US" sz="1013" b="1" dirty="0">
                <a:solidFill>
                  <a:srgbClr val="1E3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</a:t>
            </a:r>
            <a:r>
              <a:rPr lang="en-US" sz="1350" b="1" dirty="0">
                <a:solidFill>
                  <a:srgbClr val="1E3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= μS</a:t>
            </a:r>
            <a:r>
              <a:rPr lang="en-US" sz="1013" b="1" dirty="0">
                <a:solidFill>
                  <a:srgbClr val="1E3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</a:t>
            </a:r>
            <a:r>
              <a:rPr lang="en-US" sz="1350" b="1" dirty="0">
                <a:solidFill>
                  <a:srgbClr val="1E3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dt + σS</a:t>
            </a:r>
            <a:r>
              <a:rPr lang="en-US" sz="1013" b="1" dirty="0">
                <a:solidFill>
                  <a:srgbClr val="1E3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</a:t>
            </a:r>
            <a:r>
              <a:rPr lang="en-US" sz="1350" b="1" dirty="0">
                <a:solidFill>
                  <a:srgbClr val="1E3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dW</a:t>
            </a:r>
            <a:r>
              <a:rPr lang="en-US" sz="1013" b="1" dirty="0">
                <a:solidFill>
                  <a:srgbClr val="1E3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524625" y="2781300"/>
            <a:ext cx="5010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S=Price, μ=Drift, σ=Volatility, W=Wiener Process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457950" y="3200284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4A90A4"/>
          </a:solidFill>
          <a:ln/>
        </p:spPr>
      </p:sp>
      <p:sp>
        <p:nvSpPr>
          <p:cNvPr id="53" name="Text 51"/>
          <p:cNvSpPr/>
          <p:nvPr/>
        </p:nvSpPr>
        <p:spPr>
          <a:xfrm>
            <a:off x="6681788" y="3162184"/>
            <a:ext cx="3219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1,000+ Simulations:</a:t>
            </a:r>
            <a:r>
              <a:rPr lang="en-US" sz="105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Generate probabilistic price paths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457950" y="3466984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4A90A4"/>
          </a:solidFill>
          <a:ln/>
        </p:spPr>
      </p:sp>
      <p:sp>
        <p:nvSpPr>
          <p:cNvPr id="55" name="Text 53"/>
          <p:cNvSpPr/>
          <p:nvPr/>
        </p:nvSpPr>
        <p:spPr>
          <a:xfrm>
            <a:off x="6681788" y="3428884"/>
            <a:ext cx="2886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Confidence Intervals:</a:t>
            </a:r>
            <a:r>
              <a:rPr lang="en-US" sz="105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5th, 50th, 95th percentiles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457950" y="3733684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4A90A4"/>
          </a:solidFill>
          <a:ln/>
        </p:spPr>
      </p:sp>
      <p:sp>
        <p:nvSpPr>
          <p:cNvPr id="57" name="Text 55"/>
          <p:cNvSpPr/>
          <p:nvPr/>
        </p:nvSpPr>
        <p:spPr>
          <a:xfrm>
            <a:off x="6681788" y="3695584"/>
            <a:ext cx="2609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Win Probability:</a:t>
            </a:r>
            <a:r>
              <a:rPr lang="en-US" sz="105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Likelihood of price increase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457950" y="4000384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4A90A4"/>
          </a:solidFill>
          <a:ln/>
        </p:spPr>
      </p:sp>
      <p:sp>
        <p:nvSpPr>
          <p:cNvPr id="59" name="Text 57"/>
          <p:cNvSpPr/>
          <p:nvPr/>
        </p:nvSpPr>
        <p:spPr>
          <a:xfrm>
            <a:off x="6681788" y="3962284"/>
            <a:ext cx="2381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 Horizon:</a:t>
            </a:r>
            <a:r>
              <a:rPr lang="en-US" sz="105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30-day forecast window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6210300" y="4495684"/>
            <a:ext cx="5600700" cy="2095500"/>
          </a:xfrm>
          <a:custGeom>
            <a:avLst/>
            <a:gdLst/>
            <a:ahLst/>
            <a:cxnLst/>
            <a:rect l="l" t="t" r="r" b="b"/>
            <a:pathLst>
              <a:path w="5600700" h="2095500">
                <a:moveTo>
                  <a:pt x="76192" y="0"/>
                </a:moveTo>
                <a:lnTo>
                  <a:pt x="5524508" y="0"/>
                </a:lnTo>
                <a:cubicBezTo>
                  <a:pt x="5566588" y="0"/>
                  <a:pt x="5600700" y="34112"/>
                  <a:pt x="5600700" y="76192"/>
                </a:cubicBezTo>
                <a:lnTo>
                  <a:pt x="5600700" y="2019308"/>
                </a:lnTo>
                <a:cubicBezTo>
                  <a:pt x="5600700" y="2061388"/>
                  <a:pt x="5566588" y="2095500"/>
                  <a:pt x="5524508" y="2095500"/>
                </a:cubicBezTo>
                <a:lnTo>
                  <a:pt x="76192" y="2095500"/>
                </a:lnTo>
                <a:cubicBezTo>
                  <a:pt x="34112" y="2095500"/>
                  <a:pt x="0" y="2061388"/>
                  <a:pt x="0" y="2019308"/>
                </a:cubicBezTo>
                <a:lnTo>
                  <a:pt x="0" y="76192"/>
                </a:lnTo>
                <a:cubicBezTo>
                  <a:pt x="0" y="34141"/>
                  <a:pt x="34141" y="0"/>
                  <a:pt x="76192" y="0"/>
                </a:cubicBezTo>
                <a:close/>
              </a:path>
            </a:pathLst>
          </a:custGeom>
          <a:solidFill>
            <a:srgbClr val="FFFFFF"/>
          </a:solidFill>
          <a:ln>
            <a:solidFill>
              <a:schemeClr val="tx1"/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6362700" y="4648084"/>
            <a:ext cx="5381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GBM Parameters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6362700" y="5029084"/>
            <a:ext cx="2590800" cy="647700"/>
          </a:xfrm>
          <a:custGeom>
            <a:avLst/>
            <a:gdLst/>
            <a:ahLst/>
            <a:cxnLst/>
            <a:rect l="l" t="t" r="r" b="b"/>
            <a:pathLst>
              <a:path w="2590800" h="647700">
                <a:moveTo>
                  <a:pt x="38098" y="0"/>
                </a:moveTo>
                <a:lnTo>
                  <a:pt x="2552702" y="0"/>
                </a:lnTo>
                <a:cubicBezTo>
                  <a:pt x="2573729" y="0"/>
                  <a:pt x="2590800" y="17071"/>
                  <a:pt x="2590800" y="38098"/>
                </a:cubicBezTo>
                <a:lnTo>
                  <a:pt x="2590800" y="609602"/>
                </a:lnTo>
                <a:cubicBezTo>
                  <a:pt x="2590800" y="630643"/>
                  <a:pt x="2573743" y="647700"/>
                  <a:pt x="2552702" y="647700"/>
                </a:cubicBezTo>
                <a:lnTo>
                  <a:pt x="38098" y="647700"/>
                </a:lnTo>
                <a:cubicBezTo>
                  <a:pt x="17071" y="647700"/>
                  <a:pt x="0" y="630629"/>
                  <a:pt x="0" y="6096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1E3A5F">
              <a:alpha val="5098"/>
            </a:srgbClr>
          </a:solidFill>
          <a:ln/>
        </p:spPr>
      </p:sp>
      <p:sp>
        <p:nvSpPr>
          <p:cNvPr id="63" name="Text 61"/>
          <p:cNvSpPr/>
          <p:nvPr/>
        </p:nvSpPr>
        <p:spPr>
          <a:xfrm>
            <a:off x="6448425" y="5143384"/>
            <a:ext cx="24193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Drift (μ)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6429375" y="5295663"/>
            <a:ext cx="2457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Historical Mean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9067800" y="5029084"/>
            <a:ext cx="2590800" cy="647700"/>
          </a:xfrm>
          <a:custGeom>
            <a:avLst/>
            <a:gdLst/>
            <a:ahLst/>
            <a:cxnLst/>
            <a:rect l="l" t="t" r="r" b="b"/>
            <a:pathLst>
              <a:path w="2590800" h="647700">
                <a:moveTo>
                  <a:pt x="38098" y="0"/>
                </a:moveTo>
                <a:lnTo>
                  <a:pt x="2552702" y="0"/>
                </a:lnTo>
                <a:cubicBezTo>
                  <a:pt x="2573729" y="0"/>
                  <a:pt x="2590800" y="17071"/>
                  <a:pt x="2590800" y="38098"/>
                </a:cubicBezTo>
                <a:lnTo>
                  <a:pt x="2590800" y="609602"/>
                </a:lnTo>
                <a:cubicBezTo>
                  <a:pt x="2590800" y="630643"/>
                  <a:pt x="2573743" y="647700"/>
                  <a:pt x="2552702" y="647700"/>
                </a:cubicBezTo>
                <a:lnTo>
                  <a:pt x="38098" y="647700"/>
                </a:lnTo>
                <a:cubicBezTo>
                  <a:pt x="17071" y="647700"/>
                  <a:pt x="0" y="630629"/>
                  <a:pt x="0" y="6096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4A90A4">
              <a:alpha val="5098"/>
            </a:srgbClr>
          </a:solidFill>
          <a:ln/>
        </p:spPr>
      </p:sp>
      <p:sp>
        <p:nvSpPr>
          <p:cNvPr id="66" name="Text 64"/>
          <p:cNvSpPr/>
          <p:nvPr/>
        </p:nvSpPr>
        <p:spPr>
          <a:xfrm>
            <a:off x="9153525" y="5143384"/>
            <a:ext cx="24193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Volatility (σ)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9134475" y="5295663"/>
            <a:ext cx="2457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4A90A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20-day STD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6362700" y="5790963"/>
            <a:ext cx="2590800" cy="647700"/>
          </a:xfrm>
          <a:custGeom>
            <a:avLst/>
            <a:gdLst/>
            <a:ahLst/>
            <a:cxnLst/>
            <a:rect l="l" t="t" r="r" b="b"/>
            <a:pathLst>
              <a:path w="2590800" h="647700">
                <a:moveTo>
                  <a:pt x="38098" y="0"/>
                </a:moveTo>
                <a:lnTo>
                  <a:pt x="2552702" y="0"/>
                </a:lnTo>
                <a:cubicBezTo>
                  <a:pt x="2573729" y="0"/>
                  <a:pt x="2590800" y="17071"/>
                  <a:pt x="2590800" y="38098"/>
                </a:cubicBezTo>
                <a:lnTo>
                  <a:pt x="2590800" y="609602"/>
                </a:lnTo>
                <a:cubicBezTo>
                  <a:pt x="2590800" y="630643"/>
                  <a:pt x="2573743" y="647700"/>
                  <a:pt x="2552702" y="647700"/>
                </a:cubicBezTo>
                <a:lnTo>
                  <a:pt x="38098" y="647700"/>
                </a:lnTo>
                <a:cubicBezTo>
                  <a:pt x="17071" y="647700"/>
                  <a:pt x="0" y="630629"/>
                  <a:pt x="0" y="6096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C75B4A">
              <a:alpha val="5098"/>
            </a:srgbClr>
          </a:solidFill>
          <a:ln/>
        </p:spPr>
      </p:sp>
      <p:sp>
        <p:nvSpPr>
          <p:cNvPr id="69" name="Text 67"/>
          <p:cNvSpPr/>
          <p:nvPr/>
        </p:nvSpPr>
        <p:spPr>
          <a:xfrm>
            <a:off x="6448425" y="5905263"/>
            <a:ext cx="24193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 Steps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6429375" y="6057542"/>
            <a:ext cx="2457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C75B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30 days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9067800" y="5790963"/>
            <a:ext cx="2590800" cy="647700"/>
          </a:xfrm>
          <a:custGeom>
            <a:avLst/>
            <a:gdLst/>
            <a:ahLst/>
            <a:cxnLst/>
            <a:rect l="l" t="t" r="r" b="b"/>
            <a:pathLst>
              <a:path w="2590800" h="647700">
                <a:moveTo>
                  <a:pt x="38098" y="0"/>
                </a:moveTo>
                <a:lnTo>
                  <a:pt x="2552702" y="0"/>
                </a:lnTo>
                <a:cubicBezTo>
                  <a:pt x="2573729" y="0"/>
                  <a:pt x="2590800" y="17071"/>
                  <a:pt x="2590800" y="38098"/>
                </a:cubicBezTo>
                <a:lnTo>
                  <a:pt x="2590800" y="609602"/>
                </a:lnTo>
                <a:cubicBezTo>
                  <a:pt x="2590800" y="630643"/>
                  <a:pt x="2573743" y="647700"/>
                  <a:pt x="2552702" y="647700"/>
                </a:cubicBezTo>
                <a:lnTo>
                  <a:pt x="38098" y="647700"/>
                </a:lnTo>
                <a:cubicBezTo>
                  <a:pt x="17071" y="647700"/>
                  <a:pt x="0" y="630629"/>
                  <a:pt x="0" y="6096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1E3A5F">
              <a:alpha val="5098"/>
            </a:srgbClr>
          </a:solidFill>
          <a:ln/>
        </p:spPr>
      </p:sp>
      <p:sp>
        <p:nvSpPr>
          <p:cNvPr id="72" name="Text 70"/>
          <p:cNvSpPr/>
          <p:nvPr/>
        </p:nvSpPr>
        <p:spPr>
          <a:xfrm>
            <a:off x="9153525" y="5905263"/>
            <a:ext cx="24193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Simulations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9134475" y="6057542"/>
            <a:ext cx="2457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1,000+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76200" y="0"/>
                </a:moveTo>
                <a:lnTo>
                  <a:pt x="533400" y="0"/>
                </a:lnTo>
                <a:cubicBezTo>
                  <a:pt x="575456" y="0"/>
                  <a:pt x="609600" y="34144"/>
                  <a:pt x="609600" y="76200"/>
                </a:cubicBezTo>
                <a:lnTo>
                  <a:pt x="609600" y="533400"/>
                </a:lnTo>
                <a:cubicBezTo>
                  <a:pt x="609600" y="575456"/>
                  <a:pt x="575456" y="609600"/>
                  <a:pt x="53340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0000"/>
          </a:solidFill>
          <a:ln/>
        </p:spPr>
      </p:sp>
      <p:sp>
        <p:nvSpPr>
          <p:cNvPr id="3" name="Text 1"/>
          <p:cNvSpPr/>
          <p:nvPr/>
        </p:nvSpPr>
        <p:spPr>
          <a:xfrm>
            <a:off x="506730" y="514350"/>
            <a:ext cx="5048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09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43000" y="400050"/>
            <a:ext cx="3448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C75B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LEARNING METHODS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590550"/>
            <a:ext cx="35528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Approach Comparison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1000" y="1143000"/>
            <a:ext cx="11430000" cy="5334000"/>
          </a:xfrm>
          <a:custGeom>
            <a:avLst/>
            <a:gdLst/>
            <a:ahLst/>
            <a:cxnLst/>
            <a:rect l="l" t="t" r="r" b="b"/>
            <a:pathLst>
              <a:path w="11430000" h="5334000">
                <a:moveTo>
                  <a:pt x="76223" y="0"/>
                </a:moveTo>
                <a:lnTo>
                  <a:pt x="11353777" y="0"/>
                </a:lnTo>
                <a:cubicBezTo>
                  <a:pt x="11395874" y="0"/>
                  <a:pt x="11430000" y="34126"/>
                  <a:pt x="11430000" y="76223"/>
                </a:cubicBezTo>
                <a:lnTo>
                  <a:pt x="11430000" y="5257777"/>
                </a:lnTo>
                <a:cubicBezTo>
                  <a:pt x="11430000" y="5299874"/>
                  <a:pt x="11395874" y="5334000"/>
                  <a:pt x="11353777" y="5334000"/>
                </a:cubicBezTo>
                <a:lnTo>
                  <a:pt x="76223" y="5334000"/>
                </a:lnTo>
                <a:cubicBezTo>
                  <a:pt x="34126" y="5334000"/>
                  <a:pt x="0" y="5299874"/>
                  <a:pt x="0" y="5257777"/>
                </a:cubicBezTo>
                <a:lnTo>
                  <a:pt x="0" y="76223"/>
                </a:lnTo>
                <a:cubicBezTo>
                  <a:pt x="0" y="34154"/>
                  <a:pt x="34154" y="0"/>
                  <a:pt x="7622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5567057"/>
              </p:ext>
            </p:extLst>
          </p:nvPr>
        </p:nvGraphicFramePr>
        <p:xfrm>
          <a:off x="381000" y="1047752"/>
          <a:ext cx="11430000" cy="5598455"/>
        </p:xfrm>
        <a:graphic>
          <a:graphicData uri="http://schemas.openxmlformats.org/drawingml/2006/table">
            <a:tbl>
              <a:tblPr/>
              <a:tblGrid>
                <a:gridCol w="27836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97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892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74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7536">
                <a:tc>
                  <a:txBody>
                    <a:bodyPr/>
                    <a:lstStyle/>
                    <a:p>
                      <a:pPr algn="l"/>
                      <a:r>
                        <a:rPr lang="en-US" sz="1300" b="1" u="none" dirty="0">
                          <a:solidFill>
                            <a:srgbClr val="F5F1E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Approach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 u="none" dirty="0">
                          <a:solidFill>
                            <a:srgbClr val="F5F1E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Models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 u="none" dirty="0">
                          <a:solidFill>
                            <a:srgbClr val="F5F1E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Drawbacks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 u="none" dirty="0">
                          <a:solidFill>
                            <a:srgbClr val="F5F1E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Status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85688">
                <a:tc>
                  <a:txBody>
                    <a:bodyPr/>
                    <a:lstStyle/>
                    <a:p>
                      <a:r>
                        <a:rPr lang="en-US" sz="1050" u="none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Machine Learning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1050" u="none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Traditional statistical methods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u="none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Random Forest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1050" u="none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Ensemble decision trees for classification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1050" u="none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SVM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1050" u="none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Support Vector Machines for pattern recognition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1050" u="none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XGBoost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1050" u="none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Gradient boosting for time series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u="none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Feature Engineering: Requires manual feature selection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1050" u="none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Non-Stationarity: Struggles with regime changes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1050" u="none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No Uncertainty: Point predictions only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1050" u="none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Static Models: Cannot adapt in real-time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u="none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Baseline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76431">
                <a:tc>
                  <a:txBody>
                    <a:bodyPr/>
                    <a:lstStyle/>
                    <a:p>
                      <a:r>
                        <a:rPr lang="en-US" sz="1050" u="none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Deep Learning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1050" u="none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Neural network architectures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u="none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LSTM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1050" u="none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Long Short-Term Memory for sequences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1050" u="none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CNN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1050" u="none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Convolutional networks for pattern detection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1050" u="none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Transformer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1050" u="none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Attention mechanisms for forecasting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u="none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Data Hunger: Requires massive training data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1050" u="none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Black Box: Limited interpretability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1050" u="none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Overfitting: Prone to noise fitting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1050" u="none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Training Time: Hours to days for convergence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u="none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Intermediate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79337">
                <a:tc>
                  <a:txBody>
                    <a:bodyPr/>
                    <a:lstStyle/>
                    <a:p>
                      <a:r>
                        <a:rPr lang="en-US" sz="1050" u="none" dirty="0">
                          <a:solidFill>
                            <a:srgbClr val="F5F1E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Proposed AI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1050" u="none" dirty="0">
                          <a:solidFill>
                            <a:srgbClr val="F5F1E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Hybrid Intelligent System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u="none" dirty="0">
                          <a:solidFill>
                            <a:srgbClr val="F5F1E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BSI Engine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1050" u="none" dirty="0">
                          <a:solidFill>
                            <a:srgbClr val="F5F1E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Sentiment-momentum oscillator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1050" u="none" dirty="0">
                          <a:solidFill>
                            <a:srgbClr val="F5F1E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Monte Carlo GBM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1050" u="none" dirty="0">
                          <a:solidFill>
                            <a:srgbClr val="F5F1E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Probabilistic price forecasting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1050" u="none" dirty="0">
                          <a:solidFill>
                            <a:srgbClr val="F5F1E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Ghost Hedge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1050" u="none" dirty="0">
                          <a:solidFill>
                            <a:srgbClr val="F5F1E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Autonomous risk management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u="none" dirty="0">
                          <a:solidFill>
                            <a:srgbClr val="F5F1E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Integrated: Combines multiple signals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1050" u="none" dirty="0">
                          <a:solidFill>
                            <a:srgbClr val="F5F1E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Probabilistic: Uncertainty quantification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1050" u="none" dirty="0">
                          <a:solidFill>
                            <a:srgbClr val="F5F1E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Autonomous: No emotional bias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1050" u="none" dirty="0">
                          <a:solidFill>
                            <a:srgbClr val="F5F1E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Real-Time: Sub-second response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u="none" dirty="0">
                          <a:solidFill>
                            <a:srgbClr val="F5F1E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Proposed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Shape 0">
            <a:extLst>
              <a:ext uri="{FF2B5EF4-FFF2-40B4-BE49-F238E27FC236}">
                <a16:creationId xmlns:a16="http://schemas.microsoft.com/office/drawing/2014/main" id="{FD2A0D47-E0CC-9C20-7BD1-E2DD8F0E13EA}"/>
              </a:ext>
            </a:extLst>
          </p:cNvPr>
          <p:cNvSpPr/>
          <p:nvPr/>
        </p:nvSpPr>
        <p:spPr>
          <a:xfrm>
            <a:off x="158621" y="147756"/>
            <a:ext cx="646242" cy="594362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0" y="0"/>
                </a:moveTo>
                <a:lnTo>
                  <a:pt x="381000" y="0"/>
                </a:lnTo>
                <a:lnTo>
                  <a:pt x="3810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/>
        </p:spPr>
        <p:txBody>
          <a:bodyPr/>
          <a:lstStyle/>
          <a:p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211" name="Text 1">
            <a:extLst>
              <a:ext uri="{FF2B5EF4-FFF2-40B4-BE49-F238E27FC236}">
                <a16:creationId xmlns:a16="http://schemas.microsoft.com/office/drawing/2014/main" id="{2E717B73-F96C-B871-4612-0B1D75EA3F64}"/>
              </a:ext>
            </a:extLst>
          </p:cNvPr>
          <p:cNvSpPr/>
          <p:nvPr/>
        </p:nvSpPr>
        <p:spPr>
          <a:xfrm>
            <a:off x="158622" y="167638"/>
            <a:ext cx="646242" cy="550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10</a:t>
            </a:r>
            <a:endParaRPr lang="en-US" sz="1600" dirty="0"/>
          </a:p>
        </p:txBody>
      </p:sp>
      <p:sp>
        <p:nvSpPr>
          <p:cNvPr id="212" name="Text 2">
            <a:extLst>
              <a:ext uri="{FF2B5EF4-FFF2-40B4-BE49-F238E27FC236}">
                <a16:creationId xmlns:a16="http://schemas.microsoft.com/office/drawing/2014/main" id="{D2C5F241-6056-63CF-8A05-14F1D0C07C85}"/>
              </a:ext>
            </a:extLst>
          </p:cNvPr>
          <p:cNvSpPr/>
          <p:nvPr/>
        </p:nvSpPr>
        <p:spPr>
          <a:xfrm>
            <a:off x="876300" y="381000"/>
            <a:ext cx="49434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Architecture Models</a:t>
            </a:r>
            <a:endParaRPr lang="en-US" sz="1600" dirty="0"/>
          </a:p>
        </p:txBody>
      </p:sp>
      <p:sp>
        <p:nvSpPr>
          <p:cNvPr id="213" name="Shape 3">
            <a:extLst>
              <a:ext uri="{FF2B5EF4-FFF2-40B4-BE49-F238E27FC236}">
                <a16:creationId xmlns:a16="http://schemas.microsoft.com/office/drawing/2014/main" id="{070B7FED-FD9A-DB13-4C37-AF555B9D0F6A}"/>
              </a:ext>
            </a:extLst>
          </p:cNvPr>
          <p:cNvSpPr/>
          <p:nvPr/>
        </p:nvSpPr>
        <p:spPr>
          <a:xfrm>
            <a:off x="381000" y="838200"/>
            <a:ext cx="11430000" cy="19050"/>
          </a:xfrm>
          <a:custGeom>
            <a:avLst/>
            <a:gdLst/>
            <a:ahLst/>
            <a:cxnLst/>
            <a:rect l="l" t="t" r="r" b="b"/>
            <a:pathLst>
              <a:path w="11430000" h="19050">
                <a:moveTo>
                  <a:pt x="0" y="0"/>
                </a:moveTo>
                <a:lnTo>
                  <a:pt x="11430000" y="0"/>
                </a:lnTo>
                <a:lnTo>
                  <a:pt x="114300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2060">
              <a:alpha val="30196"/>
            </a:srgbClr>
          </a:solidFill>
          <a:ln/>
        </p:spPr>
      </p:sp>
      <p:sp>
        <p:nvSpPr>
          <p:cNvPr id="214" name="Shape 4">
            <a:extLst>
              <a:ext uri="{FF2B5EF4-FFF2-40B4-BE49-F238E27FC236}">
                <a16:creationId xmlns:a16="http://schemas.microsoft.com/office/drawing/2014/main" id="{CCEB4A6A-84FB-0924-3AA5-B62B51840C76}"/>
              </a:ext>
            </a:extLst>
          </p:cNvPr>
          <p:cNvSpPr/>
          <p:nvPr/>
        </p:nvSpPr>
        <p:spPr>
          <a:xfrm>
            <a:off x="384810" y="1171697"/>
            <a:ext cx="5589270" cy="2665095"/>
          </a:xfrm>
          <a:custGeom>
            <a:avLst/>
            <a:gdLst/>
            <a:ahLst/>
            <a:cxnLst/>
            <a:rect l="l" t="t" r="r" b="b"/>
            <a:pathLst>
              <a:path w="5589270" h="2665095">
                <a:moveTo>
                  <a:pt x="0" y="0"/>
                </a:moveTo>
                <a:lnTo>
                  <a:pt x="5589270" y="0"/>
                </a:lnTo>
                <a:lnTo>
                  <a:pt x="5589270" y="2665095"/>
                </a:lnTo>
                <a:lnTo>
                  <a:pt x="0" y="2665095"/>
                </a:lnTo>
                <a:lnTo>
                  <a:pt x="0" y="0"/>
                </a:lnTo>
                <a:close/>
              </a:path>
            </a:pathLst>
          </a:custGeom>
          <a:solidFill>
            <a:srgbClr val="0070C0">
              <a:alpha val="0"/>
            </a:srgbClr>
          </a:solidFill>
          <a:ln w="10160">
            <a:solidFill>
              <a:schemeClr val="tx1">
                <a:alpha val="30196"/>
              </a:schemeClr>
            </a:solidFill>
            <a:prstDash val="solid"/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215" name="Shape 5">
            <a:extLst>
              <a:ext uri="{FF2B5EF4-FFF2-40B4-BE49-F238E27FC236}">
                <a16:creationId xmlns:a16="http://schemas.microsoft.com/office/drawing/2014/main" id="{6FE15A19-4360-B865-C592-EEE9D57D8FEA}"/>
              </a:ext>
            </a:extLst>
          </p:cNvPr>
          <p:cNvSpPr/>
          <p:nvPr/>
        </p:nvSpPr>
        <p:spPr>
          <a:xfrm>
            <a:off x="541020" y="132790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0"/>
                </a:lnTo>
                <a:lnTo>
                  <a:pt x="3048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0070C0"/>
          </a:solidFill>
          <a:ln/>
        </p:spPr>
      </p:sp>
      <p:sp>
        <p:nvSpPr>
          <p:cNvPr id="216" name="Text 6">
            <a:extLst>
              <a:ext uri="{FF2B5EF4-FFF2-40B4-BE49-F238E27FC236}">
                <a16:creationId xmlns:a16="http://schemas.microsoft.com/office/drawing/2014/main" id="{8858362E-DE07-CABF-7FDB-FEA8D54A7D4A}"/>
              </a:ext>
            </a:extLst>
          </p:cNvPr>
          <p:cNvSpPr/>
          <p:nvPr/>
        </p:nvSpPr>
        <p:spPr>
          <a:xfrm>
            <a:off x="507682" y="1327905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A1</a:t>
            </a:r>
            <a:endParaRPr lang="en-US" sz="1600" dirty="0"/>
          </a:p>
        </p:txBody>
      </p:sp>
      <p:sp>
        <p:nvSpPr>
          <p:cNvPr id="217" name="Text 7">
            <a:extLst>
              <a:ext uri="{FF2B5EF4-FFF2-40B4-BE49-F238E27FC236}">
                <a16:creationId xmlns:a16="http://schemas.microsoft.com/office/drawing/2014/main" id="{7013DF36-2B3A-D042-BC77-43F20356BDBE}"/>
              </a:ext>
            </a:extLst>
          </p:cNvPr>
          <p:cNvSpPr/>
          <p:nvPr/>
        </p:nvSpPr>
        <p:spPr>
          <a:xfrm>
            <a:off x="922020" y="1346955"/>
            <a:ext cx="2124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Single LSTM Architecture</a:t>
            </a:r>
            <a:endParaRPr lang="en-US" sz="1600" dirty="0"/>
          </a:p>
        </p:txBody>
      </p:sp>
      <p:sp>
        <p:nvSpPr>
          <p:cNvPr id="218" name="Shape 8">
            <a:extLst>
              <a:ext uri="{FF2B5EF4-FFF2-40B4-BE49-F238E27FC236}">
                <a16:creationId xmlns:a16="http://schemas.microsoft.com/office/drawing/2014/main" id="{D90DF035-2C63-7DE4-6A0F-9F08B4D3A420}"/>
              </a:ext>
            </a:extLst>
          </p:cNvPr>
          <p:cNvSpPr/>
          <p:nvPr/>
        </p:nvSpPr>
        <p:spPr>
          <a:xfrm>
            <a:off x="544830" y="1750815"/>
            <a:ext cx="5274945" cy="979170"/>
          </a:xfrm>
          <a:custGeom>
            <a:avLst/>
            <a:gdLst/>
            <a:ahLst/>
            <a:cxnLst/>
            <a:rect l="l" t="t" r="r" b="b"/>
            <a:pathLst>
              <a:path w="5274945" h="979170">
                <a:moveTo>
                  <a:pt x="0" y="0"/>
                </a:moveTo>
                <a:lnTo>
                  <a:pt x="5274945" y="0"/>
                </a:lnTo>
                <a:lnTo>
                  <a:pt x="5274945" y="979170"/>
                </a:lnTo>
                <a:lnTo>
                  <a:pt x="0" y="97917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10160">
            <a:solidFill>
              <a:srgbClr val="6B7280">
                <a:alpha val="20000"/>
              </a:srgbClr>
            </a:solidFill>
            <a:prstDash val="solid"/>
          </a:ln>
        </p:spPr>
      </p:sp>
      <p:sp>
        <p:nvSpPr>
          <p:cNvPr id="219" name="Text 9">
            <a:extLst>
              <a:ext uri="{FF2B5EF4-FFF2-40B4-BE49-F238E27FC236}">
                <a16:creationId xmlns:a16="http://schemas.microsoft.com/office/drawing/2014/main" id="{479942C6-190F-2BE7-F5E4-BF557ED2C25A}"/>
              </a:ext>
            </a:extLst>
          </p:cNvPr>
          <p:cNvSpPr/>
          <p:nvPr/>
        </p:nvSpPr>
        <p:spPr>
          <a:xfrm>
            <a:off x="629602" y="1868923"/>
            <a:ext cx="5105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Architecture Flow</a:t>
            </a:r>
            <a:endParaRPr lang="en-US" sz="1600" dirty="0"/>
          </a:p>
        </p:txBody>
      </p:sp>
      <p:sp>
        <p:nvSpPr>
          <p:cNvPr id="220" name="Shape 10">
            <a:extLst>
              <a:ext uri="{FF2B5EF4-FFF2-40B4-BE49-F238E27FC236}">
                <a16:creationId xmlns:a16="http://schemas.microsoft.com/office/drawing/2014/main" id="{DC916849-11AE-7E0C-C24F-8AA9F9B55835}"/>
              </a:ext>
            </a:extLst>
          </p:cNvPr>
          <p:cNvSpPr/>
          <p:nvPr/>
        </p:nvSpPr>
        <p:spPr>
          <a:xfrm>
            <a:off x="1149668" y="2139433"/>
            <a:ext cx="817245" cy="464820"/>
          </a:xfrm>
          <a:custGeom>
            <a:avLst/>
            <a:gdLst/>
            <a:ahLst/>
            <a:cxnLst/>
            <a:rect l="l" t="t" r="r" b="b"/>
            <a:pathLst>
              <a:path w="817245" h="464820">
                <a:moveTo>
                  <a:pt x="0" y="0"/>
                </a:moveTo>
                <a:lnTo>
                  <a:pt x="817245" y="0"/>
                </a:lnTo>
                <a:lnTo>
                  <a:pt x="817245" y="464820"/>
                </a:lnTo>
                <a:lnTo>
                  <a:pt x="0" y="46482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0160">
            <a:solidFill>
              <a:srgbClr val="6B7280">
                <a:alpha val="30196"/>
              </a:srgbClr>
            </a:solidFill>
            <a:prstDash val="solid"/>
          </a:ln>
        </p:spPr>
      </p:sp>
      <p:sp>
        <p:nvSpPr>
          <p:cNvPr id="221" name="Text 11">
            <a:extLst>
              <a:ext uri="{FF2B5EF4-FFF2-40B4-BE49-F238E27FC236}">
                <a16:creationId xmlns:a16="http://schemas.microsoft.com/office/drawing/2014/main" id="{EB90BACB-C611-48F3-CD10-083D8C7D8320}"/>
              </a:ext>
            </a:extLst>
          </p:cNvPr>
          <p:cNvSpPr/>
          <p:nvPr/>
        </p:nvSpPr>
        <p:spPr>
          <a:xfrm>
            <a:off x="1145858" y="2135623"/>
            <a:ext cx="866775" cy="4572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Input Layer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(Time Series)</a:t>
            </a:r>
            <a:endParaRPr lang="en-US" sz="1600" dirty="0"/>
          </a:p>
        </p:txBody>
      </p:sp>
      <p:sp>
        <p:nvSpPr>
          <p:cNvPr id="222" name="Shape 12">
            <a:extLst>
              <a:ext uri="{FF2B5EF4-FFF2-40B4-BE49-F238E27FC236}">
                <a16:creationId xmlns:a16="http://schemas.microsoft.com/office/drawing/2014/main" id="{162EDF25-B48A-FAA6-7ECC-51C58450EE15}"/>
              </a:ext>
            </a:extLst>
          </p:cNvPr>
          <p:cNvSpPr/>
          <p:nvPr/>
        </p:nvSpPr>
        <p:spPr>
          <a:xfrm>
            <a:off x="2059305" y="2314575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2202" y="62195"/>
                </a:moveTo>
                <a:cubicBezTo>
                  <a:pt x="114992" y="59405"/>
                  <a:pt x="114992" y="54873"/>
                  <a:pt x="112202" y="52082"/>
                </a:cubicBezTo>
                <a:lnTo>
                  <a:pt x="76483" y="16364"/>
                </a:lnTo>
                <a:cubicBezTo>
                  <a:pt x="73692" y="13573"/>
                  <a:pt x="69160" y="13573"/>
                  <a:pt x="66370" y="16364"/>
                </a:cubicBezTo>
                <a:cubicBezTo>
                  <a:pt x="63579" y="19154"/>
                  <a:pt x="63579" y="23686"/>
                  <a:pt x="66370" y="26477"/>
                </a:cubicBezTo>
                <a:lnTo>
                  <a:pt x="89900" y="50006"/>
                </a:lnTo>
                <a:lnTo>
                  <a:pt x="7144" y="50006"/>
                </a:lnTo>
                <a:cubicBezTo>
                  <a:pt x="3192" y="50006"/>
                  <a:pt x="0" y="53199"/>
                  <a:pt x="0" y="57150"/>
                </a:cubicBezTo>
                <a:cubicBezTo>
                  <a:pt x="0" y="61101"/>
                  <a:pt x="3192" y="64294"/>
                  <a:pt x="7144" y="64294"/>
                </a:cubicBezTo>
                <a:lnTo>
                  <a:pt x="89900" y="64294"/>
                </a:lnTo>
                <a:lnTo>
                  <a:pt x="66370" y="87823"/>
                </a:lnTo>
                <a:cubicBezTo>
                  <a:pt x="63579" y="90614"/>
                  <a:pt x="63579" y="95146"/>
                  <a:pt x="66370" y="97936"/>
                </a:cubicBezTo>
                <a:cubicBezTo>
                  <a:pt x="69160" y="100727"/>
                  <a:pt x="73692" y="100727"/>
                  <a:pt x="76483" y="97936"/>
                </a:cubicBezTo>
                <a:lnTo>
                  <a:pt x="112202" y="62218"/>
                </a:lnTo>
                <a:close/>
              </a:path>
            </a:pathLst>
          </a:custGeom>
          <a:solidFill>
            <a:srgbClr val="6B7280"/>
          </a:solidFill>
          <a:ln/>
        </p:spPr>
      </p:sp>
      <p:sp>
        <p:nvSpPr>
          <p:cNvPr id="223" name="Shape 13">
            <a:extLst>
              <a:ext uri="{FF2B5EF4-FFF2-40B4-BE49-F238E27FC236}">
                <a16:creationId xmlns:a16="http://schemas.microsoft.com/office/drawing/2014/main" id="{5E2F1E2D-9A53-9CF4-A380-E0259C01CE7D}"/>
              </a:ext>
            </a:extLst>
          </p:cNvPr>
          <p:cNvSpPr/>
          <p:nvPr/>
        </p:nvSpPr>
        <p:spPr>
          <a:xfrm>
            <a:off x="2267902" y="2139433"/>
            <a:ext cx="788670" cy="464820"/>
          </a:xfrm>
          <a:custGeom>
            <a:avLst/>
            <a:gdLst/>
            <a:ahLst/>
            <a:cxnLst/>
            <a:rect l="l" t="t" r="r" b="b"/>
            <a:pathLst>
              <a:path w="788670" h="464820">
                <a:moveTo>
                  <a:pt x="0" y="0"/>
                </a:moveTo>
                <a:lnTo>
                  <a:pt x="788670" y="0"/>
                </a:lnTo>
                <a:lnTo>
                  <a:pt x="788670" y="464820"/>
                </a:lnTo>
                <a:lnTo>
                  <a:pt x="0" y="46482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0160">
            <a:solidFill>
              <a:srgbClr val="6B7280">
                <a:alpha val="30196"/>
              </a:srgbClr>
            </a:solidFill>
            <a:prstDash val="solid"/>
          </a:ln>
        </p:spPr>
      </p:sp>
      <p:sp>
        <p:nvSpPr>
          <p:cNvPr id="224" name="Text 14">
            <a:extLst>
              <a:ext uri="{FF2B5EF4-FFF2-40B4-BE49-F238E27FC236}">
                <a16:creationId xmlns:a16="http://schemas.microsoft.com/office/drawing/2014/main" id="{47422E5C-3D61-37BF-22F2-F90FD70D9CCB}"/>
              </a:ext>
            </a:extLst>
          </p:cNvPr>
          <p:cNvSpPr/>
          <p:nvPr/>
        </p:nvSpPr>
        <p:spPr>
          <a:xfrm>
            <a:off x="2264092" y="2135623"/>
            <a:ext cx="838200" cy="4572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LSTM Layer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(128 units)</a:t>
            </a:r>
            <a:endParaRPr lang="en-US" sz="1600" dirty="0"/>
          </a:p>
        </p:txBody>
      </p:sp>
      <p:sp>
        <p:nvSpPr>
          <p:cNvPr id="225" name="Shape 15">
            <a:extLst>
              <a:ext uri="{FF2B5EF4-FFF2-40B4-BE49-F238E27FC236}">
                <a16:creationId xmlns:a16="http://schemas.microsoft.com/office/drawing/2014/main" id="{1CC4A237-4AE3-AB98-6DAA-311FE556D56B}"/>
              </a:ext>
            </a:extLst>
          </p:cNvPr>
          <p:cNvSpPr/>
          <p:nvPr/>
        </p:nvSpPr>
        <p:spPr>
          <a:xfrm>
            <a:off x="3147060" y="2314575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2202" y="62195"/>
                </a:moveTo>
                <a:cubicBezTo>
                  <a:pt x="114992" y="59405"/>
                  <a:pt x="114992" y="54873"/>
                  <a:pt x="112202" y="52082"/>
                </a:cubicBezTo>
                <a:lnTo>
                  <a:pt x="76483" y="16364"/>
                </a:lnTo>
                <a:cubicBezTo>
                  <a:pt x="73692" y="13573"/>
                  <a:pt x="69160" y="13573"/>
                  <a:pt x="66370" y="16364"/>
                </a:cubicBezTo>
                <a:cubicBezTo>
                  <a:pt x="63579" y="19154"/>
                  <a:pt x="63579" y="23686"/>
                  <a:pt x="66370" y="26477"/>
                </a:cubicBezTo>
                <a:lnTo>
                  <a:pt x="89900" y="50006"/>
                </a:lnTo>
                <a:lnTo>
                  <a:pt x="7144" y="50006"/>
                </a:lnTo>
                <a:cubicBezTo>
                  <a:pt x="3192" y="50006"/>
                  <a:pt x="0" y="53199"/>
                  <a:pt x="0" y="57150"/>
                </a:cubicBezTo>
                <a:cubicBezTo>
                  <a:pt x="0" y="61101"/>
                  <a:pt x="3192" y="64294"/>
                  <a:pt x="7144" y="64294"/>
                </a:cubicBezTo>
                <a:lnTo>
                  <a:pt x="89900" y="64294"/>
                </a:lnTo>
                <a:lnTo>
                  <a:pt x="66370" y="87823"/>
                </a:lnTo>
                <a:cubicBezTo>
                  <a:pt x="63579" y="90614"/>
                  <a:pt x="63579" y="95146"/>
                  <a:pt x="66370" y="97936"/>
                </a:cubicBezTo>
                <a:cubicBezTo>
                  <a:pt x="69160" y="100727"/>
                  <a:pt x="73692" y="100727"/>
                  <a:pt x="76483" y="97936"/>
                </a:cubicBezTo>
                <a:lnTo>
                  <a:pt x="112202" y="62218"/>
                </a:lnTo>
                <a:close/>
              </a:path>
            </a:pathLst>
          </a:custGeom>
          <a:solidFill>
            <a:srgbClr val="6B7280"/>
          </a:solidFill>
          <a:ln/>
        </p:spPr>
      </p:sp>
      <p:sp>
        <p:nvSpPr>
          <p:cNvPr id="226" name="Shape 16">
            <a:extLst>
              <a:ext uri="{FF2B5EF4-FFF2-40B4-BE49-F238E27FC236}">
                <a16:creationId xmlns:a16="http://schemas.microsoft.com/office/drawing/2014/main" id="{7C88DE4B-9A74-3E11-85E3-E8E5580F97F2}"/>
              </a:ext>
            </a:extLst>
          </p:cNvPr>
          <p:cNvSpPr/>
          <p:nvPr/>
        </p:nvSpPr>
        <p:spPr>
          <a:xfrm>
            <a:off x="3355657" y="2139433"/>
            <a:ext cx="769620" cy="464820"/>
          </a:xfrm>
          <a:custGeom>
            <a:avLst/>
            <a:gdLst/>
            <a:ahLst/>
            <a:cxnLst/>
            <a:rect l="l" t="t" r="r" b="b"/>
            <a:pathLst>
              <a:path w="769620" h="464820">
                <a:moveTo>
                  <a:pt x="0" y="0"/>
                </a:moveTo>
                <a:lnTo>
                  <a:pt x="769620" y="0"/>
                </a:lnTo>
                <a:lnTo>
                  <a:pt x="769620" y="464820"/>
                </a:lnTo>
                <a:lnTo>
                  <a:pt x="0" y="46482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0160">
            <a:solidFill>
              <a:srgbClr val="6B7280">
                <a:alpha val="30196"/>
              </a:srgbClr>
            </a:solidFill>
            <a:prstDash val="solid"/>
          </a:ln>
        </p:spPr>
      </p:sp>
      <p:sp>
        <p:nvSpPr>
          <p:cNvPr id="227" name="Text 17">
            <a:extLst>
              <a:ext uri="{FF2B5EF4-FFF2-40B4-BE49-F238E27FC236}">
                <a16:creationId xmlns:a16="http://schemas.microsoft.com/office/drawing/2014/main" id="{528EE27B-518E-A310-2715-9E78701C707A}"/>
              </a:ext>
            </a:extLst>
          </p:cNvPr>
          <p:cNvSpPr/>
          <p:nvPr/>
        </p:nvSpPr>
        <p:spPr>
          <a:xfrm>
            <a:off x="3351847" y="2135623"/>
            <a:ext cx="819150" cy="4572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Dense Layer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(64 units)</a:t>
            </a:r>
            <a:endParaRPr lang="en-US" sz="1600" dirty="0"/>
          </a:p>
        </p:txBody>
      </p:sp>
      <p:sp>
        <p:nvSpPr>
          <p:cNvPr id="228" name="Shape 18">
            <a:extLst>
              <a:ext uri="{FF2B5EF4-FFF2-40B4-BE49-F238E27FC236}">
                <a16:creationId xmlns:a16="http://schemas.microsoft.com/office/drawing/2014/main" id="{5E2040DD-F72E-2DD5-BA12-CF6DD138DED8}"/>
              </a:ext>
            </a:extLst>
          </p:cNvPr>
          <p:cNvSpPr/>
          <p:nvPr/>
        </p:nvSpPr>
        <p:spPr>
          <a:xfrm>
            <a:off x="4219575" y="2314575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2202" y="62195"/>
                </a:moveTo>
                <a:cubicBezTo>
                  <a:pt x="114992" y="59405"/>
                  <a:pt x="114992" y="54873"/>
                  <a:pt x="112202" y="52082"/>
                </a:cubicBezTo>
                <a:lnTo>
                  <a:pt x="76483" y="16364"/>
                </a:lnTo>
                <a:cubicBezTo>
                  <a:pt x="73692" y="13573"/>
                  <a:pt x="69160" y="13573"/>
                  <a:pt x="66370" y="16364"/>
                </a:cubicBezTo>
                <a:cubicBezTo>
                  <a:pt x="63579" y="19154"/>
                  <a:pt x="63579" y="23686"/>
                  <a:pt x="66370" y="26477"/>
                </a:cubicBezTo>
                <a:lnTo>
                  <a:pt x="89900" y="50006"/>
                </a:lnTo>
                <a:lnTo>
                  <a:pt x="7144" y="50006"/>
                </a:lnTo>
                <a:cubicBezTo>
                  <a:pt x="3192" y="50006"/>
                  <a:pt x="0" y="53199"/>
                  <a:pt x="0" y="57150"/>
                </a:cubicBezTo>
                <a:cubicBezTo>
                  <a:pt x="0" y="61101"/>
                  <a:pt x="3192" y="64294"/>
                  <a:pt x="7144" y="64294"/>
                </a:cubicBezTo>
                <a:lnTo>
                  <a:pt x="89900" y="64294"/>
                </a:lnTo>
                <a:lnTo>
                  <a:pt x="66370" y="87823"/>
                </a:lnTo>
                <a:cubicBezTo>
                  <a:pt x="63579" y="90614"/>
                  <a:pt x="63579" y="95146"/>
                  <a:pt x="66370" y="97936"/>
                </a:cubicBezTo>
                <a:cubicBezTo>
                  <a:pt x="69160" y="100727"/>
                  <a:pt x="73692" y="100727"/>
                  <a:pt x="76483" y="97936"/>
                </a:cubicBezTo>
                <a:lnTo>
                  <a:pt x="112202" y="62218"/>
                </a:lnTo>
                <a:close/>
              </a:path>
            </a:pathLst>
          </a:custGeom>
          <a:solidFill>
            <a:srgbClr val="6B7280"/>
          </a:solidFill>
          <a:ln/>
        </p:spPr>
      </p:sp>
      <p:sp>
        <p:nvSpPr>
          <p:cNvPr id="229" name="Shape 19">
            <a:extLst>
              <a:ext uri="{FF2B5EF4-FFF2-40B4-BE49-F238E27FC236}">
                <a16:creationId xmlns:a16="http://schemas.microsoft.com/office/drawing/2014/main" id="{89BE920C-A0E7-0220-AD36-3253CFE6BEBA}"/>
              </a:ext>
            </a:extLst>
          </p:cNvPr>
          <p:cNvSpPr/>
          <p:nvPr/>
        </p:nvSpPr>
        <p:spPr>
          <a:xfrm>
            <a:off x="4428173" y="2139433"/>
            <a:ext cx="788670" cy="464820"/>
          </a:xfrm>
          <a:custGeom>
            <a:avLst/>
            <a:gdLst/>
            <a:ahLst/>
            <a:cxnLst/>
            <a:rect l="l" t="t" r="r" b="b"/>
            <a:pathLst>
              <a:path w="788670" h="464820">
                <a:moveTo>
                  <a:pt x="0" y="0"/>
                </a:moveTo>
                <a:lnTo>
                  <a:pt x="788670" y="0"/>
                </a:lnTo>
                <a:lnTo>
                  <a:pt x="788670" y="464820"/>
                </a:lnTo>
                <a:lnTo>
                  <a:pt x="0" y="46482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0160">
            <a:solidFill>
              <a:srgbClr val="6B7280">
                <a:alpha val="30196"/>
              </a:srgbClr>
            </a:solidFill>
            <a:prstDash val="solid"/>
          </a:ln>
        </p:spPr>
      </p:sp>
      <p:sp>
        <p:nvSpPr>
          <p:cNvPr id="230" name="Text 20">
            <a:extLst>
              <a:ext uri="{FF2B5EF4-FFF2-40B4-BE49-F238E27FC236}">
                <a16:creationId xmlns:a16="http://schemas.microsoft.com/office/drawing/2014/main" id="{8B59ED62-7EF7-2BAB-2911-2B7DD8DBDF4D}"/>
              </a:ext>
            </a:extLst>
          </p:cNvPr>
          <p:cNvSpPr/>
          <p:nvPr/>
        </p:nvSpPr>
        <p:spPr>
          <a:xfrm>
            <a:off x="4424363" y="2135623"/>
            <a:ext cx="838200" cy="4572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Output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(Predictions)</a:t>
            </a:r>
            <a:endParaRPr lang="en-US" sz="1600" dirty="0"/>
          </a:p>
        </p:txBody>
      </p:sp>
      <p:sp>
        <p:nvSpPr>
          <p:cNvPr id="231" name="Shape 21">
            <a:extLst>
              <a:ext uri="{FF2B5EF4-FFF2-40B4-BE49-F238E27FC236}">
                <a16:creationId xmlns:a16="http://schemas.microsoft.com/office/drawing/2014/main" id="{DB308BE6-15B1-643C-4BE9-69049D33B5F9}"/>
              </a:ext>
            </a:extLst>
          </p:cNvPr>
          <p:cNvSpPr/>
          <p:nvPr/>
        </p:nvSpPr>
        <p:spPr>
          <a:xfrm>
            <a:off x="545782" y="288214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00A63E"/>
          </a:solidFill>
          <a:ln/>
        </p:spPr>
      </p:sp>
      <p:sp>
        <p:nvSpPr>
          <p:cNvPr id="232" name="Text 22">
            <a:extLst>
              <a:ext uri="{FF2B5EF4-FFF2-40B4-BE49-F238E27FC236}">
                <a16:creationId xmlns:a16="http://schemas.microsoft.com/office/drawing/2014/main" id="{28110E23-AA27-5B9D-2200-70D76CAF107C}"/>
              </a:ext>
            </a:extLst>
          </p:cNvPr>
          <p:cNvSpPr/>
          <p:nvPr/>
        </p:nvSpPr>
        <p:spPr>
          <a:xfrm>
            <a:off x="756404" y="2844045"/>
            <a:ext cx="51339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Strengths:</a:t>
            </a: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Excellent temporal modeling, captures long-term dependencies, handles sequential data well.</a:t>
            </a:r>
            <a:endParaRPr lang="en-US" sz="1600" dirty="0"/>
          </a:p>
        </p:txBody>
      </p:sp>
      <p:sp>
        <p:nvSpPr>
          <p:cNvPr id="233" name="Shape 23">
            <a:extLst>
              <a:ext uri="{FF2B5EF4-FFF2-40B4-BE49-F238E27FC236}">
                <a16:creationId xmlns:a16="http://schemas.microsoft.com/office/drawing/2014/main" id="{CF96D0F4-306B-77FC-1B62-F5A739B11817}"/>
              </a:ext>
            </a:extLst>
          </p:cNvPr>
          <p:cNvSpPr/>
          <p:nvPr/>
        </p:nvSpPr>
        <p:spPr>
          <a:xfrm>
            <a:off x="536257" y="333934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43495" y="43495"/>
                </a:moveTo>
                <a:cubicBezTo>
                  <a:pt x="45943" y="41047"/>
                  <a:pt x="49902" y="41047"/>
                  <a:pt x="52324" y="43495"/>
                </a:cubicBezTo>
                <a:lnTo>
                  <a:pt x="66649" y="57820"/>
                </a:lnTo>
                <a:lnTo>
                  <a:pt x="80974" y="43495"/>
                </a:lnTo>
                <a:cubicBezTo>
                  <a:pt x="83422" y="41047"/>
                  <a:pt x="87381" y="41047"/>
                  <a:pt x="89803" y="43495"/>
                </a:cubicBezTo>
                <a:cubicBezTo>
                  <a:pt x="92225" y="45943"/>
                  <a:pt x="92251" y="49902"/>
                  <a:pt x="89803" y="52324"/>
                </a:cubicBezTo>
                <a:lnTo>
                  <a:pt x="75478" y="66649"/>
                </a:lnTo>
                <a:lnTo>
                  <a:pt x="89803" y="80974"/>
                </a:lnTo>
                <a:cubicBezTo>
                  <a:pt x="92251" y="83422"/>
                  <a:pt x="92251" y="87381"/>
                  <a:pt x="89803" y="89803"/>
                </a:cubicBezTo>
                <a:cubicBezTo>
                  <a:pt x="87355" y="92225"/>
                  <a:pt x="83396" y="92251"/>
                  <a:pt x="80974" y="89803"/>
                </a:cubicBezTo>
                <a:lnTo>
                  <a:pt x="66649" y="75478"/>
                </a:lnTo>
                <a:lnTo>
                  <a:pt x="52324" y="89803"/>
                </a:lnTo>
                <a:cubicBezTo>
                  <a:pt x="49876" y="92251"/>
                  <a:pt x="45917" y="92251"/>
                  <a:pt x="43495" y="89803"/>
                </a:cubicBezTo>
                <a:cubicBezTo>
                  <a:pt x="41073" y="87355"/>
                  <a:pt x="41047" y="83396"/>
                  <a:pt x="43495" y="80974"/>
                </a:cubicBezTo>
                <a:lnTo>
                  <a:pt x="57820" y="66649"/>
                </a:lnTo>
                <a:lnTo>
                  <a:pt x="43495" y="52324"/>
                </a:lnTo>
                <a:cubicBezTo>
                  <a:pt x="41047" y="49876"/>
                  <a:pt x="41047" y="45917"/>
                  <a:pt x="43495" y="43495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34" name="Text 24">
            <a:extLst>
              <a:ext uri="{FF2B5EF4-FFF2-40B4-BE49-F238E27FC236}">
                <a16:creationId xmlns:a16="http://schemas.microsoft.com/office/drawing/2014/main" id="{DAAD4597-1AA7-23AD-4F23-14277AAD00B0}"/>
              </a:ext>
            </a:extLst>
          </p:cNvPr>
          <p:cNvSpPr/>
          <p:nvPr/>
        </p:nvSpPr>
        <p:spPr>
          <a:xfrm>
            <a:off x="739021" y="3301245"/>
            <a:ext cx="51530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Drawbacks:</a:t>
            </a: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Limited to numerical data only, cannot process text, struggles with high-dimensional inputs, slow training.</a:t>
            </a:r>
            <a:endParaRPr lang="en-US" sz="1600" dirty="0"/>
          </a:p>
        </p:txBody>
      </p:sp>
      <p:sp>
        <p:nvSpPr>
          <p:cNvPr id="235" name="Shape 25">
            <a:extLst>
              <a:ext uri="{FF2B5EF4-FFF2-40B4-BE49-F238E27FC236}">
                <a16:creationId xmlns:a16="http://schemas.microsoft.com/office/drawing/2014/main" id="{DEEDE71D-3834-38C4-046D-A6784937213F}"/>
              </a:ext>
            </a:extLst>
          </p:cNvPr>
          <p:cNvSpPr/>
          <p:nvPr/>
        </p:nvSpPr>
        <p:spPr>
          <a:xfrm>
            <a:off x="6214110" y="1171697"/>
            <a:ext cx="5589270" cy="2665095"/>
          </a:xfrm>
          <a:custGeom>
            <a:avLst/>
            <a:gdLst/>
            <a:ahLst/>
            <a:cxnLst/>
            <a:rect l="l" t="t" r="r" b="b"/>
            <a:pathLst>
              <a:path w="5589270" h="2665095">
                <a:moveTo>
                  <a:pt x="0" y="0"/>
                </a:moveTo>
                <a:lnTo>
                  <a:pt x="5589270" y="0"/>
                </a:lnTo>
                <a:lnTo>
                  <a:pt x="5589270" y="2665095"/>
                </a:lnTo>
                <a:lnTo>
                  <a:pt x="0" y="2665095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0160">
            <a:solidFill>
              <a:schemeClr val="tx1">
                <a:alpha val="30196"/>
              </a:schemeClr>
            </a:solidFill>
            <a:prstDash val="solid"/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236" name="Shape 26">
            <a:extLst>
              <a:ext uri="{FF2B5EF4-FFF2-40B4-BE49-F238E27FC236}">
                <a16:creationId xmlns:a16="http://schemas.microsoft.com/office/drawing/2014/main" id="{54ABC966-4FFB-9915-49A3-4965CE6F65E5}"/>
              </a:ext>
            </a:extLst>
          </p:cNvPr>
          <p:cNvSpPr/>
          <p:nvPr/>
        </p:nvSpPr>
        <p:spPr>
          <a:xfrm>
            <a:off x="6370320" y="132790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0"/>
                </a:lnTo>
                <a:lnTo>
                  <a:pt x="3048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0070C0"/>
          </a:solidFill>
          <a:ln/>
        </p:spPr>
      </p:sp>
      <p:sp>
        <p:nvSpPr>
          <p:cNvPr id="237" name="Text 27">
            <a:extLst>
              <a:ext uri="{FF2B5EF4-FFF2-40B4-BE49-F238E27FC236}">
                <a16:creationId xmlns:a16="http://schemas.microsoft.com/office/drawing/2014/main" id="{A14A0486-BD15-CA63-5E74-08AD88425404}"/>
              </a:ext>
            </a:extLst>
          </p:cNvPr>
          <p:cNvSpPr/>
          <p:nvPr/>
        </p:nvSpPr>
        <p:spPr>
          <a:xfrm>
            <a:off x="6336982" y="1327905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A2</a:t>
            </a:r>
            <a:endParaRPr lang="en-US" sz="1600" dirty="0"/>
          </a:p>
        </p:txBody>
      </p:sp>
      <p:sp>
        <p:nvSpPr>
          <p:cNvPr id="238" name="Text 28">
            <a:extLst>
              <a:ext uri="{FF2B5EF4-FFF2-40B4-BE49-F238E27FC236}">
                <a16:creationId xmlns:a16="http://schemas.microsoft.com/office/drawing/2014/main" id="{708B9859-D9BE-84B9-E362-4B24B8F2B898}"/>
              </a:ext>
            </a:extLst>
          </p:cNvPr>
          <p:cNvSpPr/>
          <p:nvPr/>
        </p:nvSpPr>
        <p:spPr>
          <a:xfrm>
            <a:off x="6751320" y="1346955"/>
            <a:ext cx="1924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CNN-only Architecture</a:t>
            </a:r>
            <a:endParaRPr lang="en-US" sz="1600" dirty="0"/>
          </a:p>
        </p:txBody>
      </p:sp>
      <p:sp>
        <p:nvSpPr>
          <p:cNvPr id="239" name="Shape 29">
            <a:extLst>
              <a:ext uri="{FF2B5EF4-FFF2-40B4-BE49-F238E27FC236}">
                <a16:creationId xmlns:a16="http://schemas.microsoft.com/office/drawing/2014/main" id="{996F0DFB-601F-ED5A-D36B-139D8C73D241}"/>
              </a:ext>
            </a:extLst>
          </p:cNvPr>
          <p:cNvSpPr/>
          <p:nvPr/>
        </p:nvSpPr>
        <p:spPr>
          <a:xfrm>
            <a:off x="6374130" y="1750815"/>
            <a:ext cx="5274945" cy="979170"/>
          </a:xfrm>
          <a:custGeom>
            <a:avLst/>
            <a:gdLst/>
            <a:ahLst/>
            <a:cxnLst/>
            <a:rect l="l" t="t" r="r" b="b"/>
            <a:pathLst>
              <a:path w="5274945" h="979170">
                <a:moveTo>
                  <a:pt x="0" y="0"/>
                </a:moveTo>
                <a:lnTo>
                  <a:pt x="5274945" y="0"/>
                </a:lnTo>
                <a:lnTo>
                  <a:pt x="5274945" y="979170"/>
                </a:lnTo>
                <a:lnTo>
                  <a:pt x="0" y="97917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10160">
            <a:solidFill>
              <a:srgbClr val="6B7280">
                <a:alpha val="20000"/>
              </a:srgbClr>
            </a:solidFill>
            <a:prstDash val="solid"/>
          </a:ln>
        </p:spPr>
      </p:sp>
      <p:sp>
        <p:nvSpPr>
          <p:cNvPr id="240" name="Text 30">
            <a:extLst>
              <a:ext uri="{FF2B5EF4-FFF2-40B4-BE49-F238E27FC236}">
                <a16:creationId xmlns:a16="http://schemas.microsoft.com/office/drawing/2014/main" id="{DBE65A59-2490-7171-0C8B-D6E0CE763E65}"/>
              </a:ext>
            </a:extLst>
          </p:cNvPr>
          <p:cNvSpPr/>
          <p:nvPr/>
        </p:nvSpPr>
        <p:spPr>
          <a:xfrm>
            <a:off x="6458903" y="1868923"/>
            <a:ext cx="5105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Architecture Flow</a:t>
            </a:r>
            <a:endParaRPr lang="en-US" sz="1600" dirty="0"/>
          </a:p>
        </p:txBody>
      </p:sp>
      <p:sp>
        <p:nvSpPr>
          <p:cNvPr id="241" name="Shape 31">
            <a:extLst>
              <a:ext uri="{FF2B5EF4-FFF2-40B4-BE49-F238E27FC236}">
                <a16:creationId xmlns:a16="http://schemas.microsoft.com/office/drawing/2014/main" id="{6810288A-F525-935C-4A49-44C23C7ECC94}"/>
              </a:ext>
            </a:extLst>
          </p:cNvPr>
          <p:cNvSpPr/>
          <p:nvPr/>
        </p:nvSpPr>
        <p:spPr>
          <a:xfrm>
            <a:off x="7062788" y="2139433"/>
            <a:ext cx="807720" cy="464820"/>
          </a:xfrm>
          <a:custGeom>
            <a:avLst/>
            <a:gdLst/>
            <a:ahLst/>
            <a:cxnLst/>
            <a:rect l="l" t="t" r="r" b="b"/>
            <a:pathLst>
              <a:path w="807720" h="464820">
                <a:moveTo>
                  <a:pt x="0" y="0"/>
                </a:moveTo>
                <a:lnTo>
                  <a:pt x="807720" y="0"/>
                </a:lnTo>
                <a:lnTo>
                  <a:pt x="807720" y="464820"/>
                </a:lnTo>
                <a:lnTo>
                  <a:pt x="0" y="46482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0160">
            <a:solidFill>
              <a:srgbClr val="6B7280">
                <a:alpha val="30196"/>
              </a:srgbClr>
            </a:solidFill>
            <a:prstDash val="solid"/>
          </a:ln>
        </p:spPr>
      </p:sp>
      <p:sp>
        <p:nvSpPr>
          <p:cNvPr id="242" name="Text 32">
            <a:extLst>
              <a:ext uri="{FF2B5EF4-FFF2-40B4-BE49-F238E27FC236}">
                <a16:creationId xmlns:a16="http://schemas.microsoft.com/office/drawing/2014/main" id="{83603EC9-9CAE-6519-A5AD-B0160EAC41EB}"/>
              </a:ext>
            </a:extLst>
          </p:cNvPr>
          <p:cNvSpPr/>
          <p:nvPr/>
        </p:nvSpPr>
        <p:spPr>
          <a:xfrm>
            <a:off x="7058978" y="2135623"/>
            <a:ext cx="857250" cy="4572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Input Layer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(Image/Text)</a:t>
            </a:r>
            <a:endParaRPr lang="en-US" sz="1600" dirty="0"/>
          </a:p>
        </p:txBody>
      </p:sp>
      <p:sp>
        <p:nvSpPr>
          <p:cNvPr id="243" name="Shape 33">
            <a:extLst>
              <a:ext uri="{FF2B5EF4-FFF2-40B4-BE49-F238E27FC236}">
                <a16:creationId xmlns:a16="http://schemas.microsoft.com/office/drawing/2014/main" id="{9D88E12F-13F4-DF38-0C53-875A049B455E}"/>
              </a:ext>
            </a:extLst>
          </p:cNvPr>
          <p:cNvSpPr/>
          <p:nvPr/>
        </p:nvSpPr>
        <p:spPr>
          <a:xfrm>
            <a:off x="7964805" y="2314575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2202" y="62195"/>
                </a:moveTo>
                <a:cubicBezTo>
                  <a:pt x="114992" y="59405"/>
                  <a:pt x="114992" y="54873"/>
                  <a:pt x="112202" y="52082"/>
                </a:cubicBezTo>
                <a:lnTo>
                  <a:pt x="76483" y="16364"/>
                </a:lnTo>
                <a:cubicBezTo>
                  <a:pt x="73692" y="13573"/>
                  <a:pt x="69160" y="13573"/>
                  <a:pt x="66370" y="16364"/>
                </a:cubicBezTo>
                <a:cubicBezTo>
                  <a:pt x="63579" y="19154"/>
                  <a:pt x="63579" y="23686"/>
                  <a:pt x="66370" y="26477"/>
                </a:cubicBezTo>
                <a:lnTo>
                  <a:pt x="89900" y="50006"/>
                </a:lnTo>
                <a:lnTo>
                  <a:pt x="7144" y="50006"/>
                </a:lnTo>
                <a:cubicBezTo>
                  <a:pt x="3192" y="50006"/>
                  <a:pt x="0" y="53199"/>
                  <a:pt x="0" y="57150"/>
                </a:cubicBezTo>
                <a:cubicBezTo>
                  <a:pt x="0" y="61101"/>
                  <a:pt x="3192" y="64294"/>
                  <a:pt x="7144" y="64294"/>
                </a:cubicBezTo>
                <a:lnTo>
                  <a:pt x="89900" y="64294"/>
                </a:lnTo>
                <a:lnTo>
                  <a:pt x="66370" y="87823"/>
                </a:lnTo>
                <a:cubicBezTo>
                  <a:pt x="63579" y="90614"/>
                  <a:pt x="63579" y="95146"/>
                  <a:pt x="66370" y="97936"/>
                </a:cubicBezTo>
                <a:cubicBezTo>
                  <a:pt x="69160" y="100727"/>
                  <a:pt x="73692" y="100727"/>
                  <a:pt x="76483" y="97936"/>
                </a:cubicBezTo>
                <a:lnTo>
                  <a:pt x="112202" y="62218"/>
                </a:lnTo>
                <a:close/>
              </a:path>
            </a:pathLst>
          </a:custGeom>
          <a:solidFill>
            <a:srgbClr val="6B7280"/>
          </a:solidFill>
          <a:ln/>
        </p:spPr>
      </p:sp>
      <p:sp>
        <p:nvSpPr>
          <p:cNvPr id="244" name="Shape 34">
            <a:extLst>
              <a:ext uri="{FF2B5EF4-FFF2-40B4-BE49-F238E27FC236}">
                <a16:creationId xmlns:a16="http://schemas.microsoft.com/office/drawing/2014/main" id="{FE97C4EC-BC14-7544-6AD4-A18120810DDE}"/>
              </a:ext>
            </a:extLst>
          </p:cNvPr>
          <p:cNvSpPr/>
          <p:nvPr/>
        </p:nvSpPr>
        <p:spPr>
          <a:xfrm>
            <a:off x="8173403" y="2139433"/>
            <a:ext cx="741045" cy="464820"/>
          </a:xfrm>
          <a:custGeom>
            <a:avLst/>
            <a:gdLst/>
            <a:ahLst/>
            <a:cxnLst/>
            <a:rect l="l" t="t" r="r" b="b"/>
            <a:pathLst>
              <a:path w="741045" h="464820">
                <a:moveTo>
                  <a:pt x="0" y="0"/>
                </a:moveTo>
                <a:lnTo>
                  <a:pt x="741045" y="0"/>
                </a:lnTo>
                <a:lnTo>
                  <a:pt x="741045" y="464820"/>
                </a:lnTo>
                <a:lnTo>
                  <a:pt x="0" y="46482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0160">
            <a:solidFill>
              <a:srgbClr val="6B7280">
                <a:alpha val="30196"/>
              </a:srgbClr>
            </a:solidFill>
            <a:prstDash val="solid"/>
          </a:ln>
        </p:spPr>
      </p:sp>
      <p:sp>
        <p:nvSpPr>
          <p:cNvPr id="245" name="Text 35">
            <a:extLst>
              <a:ext uri="{FF2B5EF4-FFF2-40B4-BE49-F238E27FC236}">
                <a16:creationId xmlns:a16="http://schemas.microsoft.com/office/drawing/2014/main" id="{34F159E0-2B72-3ABB-308A-780170FF69AA}"/>
              </a:ext>
            </a:extLst>
          </p:cNvPr>
          <p:cNvSpPr/>
          <p:nvPr/>
        </p:nvSpPr>
        <p:spPr>
          <a:xfrm>
            <a:off x="8169593" y="2135623"/>
            <a:ext cx="790575" cy="4572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Conv Layer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(64 filters)</a:t>
            </a:r>
            <a:endParaRPr lang="en-US" sz="1600" dirty="0"/>
          </a:p>
        </p:txBody>
      </p:sp>
      <p:sp>
        <p:nvSpPr>
          <p:cNvPr id="246" name="Shape 36">
            <a:extLst>
              <a:ext uri="{FF2B5EF4-FFF2-40B4-BE49-F238E27FC236}">
                <a16:creationId xmlns:a16="http://schemas.microsoft.com/office/drawing/2014/main" id="{2EC8113F-6A57-9465-E9D2-38A54FA02D78}"/>
              </a:ext>
            </a:extLst>
          </p:cNvPr>
          <p:cNvSpPr/>
          <p:nvPr/>
        </p:nvSpPr>
        <p:spPr>
          <a:xfrm>
            <a:off x="9006840" y="2314575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2202" y="62195"/>
                </a:moveTo>
                <a:cubicBezTo>
                  <a:pt x="114992" y="59405"/>
                  <a:pt x="114992" y="54873"/>
                  <a:pt x="112202" y="52082"/>
                </a:cubicBezTo>
                <a:lnTo>
                  <a:pt x="76483" y="16364"/>
                </a:lnTo>
                <a:cubicBezTo>
                  <a:pt x="73692" y="13573"/>
                  <a:pt x="69160" y="13573"/>
                  <a:pt x="66370" y="16364"/>
                </a:cubicBezTo>
                <a:cubicBezTo>
                  <a:pt x="63579" y="19154"/>
                  <a:pt x="63579" y="23686"/>
                  <a:pt x="66370" y="26477"/>
                </a:cubicBezTo>
                <a:lnTo>
                  <a:pt x="89900" y="50006"/>
                </a:lnTo>
                <a:lnTo>
                  <a:pt x="7144" y="50006"/>
                </a:lnTo>
                <a:cubicBezTo>
                  <a:pt x="3192" y="50006"/>
                  <a:pt x="0" y="53199"/>
                  <a:pt x="0" y="57150"/>
                </a:cubicBezTo>
                <a:cubicBezTo>
                  <a:pt x="0" y="61101"/>
                  <a:pt x="3192" y="64294"/>
                  <a:pt x="7144" y="64294"/>
                </a:cubicBezTo>
                <a:lnTo>
                  <a:pt x="89900" y="64294"/>
                </a:lnTo>
                <a:lnTo>
                  <a:pt x="66370" y="87823"/>
                </a:lnTo>
                <a:cubicBezTo>
                  <a:pt x="63579" y="90614"/>
                  <a:pt x="63579" y="95146"/>
                  <a:pt x="66370" y="97936"/>
                </a:cubicBezTo>
                <a:cubicBezTo>
                  <a:pt x="69160" y="100727"/>
                  <a:pt x="73692" y="100727"/>
                  <a:pt x="76483" y="97936"/>
                </a:cubicBezTo>
                <a:lnTo>
                  <a:pt x="112202" y="62218"/>
                </a:lnTo>
                <a:close/>
              </a:path>
            </a:pathLst>
          </a:custGeom>
          <a:solidFill>
            <a:srgbClr val="6B7280"/>
          </a:solidFill>
          <a:ln/>
        </p:spPr>
      </p:sp>
      <p:sp>
        <p:nvSpPr>
          <p:cNvPr id="247" name="Shape 37">
            <a:extLst>
              <a:ext uri="{FF2B5EF4-FFF2-40B4-BE49-F238E27FC236}">
                <a16:creationId xmlns:a16="http://schemas.microsoft.com/office/drawing/2014/main" id="{FD065C64-04FE-1724-1A77-372971EC1B5D}"/>
              </a:ext>
            </a:extLst>
          </p:cNvPr>
          <p:cNvSpPr/>
          <p:nvPr/>
        </p:nvSpPr>
        <p:spPr>
          <a:xfrm>
            <a:off x="9215438" y="2139433"/>
            <a:ext cx="674370" cy="464820"/>
          </a:xfrm>
          <a:custGeom>
            <a:avLst/>
            <a:gdLst/>
            <a:ahLst/>
            <a:cxnLst/>
            <a:rect l="l" t="t" r="r" b="b"/>
            <a:pathLst>
              <a:path w="674370" h="464820">
                <a:moveTo>
                  <a:pt x="0" y="0"/>
                </a:moveTo>
                <a:lnTo>
                  <a:pt x="674370" y="0"/>
                </a:lnTo>
                <a:lnTo>
                  <a:pt x="674370" y="464820"/>
                </a:lnTo>
                <a:lnTo>
                  <a:pt x="0" y="46482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0160">
            <a:solidFill>
              <a:srgbClr val="6B7280">
                <a:alpha val="30196"/>
              </a:srgbClr>
            </a:solidFill>
            <a:prstDash val="solid"/>
          </a:ln>
        </p:spPr>
      </p:sp>
      <p:sp>
        <p:nvSpPr>
          <p:cNvPr id="248" name="Text 38">
            <a:extLst>
              <a:ext uri="{FF2B5EF4-FFF2-40B4-BE49-F238E27FC236}">
                <a16:creationId xmlns:a16="http://schemas.microsoft.com/office/drawing/2014/main" id="{2B8D5F84-8BF4-83F2-B159-BA54D23B269D}"/>
              </a:ext>
            </a:extLst>
          </p:cNvPr>
          <p:cNvSpPr/>
          <p:nvPr/>
        </p:nvSpPr>
        <p:spPr>
          <a:xfrm>
            <a:off x="9211628" y="2135623"/>
            <a:ext cx="723900" cy="4572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Pool Layer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(MaxPool)</a:t>
            </a:r>
            <a:endParaRPr lang="en-US" sz="1600" dirty="0"/>
          </a:p>
        </p:txBody>
      </p:sp>
      <p:sp>
        <p:nvSpPr>
          <p:cNvPr id="249" name="Shape 39">
            <a:extLst>
              <a:ext uri="{FF2B5EF4-FFF2-40B4-BE49-F238E27FC236}">
                <a16:creationId xmlns:a16="http://schemas.microsoft.com/office/drawing/2014/main" id="{7B9C097E-ADD6-E584-0129-1D971842F592}"/>
              </a:ext>
            </a:extLst>
          </p:cNvPr>
          <p:cNvSpPr/>
          <p:nvPr/>
        </p:nvSpPr>
        <p:spPr>
          <a:xfrm>
            <a:off x="9980295" y="2314575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2202" y="62195"/>
                </a:moveTo>
                <a:cubicBezTo>
                  <a:pt x="114992" y="59405"/>
                  <a:pt x="114992" y="54873"/>
                  <a:pt x="112202" y="52082"/>
                </a:cubicBezTo>
                <a:lnTo>
                  <a:pt x="76483" y="16364"/>
                </a:lnTo>
                <a:cubicBezTo>
                  <a:pt x="73692" y="13573"/>
                  <a:pt x="69160" y="13573"/>
                  <a:pt x="66370" y="16364"/>
                </a:cubicBezTo>
                <a:cubicBezTo>
                  <a:pt x="63579" y="19154"/>
                  <a:pt x="63579" y="23686"/>
                  <a:pt x="66370" y="26477"/>
                </a:cubicBezTo>
                <a:lnTo>
                  <a:pt x="89900" y="50006"/>
                </a:lnTo>
                <a:lnTo>
                  <a:pt x="7144" y="50006"/>
                </a:lnTo>
                <a:cubicBezTo>
                  <a:pt x="3192" y="50006"/>
                  <a:pt x="0" y="53199"/>
                  <a:pt x="0" y="57150"/>
                </a:cubicBezTo>
                <a:cubicBezTo>
                  <a:pt x="0" y="61101"/>
                  <a:pt x="3192" y="64294"/>
                  <a:pt x="7144" y="64294"/>
                </a:cubicBezTo>
                <a:lnTo>
                  <a:pt x="89900" y="64294"/>
                </a:lnTo>
                <a:lnTo>
                  <a:pt x="66370" y="87823"/>
                </a:lnTo>
                <a:cubicBezTo>
                  <a:pt x="63579" y="90614"/>
                  <a:pt x="63579" y="95146"/>
                  <a:pt x="66370" y="97936"/>
                </a:cubicBezTo>
                <a:cubicBezTo>
                  <a:pt x="69160" y="100727"/>
                  <a:pt x="73692" y="100727"/>
                  <a:pt x="76483" y="97936"/>
                </a:cubicBezTo>
                <a:lnTo>
                  <a:pt x="112202" y="62218"/>
                </a:lnTo>
                <a:close/>
              </a:path>
            </a:pathLst>
          </a:custGeom>
          <a:solidFill>
            <a:srgbClr val="6B7280"/>
          </a:solidFill>
          <a:ln/>
        </p:spPr>
      </p:sp>
      <p:sp>
        <p:nvSpPr>
          <p:cNvPr id="250" name="Shape 40">
            <a:extLst>
              <a:ext uri="{FF2B5EF4-FFF2-40B4-BE49-F238E27FC236}">
                <a16:creationId xmlns:a16="http://schemas.microsoft.com/office/drawing/2014/main" id="{E08BDA87-BF74-D4EA-B08A-59173104B5ED}"/>
              </a:ext>
            </a:extLst>
          </p:cNvPr>
          <p:cNvSpPr/>
          <p:nvPr/>
        </p:nvSpPr>
        <p:spPr>
          <a:xfrm>
            <a:off x="10188893" y="2139433"/>
            <a:ext cx="769620" cy="464820"/>
          </a:xfrm>
          <a:custGeom>
            <a:avLst/>
            <a:gdLst/>
            <a:ahLst/>
            <a:cxnLst/>
            <a:rect l="l" t="t" r="r" b="b"/>
            <a:pathLst>
              <a:path w="769620" h="464820">
                <a:moveTo>
                  <a:pt x="0" y="0"/>
                </a:moveTo>
                <a:lnTo>
                  <a:pt x="769620" y="0"/>
                </a:lnTo>
                <a:lnTo>
                  <a:pt x="769620" y="464820"/>
                </a:lnTo>
                <a:lnTo>
                  <a:pt x="0" y="46482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0160">
            <a:solidFill>
              <a:srgbClr val="6B7280">
                <a:alpha val="30196"/>
              </a:srgbClr>
            </a:solidFill>
            <a:prstDash val="solid"/>
          </a:ln>
        </p:spPr>
      </p:sp>
      <p:sp>
        <p:nvSpPr>
          <p:cNvPr id="251" name="Text 41">
            <a:extLst>
              <a:ext uri="{FF2B5EF4-FFF2-40B4-BE49-F238E27FC236}">
                <a16:creationId xmlns:a16="http://schemas.microsoft.com/office/drawing/2014/main" id="{7F67E273-D17F-D8C1-2B74-A64FD68EF99F}"/>
              </a:ext>
            </a:extLst>
          </p:cNvPr>
          <p:cNvSpPr/>
          <p:nvPr/>
        </p:nvSpPr>
        <p:spPr>
          <a:xfrm>
            <a:off x="10185083" y="2135623"/>
            <a:ext cx="819150" cy="4572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Dense Layer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(Output)</a:t>
            </a:r>
            <a:endParaRPr lang="en-US" sz="1600" dirty="0"/>
          </a:p>
        </p:txBody>
      </p:sp>
      <p:sp>
        <p:nvSpPr>
          <p:cNvPr id="252" name="Shape 42">
            <a:extLst>
              <a:ext uri="{FF2B5EF4-FFF2-40B4-BE49-F238E27FC236}">
                <a16:creationId xmlns:a16="http://schemas.microsoft.com/office/drawing/2014/main" id="{0AD8DDEF-2070-76D3-74AE-B87B7F3D821C}"/>
              </a:ext>
            </a:extLst>
          </p:cNvPr>
          <p:cNvSpPr/>
          <p:nvPr/>
        </p:nvSpPr>
        <p:spPr>
          <a:xfrm>
            <a:off x="6370320" y="288214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00A63E"/>
          </a:solidFill>
          <a:ln/>
        </p:spPr>
      </p:sp>
      <p:sp>
        <p:nvSpPr>
          <p:cNvPr id="253" name="Text 43">
            <a:extLst>
              <a:ext uri="{FF2B5EF4-FFF2-40B4-BE49-F238E27FC236}">
                <a16:creationId xmlns:a16="http://schemas.microsoft.com/office/drawing/2014/main" id="{EFAB0E23-8696-A322-DC4B-F8D8C20EA357}"/>
              </a:ext>
            </a:extLst>
          </p:cNvPr>
          <p:cNvSpPr/>
          <p:nvPr/>
        </p:nvSpPr>
        <p:spPr>
          <a:xfrm>
            <a:off x="6581775" y="2844045"/>
            <a:ext cx="51339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Strengths:</a:t>
            </a: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Excellent feature extraction, handles spatial patterns, effective for image/text data, parallelizable.</a:t>
            </a:r>
            <a:endParaRPr lang="en-US" sz="1600" dirty="0"/>
          </a:p>
        </p:txBody>
      </p:sp>
      <p:sp>
        <p:nvSpPr>
          <p:cNvPr id="254" name="Shape 44">
            <a:extLst>
              <a:ext uri="{FF2B5EF4-FFF2-40B4-BE49-F238E27FC236}">
                <a16:creationId xmlns:a16="http://schemas.microsoft.com/office/drawing/2014/main" id="{C6A949B9-E473-5C0E-4F1E-3625ACF36600}"/>
              </a:ext>
            </a:extLst>
          </p:cNvPr>
          <p:cNvSpPr/>
          <p:nvPr/>
        </p:nvSpPr>
        <p:spPr>
          <a:xfrm>
            <a:off x="6365557" y="333934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43495" y="43495"/>
                </a:moveTo>
                <a:cubicBezTo>
                  <a:pt x="45943" y="41047"/>
                  <a:pt x="49902" y="41047"/>
                  <a:pt x="52324" y="43495"/>
                </a:cubicBezTo>
                <a:lnTo>
                  <a:pt x="66649" y="57820"/>
                </a:lnTo>
                <a:lnTo>
                  <a:pt x="80974" y="43495"/>
                </a:lnTo>
                <a:cubicBezTo>
                  <a:pt x="83422" y="41047"/>
                  <a:pt x="87381" y="41047"/>
                  <a:pt x="89803" y="43495"/>
                </a:cubicBezTo>
                <a:cubicBezTo>
                  <a:pt x="92225" y="45943"/>
                  <a:pt x="92251" y="49902"/>
                  <a:pt x="89803" y="52324"/>
                </a:cubicBezTo>
                <a:lnTo>
                  <a:pt x="75478" y="66649"/>
                </a:lnTo>
                <a:lnTo>
                  <a:pt x="89803" y="80974"/>
                </a:lnTo>
                <a:cubicBezTo>
                  <a:pt x="92251" y="83422"/>
                  <a:pt x="92251" y="87381"/>
                  <a:pt x="89803" y="89803"/>
                </a:cubicBezTo>
                <a:cubicBezTo>
                  <a:pt x="87355" y="92225"/>
                  <a:pt x="83396" y="92251"/>
                  <a:pt x="80974" y="89803"/>
                </a:cubicBezTo>
                <a:lnTo>
                  <a:pt x="66649" y="75478"/>
                </a:lnTo>
                <a:lnTo>
                  <a:pt x="52324" y="89803"/>
                </a:lnTo>
                <a:cubicBezTo>
                  <a:pt x="49876" y="92251"/>
                  <a:pt x="45917" y="92251"/>
                  <a:pt x="43495" y="89803"/>
                </a:cubicBezTo>
                <a:cubicBezTo>
                  <a:pt x="41073" y="87355"/>
                  <a:pt x="41047" y="83396"/>
                  <a:pt x="43495" y="80974"/>
                </a:cubicBezTo>
                <a:lnTo>
                  <a:pt x="57820" y="66649"/>
                </a:lnTo>
                <a:lnTo>
                  <a:pt x="43495" y="52324"/>
                </a:lnTo>
                <a:cubicBezTo>
                  <a:pt x="41047" y="49876"/>
                  <a:pt x="41047" y="45917"/>
                  <a:pt x="43495" y="43495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55" name="Text 45">
            <a:extLst>
              <a:ext uri="{FF2B5EF4-FFF2-40B4-BE49-F238E27FC236}">
                <a16:creationId xmlns:a16="http://schemas.microsoft.com/office/drawing/2014/main" id="{525FF0DB-4CC5-1AEE-ABF6-37C80B4FD3C5}"/>
              </a:ext>
            </a:extLst>
          </p:cNvPr>
          <p:cNvSpPr/>
          <p:nvPr/>
        </p:nvSpPr>
        <p:spPr>
          <a:xfrm>
            <a:off x="6569512" y="3301245"/>
            <a:ext cx="5143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Drawbacks:</a:t>
            </a: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No sequential understanding, limited temporal modeling, fixed receptive field, ignores time dependencies.</a:t>
            </a:r>
            <a:endParaRPr lang="en-US" sz="1600" dirty="0"/>
          </a:p>
        </p:txBody>
      </p:sp>
      <p:sp>
        <p:nvSpPr>
          <p:cNvPr id="257" name="Shape 47">
            <a:extLst>
              <a:ext uri="{FF2B5EF4-FFF2-40B4-BE49-F238E27FC236}">
                <a16:creationId xmlns:a16="http://schemas.microsoft.com/office/drawing/2014/main" id="{715836B8-D04F-8514-E21C-36E6987F7B59}"/>
              </a:ext>
            </a:extLst>
          </p:cNvPr>
          <p:cNvSpPr/>
          <p:nvPr/>
        </p:nvSpPr>
        <p:spPr>
          <a:xfrm>
            <a:off x="400050" y="3994668"/>
            <a:ext cx="38100" cy="1676400"/>
          </a:xfrm>
          <a:custGeom>
            <a:avLst/>
            <a:gdLst/>
            <a:ahLst/>
            <a:cxnLst/>
            <a:rect l="l" t="t" r="r" b="b"/>
            <a:pathLst>
              <a:path w="38100" h="1676400">
                <a:moveTo>
                  <a:pt x="0" y="0"/>
                </a:moveTo>
                <a:lnTo>
                  <a:pt x="38100" y="0"/>
                </a:lnTo>
                <a:lnTo>
                  <a:pt x="38100" y="1676400"/>
                </a:lnTo>
                <a:lnTo>
                  <a:pt x="0" y="1676400"/>
                </a:lnTo>
                <a:lnTo>
                  <a:pt x="0" y="0"/>
                </a:lnTo>
                <a:close/>
              </a:path>
            </a:pathLst>
          </a:custGeom>
          <a:solidFill>
            <a:srgbClr val="0070C0"/>
          </a:solidFill>
          <a:ln/>
        </p:spPr>
      </p:sp>
      <p:sp>
        <p:nvSpPr>
          <p:cNvPr id="258" name="Text 48">
            <a:extLst>
              <a:ext uri="{FF2B5EF4-FFF2-40B4-BE49-F238E27FC236}">
                <a16:creationId xmlns:a16="http://schemas.microsoft.com/office/drawing/2014/main" id="{DDBE707D-0F2E-63C4-D912-704ECDE39582}"/>
              </a:ext>
            </a:extLst>
          </p:cNvPr>
          <p:cNvSpPr/>
          <p:nvPr/>
        </p:nvSpPr>
        <p:spPr>
          <a:xfrm>
            <a:off x="571500" y="4147068"/>
            <a:ext cx="11172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Why Existing Architectures Fall Short</a:t>
            </a:r>
            <a:endParaRPr lang="en-US" sz="1600" dirty="0"/>
          </a:p>
        </p:txBody>
      </p:sp>
      <p:sp>
        <p:nvSpPr>
          <p:cNvPr id="259" name="Text 49">
            <a:extLst>
              <a:ext uri="{FF2B5EF4-FFF2-40B4-BE49-F238E27FC236}">
                <a16:creationId xmlns:a16="http://schemas.microsoft.com/office/drawing/2014/main" id="{C196729B-4D9C-02B5-0199-D2F948FF963A}"/>
              </a:ext>
            </a:extLst>
          </p:cNvPr>
          <p:cNvSpPr/>
          <p:nvPr/>
        </p:nvSpPr>
        <p:spPr>
          <a:xfrm>
            <a:off x="571500" y="4528068"/>
            <a:ext cx="133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•</a:t>
            </a:r>
            <a:endParaRPr lang="en-US" sz="1600" dirty="0"/>
          </a:p>
        </p:txBody>
      </p:sp>
      <p:sp>
        <p:nvSpPr>
          <p:cNvPr id="260" name="Text 50">
            <a:extLst>
              <a:ext uri="{FF2B5EF4-FFF2-40B4-BE49-F238E27FC236}">
                <a16:creationId xmlns:a16="http://schemas.microsoft.com/office/drawing/2014/main" id="{170A163B-578B-B636-E5FC-667306E6418C}"/>
              </a:ext>
            </a:extLst>
          </p:cNvPr>
          <p:cNvSpPr/>
          <p:nvPr/>
        </p:nvSpPr>
        <p:spPr>
          <a:xfrm>
            <a:off x="708660" y="4528068"/>
            <a:ext cx="541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Single-Modality Limitation:</a:t>
            </a: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Neither LSTM nor CNN alone can process both time-series and textual data simultaneously.</a:t>
            </a:r>
            <a:endParaRPr lang="en-US" sz="1600" dirty="0"/>
          </a:p>
        </p:txBody>
      </p:sp>
      <p:sp>
        <p:nvSpPr>
          <p:cNvPr id="261" name="Text 51">
            <a:extLst>
              <a:ext uri="{FF2B5EF4-FFF2-40B4-BE49-F238E27FC236}">
                <a16:creationId xmlns:a16="http://schemas.microsoft.com/office/drawing/2014/main" id="{5108D23C-D21E-6E2F-0867-AAF7F42B2DB8}"/>
              </a:ext>
            </a:extLst>
          </p:cNvPr>
          <p:cNvSpPr/>
          <p:nvPr/>
        </p:nvSpPr>
        <p:spPr>
          <a:xfrm>
            <a:off x="571500" y="5061468"/>
            <a:ext cx="133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•</a:t>
            </a:r>
            <a:endParaRPr lang="en-US" sz="1600" dirty="0"/>
          </a:p>
        </p:txBody>
      </p:sp>
      <p:sp>
        <p:nvSpPr>
          <p:cNvPr id="262" name="Text 52">
            <a:extLst>
              <a:ext uri="{FF2B5EF4-FFF2-40B4-BE49-F238E27FC236}">
                <a16:creationId xmlns:a16="http://schemas.microsoft.com/office/drawing/2014/main" id="{1CE9EA3A-606A-F149-C062-E3D40CD5DD18}"/>
              </a:ext>
            </a:extLst>
          </p:cNvPr>
          <p:cNvSpPr/>
          <p:nvPr/>
        </p:nvSpPr>
        <p:spPr>
          <a:xfrm>
            <a:off x="708660" y="5061468"/>
            <a:ext cx="541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Incomplete Feature Set:</a:t>
            </a: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Financial markets require understanding of both numerical trends and qualitative information.</a:t>
            </a:r>
            <a:endParaRPr lang="en-US" sz="1600" dirty="0"/>
          </a:p>
        </p:txBody>
      </p:sp>
      <p:sp>
        <p:nvSpPr>
          <p:cNvPr id="263" name="Text 53">
            <a:extLst>
              <a:ext uri="{FF2B5EF4-FFF2-40B4-BE49-F238E27FC236}">
                <a16:creationId xmlns:a16="http://schemas.microsoft.com/office/drawing/2014/main" id="{5C1F2410-4498-8BF4-93A9-96FE239ADC2E}"/>
              </a:ext>
            </a:extLst>
          </p:cNvPr>
          <p:cNvSpPr/>
          <p:nvPr/>
        </p:nvSpPr>
        <p:spPr>
          <a:xfrm>
            <a:off x="6191250" y="4528068"/>
            <a:ext cx="133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•</a:t>
            </a:r>
            <a:endParaRPr lang="en-US" sz="1600" dirty="0"/>
          </a:p>
        </p:txBody>
      </p:sp>
      <p:sp>
        <p:nvSpPr>
          <p:cNvPr id="264" name="Text 54">
            <a:extLst>
              <a:ext uri="{FF2B5EF4-FFF2-40B4-BE49-F238E27FC236}">
                <a16:creationId xmlns:a16="http://schemas.microsoft.com/office/drawing/2014/main" id="{12898F8C-C203-B916-1878-B4FB5AB00B65}"/>
              </a:ext>
            </a:extLst>
          </p:cNvPr>
          <p:cNvSpPr/>
          <p:nvPr/>
        </p:nvSpPr>
        <p:spPr>
          <a:xfrm>
            <a:off x="6328410" y="4528068"/>
            <a:ext cx="541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Suboptimal Performance:</a:t>
            </a: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Individual models achieve R² ≈ 0.40-0.50, insufficient for reliable portfolio decisions.</a:t>
            </a:r>
            <a:endParaRPr lang="en-US" sz="1600" dirty="0"/>
          </a:p>
        </p:txBody>
      </p:sp>
      <p:sp>
        <p:nvSpPr>
          <p:cNvPr id="265" name="Text 55">
            <a:extLst>
              <a:ext uri="{FF2B5EF4-FFF2-40B4-BE49-F238E27FC236}">
                <a16:creationId xmlns:a16="http://schemas.microsoft.com/office/drawing/2014/main" id="{367F1861-8562-BED0-446A-C7F07470B61C}"/>
              </a:ext>
            </a:extLst>
          </p:cNvPr>
          <p:cNvSpPr/>
          <p:nvPr/>
        </p:nvSpPr>
        <p:spPr>
          <a:xfrm>
            <a:off x="6191250" y="5061468"/>
            <a:ext cx="133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•</a:t>
            </a:r>
            <a:endParaRPr lang="en-US" sz="1600" dirty="0"/>
          </a:p>
        </p:txBody>
      </p:sp>
      <p:sp>
        <p:nvSpPr>
          <p:cNvPr id="266" name="Text 56">
            <a:extLst>
              <a:ext uri="{FF2B5EF4-FFF2-40B4-BE49-F238E27FC236}">
                <a16:creationId xmlns:a16="http://schemas.microsoft.com/office/drawing/2014/main" id="{C595EE37-2078-79D2-C644-0E98EC5B67B7}"/>
              </a:ext>
            </a:extLst>
          </p:cNvPr>
          <p:cNvSpPr/>
          <p:nvPr/>
        </p:nvSpPr>
        <p:spPr>
          <a:xfrm>
            <a:off x="6328410" y="5061468"/>
            <a:ext cx="541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No Risk Integration:</a:t>
            </a: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Existing architectures lack built-in risk assessment and portfolio optimization capabilities.</a:t>
            </a:r>
            <a:endParaRPr lang="en-US" sz="1600" dirty="0"/>
          </a:p>
        </p:txBody>
      </p:sp>
      <p:sp>
        <p:nvSpPr>
          <p:cNvPr id="268" name="Text 58">
            <a:extLst>
              <a:ext uri="{FF2B5EF4-FFF2-40B4-BE49-F238E27FC236}">
                <a16:creationId xmlns:a16="http://schemas.microsoft.com/office/drawing/2014/main" id="{17863A74-B61A-B677-B64A-BEA2D56CB7FC}"/>
              </a:ext>
            </a:extLst>
          </p:cNvPr>
          <p:cNvSpPr/>
          <p:nvPr/>
        </p:nvSpPr>
        <p:spPr>
          <a:xfrm>
            <a:off x="3859530" y="5937768"/>
            <a:ext cx="4476750" cy="381000"/>
          </a:xfrm>
          <a:prstGeom prst="rect">
            <a:avLst/>
          </a:prstGeom>
          <a:noFill/>
          <a:ln/>
        </p:spPr>
        <p:txBody>
          <a:bodyPr wrap="square" lIns="228600" tIns="76200" rIns="228600" bIns="7620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Need: Hybrid Architecture Combining Best of Both Worlds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76200" y="0"/>
                </a:moveTo>
                <a:lnTo>
                  <a:pt x="533400" y="0"/>
                </a:lnTo>
                <a:cubicBezTo>
                  <a:pt x="575456" y="0"/>
                  <a:pt x="609600" y="34144"/>
                  <a:pt x="609600" y="76200"/>
                </a:cubicBezTo>
                <a:lnTo>
                  <a:pt x="609600" y="533400"/>
                </a:lnTo>
                <a:cubicBezTo>
                  <a:pt x="609600" y="575456"/>
                  <a:pt x="575456" y="609600"/>
                  <a:pt x="53340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0000"/>
          </a:solidFill>
          <a:ln/>
        </p:spPr>
      </p:sp>
      <p:sp>
        <p:nvSpPr>
          <p:cNvPr id="3" name="Text 1"/>
          <p:cNvSpPr/>
          <p:nvPr/>
        </p:nvSpPr>
        <p:spPr>
          <a:xfrm>
            <a:off x="571500" y="514350"/>
            <a:ext cx="3714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43000" y="400050"/>
            <a:ext cx="3162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C75B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PROPOSED ARCHITECTURE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590550"/>
            <a:ext cx="32670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Architecture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1000" y="1143000"/>
            <a:ext cx="8153400" cy="5524500"/>
          </a:xfrm>
          <a:custGeom>
            <a:avLst/>
            <a:gdLst/>
            <a:ahLst/>
            <a:cxnLst/>
            <a:rect l="l" t="t" r="r" b="b"/>
            <a:pathLst>
              <a:path w="8153400" h="5524500">
                <a:moveTo>
                  <a:pt x="76183" y="0"/>
                </a:moveTo>
                <a:lnTo>
                  <a:pt x="8077217" y="0"/>
                </a:lnTo>
                <a:cubicBezTo>
                  <a:pt x="8119264" y="0"/>
                  <a:pt x="8153400" y="34136"/>
                  <a:pt x="8153400" y="76183"/>
                </a:cubicBezTo>
                <a:lnTo>
                  <a:pt x="8153400" y="5448317"/>
                </a:lnTo>
                <a:cubicBezTo>
                  <a:pt x="8153400" y="5490392"/>
                  <a:pt x="8119292" y="5524500"/>
                  <a:pt x="8077217" y="5524500"/>
                </a:cubicBezTo>
                <a:lnTo>
                  <a:pt x="76183" y="5524500"/>
                </a:lnTo>
                <a:cubicBezTo>
                  <a:pt x="34136" y="5524500"/>
                  <a:pt x="0" y="5490364"/>
                  <a:pt x="0" y="5448317"/>
                </a:cubicBezTo>
                <a:lnTo>
                  <a:pt x="0" y="76183"/>
                </a:lnTo>
                <a:cubicBezTo>
                  <a:pt x="0" y="34136"/>
                  <a:pt x="34136" y="0"/>
                  <a:pt x="76183" y="0"/>
                </a:cubicBezTo>
                <a:close/>
              </a:path>
            </a:pathLst>
          </a:custGeom>
          <a:solidFill>
            <a:srgbClr val="FFFFFF"/>
          </a:solidFill>
          <a:ln>
            <a:solidFill>
              <a:schemeClr val="tx1"/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23875" y="1333500"/>
            <a:ext cx="7867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QuantShield System Architecture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71500" y="1752600"/>
            <a:ext cx="3619500" cy="876300"/>
          </a:xfrm>
          <a:custGeom>
            <a:avLst/>
            <a:gdLst/>
            <a:ahLst/>
            <a:cxnLst/>
            <a:rect l="l" t="t" r="r" b="b"/>
            <a:pathLst>
              <a:path w="3619500" h="876300">
                <a:moveTo>
                  <a:pt x="76203" y="0"/>
                </a:moveTo>
                <a:lnTo>
                  <a:pt x="3543297" y="0"/>
                </a:lnTo>
                <a:cubicBezTo>
                  <a:pt x="3585383" y="0"/>
                  <a:pt x="3619500" y="34117"/>
                  <a:pt x="3619500" y="76203"/>
                </a:cubicBezTo>
                <a:lnTo>
                  <a:pt x="3619500" y="800097"/>
                </a:lnTo>
                <a:cubicBezTo>
                  <a:pt x="3619500" y="842183"/>
                  <a:pt x="3585383" y="876300"/>
                  <a:pt x="3543297" y="876300"/>
                </a:cubicBezTo>
                <a:lnTo>
                  <a:pt x="76203" y="876300"/>
                </a:lnTo>
                <a:cubicBezTo>
                  <a:pt x="34117" y="876300"/>
                  <a:pt x="0" y="842183"/>
                  <a:pt x="0" y="8000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1E3A5F"/>
          </a:solidFill>
          <a:ln/>
        </p:spPr>
      </p:sp>
      <p:sp>
        <p:nvSpPr>
          <p:cNvPr id="9" name="Shape 7"/>
          <p:cNvSpPr/>
          <p:nvPr/>
        </p:nvSpPr>
        <p:spPr>
          <a:xfrm>
            <a:off x="2264569" y="18669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14288"/>
                </a:moveTo>
                <a:cubicBezTo>
                  <a:pt x="12814" y="14288"/>
                  <a:pt x="0" y="27102"/>
                  <a:pt x="0" y="42863"/>
                </a:cubicBezTo>
                <a:lnTo>
                  <a:pt x="0" y="157163"/>
                </a:lnTo>
                <a:cubicBezTo>
                  <a:pt x="0" y="172923"/>
                  <a:pt x="12814" y="185738"/>
                  <a:pt x="28575" y="185738"/>
                </a:cubicBezTo>
                <a:lnTo>
                  <a:pt x="92869" y="185738"/>
                </a:lnTo>
                <a:lnTo>
                  <a:pt x="85725" y="207169"/>
                </a:lnTo>
                <a:lnTo>
                  <a:pt x="53578" y="207169"/>
                </a:lnTo>
                <a:cubicBezTo>
                  <a:pt x="47640" y="207169"/>
                  <a:pt x="42863" y="211946"/>
                  <a:pt x="42863" y="217884"/>
                </a:cubicBezTo>
                <a:cubicBezTo>
                  <a:pt x="42863" y="223823"/>
                  <a:pt x="47640" y="228600"/>
                  <a:pt x="53578" y="228600"/>
                </a:cubicBezTo>
                <a:lnTo>
                  <a:pt x="175022" y="228600"/>
                </a:lnTo>
                <a:cubicBezTo>
                  <a:pt x="180960" y="228600"/>
                  <a:pt x="185738" y="223823"/>
                  <a:pt x="185738" y="217884"/>
                </a:cubicBezTo>
                <a:cubicBezTo>
                  <a:pt x="185738" y="211946"/>
                  <a:pt x="180960" y="207169"/>
                  <a:pt x="175022" y="207169"/>
                </a:cubicBezTo>
                <a:lnTo>
                  <a:pt x="142875" y="207169"/>
                </a:lnTo>
                <a:lnTo>
                  <a:pt x="135731" y="185738"/>
                </a:lnTo>
                <a:lnTo>
                  <a:pt x="200025" y="185738"/>
                </a:lnTo>
                <a:cubicBezTo>
                  <a:pt x="215786" y="185738"/>
                  <a:pt x="228600" y="172923"/>
                  <a:pt x="228600" y="157163"/>
                </a:cubicBezTo>
                <a:lnTo>
                  <a:pt x="228600" y="42863"/>
                </a:lnTo>
                <a:cubicBezTo>
                  <a:pt x="228600" y="27102"/>
                  <a:pt x="215786" y="14288"/>
                  <a:pt x="200025" y="14288"/>
                </a:cubicBezTo>
                <a:lnTo>
                  <a:pt x="28575" y="14288"/>
                </a:lnTo>
                <a:close/>
                <a:moveTo>
                  <a:pt x="42863" y="42863"/>
                </a:moveTo>
                <a:lnTo>
                  <a:pt x="185738" y="42863"/>
                </a:lnTo>
                <a:cubicBezTo>
                  <a:pt x="193640" y="42863"/>
                  <a:pt x="200025" y="49247"/>
                  <a:pt x="200025" y="57150"/>
                </a:cubicBezTo>
                <a:lnTo>
                  <a:pt x="200025" y="128588"/>
                </a:lnTo>
                <a:cubicBezTo>
                  <a:pt x="200025" y="136490"/>
                  <a:pt x="193640" y="142875"/>
                  <a:pt x="185738" y="142875"/>
                </a:cubicBezTo>
                <a:lnTo>
                  <a:pt x="42863" y="142875"/>
                </a:lnTo>
                <a:cubicBezTo>
                  <a:pt x="34960" y="142875"/>
                  <a:pt x="28575" y="136490"/>
                  <a:pt x="28575" y="128588"/>
                </a:cubicBezTo>
                <a:lnTo>
                  <a:pt x="28575" y="57150"/>
                </a:lnTo>
                <a:cubicBezTo>
                  <a:pt x="28575" y="49247"/>
                  <a:pt x="34960" y="42863"/>
                  <a:pt x="42863" y="42863"/>
                </a:cubicBezTo>
                <a:close/>
              </a:path>
            </a:pathLst>
          </a:custGeom>
          <a:solidFill>
            <a:srgbClr val="F5F1EB"/>
          </a:solidFill>
          <a:ln/>
        </p:spPr>
      </p:sp>
      <p:sp>
        <p:nvSpPr>
          <p:cNvPr id="10" name="Text 8"/>
          <p:cNvSpPr/>
          <p:nvPr/>
        </p:nvSpPr>
        <p:spPr>
          <a:xfrm>
            <a:off x="647700" y="2133600"/>
            <a:ext cx="3467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Frontend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7225" y="2362200"/>
            <a:ext cx="34480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React.js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362450" y="2095379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87003" y="103659"/>
                </a:moveTo>
                <a:cubicBezTo>
                  <a:pt x="191653" y="99008"/>
                  <a:pt x="191653" y="91455"/>
                  <a:pt x="187003" y="86804"/>
                </a:cubicBezTo>
                <a:lnTo>
                  <a:pt x="127471" y="27273"/>
                </a:lnTo>
                <a:cubicBezTo>
                  <a:pt x="122820" y="22622"/>
                  <a:pt x="115267" y="22622"/>
                  <a:pt x="110617" y="27273"/>
                </a:cubicBezTo>
                <a:cubicBezTo>
                  <a:pt x="105966" y="31924"/>
                  <a:pt x="105966" y="39477"/>
                  <a:pt x="110617" y="44128"/>
                </a:cubicBezTo>
                <a:lnTo>
                  <a:pt x="149833" y="83344"/>
                </a:lnTo>
                <a:lnTo>
                  <a:pt x="11906" y="83344"/>
                </a:ln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149833" y="107156"/>
                </a:lnTo>
                <a:lnTo>
                  <a:pt x="110617" y="146372"/>
                </a:lnTo>
                <a:cubicBezTo>
                  <a:pt x="105966" y="151023"/>
                  <a:pt x="105966" y="158576"/>
                  <a:pt x="110617" y="163227"/>
                </a:cubicBezTo>
                <a:cubicBezTo>
                  <a:pt x="115267" y="167878"/>
                  <a:pt x="122820" y="167878"/>
                  <a:pt x="127471" y="163227"/>
                </a:cubicBezTo>
                <a:lnTo>
                  <a:pt x="187003" y="103696"/>
                </a:ln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13" name="Shape 11"/>
          <p:cNvSpPr/>
          <p:nvPr/>
        </p:nvSpPr>
        <p:spPr>
          <a:xfrm>
            <a:off x="4729163" y="1752600"/>
            <a:ext cx="3619500" cy="876300"/>
          </a:xfrm>
          <a:custGeom>
            <a:avLst/>
            <a:gdLst/>
            <a:ahLst/>
            <a:cxnLst/>
            <a:rect l="l" t="t" r="r" b="b"/>
            <a:pathLst>
              <a:path w="3619500" h="876300">
                <a:moveTo>
                  <a:pt x="76203" y="0"/>
                </a:moveTo>
                <a:lnTo>
                  <a:pt x="3543297" y="0"/>
                </a:lnTo>
                <a:cubicBezTo>
                  <a:pt x="3585383" y="0"/>
                  <a:pt x="3619500" y="34117"/>
                  <a:pt x="3619500" y="76203"/>
                </a:cubicBezTo>
                <a:lnTo>
                  <a:pt x="3619500" y="800097"/>
                </a:lnTo>
                <a:cubicBezTo>
                  <a:pt x="3619500" y="842183"/>
                  <a:pt x="3585383" y="876300"/>
                  <a:pt x="3543297" y="876300"/>
                </a:cubicBezTo>
                <a:lnTo>
                  <a:pt x="76203" y="876300"/>
                </a:lnTo>
                <a:cubicBezTo>
                  <a:pt x="34117" y="876300"/>
                  <a:pt x="0" y="842183"/>
                  <a:pt x="0" y="8000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14" name="Shape 12"/>
          <p:cNvSpPr/>
          <p:nvPr/>
        </p:nvSpPr>
        <p:spPr>
          <a:xfrm>
            <a:off x="6436519" y="186690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8575" y="14288"/>
                </a:moveTo>
                <a:cubicBezTo>
                  <a:pt x="12814" y="14288"/>
                  <a:pt x="0" y="27102"/>
                  <a:pt x="0" y="42863"/>
                </a:cubicBezTo>
                <a:lnTo>
                  <a:pt x="0" y="71438"/>
                </a:lnTo>
                <a:cubicBezTo>
                  <a:pt x="0" y="87198"/>
                  <a:pt x="12814" y="100013"/>
                  <a:pt x="28575" y="100013"/>
                </a:cubicBezTo>
                <a:lnTo>
                  <a:pt x="171450" y="100013"/>
                </a:lnTo>
                <a:cubicBezTo>
                  <a:pt x="187211" y="100013"/>
                  <a:pt x="200025" y="87198"/>
                  <a:pt x="200025" y="71438"/>
                </a:cubicBezTo>
                <a:lnTo>
                  <a:pt x="200025" y="42863"/>
                </a:lnTo>
                <a:cubicBezTo>
                  <a:pt x="200025" y="27102"/>
                  <a:pt x="187211" y="14288"/>
                  <a:pt x="171450" y="14288"/>
                </a:cubicBezTo>
                <a:lnTo>
                  <a:pt x="28575" y="14288"/>
                </a:lnTo>
                <a:close/>
                <a:moveTo>
                  <a:pt x="125016" y="46434"/>
                </a:moveTo>
                <a:cubicBezTo>
                  <a:pt x="130930" y="46434"/>
                  <a:pt x="135731" y="51236"/>
                  <a:pt x="135731" y="57150"/>
                </a:cubicBezTo>
                <a:cubicBezTo>
                  <a:pt x="135731" y="63064"/>
                  <a:pt x="130930" y="67866"/>
                  <a:pt x="125016" y="67866"/>
                </a:cubicBezTo>
                <a:cubicBezTo>
                  <a:pt x="119102" y="67866"/>
                  <a:pt x="114300" y="63064"/>
                  <a:pt x="114300" y="57150"/>
                </a:cubicBezTo>
                <a:cubicBezTo>
                  <a:pt x="114300" y="51236"/>
                  <a:pt x="119102" y="46434"/>
                  <a:pt x="125016" y="46434"/>
                </a:cubicBezTo>
                <a:close/>
                <a:moveTo>
                  <a:pt x="150019" y="57150"/>
                </a:moveTo>
                <a:cubicBezTo>
                  <a:pt x="150019" y="51236"/>
                  <a:pt x="154820" y="46434"/>
                  <a:pt x="160734" y="46434"/>
                </a:cubicBezTo>
                <a:cubicBezTo>
                  <a:pt x="166648" y="46434"/>
                  <a:pt x="171450" y="51236"/>
                  <a:pt x="171450" y="57150"/>
                </a:cubicBezTo>
                <a:cubicBezTo>
                  <a:pt x="171450" y="63064"/>
                  <a:pt x="166648" y="67866"/>
                  <a:pt x="160734" y="67866"/>
                </a:cubicBezTo>
                <a:cubicBezTo>
                  <a:pt x="154820" y="67866"/>
                  <a:pt x="150019" y="63064"/>
                  <a:pt x="150019" y="57150"/>
                </a:cubicBezTo>
                <a:close/>
                <a:moveTo>
                  <a:pt x="28575" y="128588"/>
                </a:moveTo>
                <a:cubicBezTo>
                  <a:pt x="12814" y="128588"/>
                  <a:pt x="0" y="141402"/>
                  <a:pt x="0" y="157163"/>
                </a:cubicBezTo>
                <a:lnTo>
                  <a:pt x="0" y="185738"/>
                </a:lnTo>
                <a:cubicBezTo>
                  <a:pt x="0" y="201498"/>
                  <a:pt x="12814" y="214313"/>
                  <a:pt x="28575" y="214313"/>
                </a:cubicBezTo>
                <a:lnTo>
                  <a:pt x="171450" y="214313"/>
                </a:lnTo>
                <a:cubicBezTo>
                  <a:pt x="187211" y="214313"/>
                  <a:pt x="200025" y="201498"/>
                  <a:pt x="200025" y="185738"/>
                </a:cubicBezTo>
                <a:lnTo>
                  <a:pt x="200025" y="157163"/>
                </a:lnTo>
                <a:cubicBezTo>
                  <a:pt x="200025" y="141402"/>
                  <a:pt x="187211" y="128588"/>
                  <a:pt x="171450" y="128588"/>
                </a:cubicBezTo>
                <a:lnTo>
                  <a:pt x="28575" y="128588"/>
                </a:lnTo>
                <a:close/>
                <a:moveTo>
                  <a:pt x="125016" y="160734"/>
                </a:moveTo>
                <a:cubicBezTo>
                  <a:pt x="130930" y="160734"/>
                  <a:pt x="135731" y="165536"/>
                  <a:pt x="135731" y="171450"/>
                </a:cubicBezTo>
                <a:cubicBezTo>
                  <a:pt x="135731" y="177364"/>
                  <a:pt x="130930" y="182166"/>
                  <a:pt x="125016" y="182166"/>
                </a:cubicBezTo>
                <a:cubicBezTo>
                  <a:pt x="119102" y="182166"/>
                  <a:pt x="114300" y="177364"/>
                  <a:pt x="114300" y="171450"/>
                </a:cubicBezTo>
                <a:cubicBezTo>
                  <a:pt x="114300" y="165536"/>
                  <a:pt x="119102" y="160734"/>
                  <a:pt x="125016" y="160734"/>
                </a:cubicBezTo>
                <a:close/>
                <a:moveTo>
                  <a:pt x="150019" y="171450"/>
                </a:moveTo>
                <a:cubicBezTo>
                  <a:pt x="150019" y="165536"/>
                  <a:pt x="154820" y="160734"/>
                  <a:pt x="160734" y="160734"/>
                </a:cubicBezTo>
                <a:cubicBezTo>
                  <a:pt x="166648" y="160734"/>
                  <a:pt x="171450" y="165536"/>
                  <a:pt x="171450" y="171450"/>
                </a:cubicBezTo>
                <a:cubicBezTo>
                  <a:pt x="171450" y="177364"/>
                  <a:pt x="166648" y="182166"/>
                  <a:pt x="160734" y="182166"/>
                </a:cubicBezTo>
                <a:cubicBezTo>
                  <a:pt x="154820" y="182166"/>
                  <a:pt x="150019" y="177364"/>
                  <a:pt x="150019" y="171450"/>
                </a:cubicBezTo>
                <a:close/>
              </a:path>
            </a:pathLst>
          </a:custGeom>
          <a:solidFill>
            <a:srgbClr val="F5F1EB"/>
          </a:solidFill>
          <a:ln/>
        </p:spPr>
      </p:sp>
      <p:sp>
        <p:nvSpPr>
          <p:cNvPr id="15" name="Text 13"/>
          <p:cNvSpPr/>
          <p:nvPr/>
        </p:nvSpPr>
        <p:spPr>
          <a:xfrm>
            <a:off x="4805363" y="2133600"/>
            <a:ext cx="3467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Backend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814888" y="2362200"/>
            <a:ext cx="34480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FastAPI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386263" y="2743079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63029" y="187003"/>
                </a:moveTo>
                <a:cubicBezTo>
                  <a:pt x="67680" y="191653"/>
                  <a:pt x="75233" y="191653"/>
                  <a:pt x="79883" y="187003"/>
                </a:cubicBezTo>
                <a:lnTo>
                  <a:pt x="139415" y="127471"/>
                </a:lnTo>
                <a:cubicBezTo>
                  <a:pt x="144066" y="122820"/>
                  <a:pt x="144066" y="115267"/>
                  <a:pt x="139415" y="110617"/>
                </a:cubicBezTo>
                <a:cubicBezTo>
                  <a:pt x="134764" y="105966"/>
                  <a:pt x="127211" y="105966"/>
                  <a:pt x="122560" y="110617"/>
                </a:cubicBezTo>
                <a:lnTo>
                  <a:pt x="83344" y="149833"/>
                </a:lnTo>
                <a:lnTo>
                  <a:pt x="83344" y="11906"/>
                </a:lnTo>
                <a:cubicBezTo>
                  <a:pt x="83344" y="5321"/>
                  <a:pt x="78023" y="0"/>
                  <a:pt x="71438" y="0"/>
                </a:cubicBezTo>
                <a:cubicBezTo>
                  <a:pt x="64852" y="0"/>
                  <a:pt x="59531" y="5321"/>
                  <a:pt x="59531" y="11906"/>
                </a:cubicBezTo>
                <a:lnTo>
                  <a:pt x="59531" y="149833"/>
                </a:lnTo>
                <a:lnTo>
                  <a:pt x="20315" y="110617"/>
                </a:lnTo>
                <a:cubicBezTo>
                  <a:pt x="15664" y="105966"/>
                  <a:pt x="8111" y="105966"/>
                  <a:pt x="3460" y="110617"/>
                </a:cubicBezTo>
                <a:cubicBezTo>
                  <a:pt x="-1191" y="115267"/>
                  <a:pt x="-1191" y="122820"/>
                  <a:pt x="3460" y="127471"/>
                </a:cubicBezTo>
                <a:lnTo>
                  <a:pt x="62992" y="187003"/>
                </a:ln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18" name="Shape 16"/>
          <p:cNvSpPr/>
          <p:nvPr/>
        </p:nvSpPr>
        <p:spPr>
          <a:xfrm>
            <a:off x="571500" y="3047879"/>
            <a:ext cx="3619500" cy="876300"/>
          </a:xfrm>
          <a:custGeom>
            <a:avLst/>
            <a:gdLst/>
            <a:ahLst/>
            <a:cxnLst/>
            <a:rect l="l" t="t" r="r" b="b"/>
            <a:pathLst>
              <a:path w="3619500" h="876300">
                <a:moveTo>
                  <a:pt x="76203" y="0"/>
                </a:moveTo>
                <a:lnTo>
                  <a:pt x="3543297" y="0"/>
                </a:lnTo>
                <a:cubicBezTo>
                  <a:pt x="3585383" y="0"/>
                  <a:pt x="3619500" y="34117"/>
                  <a:pt x="3619500" y="76203"/>
                </a:cubicBezTo>
                <a:lnTo>
                  <a:pt x="3619500" y="800097"/>
                </a:lnTo>
                <a:cubicBezTo>
                  <a:pt x="3619500" y="842183"/>
                  <a:pt x="3585383" y="876300"/>
                  <a:pt x="3543297" y="876300"/>
                </a:cubicBezTo>
                <a:lnTo>
                  <a:pt x="76203" y="876300"/>
                </a:lnTo>
                <a:cubicBezTo>
                  <a:pt x="34117" y="876300"/>
                  <a:pt x="0" y="842183"/>
                  <a:pt x="0" y="8000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4A90A4"/>
          </a:solidFill>
          <a:ln/>
        </p:spPr>
      </p:sp>
      <p:sp>
        <p:nvSpPr>
          <p:cNvPr id="19" name="Shape 17"/>
          <p:cNvSpPr/>
          <p:nvPr/>
        </p:nvSpPr>
        <p:spPr>
          <a:xfrm>
            <a:off x="2278856" y="3162179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00025" y="91886"/>
                </a:moveTo>
                <a:cubicBezTo>
                  <a:pt x="193417" y="96262"/>
                  <a:pt x="185827" y="99789"/>
                  <a:pt x="177924" y="102602"/>
                </a:cubicBezTo>
                <a:cubicBezTo>
                  <a:pt x="156939" y="110103"/>
                  <a:pt x="129391" y="114300"/>
                  <a:pt x="100013" y="114300"/>
                </a:cubicBezTo>
                <a:cubicBezTo>
                  <a:pt x="70634" y="114300"/>
                  <a:pt x="43041" y="110058"/>
                  <a:pt x="22101" y="102602"/>
                </a:cubicBezTo>
                <a:cubicBezTo>
                  <a:pt x="14243" y="99789"/>
                  <a:pt x="6608" y="96262"/>
                  <a:pt x="0" y="91886"/>
                </a:cubicBezTo>
                <a:lnTo>
                  <a:pt x="0" y="128588"/>
                </a:lnTo>
                <a:cubicBezTo>
                  <a:pt x="0" y="148322"/>
                  <a:pt x="44782" y="164306"/>
                  <a:pt x="100013" y="164306"/>
                </a:cubicBezTo>
                <a:cubicBezTo>
                  <a:pt x="155243" y="164306"/>
                  <a:pt x="200025" y="148322"/>
                  <a:pt x="200025" y="128588"/>
                </a:cubicBezTo>
                <a:lnTo>
                  <a:pt x="200025" y="91886"/>
                </a:lnTo>
                <a:close/>
                <a:moveTo>
                  <a:pt x="200025" y="57150"/>
                </a:moveTo>
                <a:lnTo>
                  <a:pt x="200025" y="35719"/>
                </a:lnTo>
                <a:cubicBezTo>
                  <a:pt x="200025" y="15984"/>
                  <a:pt x="155243" y="0"/>
                  <a:pt x="100013" y="0"/>
                </a:cubicBezTo>
                <a:cubicBezTo>
                  <a:pt x="44782" y="0"/>
                  <a:pt x="0" y="15984"/>
                  <a:pt x="0" y="35719"/>
                </a:cubicBezTo>
                <a:lnTo>
                  <a:pt x="0" y="57150"/>
                </a:lnTo>
                <a:cubicBezTo>
                  <a:pt x="0" y="76885"/>
                  <a:pt x="44782" y="92869"/>
                  <a:pt x="100013" y="92869"/>
                </a:cubicBezTo>
                <a:cubicBezTo>
                  <a:pt x="155243" y="92869"/>
                  <a:pt x="200025" y="76885"/>
                  <a:pt x="200025" y="57150"/>
                </a:cubicBezTo>
                <a:close/>
                <a:moveTo>
                  <a:pt x="177924" y="174040"/>
                </a:moveTo>
                <a:cubicBezTo>
                  <a:pt x="156984" y="181496"/>
                  <a:pt x="129436" y="185738"/>
                  <a:pt x="100013" y="185738"/>
                </a:cubicBezTo>
                <a:cubicBezTo>
                  <a:pt x="70589" y="185738"/>
                  <a:pt x="43041" y="181496"/>
                  <a:pt x="22101" y="174040"/>
                </a:cubicBezTo>
                <a:cubicBezTo>
                  <a:pt x="14243" y="171227"/>
                  <a:pt x="6608" y="167700"/>
                  <a:pt x="0" y="163324"/>
                </a:cubicBezTo>
                <a:lnTo>
                  <a:pt x="0" y="192881"/>
                </a:lnTo>
                <a:cubicBezTo>
                  <a:pt x="0" y="212616"/>
                  <a:pt x="44782" y="228600"/>
                  <a:pt x="100013" y="228600"/>
                </a:cubicBezTo>
                <a:cubicBezTo>
                  <a:pt x="155243" y="228600"/>
                  <a:pt x="200025" y="212616"/>
                  <a:pt x="200025" y="192881"/>
                </a:cubicBezTo>
                <a:lnTo>
                  <a:pt x="200025" y="163324"/>
                </a:lnTo>
                <a:cubicBezTo>
                  <a:pt x="193417" y="167700"/>
                  <a:pt x="185827" y="171227"/>
                  <a:pt x="177924" y="174040"/>
                </a:cubicBezTo>
                <a:close/>
              </a:path>
            </a:pathLst>
          </a:custGeom>
          <a:solidFill>
            <a:srgbClr val="F5F1EB"/>
          </a:solidFill>
          <a:ln/>
        </p:spPr>
      </p:sp>
      <p:sp>
        <p:nvSpPr>
          <p:cNvPr id="20" name="Text 18"/>
          <p:cNvSpPr/>
          <p:nvPr/>
        </p:nvSpPr>
        <p:spPr>
          <a:xfrm>
            <a:off x="647700" y="3428879"/>
            <a:ext cx="3467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Layer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57225" y="3657479"/>
            <a:ext cx="34480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yfinance API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362450" y="3390667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87003" y="103659"/>
                </a:moveTo>
                <a:cubicBezTo>
                  <a:pt x="191653" y="99008"/>
                  <a:pt x="191653" y="91455"/>
                  <a:pt x="187003" y="86804"/>
                </a:cubicBezTo>
                <a:lnTo>
                  <a:pt x="127471" y="27273"/>
                </a:lnTo>
                <a:cubicBezTo>
                  <a:pt x="122820" y="22622"/>
                  <a:pt x="115267" y="22622"/>
                  <a:pt x="110617" y="27273"/>
                </a:cubicBezTo>
                <a:cubicBezTo>
                  <a:pt x="105966" y="31924"/>
                  <a:pt x="105966" y="39477"/>
                  <a:pt x="110617" y="44128"/>
                </a:cubicBezTo>
                <a:lnTo>
                  <a:pt x="149833" y="83344"/>
                </a:lnTo>
                <a:lnTo>
                  <a:pt x="11906" y="83344"/>
                </a:ln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149833" y="107156"/>
                </a:lnTo>
                <a:lnTo>
                  <a:pt x="110617" y="146372"/>
                </a:lnTo>
                <a:cubicBezTo>
                  <a:pt x="105966" y="151023"/>
                  <a:pt x="105966" y="158576"/>
                  <a:pt x="110617" y="163227"/>
                </a:cubicBezTo>
                <a:cubicBezTo>
                  <a:pt x="115267" y="167878"/>
                  <a:pt x="122820" y="167878"/>
                  <a:pt x="127471" y="163227"/>
                </a:cubicBezTo>
                <a:lnTo>
                  <a:pt x="187003" y="103696"/>
                </a:ln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23" name="Shape 21"/>
          <p:cNvSpPr/>
          <p:nvPr/>
        </p:nvSpPr>
        <p:spPr>
          <a:xfrm>
            <a:off x="4729163" y="3047879"/>
            <a:ext cx="3619500" cy="876300"/>
          </a:xfrm>
          <a:custGeom>
            <a:avLst/>
            <a:gdLst/>
            <a:ahLst/>
            <a:cxnLst/>
            <a:rect l="l" t="t" r="r" b="b"/>
            <a:pathLst>
              <a:path w="3619500" h="876300">
                <a:moveTo>
                  <a:pt x="76203" y="0"/>
                </a:moveTo>
                <a:lnTo>
                  <a:pt x="3543297" y="0"/>
                </a:lnTo>
                <a:cubicBezTo>
                  <a:pt x="3585383" y="0"/>
                  <a:pt x="3619500" y="34117"/>
                  <a:pt x="3619500" y="76203"/>
                </a:cubicBezTo>
                <a:lnTo>
                  <a:pt x="3619500" y="800097"/>
                </a:lnTo>
                <a:cubicBezTo>
                  <a:pt x="3619500" y="842183"/>
                  <a:pt x="3585383" y="876300"/>
                  <a:pt x="3543297" y="876300"/>
                </a:cubicBezTo>
                <a:lnTo>
                  <a:pt x="76203" y="876300"/>
                </a:lnTo>
                <a:cubicBezTo>
                  <a:pt x="34117" y="876300"/>
                  <a:pt x="0" y="842183"/>
                  <a:pt x="0" y="8000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1E3A5F"/>
          </a:solidFill>
          <a:ln/>
        </p:spPr>
      </p:sp>
      <p:sp>
        <p:nvSpPr>
          <p:cNvPr id="24" name="Shape 22"/>
          <p:cNvSpPr/>
          <p:nvPr/>
        </p:nvSpPr>
        <p:spPr>
          <a:xfrm>
            <a:off x="6422231" y="3162179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3578" y="25003"/>
                </a:moveTo>
                <a:cubicBezTo>
                  <a:pt x="53578" y="11207"/>
                  <a:pt x="64785" y="0"/>
                  <a:pt x="78581" y="0"/>
                </a:cubicBezTo>
                <a:lnTo>
                  <a:pt x="89297" y="0"/>
                </a:lnTo>
                <a:cubicBezTo>
                  <a:pt x="97200" y="0"/>
                  <a:pt x="103584" y="6385"/>
                  <a:pt x="103584" y="14288"/>
                </a:cubicBezTo>
                <a:lnTo>
                  <a:pt x="103584" y="214313"/>
                </a:lnTo>
                <a:cubicBezTo>
                  <a:pt x="103584" y="222215"/>
                  <a:pt x="97200" y="228600"/>
                  <a:pt x="89297" y="228600"/>
                </a:cubicBezTo>
                <a:lnTo>
                  <a:pt x="75009" y="228600"/>
                </a:lnTo>
                <a:cubicBezTo>
                  <a:pt x="61704" y="228600"/>
                  <a:pt x="50497" y="219492"/>
                  <a:pt x="47327" y="207169"/>
                </a:cubicBezTo>
                <a:cubicBezTo>
                  <a:pt x="47015" y="207169"/>
                  <a:pt x="46747" y="207169"/>
                  <a:pt x="46434" y="207169"/>
                </a:cubicBezTo>
                <a:cubicBezTo>
                  <a:pt x="26700" y="207169"/>
                  <a:pt x="10716" y="191185"/>
                  <a:pt x="10716" y="171450"/>
                </a:cubicBezTo>
                <a:cubicBezTo>
                  <a:pt x="10716" y="163413"/>
                  <a:pt x="13395" y="156002"/>
                  <a:pt x="17859" y="150019"/>
                </a:cubicBezTo>
                <a:cubicBezTo>
                  <a:pt x="9198" y="143500"/>
                  <a:pt x="3572" y="133142"/>
                  <a:pt x="3572" y="121444"/>
                </a:cubicBezTo>
                <a:cubicBezTo>
                  <a:pt x="3572" y="107647"/>
                  <a:pt x="11430" y="95637"/>
                  <a:pt x="22860" y="89699"/>
                </a:cubicBezTo>
                <a:cubicBezTo>
                  <a:pt x="19690" y="84341"/>
                  <a:pt x="17859" y="78090"/>
                  <a:pt x="17859" y="71438"/>
                </a:cubicBezTo>
                <a:cubicBezTo>
                  <a:pt x="17859" y="51703"/>
                  <a:pt x="33844" y="35719"/>
                  <a:pt x="53578" y="35719"/>
                </a:cubicBezTo>
                <a:lnTo>
                  <a:pt x="53578" y="25003"/>
                </a:lnTo>
                <a:close/>
                <a:moveTo>
                  <a:pt x="175022" y="25003"/>
                </a:moveTo>
                <a:lnTo>
                  <a:pt x="175022" y="35719"/>
                </a:lnTo>
                <a:cubicBezTo>
                  <a:pt x="194756" y="35719"/>
                  <a:pt x="210741" y="51703"/>
                  <a:pt x="210741" y="71438"/>
                </a:cubicBezTo>
                <a:cubicBezTo>
                  <a:pt x="210741" y="78135"/>
                  <a:pt x="208910" y="84386"/>
                  <a:pt x="205740" y="89699"/>
                </a:cubicBezTo>
                <a:cubicBezTo>
                  <a:pt x="217215" y="95637"/>
                  <a:pt x="225028" y="107603"/>
                  <a:pt x="225028" y="121444"/>
                </a:cubicBezTo>
                <a:cubicBezTo>
                  <a:pt x="225028" y="133142"/>
                  <a:pt x="219402" y="143500"/>
                  <a:pt x="210741" y="150019"/>
                </a:cubicBezTo>
                <a:cubicBezTo>
                  <a:pt x="215205" y="156002"/>
                  <a:pt x="217884" y="163413"/>
                  <a:pt x="217884" y="171450"/>
                </a:cubicBezTo>
                <a:cubicBezTo>
                  <a:pt x="217884" y="191185"/>
                  <a:pt x="201900" y="207169"/>
                  <a:pt x="182166" y="207169"/>
                </a:cubicBezTo>
                <a:cubicBezTo>
                  <a:pt x="181853" y="207169"/>
                  <a:pt x="181585" y="207169"/>
                  <a:pt x="181273" y="207169"/>
                </a:cubicBezTo>
                <a:cubicBezTo>
                  <a:pt x="178103" y="219492"/>
                  <a:pt x="166896" y="228600"/>
                  <a:pt x="153591" y="228600"/>
                </a:cubicBezTo>
                <a:lnTo>
                  <a:pt x="139303" y="228600"/>
                </a:lnTo>
                <a:cubicBezTo>
                  <a:pt x="131400" y="228600"/>
                  <a:pt x="125016" y="222215"/>
                  <a:pt x="125016" y="214313"/>
                </a:cubicBezTo>
                <a:lnTo>
                  <a:pt x="125016" y="14288"/>
                </a:lnTo>
                <a:cubicBezTo>
                  <a:pt x="125016" y="6385"/>
                  <a:pt x="131400" y="0"/>
                  <a:pt x="139303" y="0"/>
                </a:cubicBezTo>
                <a:lnTo>
                  <a:pt x="150019" y="0"/>
                </a:lnTo>
                <a:cubicBezTo>
                  <a:pt x="163815" y="0"/>
                  <a:pt x="175022" y="11207"/>
                  <a:pt x="175022" y="25003"/>
                </a:cubicBezTo>
                <a:close/>
              </a:path>
            </a:pathLst>
          </a:custGeom>
          <a:solidFill>
            <a:srgbClr val="F5F1EB"/>
          </a:solidFill>
          <a:ln/>
        </p:spPr>
      </p:sp>
      <p:sp>
        <p:nvSpPr>
          <p:cNvPr id="25" name="Text 23"/>
          <p:cNvSpPr/>
          <p:nvPr/>
        </p:nvSpPr>
        <p:spPr>
          <a:xfrm>
            <a:off x="4805363" y="3428879"/>
            <a:ext cx="3467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Engine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814888" y="3657479"/>
            <a:ext cx="34480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Python/NumPy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386263" y="4038367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63029" y="187003"/>
                </a:moveTo>
                <a:cubicBezTo>
                  <a:pt x="67680" y="191653"/>
                  <a:pt x="75233" y="191653"/>
                  <a:pt x="79883" y="187003"/>
                </a:cubicBezTo>
                <a:lnTo>
                  <a:pt x="139415" y="127471"/>
                </a:lnTo>
                <a:cubicBezTo>
                  <a:pt x="144066" y="122820"/>
                  <a:pt x="144066" y="115267"/>
                  <a:pt x="139415" y="110617"/>
                </a:cubicBezTo>
                <a:cubicBezTo>
                  <a:pt x="134764" y="105966"/>
                  <a:pt x="127211" y="105966"/>
                  <a:pt x="122560" y="110617"/>
                </a:cubicBezTo>
                <a:lnTo>
                  <a:pt x="83344" y="149833"/>
                </a:lnTo>
                <a:lnTo>
                  <a:pt x="83344" y="11906"/>
                </a:lnTo>
                <a:cubicBezTo>
                  <a:pt x="83344" y="5321"/>
                  <a:pt x="78023" y="0"/>
                  <a:pt x="71438" y="0"/>
                </a:cubicBezTo>
                <a:cubicBezTo>
                  <a:pt x="64852" y="0"/>
                  <a:pt x="59531" y="5321"/>
                  <a:pt x="59531" y="11906"/>
                </a:cubicBezTo>
                <a:lnTo>
                  <a:pt x="59531" y="149833"/>
                </a:lnTo>
                <a:lnTo>
                  <a:pt x="20315" y="110617"/>
                </a:lnTo>
                <a:cubicBezTo>
                  <a:pt x="15664" y="105966"/>
                  <a:pt x="8111" y="105966"/>
                  <a:pt x="3460" y="110617"/>
                </a:cubicBezTo>
                <a:cubicBezTo>
                  <a:pt x="-1191" y="115267"/>
                  <a:pt x="-1191" y="122820"/>
                  <a:pt x="3460" y="127471"/>
                </a:cubicBezTo>
                <a:lnTo>
                  <a:pt x="62992" y="187003"/>
                </a:ln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28" name="Shape 26"/>
          <p:cNvSpPr/>
          <p:nvPr/>
        </p:nvSpPr>
        <p:spPr>
          <a:xfrm>
            <a:off x="579120" y="4350787"/>
            <a:ext cx="2501265" cy="824865"/>
          </a:xfrm>
          <a:custGeom>
            <a:avLst/>
            <a:gdLst/>
            <a:ahLst/>
            <a:cxnLst/>
            <a:rect l="l" t="t" r="r" b="b"/>
            <a:pathLst>
              <a:path w="2501265" h="824865">
                <a:moveTo>
                  <a:pt x="76201" y="0"/>
                </a:moveTo>
                <a:lnTo>
                  <a:pt x="2425064" y="0"/>
                </a:lnTo>
                <a:cubicBezTo>
                  <a:pt x="2467149" y="0"/>
                  <a:pt x="2501265" y="34116"/>
                  <a:pt x="2501265" y="76201"/>
                </a:cubicBezTo>
                <a:lnTo>
                  <a:pt x="2501265" y="748664"/>
                </a:lnTo>
                <a:cubicBezTo>
                  <a:pt x="2501265" y="790749"/>
                  <a:pt x="2467149" y="824865"/>
                  <a:pt x="2425064" y="824865"/>
                </a:cubicBezTo>
                <a:lnTo>
                  <a:pt x="76201" y="824865"/>
                </a:lnTo>
                <a:cubicBezTo>
                  <a:pt x="34116" y="824865"/>
                  <a:pt x="0" y="790749"/>
                  <a:pt x="0" y="748664"/>
                </a:cubicBezTo>
                <a:lnTo>
                  <a:pt x="0" y="76201"/>
                </a:lnTo>
                <a:cubicBezTo>
                  <a:pt x="0" y="34116"/>
                  <a:pt x="34116" y="0"/>
                  <a:pt x="76201" y="0"/>
                </a:cubicBezTo>
                <a:close/>
              </a:path>
            </a:pathLst>
          </a:custGeom>
          <a:solidFill>
            <a:srgbClr val="C75B4A">
              <a:alpha val="20000"/>
            </a:srgbClr>
          </a:solidFill>
          <a:ln w="20320">
            <a:solidFill>
              <a:srgbClr val="C75B4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733550" y="4472704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  <a:moveTo>
                  <a:pt x="107156" y="35719"/>
                </a:moveTo>
                <a:cubicBezTo>
                  <a:pt x="107156" y="29148"/>
                  <a:pt x="101821" y="23812"/>
                  <a:pt x="95250" y="23812"/>
                </a:cubicBezTo>
                <a:cubicBezTo>
                  <a:pt x="88679" y="23812"/>
                  <a:pt x="83344" y="29148"/>
                  <a:pt x="83344" y="35719"/>
                </a:cubicBezTo>
                <a:cubicBezTo>
                  <a:pt x="83344" y="42290"/>
                  <a:pt x="88679" y="47625"/>
                  <a:pt x="95250" y="47625"/>
                </a:cubicBezTo>
                <a:cubicBezTo>
                  <a:pt x="101821" y="47625"/>
                  <a:pt x="107156" y="42290"/>
                  <a:pt x="107156" y="35719"/>
                </a:cubicBezTo>
                <a:close/>
                <a:moveTo>
                  <a:pt x="95250" y="154781"/>
                </a:moveTo>
                <a:cubicBezTo>
                  <a:pt x="108384" y="154781"/>
                  <a:pt x="119063" y="144103"/>
                  <a:pt x="119063" y="130969"/>
                </a:cubicBezTo>
                <a:cubicBezTo>
                  <a:pt x="119063" y="124941"/>
                  <a:pt x="116830" y="119397"/>
                  <a:pt x="113109" y="115230"/>
                </a:cubicBezTo>
                <a:lnTo>
                  <a:pt x="138968" y="63550"/>
                </a:lnTo>
                <a:cubicBezTo>
                  <a:pt x="141163" y="59122"/>
                  <a:pt x="139378" y="53764"/>
                  <a:pt x="134987" y="51569"/>
                </a:cubicBezTo>
                <a:cubicBezTo>
                  <a:pt x="130597" y="49374"/>
                  <a:pt x="125202" y="51160"/>
                  <a:pt x="123006" y="55550"/>
                </a:cubicBezTo>
                <a:lnTo>
                  <a:pt x="97148" y="107231"/>
                </a:lnTo>
                <a:cubicBezTo>
                  <a:pt x="96515" y="107193"/>
                  <a:pt x="95883" y="107156"/>
                  <a:pt x="95250" y="107156"/>
                </a:cubicBezTo>
                <a:cubicBezTo>
                  <a:pt x="82116" y="107156"/>
                  <a:pt x="71438" y="117835"/>
                  <a:pt x="71438" y="130969"/>
                </a:cubicBezTo>
                <a:cubicBezTo>
                  <a:pt x="71438" y="144103"/>
                  <a:pt x="82116" y="154781"/>
                  <a:pt x="95250" y="154781"/>
                </a:cubicBezTo>
                <a:close/>
                <a:moveTo>
                  <a:pt x="65484" y="53578"/>
                </a:moveTo>
                <a:cubicBezTo>
                  <a:pt x="65484" y="47007"/>
                  <a:pt x="60149" y="41672"/>
                  <a:pt x="53578" y="41672"/>
                </a:cubicBezTo>
                <a:cubicBezTo>
                  <a:pt x="47007" y="41672"/>
                  <a:pt x="41672" y="47007"/>
                  <a:pt x="41672" y="53578"/>
                </a:cubicBezTo>
                <a:cubicBezTo>
                  <a:pt x="41672" y="60149"/>
                  <a:pt x="47007" y="65484"/>
                  <a:pt x="53578" y="65484"/>
                </a:cubicBezTo>
                <a:cubicBezTo>
                  <a:pt x="60149" y="65484"/>
                  <a:pt x="65484" y="60149"/>
                  <a:pt x="65484" y="53578"/>
                </a:cubicBezTo>
                <a:close/>
                <a:moveTo>
                  <a:pt x="35719" y="107156"/>
                </a:moveTo>
                <a:cubicBezTo>
                  <a:pt x="42290" y="107156"/>
                  <a:pt x="47625" y="101821"/>
                  <a:pt x="47625" y="95250"/>
                </a:cubicBezTo>
                <a:cubicBezTo>
                  <a:pt x="47625" y="88679"/>
                  <a:pt x="42290" y="83344"/>
                  <a:pt x="35719" y="83344"/>
                </a:cubicBezTo>
                <a:cubicBezTo>
                  <a:pt x="29148" y="83344"/>
                  <a:pt x="23812" y="88679"/>
                  <a:pt x="23812" y="95250"/>
                </a:cubicBezTo>
                <a:cubicBezTo>
                  <a:pt x="23812" y="101821"/>
                  <a:pt x="29148" y="107156"/>
                  <a:pt x="35719" y="107156"/>
                </a:cubicBezTo>
                <a:close/>
                <a:moveTo>
                  <a:pt x="166688" y="95250"/>
                </a:moveTo>
                <a:cubicBezTo>
                  <a:pt x="166688" y="88679"/>
                  <a:pt x="161352" y="83344"/>
                  <a:pt x="154781" y="83344"/>
                </a:cubicBezTo>
                <a:cubicBezTo>
                  <a:pt x="148210" y="83344"/>
                  <a:pt x="142875" y="88679"/>
                  <a:pt x="142875" y="95250"/>
                </a:cubicBezTo>
                <a:cubicBezTo>
                  <a:pt x="142875" y="101821"/>
                  <a:pt x="148210" y="107156"/>
                  <a:pt x="154781" y="107156"/>
                </a:cubicBezTo>
                <a:cubicBezTo>
                  <a:pt x="161352" y="107156"/>
                  <a:pt x="166688" y="101821"/>
                  <a:pt x="166688" y="95250"/>
                </a:cubicBez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30" name="Text 28"/>
          <p:cNvSpPr/>
          <p:nvPr/>
        </p:nvSpPr>
        <p:spPr>
          <a:xfrm>
            <a:off x="667702" y="4708922"/>
            <a:ext cx="2324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BSI Calculator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72465" y="4899422"/>
            <a:ext cx="23145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Score 0-100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208020" y="4350787"/>
            <a:ext cx="2501265" cy="824865"/>
          </a:xfrm>
          <a:custGeom>
            <a:avLst/>
            <a:gdLst/>
            <a:ahLst/>
            <a:cxnLst/>
            <a:rect l="l" t="t" r="r" b="b"/>
            <a:pathLst>
              <a:path w="2501265" h="824865">
                <a:moveTo>
                  <a:pt x="76201" y="0"/>
                </a:moveTo>
                <a:lnTo>
                  <a:pt x="2425064" y="0"/>
                </a:lnTo>
                <a:cubicBezTo>
                  <a:pt x="2467149" y="0"/>
                  <a:pt x="2501265" y="34116"/>
                  <a:pt x="2501265" y="76201"/>
                </a:cubicBezTo>
                <a:lnTo>
                  <a:pt x="2501265" y="748664"/>
                </a:lnTo>
                <a:cubicBezTo>
                  <a:pt x="2501265" y="790749"/>
                  <a:pt x="2467149" y="824865"/>
                  <a:pt x="2425064" y="824865"/>
                </a:cubicBezTo>
                <a:lnTo>
                  <a:pt x="76201" y="824865"/>
                </a:lnTo>
                <a:cubicBezTo>
                  <a:pt x="34116" y="824865"/>
                  <a:pt x="0" y="790749"/>
                  <a:pt x="0" y="748664"/>
                </a:cubicBezTo>
                <a:lnTo>
                  <a:pt x="0" y="76201"/>
                </a:lnTo>
                <a:cubicBezTo>
                  <a:pt x="0" y="34116"/>
                  <a:pt x="34116" y="0"/>
                  <a:pt x="76201" y="0"/>
                </a:cubicBezTo>
                <a:close/>
              </a:path>
            </a:pathLst>
          </a:custGeom>
          <a:solidFill>
            <a:srgbClr val="4A90A4">
              <a:alpha val="20000"/>
            </a:srgbClr>
          </a:solidFill>
          <a:ln w="20320">
            <a:solidFill>
              <a:srgbClr val="4A90A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362450" y="4472704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50242" y="12799"/>
                </a:moveTo>
                <a:cubicBezTo>
                  <a:pt x="154707" y="10939"/>
                  <a:pt x="159804" y="11981"/>
                  <a:pt x="163227" y="15367"/>
                </a:cubicBezTo>
                <a:lnTo>
                  <a:pt x="187040" y="39179"/>
                </a:lnTo>
                <a:cubicBezTo>
                  <a:pt x="189272" y="41411"/>
                  <a:pt x="190537" y="44425"/>
                  <a:pt x="190537" y="47588"/>
                </a:cubicBezTo>
                <a:cubicBezTo>
                  <a:pt x="190537" y="50750"/>
                  <a:pt x="189272" y="53764"/>
                  <a:pt x="187040" y="55997"/>
                </a:cubicBezTo>
                <a:lnTo>
                  <a:pt x="163227" y="79809"/>
                </a:lnTo>
                <a:cubicBezTo>
                  <a:pt x="159804" y="83232"/>
                  <a:pt x="154707" y="84237"/>
                  <a:pt x="150242" y="82376"/>
                </a:cubicBezTo>
                <a:cubicBezTo>
                  <a:pt x="145777" y="80516"/>
                  <a:pt x="142875" y="76237"/>
                  <a:pt x="142875" y="71438"/>
                </a:cubicBezTo>
                <a:lnTo>
                  <a:pt x="142875" y="59531"/>
                </a:lnTo>
                <a:lnTo>
                  <a:pt x="130969" y="59531"/>
                </a:lnTo>
                <a:cubicBezTo>
                  <a:pt x="127211" y="59531"/>
                  <a:pt x="123676" y="61280"/>
                  <a:pt x="121444" y="64294"/>
                </a:cubicBezTo>
                <a:lnTo>
                  <a:pt x="109389" y="80367"/>
                </a:lnTo>
                <a:lnTo>
                  <a:pt x="94506" y="60536"/>
                </a:lnTo>
                <a:lnTo>
                  <a:pt x="102394" y="50006"/>
                </a:lnTo>
                <a:cubicBezTo>
                  <a:pt x="109128" y="41002"/>
                  <a:pt x="119732" y="35719"/>
                  <a:pt x="130969" y="35719"/>
                </a:cubicBezTo>
                <a:lnTo>
                  <a:pt x="142875" y="35719"/>
                </a:lnTo>
                <a:lnTo>
                  <a:pt x="142875" y="23812"/>
                </a:lnTo>
                <a:cubicBezTo>
                  <a:pt x="142875" y="19013"/>
                  <a:pt x="145777" y="14660"/>
                  <a:pt x="150242" y="12799"/>
                </a:cubicBezTo>
                <a:close/>
                <a:moveTo>
                  <a:pt x="57299" y="110133"/>
                </a:moveTo>
                <a:lnTo>
                  <a:pt x="72182" y="129964"/>
                </a:lnTo>
                <a:lnTo>
                  <a:pt x="64294" y="140494"/>
                </a:lnTo>
                <a:cubicBezTo>
                  <a:pt x="57559" y="149498"/>
                  <a:pt x="46955" y="154781"/>
                  <a:pt x="35719" y="154781"/>
                </a:cubicBezTo>
                <a:lnTo>
                  <a:pt x="11906" y="154781"/>
                </a:lnTo>
                <a:cubicBezTo>
                  <a:pt x="5321" y="154781"/>
                  <a:pt x="0" y="149461"/>
                  <a:pt x="0" y="142875"/>
                </a:cubicBezTo>
                <a:cubicBezTo>
                  <a:pt x="0" y="136289"/>
                  <a:pt x="5321" y="130969"/>
                  <a:pt x="11906" y="130969"/>
                </a:cubicBezTo>
                <a:lnTo>
                  <a:pt x="35719" y="130969"/>
                </a:lnTo>
                <a:cubicBezTo>
                  <a:pt x="39477" y="130969"/>
                  <a:pt x="43011" y="129220"/>
                  <a:pt x="45244" y="126206"/>
                </a:cubicBezTo>
                <a:lnTo>
                  <a:pt x="57299" y="110133"/>
                </a:lnTo>
                <a:close/>
                <a:moveTo>
                  <a:pt x="163190" y="175096"/>
                </a:moveTo>
                <a:cubicBezTo>
                  <a:pt x="159767" y="178519"/>
                  <a:pt x="154670" y="179524"/>
                  <a:pt x="150205" y="177664"/>
                </a:cubicBezTo>
                <a:cubicBezTo>
                  <a:pt x="145740" y="175803"/>
                  <a:pt x="142875" y="171487"/>
                  <a:pt x="142875" y="166688"/>
                </a:cubicBezTo>
                <a:lnTo>
                  <a:pt x="142875" y="154781"/>
                </a:lnTo>
                <a:lnTo>
                  <a:pt x="130969" y="154781"/>
                </a:lnTo>
                <a:cubicBezTo>
                  <a:pt x="119732" y="154781"/>
                  <a:pt x="109128" y="149498"/>
                  <a:pt x="102394" y="140494"/>
                </a:cubicBezTo>
                <a:lnTo>
                  <a:pt x="45244" y="64294"/>
                </a:lnTo>
                <a:cubicBezTo>
                  <a:pt x="43011" y="61280"/>
                  <a:pt x="39477" y="59531"/>
                  <a:pt x="35719" y="59531"/>
                </a:cubicBezTo>
                <a:lnTo>
                  <a:pt x="11906" y="59531"/>
                </a:lnTo>
                <a:cubicBezTo>
                  <a:pt x="5321" y="59531"/>
                  <a:pt x="0" y="54211"/>
                  <a:pt x="0" y="47625"/>
                </a:cubicBezTo>
                <a:cubicBezTo>
                  <a:pt x="0" y="41039"/>
                  <a:pt x="5321" y="35719"/>
                  <a:pt x="11906" y="35719"/>
                </a:cubicBezTo>
                <a:lnTo>
                  <a:pt x="35719" y="35719"/>
                </a:lnTo>
                <a:cubicBezTo>
                  <a:pt x="46955" y="35719"/>
                  <a:pt x="57559" y="41002"/>
                  <a:pt x="64294" y="50006"/>
                </a:cubicBezTo>
                <a:lnTo>
                  <a:pt x="121444" y="126206"/>
                </a:lnTo>
                <a:cubicBezTo>
                  <a:pt x="123676" y="129220"/>
                  <a:pt x="127211" y="130969"/>
                  <a:pt x="130969" y="130969"/>
                </a:cubicBezTo>
                <a:lnTo>
                  <a:pt x="142875" y="130969"/>
                </a:lnTo>
                <a:lnTo>
                  <a:pt x="142875" y="119063"/>
                </a:lnTo>
                <a:cubicBezTo>
                  <a:pt x="142875" y="114263"/>
                  <a:pt x="145777" y="109910"/>
                  <a:pt x="150242" y="108049"/>
                </a:cubicBezTo>
                <a:cubicBezTo>
                  <a:pt x="154707" y="106189"/>
                  <a:pt x="159804" y="107231"/>
                  <a:pt x="163227" y="110617"/>
                </a:cubicBezTo>
                <a:lnTo>
                  <a:pt x="187040" y="134429"/>
                </a:lnTo>
                <a:cubicBezTo>
                  <a:pt x="189272" y="136661"/>
                  <a:pt x="190537" y="139675"/>
                  <a:pt x="190537" y="142838"/>
                </a:cubicBezTo>
                <a:cubicBezTo>
                  <a:pt x="190537" y="146000"/>
                  <a:pt x="189272" y="149014"/>
                  <a:pt x="187040" y="151247"/>
                </a:cubicBezTo>
                <a:lnTo>
                  <a:pt x="163227" y="175059"/>
                </a:lnTo>
                <a:close/>
              </a:path>
            </a:pathLst>
          </a:custGeom>
          <a:solidFill>
            <a:srgbClr val="4A90A4"/>
          </a:solidFill>
          <a:ln/>
        </p:spPr>
      </p:sp>
      <p:sp>
        <p:nvSpPr>
          <p:cNvPr id="34" name="Text 32"/>
          <p:cNvSpPr/>
          <p:nvPr/>
        </p:nvSpPr>
        <p:spPr>
          <a:xfrm>
            <a:off x="3296603" y="4708922"/>
            <a:ext cx="2324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Monte Carlo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3301365" y="4899422"/>
            <a:ext cx="23145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GBM Simulator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836920" y="4350787"/>
            <a:ext cx="2501265" cy="824865"/>
          </a:xfrm>
          <a:custGeom>
            <a:avLst/>
            <a:gdLst/>
            <a:ahLst/>
            <a:cxnLst/>
            <a:rect l="l" t="t" r="r" b="b"/>
            <a:pathLst>
              <a:path w="2501265" h="824865">
                <a:moveTo>
                  <a:pt x="76201" y="0"/>
                </a:moveTo>
                <a:lnTo>
                  <a:pt x="2425064" y="0"/>
                </a:lnTo>
                <a:cubicBezTo>
                  <a:pt x="2467149" y="0"/>
                  <a:pt x="2501265" y="34116"/>
                  <a:pt x="2501265" y="76201"/>
                </a:cubicBezTo>
                <a:lnTo>
                  <a:pt x="2501265" y="748664"/>
                </a:lnTo>
                <a:cubicBezTo>
                  <a:pt x="2501265" y="790749"/>
                  <a:pt x="2467149" y="824865"/>
                  <a:pt x="2425064" y="824865"/>
                </a:cubicBezTo>
                <a:lnTo>
                  <a:pt x="76201" y="824865"/>
                </a:lnTo>
                <a:cubicBezTo>
                  <a:pt x="34116" y="824865"/>
                  <a:pt x="0" y="790749"/>
                  <a:pt x="0" y="748664"/>
                </a:cubicBezTo>
                <a:lnTo>
                  <a:pt x="0" y="76201"/>
                </a:lnTo>
                <a:cubicBezTo>
                  <a:pt x="0" y="34116"/>
                  <a:pt x="34116" y="0"/>
                  <a:pt x="76201" y="0"/>
                </a:cubicBezTo>
                <a:close/>
              </a:path>
            </a:pathLst>
          </a:custGeom>
          <a:solidFill>
            <a:srgbClr val="1E3A5F">
              <a:alpha val="20000"/>
            </a:srgbClr>
          </a:solidFill>
          <a:ln w="20320">
            <a:solidFill>
              <a:srgbClr val="1E3A5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991350" y="4472704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96962" y="0"/>
                  <a:pt x="98673" y="372"/>
                  <a:pt x="100236" y="1079"/>
                </a:cubicBezTo>
                <a:lnTo>
                  <a:pt x="170334" y="30807"/>
                </a:lnTo>
                <a:cubicBezTo>
                  <a:pt x="178519" y="34268"/>
                  <a:pt x="184621" y="42342"/>
                  <a:pt x="184584" y="52090"/>
                </a:cubicBezTo>
                <a:cubicBezTo>
                  <a:pt x="184398" y="88999"/>
                  <a:pt x="169218" y="156530"/>
                  <a:pt x="105110" y="187226"/>
                </a:cubicBezTo>
                <a:cubicBezTo>
                  <a:pt x="98896" y="190202"/>
                  <a:pt x="91678" y="190202"/>
                  <a:pt x="85465" y="187226"/>
                </a:cubicBezTo>
                <a:cubicBezTo>
                  <a:pt x="21320" y="156530"/>
                  <a:pt x="6176" y="88999"/>
                  <a:pt x="5990" y="52090"/>
                </a:cubicBezTo>
                <a:cubicBezTo>
                  <a:pt x="5953" y="42342"/>
                  <a:pt x="12055" y="34268"/>
                  <a:pt x="20241" y="30807"/>
                </a:cubicBezTo>
                <a:lnTo>
                  <a:pt x="90301" y="1079"/>
                </a:lnTo>
                <a:cubicBezTo>
                  <a:pt x="91864" y="372"/>
                  <a:pt x="93538" y="0"/>
                  <a:pt x="95250" y="0"/>
                </a:cubicBezTo>
                <a:close/>
                <a:moveTo>
                  <a:pt x="95250" y="24854"/>
                </a:moveTo>
                <a:lnTo>
                  <a:pt x="95250" y="165534"/>
                </a:lnTo>
                <a:cubicBezTo>
                  <a:pt x="146596" y="140680"/>
                  <a:pt x="160400" y="85613"/>
                  <a:pt x="160734" y="52648"/>
                </a:cubicBezTo>
                <a:lnTo>
                  <a:pt x="95250" y="24892"/>
                </a:lnTo>
                <a:lnTo>
                  <a:pt x="95250" y="24892"/>
                </a:lnTo>
                <a:close/>
              </a:path>
            </a:pathLst>
          </a:custGeom>
          <a:solidFill>
            <a:srgbClr val="1E3A5F"/>
          </a:solidFill>
          <a:ln/>
        </p:spPr>
      </p:sp>
      <p:sp>
        <p:nvSpPr>
          <p:cNvPr id="38" name="Text 36"/>
          <p:cNvSpPr/>
          <p:nvPr/>
        </p:nvSpPr>
        <p:spPr>
          <a:xfrm>
            <a:off x="5925503" y="4708922"/>
            <a:ext cx="2324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Ghost Hedge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930265" y="4899422"/>
            <a:ext cx="23145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Risk Protocol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4386263" y="5295547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63029" y="187003"/>
                </a:moveTo>
                <a:cubicBezTo>
                  <a:pt x="67680" y="191653"/>
                  <a:pt x="75233" y="191653"/>
                  <a:pt x="79883" y="187003"/>
                </a:cubicBezTo>
                <a:lnTo>
                  <a:pt x="139415" y="127471"/>
                </a:lnTo>
                <a:cubicBezTo>
                  <a:pt x="144066" y="122820"/>
                  <a:pt x="144066" y="115267"/>
                  <a:pt x="139415" y="110617"/>
                </a:cubicBezTo>
                <a:cubicBezTo>
                  <a:pt x="134764" y="105966"/>
                  <a:pt x="127211" y="105966"/>
                  <a:pt x="122560" y="110617"/>
                </a:cubicBezTo>
                <a:lnTo>
                  <a:pt x="83344" y="149833"/>
                </a:lnTo>
                <a:lnTo>
                  <a:pt x="83344" y="11906"/>
                </a:lnTo>
                <a:cubicBezTo>
                  <a:pt x="83344" y="5321"/>
                  <a:pt x="78023" y="0"/>
                  <a:pt x="71438" y="0"/>
                </a:cubicBezTo>
                <a:cubicBezTo>
                  <a:pt x="64852" y="0"/>
                  <a:pt x="59531" y="5321"/>
                  <a:pt x="59531" y="11906"/>
                </a:cubicBezTo>
                <a:lnTo>
                  <a:pt x="59531" y="149833"/>
                </a:lnTo>
                <a:lnTo>
                  <a:pt x="20315" y="110617"/>
                </a:lnTo>
                <a:cubicBezTo>
                  <a:pt x="15664" y="105966"/>
                  <a:pt x="8111" y="105966"/>
                  <a:pt x="3460" y="110617"/>
                </a:cubicBezTo>
                <a:cubicBezTo>
                  <a:pt x="-1191" y="115267"/>
                  <a:pt x="-1191" y="122820"/>
                  <a:pt x="3460" y="127471"/>
                </a:cubicBezTo>
                <a:lnTo>
                  <a:pt x="62992" y="187003"/>
                </a:ln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41" name="Shape 39"/>
          <p:cNvSpPr/>
          <p:nvPr/>
        </p:nvSpPr>
        <p:spPr>
          <a:xfrm>
            <a:off x="571500" y="5600347"/>
            <a:ext cx="3619500" cy="876300"/>
          </a:xfrm>
          <a:custGeom>
            <a:avLst/>
            <a:gdLst/>
            <a:ahLst/>
            <a:cxnLst/>
            <a:rect l="l" t="t" r="r" b="b"/>
            <a:pathLst>
              <a:path w="3619500" h="876300">
                <a:moveTo>
                  <a:pt x="76203" y="0"/>
                </a:moveTo>
                <a:lnTo>
                  <a:pt x="3543297" y="0"/>
                </a:lnTo>
                <a:cubicBezTo>
                  <a:pt x="3585383" y="0"/>
                  <a:pt x="3619500" y="34117"/>
                  <a:pt x="3619500" y="76203"/>
                </a:cubicBezTo>
                <a:lnTo>
                  <a:pt x="3619500" y="800097"/>
                </a:lnTo>
                <a:cubicBezTo>
                  <a:pt x="3619500" y="842183"/>
                  <a:pt x="3585383" y="876300"/>
                  <a:pt x="3543297" y="876300"/>
                </a:cubicBezTo>
                <a:lnTo>
                  <a:pt x="76203" y="876300"/>
                </a:lnTo>
                <a:cubicBezTo>
                  <a:pt x="34117" y="876300"/>
                  <a:pt x="0" y="842183"/>
                  <a:pt x="0" y="8000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42" name="Shape 40"/>
          <p:cNvSpPr/>
          <p:nvPr/>
        </p:nvSpPr>
        <p:spPr>
          <a:xfrm>
            <a:off x="2250281" y="5714647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75724" y="68491"/>
                </a:moveTo>
                <a:lnTo>
                  <a:pt x="67374" y="60141"/>
                </a:lnTo>
                <a:cubicBezTo>
                  <a:pt x="61793" y="54560"/>
                  <a:pt x="61793" y="45497"/>
                  <a:pt x="67374" y="39916"/>
                </a:cubicBezTo>
                <a:lnTo>
                  <a:pt x="118586" y="-11341"/>
                </a:lnTo>
                <a:cubicBezTo>
                  <a:pt x="124167" y="-16922"/>
                  <a:pt x="133231" y="-16922"/>
                  <a:pt x="138812" y="-11341"/>
                </a:cubicBezTo>
                <a:lnTo>
                  <a:pt x="147161" y="-2947"/>
                </a:lnTo>
                <a:cubicBezTo>
                  <a:pt x="152742" y="2634"/>
                  <a:pt x="152742" y="11698"/>
                  <a:pt x="147161" y="17279"/>
                </a:cubicBezTo>
                <a:lnTo>
                  <a:pt x="95949" y="68491"/>
                </a:lnTo>
                <a:cubicBezTo>
                  <a:pt x="90368" y="74072"/>
                  <a:pt x="81305" y="74072"/>
                  <a:pt x="75724" y="68491"/>
                </a:cubicBezTo>
                <a:close/>
                <a:moveTo>
                  <a:pt x="123230" y="94521"/>
                </a:moveTo>
                <a:lnTo>
                  <a:pt x="109210" y="80501"/>
                </a:lnTo>
                <a:lnTo>
                  <a:pt x="159216" y="30495"/>
                </a:lnTo>
                <a:lnTo>
                  <a:pt x="212527" y="83805"/>
                </a:lnTo>
                <a:lnTo>
                  <a:pt x="162520" y="133811"/>
                </a:lnTo>
                <a:lnTo>
                  <a:pt x="148501" y="119792"/>
                </a:lnTo>
                <a:lnTo>
                  <a:pt x="44916" y="223376"/>
                </a:lnTo>
                <a:cubicBezTo>
                  <a:pt x="37951" y="230341"/>
                  <a:pt x="26655" y="230341"/>
                  <a:pt x="19645" y="223376"/>
                </a:cubicBezTo>
                <a:cubicBezTo>
                  <a:pt x="12636" y="216411"/>
                  <a:pt x="12680" y="205115"/>
                  <a:pt x="19645" y="198105"/>
                </a:cubicBezTo>
                <a:lnTo>
                  <a:pt x="123230" y="94521"/>
                </a:lnTo>
                <a:close/>
                <a:moveTo>
                  <a:pt x="174531" y="167253"/>
                </a:moveTo>
                <a:cubicBezTo>
                  <a:pt x="168950" y="161672"/>
                  <a:pt x="168950" y="152608"/>
                  <a:pt x="174531" y="147027"/>
                </a:cubicBezTo>
                <a:lnTo>
                  <a:pt x="225743" y="95816"/>
                </a:lnTo>
                <a:cubicBezTo>
                  <a:pt x="231324" y="90234"/>
                  <a:pt x="240387" y="90234"/>
                  <a:pt x="245968" y="95816"/>
                </a:cubicBezTo>
                <a:lnTo>
                  <a:pt x="254318" y="104165"/>
                </a:lnTo>
                <a:cubicBezTo>
                  <a:pt x="259899" y="109746"/>
                  <a:pt x="259899" y="118809"/>
                  <a:pt x="254318" y="124391"/>
                </a:cubicBezTo>
                <a:lnTo>
                  <a:pt x="203106" y="175647"/>
                </a:lnTo>
                <a:cubicBezTo>
                  <a:pt x="197525" y="181228"/>
                  <a:pt x="188461" y="181228"/>
                  <a:pt x="182880" y="175647"/>
                </a:cubicBezTo>
                <a:lnTo>
                  <a:pt x="174531" y="167298"/>
                </a:lnTo>
                <a:close/>
              </a:path>
            </a:pathLst>
          </a:custGeom>
          <a:solidFill>
            <a:srgbClr val="F5F1EB"/>
          </a:solidFill>
          <a:ln/>
        </p:spPr>
      </p:sp>
      <p:sp>
        <p:nvSpPr>
          <p:cNvPr id="43" name="Text 41"/>
          <p:cNvSpPr/>
          <p:nvPr/>
        </p:nvSpPr>
        <p:spPr>
          <a:xfrm>
            <a:off x="647700" y="5981347"/>
            <a:ext cx="3467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Quantum Verdict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57225" y="6209947"/>
            <a:ext cx="34480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Buy/Sell/Hold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4362450" y="5943126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87003" y="103659"/>
                </a:moveTo>
                <a:cubicBezTo>
                  <a:pt x="191653" y="99008"/>
                  <a:pt x="191653" y="91455"/>
                  <a:pt x="187003" y="86804"/>
                </a:cubicBezTo>
                <a:lnTo>
                  <a:pt x="127471" y="27273"/>
                </a:lnTo>
                <a:cubicBezTo>
                  <a:pt x="122820" y="22622"/>
                  <a:pt x="115267" y="22622"/>
                  <a:pt x="110617" y="27273"/>
                </a:cubicBezTo>
                <a:cubicBezTo>
                  <a:pt x="105966" y="31924"/>
                  <a:pt x="105966" y="39477"/>
                  <a:pt x="110617" y="44128"/>
                </a:cubicBezTo>
                <a:lnTo>
                  <a:pt x="149833" y="83344"/>
                </a:lnTo>
                <a:lnTo>
                  <a:pt x="11906" y="83344"/>
                </a:ln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149833" y="107156"/>
                </a:lnTo>
                <a:lnTo>
                  <a:pt x="110617" y="146372"/>
                </a:lnTo>
                <a:cubicBezTo>
                  <a:pt x="105966" y="151023"/>
                  <a:pt x="105966" y="158576"/>
                  <a:pt x="110617" y="163227"/>
                </a:cubicBezTo>
                <a:cubicBezTo>
                  <a:pt x="115267" y="167878"/>
                  <a:pt x="122820" y="167878"/>
                  <a:pt x="127471" y="163227"/>
                </a:cubicBezTo>
                <a:lnTo>
                  <a:pt x="187003" y="103696"/>
                </a:ln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46" name="Shape 44"/>
          <p:cNvSpPr/>
          <p:nvPr/>
        </p:nvSpPr>
        <p:spPr>
          <a:xfrm>
            <a:off x="4729163" y="5600347"/>
            <a:ext cx="3619500" cy="876300"/>
          </a:xfrm>
          <a:custGeom>
            <a:avLst/>
            <a:gdLst/>
            <a:ahLst/>
            <a:cxnLst/>
            <a:rect l="l" t="t" r="r" b="b"/>
            <a:pathLst>
              <a:path w="3619500" h="876300">
                <a:moveTo>
                  <a:pt x="76203" y="0"/>
                </a:moveTo>
                <a:lnTo>
                  <a:pt x="3543297" y="0"/>
                </a:lnTo>
                <a:cubicBezTo>
                  <a:pt x="3585383" y="0"/>
                  <a:pt x="3619500" y="34117"/>
                  <a:pt x="3619500" y="76203"/>
                </a:cubicBezTo>
                <a:lnTo>
                  <a:pt x="3619500" y="800097"/>
                </a:lnTo>
                <a:cubicBezTo>
                  <a:pt x="3619500" y="842183"/>
                  <a:pt x="3585383" y="876300"/>
                  <a:pt x="3543297" y="876300"/>
                </a:cubicBezTo>
                <a:lnTo>
                  <a:pt x="76203" y="876300"/>
                </a:lnTo>
                <a:cubicBezTo>
                  <a:pt x="34117" y="876300"/>
                  <a:pt x="0" y="842183"/>
                  <a:pt x="0" y="8000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4A90A4"/>
          </a:solidFill>
          <a:ln/>
        </p:spPr>
      </p:sp>
      <p:sp>
        <p:nvSpPr>
          <p:cNvPr id="47" name="Shape 45"/>
          <p:cNvSpPr/>
          <p:nvPr/>
        </p:nvSpPr>
        <p:spPr>
          <a:xfrm>
            <a:off x="6436519" y="5714647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8575" y="14288"/>
                </a:moveTo>
                <a:cubicBezTo>
                  <a:pt x="12814" y="14288"/>
                  <a:pt x="0" y="27102"/>
                  <a:pt x="0" y="42863"/>
                </a:cubicBezTo>
                <a:lnTo>
                  <a:pt x="0" y="116131"/>
                </a:lnTo>
                <a:cubicBezTo>
                  <a:pt x="8081" y="110460"/>
                  <a:pt x="17949" y="107156"/>
                  <a:pt x="28575" y="107156"/>
                </a:cubicBezTo>
                <a:lnTo>
                  <a:pt x="171450" y="107156"/>
                </a:lnTo>
                <a:cubicBezTo>
                  <a:pt x="182076" y="107156"/>
                  <a:pt x="191944" y="110460"/>
                  <a:pt x="200025" y="116131"/>
                </a:cubicBezTo>
                <a:lnTo>
                  <a:pt x="200025" y="42863"/>
                </a:lnTo>
                <a:cubicBezTo>
                  <a:pt x="200025" y="27102"/>
                  <a:pt x="187211" y="14288"/>
                  <a:pt x="171450" y="14288"/>
                </a:cubicBezTo>
                <a:lnTo>
                  <a:pt x="28575" y="14288"/>
                </a:lnTo>
                <a:close/>
                <a:moveTo>
                  <a:pt x="200025" y="157163"/>
                </a:moveTo>
                <a:cubicBezTo>
                  <a:pt x="200025" y="141402"/>
                  <a:pt x="187211" y="128588"/>
                  <a:pt x="171450" y="128588"/>
                </a:cubicBezTo>
                <a:lnTo>
                  <a:pt x="28575" y="128588"/>
                </a:lnTo>
                <a:cubicBezTo>
                  <a:pt x="12814" y="128588"/>
                  <a:pt x="0" y="141402"/>
                  <a:pt x="0" y="157163"/>
                </a:cubicBezTo>
                <a:lnTo>
                  <a:pt x="0" y="185738"/>
                </a:lnTo>
                <a:cubicBezTo>
                  <a:pt x="0" y="201498"/>
                  <a:pt x="12814" y="214313"/>
                  <a:pt x="28575" y="214313"/>
                </a:cubicBezTo>
                <a:lnTo>
                  <a:pt x="171450" y="214313"/>
                </a:lnTo>
                <a:cubicBezTo>
                  <a:pt x="187211" y="214313"/>
                  <a:pt x="200025" y="201498"/>
                  <a:pt x="200025" y="185738"/>
                </a:cubicBezTo>
                <a:lnTo>
                  <a:pt x="200025" y="157163"/>
                </a:lnTo>
                <a:close/>
                <a:moveTo>
                  <a:pt x="100013" y="171450"/>
                </a:moveTo>
                <a:cubicBezTo>
                  <a:pt x="100013" y="163565"/>
                  <a:pt x="106415" y="157163"/>
                  <a:pt x="114300" y="157163"/>
                </a:cubicBezTo>
                <a:cubicBezTo>
                  <a:pt x="122185" y="157163"/>
                  <a:pt x="128588" y="163565"/>
                  <a:pt x="128588" y="171450"/>
                </a:cubicBezTo>
                <a:cubicBezTo>
                  <a:pt x="128588" y="179335"/>
                  <a:pt x="122185" y="185738"/>
                  <a:pt x="114300" y="185738"/>
                </a:cubicBezTo>
                <a:cubicBezTo>
                  <a:pt x="106415" y="185738"/>
                  <a:pt x="100013" y="179335"/>
                  <a:pt x="100013" y="171450"/>
                </a:cubicBezTo>
                <a:close/>
                <a:moveTo>
                  <a:pt x="157163" y="157163"/>
                </a:moveTo>
                <a:cubicBezTo>
                  <a:pt x="165048" y="157163"/>
                  <a:pt x="171450" y="163565"/>
                  <a:pt x="171450" y="171450"/>
                </a:cubicBezTo>
                <a:cubicBezTo>
                  <a:pt x="171450" y="179335"/>
                  <a:pt x="165048" y="185738"/>
                  <a:pt x="157163" y="185738"/>
                </a:cubicBezTo>
                <a:cubicBezTo>
                  <a:pt x="149277" y="185738"/>
                  <a:pt x="142875" y="179335"/>
                  <a:pt x="142875" y="171450"/>
                </a:cubicBezTo>
                <a:cubicBezTo>
                  <a:pt x="142875" y="163565"/>
                  <a:pt x="149277" y="157163"/>
                  <a:pt x="157163" y="157163"/>
                </a:cubicBezTo>
                <a:close/>
              </a:path>
            </a:pathLst>
          </a:custGeom>
          <a:solidFill>
            <a:srgbClr val="F5F1EB"/>
          </a:solidFill>
          <a:ln/>
        </p:spPr>
      </p:sp>
      <p:sp>
        <p:nvSpPr>
          <p:cNvPr id="48" name="Text 46"/>
          <p:cNvSpPr/>
          <p:nvPr/>
        </p:nvSpPr>
        <p:spPr>
          <a:xfrm>
            <a:off x="4805363" y="5981347"/>
            <a:ext cx="3467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Database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4814888" y="6209947"/>
            <a:ext cx="34480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PostgreSQL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8763000" y="1143000"/>
            <a:ext cx="3048000" cy="3048000"/>
          </a:xfrm>
          <a:custGeom>
            <a:avLst/>
            <a:gdLst/>
            <a:ahLst/>
            <a:cxnLst/>
            <a:rect l="l" t="t" r="r" b="b"/>
            <a:pathLst>
              <a:path w="3048000" h="3048000">
                <a:moveTo>
                  <a:pt x="76200" y="0"/>
                </a:moveTo>
                <a:lnTo>
                  <a:pt x="2971800" y="0"/>
                </a:lnTo>
                <a:cubicBezTo>
                  <a:pt x="3013856" y="0"/>
                  <a:pt x="3048000" y="34144"/>
                  <a:pt x="3048000" y="76200"/>
                </a:cubicBezTo>
                <a:lnTo>
                  <a:pt x="3048000" y="2971800"/>
                </a:lnTo>
                <a:cubicBezTo>
                  <a:pt x="3048000" y="3013856"/>
                  <a:pt x="3013856" y="3048000"/>
                  <a:pt x="2971800" y="3048000"/>
                </a:cubicBezTo>
                <a:lnTo>
                  <a:pt x="76200" y="3048000"/>
                </a:lnTo>
                <a:cubicBezTo>
                  <a:pt x="34144" y="3048000"/>
                  <a:pt x="0" y="3013856"/>
                  <a:pt x="0" y="2971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>
            <a:solidFill>
              <a:schemeClr val="tx1"/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8915400" y="1295400"/>
            <a:ext cx="2828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Component Details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8915400" y="1676400"/>
            <a:ext cx="2743200" cy="647700"/>
          </a:xfrm>
          <a:custGeom>
            <a:avLst/>
            <a:gdLst/>
            <a:ahLst/>
            <a:cxnLst/>
            <a:rect l="l" t="t" r="r" b="b"/>
            <a:pathLst>
              <a:path w="2743200" h="647700">
                <a:moveTo>
                  <a:pt x="38098" y="0"/>
                </a:moveTo>
                <a:lnTo>
                  <a:pt x="2705102" y="0"/>
                </a:lnTo>
                <a:cubicBezTo>
                  <a:pt x="2726129" y="0"/>
                  <a:pt x="2743200" y="17071"/>
                  <a:pt x="2743200" y="38098"/>
                </a:cubicBezTo>
                <a:lnTo>
                  <a:pt x="2743200" y="609602"/>
                </a:lnTo>
                <a:cubicBezTo>
                  <a:pt x="2743200" y="630643"/>
                  <a:pt x="2726143" y="647700"/>
                  <a:pt x="2705102" y="647700"/>
                </a:cubicBezTo>
                <a:lnTo>
                  <a:pt x="38098" y="647700"/>
                </a:lnTo>
                <a:cubicBezTo>
                  <a:pt x="17071" y="647700"/>
                  <a:pt x="0" y="630629"/>
                  <a:pt x="0" y="6096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1E3A5F">
              <a:alpha val="5098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8991600" y="1752600"/>
            <a:ext cx="2657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Frontend (React.js)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8991600" y="1943100"/>
            <a:ext cx="26479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Interactive dashboards, real-time charts, user interface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8915400" y="2400067"/>
            <a:ext cx="2743200" cy="495300"/>
          </a:xfrm>
          <a:custGeom>
            <a:avLst/>
            <a:gdLst/>
            <a:ahLst/>
            <a:cxnLst/>
            <a:rect l="l" t="t" r="r" b="b"/>
            <a:pathLst>
              <a:path w="2743200" h="495300">
                <a:moveTo>
                  <a:pt x="38098" y="0"/>
                </a:moveTo>
                <a:lnTo>
                  <a:pt x="2705102" y="0"/>
                </a:lnTo>
                <a:cubicBezTo>
                  <a:pt x="2726143" y="0"/>
                  <a:pt x="2743200" y="17057"/>
                  <a:pt x="2743200" y="38098"/>
                </a:cubicBezTo>
                <a:lnTo>
                  <a:pt x="2743200" y="457202"/>
                </a:lnTo>
                <a:cubicBezTo>
                  <a:pt x="2743200" y="478243"/>
                  <a:pt x="2726143" y="495300"/>
                  <a:pt x="2705102" y="495300"/>
                </a:cubicBezTo>
                <a:lnTo>
                  <a:pt x="38098" y="495300"/>
                </a:lnTo>
                <a:cubicBezTo>
                  <a:pt x="17057" y="495300"/>
                  <a:pt x="0" y="478243"/>
                  <a:pt x="0" y="4572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C75B4A">
              <a:alpha val="5098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8991600" y="2476267"/>
            <a:ext cx="2657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Backend (FastAPI)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8991600" y="2666767"/>
            <a:ext cx="26479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RESTful APIs, async processing, &lt;100ms latency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8915400" y="2971447"/>
            <a:ext cx="2743200" cy="495300"/>
          </a:xfrm>
          <a:custGeom>
            <a:avLst/>
            <a:gdLst/>
            <a:ahLst/>
            <a:cxnLst/>
            <a:rect l="l" t="t" r="r" b="b"/>
            <a:pathLst>
              <a:path w="2743200" h="495300">
                <a:moveTo>
                  <a:pt x="38098" y="0"/>
                </a:moveTo>
                <a:lnTo>
                  <a:pt x="2705102" y="0"/>
                </a:lnTo>
                <a:cubicBezTo>
                  <a:pt x="2726143" y="0"/>
                  <a:pt x="2743200" y="17057"/>
                  <a:pt x="2743200" y="38098"/>
                </a:cubicBezTo>
                <a:lnTo>
                  <a:pt x="2743200" y="457202"/>
                </a:lnTo>
                <a:cubicBezTo>
                  <a:pt x="2743200" y="478243"/>
                  <a:pt x="2726143" y="495300"/>
                  <a:pt x="2705102" y="495300"/>
                </a:cubicBezTo>
                <a:lnTo>
                  <a:pt x="38098" y="495300"/>
                </a:lnTo>
                <a:cubicBezTo>
                  <a:pt x="17057" y="495300"/>
                  <a:pt x="0" y="478243"/>
                  <a:pt x="0" y="4572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4A90A4">
              <a:alpha val="5098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8991600" y="3047647"/>
            <a:ext cx="2657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Engine (Python)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8991600" y="3238147"/>
            <a:ext cx="26479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BSI, Monte Carlo, Ghost Hedge algorithms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8915400" y="3542826"/>
            <a:ext cx="2743200" cy="495300"/>
          </a:xfrm>
          <a:custGeom>
            <a:avLst/>
            <a:gdLst/>
            <a:ahLst/>
            <a:cxnLst/>
            <a:rect l="l" t="t" r="r" b="b"/>
            <a:pathLst>
              <a:path w="2743200" h="495300">
                <a:moveTo>
                  <a:pt x="38098" y="0"/>
                </a:moveTo>
                <a:lnTo>
                  <a:pt x="2705102" y="0"/>
                </a:lnTo>
                <a:cubicBezTo>
                  <a:pt x="2726143" y="0"/>
                  <a:pt x="2743200" y="17057"/>
                  <a:pt x="2743200" y="38098"/>
                </a:cubicBezTo>
                <a:lnTo>
                  <a:pt x="2743200" y="457202"/>
                </a:lnTo>
                <a:cubicBezTo>
                  <a:pt x="2743200" y="478243"/>
                  <a:pt x="2726143" y="495300"/>
                  <a:pt x="2705102" y="495300"/>
                </a:cubicBezTo>
                <a:lnTo>
                  <a:pt x="38098" y="495300"/>
                </a:lnTo>
                <a:cubicBezTo>
                  <a:pt x="17057" y="495300"/>
                  <a:pt x="0" y="478243"/>
                  <a:pt x="0" y="4572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1E3A5F">
              <a:alpha val="5098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8991600" y="3619026"/>
            <a:ext cx="2657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Database (PostgreSQL)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8991600" y="3809526"/>
            <a:ext cx="26479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 data, trade history, performance metrics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8763000" y="4342805"/>
            <a:ext cx="3048000" cy="1943100"/>
          </a:xfrm>
          <a:custGeom>
            <a:avLst/>
            <a:gdLst/>
            <a:ahLst/>
            <a:cxnLst/>
            <a:rect l="l" t="t" r="r" b="b"/>
            <a:pathLst>
              <a:path w="3048000" h="1943100">
                <a:moveTo>
                  <a:pt x="76208" y="0"/>
                </a:moveTo>
                <a:lnTo>
                  <a:pt x="2971792" y="0"/>
                </a:lnTo>
                <a:cubicBezTo>
                  <a:pt x="3013880" y="0"/>
                  <a:pt x="3048000" y="34120"/>
                  <a:pt x="3048000" y="76208"/>
                </a:cubicBezTo>
                <a:lnTo>
                  <a:pt x="3048000" y="1866892"/>
                </a:lnTo>
                <a:cubicBezTo>
                  <a:pt x="3048000" y="1908980"/>
                  <a:pt x="3013880" y="1943100"/>
                  <a:pt x="2971792" y="1943100"/>
                </a:cubicBezTo>
                <a:lnTo>
                  <a:pt x="76208" y="1943100"/>
                </a:lnTo>
                <a:cubicBezTo>
                  <a:pt x="34120" y="1943100"/>
                  <a:pt x="0" y="1908980"/>
                  <a:pt x="0" y="1866892"/>
                </a:cubicBezTo>
                <a:lnTo>
                  <a:pt x="0" y="76208"/>
                </a:lnTo>
                <a:cubicBezTo>
                  <a:pt x="0" y="34148"/>
                  <a:pt x="34148" y="0"/>
                  <a:pt x="76208" y="0"/>
                </a:cubicBezTo>
                <a:close/>
              </a:path>
            </a:pathLst>
          </a:custGeom>
          <a:solidFill>
            <a:srgbClr val="1E3A5F"/>
          </a:solidFill>
          <a:ln>
            <a:solidFill>
              <a:schemeClr val="tx1"/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</p:sp>
      <p:sp>
        <p:nvSpPr>
          <p:cNvPr id="65" name="Text 63"/>
          <p:cNvSpPr/>
          <p:nvPr/>
        </p:nvSpPr>
        <p:spPr>
          <a:xfrm>
            <a:off x="8915400" y="4495205"/>
            <a:ext cx="2828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Features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8934450" y="490478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67" name="Text 65"/>
          <p:cNvSpPr/>
          <p:nvPr/>
        </p:nvSpPr>
        <p:spPr>
          <a:xfrm>
            <a:off x="9158288" y="4876205"/>
            <a:ext cx="1419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data pipeline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8934450" y="517148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69" name="Text 67"/>
          <p:cNvSpPr/>
          <p:nvPr/>
        </p:nvSpPr>
        <p:spPr>
          <a:xfrm>
            <a:off x="9158288" y="5142905"/>
            <a:ext cx="1647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Sub-second response time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8934450" y="543818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71" name="Text 69"/>
          <p:cNvSpPr/>
          <p:nvPr/>
        </p:nvSpPr>
        <p:spPr>
          <a:xfrm>
            <a:off x="9158288" y="5409605"/>
            <a:ext cx="1295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Scalable architecture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8934450" y="570488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73" name="Text 71"/>
          <p:cNvSpPr/>
          <p:nvPr/>
        </p:nvSpPr>
        <p:spPr>
          <a:xfrm>
            <a:off x="9158288" y="5676305"/>
            <a:ext cx="1162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RESTful API design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8934450" y="597158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75" name="Text 73"/>
          <p:cNvSpPr/>
          <p:nvPr/>
        </p:nvSpPr>
        <p:spPr>
          <a:xfrm>
            <a:off x="9158288" y="5943005"/>
            <a:ext cx="1323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Modular components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0977" y="360977"/>
            <a:ext cx="577563" cy="577563"/>
          </a:xfrm>
          <a:custGeom>
            <a:avLst/>
            <a:gdLst/>
            <a:ahLst/>
            <a:cxnLst/>
            <a:rect l="l" t="t" r="r" b="b"/>
            <a:pathLst>
              <a:path w="577563" h="577563">
                <a:moveTo>
                  <a:pt x="72195" y="0"/>
                </a:moveTo>
                <a:lnTo>
                  <a:pt x="505368" y="0"/>
                </a:lnTo>
                <a:cubicBezTo>
                  <a:pt x="545240" y="0"/>
                  <a:pt x="577563" y="32323"/>
                  <a:pt x="577563" y="72195"/>
                </a:cubicBezTo>
                <a:lnTo>
                  <a:pt x="577563" y="505368"/>
                </a:lnTo>
                <a:cubicBezTo>
                  <a:pt x="577563" y="545240"/>
                  <a:pt x="545240" y="577563"/>
                  <a:pt x="505368" y="577563"/>
                </a:cubicBezTo>
                <a:lnTo>
                  <a:pt x="72195" y="577563"/>
                </a:lnTo>
                <a:cubicBezTo>
                  <a:pt x="32323" y="577563"/>
                  <a:pt x="0" y="545240"/>
                  <a:pt x="0" y="505368"/>
                </a:cubicBezTo>
                <a:lnTo>
                  <a:pt x="0" y="72195"/>
                </a:lnTo>
                <a:cubicBezTo>
                  <a:pt x="0" y="32323"/>
                  <a:pt x="32323" y="0"/>
                  <a:pt x="72195" y="0"/>
                </a:cubicBezTo>
                <a:close/>
              </a:path>
            </a:pathLst>
          </a:custGeom>
          <a:solidFill>
            <a:srgbClr val="FF0000"/>
          </a:solidFill>
          <a:ln/>
        </p:spPr>
      </p:sp>
      <p:sp>
        <p:nvSpPr>
          <p:cNvPr id="3" name="Text 1"/>
          <p:cNvSpPr/>
          <p:nvPr/>
        </p:nvSpPr>
        <p:spPr>
          <a:xfrm>
            <a:off x="541466" y="487319"/>
            <a:ext cx="351953" cy="324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32" b="1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82931" y="379026"/>
            <a:ext cx="3212696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b="1" kern="0" spc="50" dirty="0">
                <a:solidFill>
                  <a:srgbClr val="C75B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PROPOSED ARCHITECTURE (CONTINUED)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82931" y="559514"/>
            <a:ext cx="3311964" cy="360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58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Ghost Hedge Protocol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0977" y="1082931"/>
            <a:ext cx="5631242" cy="1461957"/>
          </a:xfrm>
          <a:custGeom>
            <a:avLst/>
            <a:gdLst/>
            <a:ahLst/>
            <a:cxnLst/>
            <a:rect l="l" t="t" r="r" b="b"/>
            <a:pathLst>
              <a:path w="5631242" h="1461957">
                <a:moveTo>
                  <a:pt x="72191" y="0"/>
                </a:moveTo>
                <a:lnTo>
                  <a:pt x="5559051" y="0"/>
                </a:lnTo>
                <a:cubicBezTo>
                  <a:pt x="5598921" y="0"/>
                  <a:pt x="5631242" y="32321"/>
                  <a:pt x="5631242" y="72191"/>
                </a:cubicBezTo>
                <a:lnTo>
                  <a:pt x="5631242" y="1389766"/>
                </a:lnTo>
                <a:cubicBezTo>
                  <a:pt x="5631242" y="1429636"/>
                  <a:pt x="5598921" y="1461957"/>
                  <a:pt x="5559051" y="1461957"/>
                </a:cubicBezTo>
                <a:lnTo>
                  <a:pt x="72191" y="1461957"/>
                </a:lnTo>
                <a:cubicBezTo>
                  <a:pt x="32321" y="1461957"/>
                  <a:pt x="0" y="1429636"/>
                  <a:pt x="0" y="1389766"/>
                </a:cubicBezTo>
                <a:lnTo>
                  <a:pt x="0" y="72191"/>
                </a:lnTo>
                <a:cubicBezTo>
                  <a:pt x="0" y="32348"/>
                  <a:pt x="32348" y="0"/>
                  <a:pt x="72191" y="0"/>
                </a:cubicBezTo>
                <a:close/>
              </a:path>
            </a:pathLst>
          </a:custGeom>
          <a:solidFill>
            <a:srgbClr val="1E3A5F"/>
          </a:solidFill>
          <a:ln/>
          <a:effectLst>
            <a:glow rad="101600">
              <a:schemeClr val="accent5">
                <a:satMod val="175000"/>
                <a:alpha val="40000"/>
              </a:schemeClr>
            </a:glow>
          </a:effectLst>
        </p:spPr>
      </p:sp>
      <p:sp>
        <p:nvSpPr>
          <p:cNvPr id="7" name="Shape 5"/>
          <p:cNvSpPr/>
          <p:nvPr/>
        </p:nvSpPr>
        <p:spPr>
          <a:xfrm>
            <a:off x="568539" y="1299403"/>
            <a:ext cx="216586" cy="216586"/>
          </a:xfrm>
          <a:custGeom>
            <a:avLst/>
            <a:gdLst/>
            <a:ahLst/>
            <a:cxnLst/>
            <a:rect l="l" t="t" r="r" b="b"/>
            <a:pathLst>
              <a:path w="216586" h="216586">
                <a:moveTo>
                  <a:pt x="108293" y="0"/>
                </a:moveTo>
                <a:cubicBezTo>
                  <a:pt x="110239" y="0"/>
                  <a:pt x="112185" y="423"/>
                  <a:pt x="113962" y="1227"/>
                </a:cubicBezTo>
                <a:lnTo>
                  <a:pt x="193659" y="35026"/>
                </a:lnTo>
                <a:cubicBezTo>
                  <a:pt x="202965" y="38960"/>
                  <a:pt x="209903" y="48140"/>
                  <a:pt x="209860" y="59223"/>
                </a:cubicBezTo>
                <a:cubicBezTo>
                  <a:pt x="209649" y="101186"/>
                  <a:pt x="192389" y="177965"/>
                  <a:pt x="119503" y="212864"/>
                </a:cubicBezTo>
                <a:cubicBezTo>
                  <a:pt x="112439" y="216248"/>
                  <a:pt x="104232" y="216248"/>
                  <a:pt x="97168" y="212864"/>
                </a:cubicBezTo>
                <a:cubicBezTo>
                  <a:pt x="24239" y="177965"/>
                  <a:pt x="7022" y="101186"/>
                  <a:pt x="6811" y="59223"/>
                </a:cubicBezTo>
                <a:cubicBezTo>
                  <a:pt x="6768" y="48140"/>
                  <a:pt x="13706" y="38960"/>
                  <a:pt x="23012" y="35026"/>
                </a:cubicBezTo>
                <a:lnTo>
                  <a:pt x="102667" y="1227"/>
                </a:lnTo>
                <a:cubicBezTo>
                  <a:pt x="104444" y="423"/>
                  <a:pt x="106347" y="0"/>
                  <a:pt x="108293" y="0"/>
                </a:cubicBezTo>
                <a:close/>
                <a:moveTo>
                  <a:pt x="108293" y="28258"/>
                </a:moveTo>
                <a:lnTo>
                  <a:pt x="108293" y="188202"/>
                </a:lnTo>
                <a:cubicBezTo>
                  <a:pt x="166670" y="159944"/>
                  <a:pt x="182364" y="97337"/>
                  <a:pt x="182745" y="59857"/>
                </a:cubicBezTo>
                <a:lnTo>
                  <a:pt x="108293" y="28300"/>
                </a:lnTo>
                <a:lnTo>
                  <a:pt x="108293" y="28300"/>
                </a:ln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8" name="Text 6"/>
          <p:cNvSpPr/>
          <p:nvPr/>
        </p:nvSpPr>
        <p:spPr>
          <a:xfrm>
            <a:off x="812198" y="1263420"/>
            <a:ext cx="5107825" cy="2887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05" b="1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Protocol Overview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1466" y="1660380"/>
            <a:ext cx="5342460" cy="703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7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</a:t>
            </a:r>
            <a:r>
              <a:rPr lang="en-US" sz="1137" b="1" dirty="0">
                <a:solidFill>
                  <a:srgbClr val="C75B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Ghost Hedge Protocol</a:t>
            </a:r>
            <a:r>
              <a:rPr lang="en-US" sz="1137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an autonomous risk management system that monitors market volatility stress and triggers protective actions without human emotional bias.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0977" y="2689164"/>
            <a:ext cx="5631242" cy="3014158"/>
          </a:xfrm>
          <a:custGeom>
            <a:avLst/>
            <a:gdLst/>
            <a:ahLst/>
            <a:cxnLst/>
            <a:rect l="l" t="t" r="r" b="b"/>
            <a:pathLst>
              <a:path w="5631242" h="3014158">
                <a:moveTo>
                  <a:pt x="72189" y="0"/>
                </a:moveTo>
                <a:lnTo>
                  <a:pt x="5559053" y="0"/>
                </a:lnTo>
                <a:cubicBezTo>
                  <a:pt x="5598922" y="0"/>
                  <a:pt x="5631242" y="32320"/>
                  <a:pt x="5631242" y="72189"/>
                </a:cubicBezTo>
                <a:lnTo>
                  <a:pt x="5631242" y="2941969"/>
                </a:lnTo>
                <a:cubicBezTo>
                  <a:pt x="5631242" y="2981838"/>
                  <a:pt x="5598922" y="3014158"/>
                  <a:pt x="5559053" y="3014158"/>
                </a:cubicBezTo>
                <a:lnTo>
                  <a:pt x="72189" y="3014158"/>
                </a:lnTo>
                <a:cubicBezTo>
                  <a:pt x="32320" y="3014158"/>
                  <a:pt x="0" y="2981838"/>
                  <a:pt x="0" y="2941969"/>
                </a:cubicBezTo>
                <a:lnTo>
                  <a:pt x="0" y="72189"/>
                </a:lnTo>
                <a:cubicBezTo>
                  <a:pt x="0" y="32347"/>
                  <a:pt x="32347" y="0"/>
                  <a:pt x="72189" y="0"/>
                </a:cubicBezTo>
                <a:close/>
              </a:path>
            </a:pathLst>
          </a:custGeom>
          <a:solidFill>
            <a:srgbClr val="FFFFFF"/>
          </a:solidFill>
          <a:ln>
            <a:solidFill>
              <a:schemeClr val="tx1"/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4147" dist="3609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1466" y="2869653"/>
            <a:ext cx="5360509" cy="252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1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Protective Triggers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85" y="3273947"/>
            <a:ext cx="5248606" cy="1061273"/>
          </a:xfrm>
          <a:custGeom>
            <a:avLst/>
            <a:gdLst/>
            <a:ahLst/>
            <a:cxnLst/>
            <a:rect l="l" t="t" r="r" b="b"/>
            <a:pathLst>
              <a:path w="5248606" h="1061273">
                <a:moveTo>
                  <a:pt x="72198" y="0"/>
                </a:moveTo>
                <a:lnTo>
                  <a:pt x="5176408" y="0"/>
                </a:lnTo>
                <a:cubicBezTo>
                  <a:pt x="5216282" y="0"/>
                  <a:pt x="5248606" y="32324"/>
                  <a:pt x="5248606" y="72198"/>
                </a:cubicBezTo>
                <a:lnTo>
                  <a:pt x="5248606" y="989074"/>
                </a:lnTo>
                <a:cubicBezTo>
                  <a:pt x="5248606" y="1028948"/>
                  <a:pt x="5216282" y="1061273"/>
                  <a:pt x="5176408" y="1061273"/>
                </a:cubicBezTo>
                <a:lnTo>
                  <a:pt x="72198" y="1061273"/>
                </a:lnTo>
                <a:cubicBezTo>
                  <a:pt x="32351" y="1061273"/>
                  <a:pt x="0" y="1028922"/>
                  <a:pt x="0" y="989074"/>
                </a:cubicBezTo>
                <a:lnTo>
                  <a:pt x="0" y="72198"/>
                </a:lnTo>
                <a:cubicBezTo>
                  <a:pt x="0" y="32351"/>
                  <a:pt x="32351" y="0"/>
                  <a:pt x="72198" y="0"/>
                </a:cubicBezTo>
                <a:close/>
              </a:path>
            </a:pathLst>
          </a:custGeom>
          <a:solidFill>
            <a:srgbClr val="F0FDF4"/>
          </a:solidFill>
          <a:ln w="20320">
            <a:solidFill>
              <a:srgbClr val="05DF7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00295" y="3515807"/>
            <a:ext cx="577563" cy="577563"/>
          </a:xfrm>
          <a:custGeom>
            <a:avLst/>
            <a:gdLst/>
            <a:ahLst/>
            <a:cxnLst/>
            <a:rect l="l" t="t" r="r" b="b"/>
            <a:pathLst>
              <a:path w="577563" h="577563">
                <a:moveTo>
                  <a:pt x="288782" y="0"/>
                </a:moveTo>
                <a:lnTo>
                  <a:pt x="288782" y="0"/>
                </a:lnTo>
                <a:cubicBezTo>
                  <a:pt x="448271" y="0"/>
                  <a:pt x="577563" y="129292"/>
                  <a:pt x="577563" y="288782"/>
                </a:cubicBezTo>
                <a:lnTo>
                  <a:pt x="577563" y="288782"/>
                </a:lnTo>
                <a:cubicBezTo>
                  <a:pt x="577563" y="448271"/>
                  <a:pt x="448271" y="577563"/>
                  <a:pt x="288782" y="577563"/>
                </a:cubicBezTo>
                <a:lnTo>
                  <a:pt x="288782" y="577563"/>
                </a:lnTo>
                <a:cubicBezTo>
                  <a:pt x="129292" y="577563"/>
                  <a:pt x="0" y="448271"/>
                  <a:pt x="0" y="288782"/>
                </a:cubicBezTo>
                <a:lnTo>
                  <a:pt x="0" y="288782"/>
                </a:lnTo>
                <a:cubicBezTo>
                  <a:pt x="0" y="129292"/>
                  <a:pt x="129292" y="0"/>
                  <a:pt x="288782" y="0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14" name="Shape 12"/>
          <p:cNvSpPr/>
          <p:nvPr/>
        </p:nvSpPr>
        <p:spPr>
          <a:xfrm>
            <a:off x="907857" y="3696296"/>
            <a:ext cx="162440" cy="216586"/>
          </a:xfrm>
          <a:custGeom>
            <a:avLst/>
            <a:gdLst/>
            <a:ahLst/>
            <a:cxnLst/>
            <a:rect l="l" t="t" r="r" b="b"/>
            <a:pathLst>
              <a:path w="162440" h="216586">
                <a:moveTo>
                  <a:pt x="90780" y="7361"/>
                </a:moveTo>
                <a:cubicBezTo>
                  <a:pt x="85492" y="2073"/>
                  <a:pt x="76905" y="2073"/>
                  <a:pt x="71617" y="7361"/>
                </a:cubicBezTo>
                <a:lnTo>
                  <a:pt x="3934" y="75044"/>
                </a:lnTo>
                <a:cubicBezTo>
                  <a:pt x="-1354" y="80331"/>
                  <a:pt x="-1354" y="88919"/>
                  <a:pt x="3934" y="94207"/>
                </a:cubicBezTo>
                <a:cubicBezTo>
                  <a:pt x="9222" y="99494"/>
                  <a:pt x="17809" y="99494"/>
                  <a:pt x="23097" y="94207"/>
                </a:cubicBezTo>
                <a:lnTo>
                  <a:pt x="67683" y="49620"/>
                </a:lnTo>
                <a:lnTo>
                  <a:pt x="67683" y="206434"/>
                </a:lnTo>
                <a:cubicBezTo>
                  <a:pt x="67683" y="213921"/>
                  <a:pt x="73732" y="219970"/>
                  <a:pt x="81220" y="219970"/>
                </a:cubicBezTo>
                <a:cubicBezTo>
                  <a:pt x="88707" y="219970"/>
                  <a:pt x="94756" y="213921"/>
                  <a:pt x="94756" y="206434"/>
                </a:cubicBezTo>
                <a:lnTo>
                  <a:pt x="94756" y="49620"/>
                </a:lnTo>
                <a:lnTo>
                  <a:pt x="139343" y="94207"/>
                </a:lnTo>
                <a:cubicBezTo>
                  <a:pt x="144631" y="99494"/>
                  <a:pt x="153218" y="99494"/>
                  <a:pt x="158506" y="94207"/>
                </a:cubicBezTo>
                <a:cubicBezTo>
                  <a:pt x="163793" y="88919"/>
                  <a:pt x="163793" y="80331"/>
                  <a:pt x="158506" y="75044"/>
                </a:cubicBezTo>
                <a:lnTo>
                  <a:pt x="90822" y="7361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1422250" y="3425563"/>
            <a:ext cx="3077329" cy="252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9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Profit Booking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22250" y="3678247"/>
            <a:ext cx="3131476" cy="324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32" b="1" dirty="0">
                <a:solidFill>
                  <a:srgbClr val="00A6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4.5%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22250" y="4003126"/>
            <a:ext cx="3059281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Automatic position closure when profit target reached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85" y="4457954"/>
            <a:ext cx="5248606" cy="1061273"/>
          </a:xfrm>
          <a:custGeom>
            <a:avLst/>
            <a:gdLst/>
            <a:ahLst/>
            <a:cxnLst/>
            <a:rect l="l" t="t" r="r" b="b"/>
            <a:pathLst>
              <a:path w="5248606" h="1061273">
                <a:moveTo>
                  <a:pt x="72198" y="0"/>
                </a:moveTo>
                <a:lnTo>
                  <a:pt x="5176408" y="0"/>
                </a:lnTo>
                <a:cubicBezTo>
                  <a:pt x="5216282" y="0"/>
                  <a:pt x="5248606" y="32324"/>
                  <a:pt x="5248606" y="72198"/>
                </a:cubicBezTo>
                <a:lnTo>
                  <a:pt x="5248606" y="989074"/>
                </a:lnTo>
                <a:cubicBezTo>
                  <a:pt x="5248606" y="1028948"/>
                  <a:pt x="5216282" y="1061273"/>
                  <a:pt x="5176408" y="1061273"/>
                </a:cubicBezTo>
                <a:lnTo>
                  <a:pt x="72198" y="1061273"/>
                </a:lnTo>
                <a:cubicBezTo>
                  <a:pt x="32351" y="1061273"/>
                  <a:pt x="0" y="1028922"/>
                  <a:pt x="0" y="989074"/>
                </a:cubicBezTo>
                <a:lnTo>
                  <a:pt x="0" y="72198"/>
                </a:lnTo>
                <a:cubicBezTo>
                  <a:pt x="0" y="32351"/>
                  <a:pt x="32351" y="0"/>
                  <a:pt x="72198" y="0"/>
                </a:cubicBezTo>
                <a:close/>
              </a:path>
            </a:pathLst>
          </a:custGeom>
          <a:solidFill>
            <a:srgbClr val="FEF2F2"/>
          </a:solidFill>
          <a:ln w="20320">
            <a:solidFill>
              <a:srgbClr val="FF646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00295" y="4699814"/>
            <a:ext cx="577563" cy="577563"/>
          </a:xfrm>
          <a:custGeom>
            <a:avLst/>
            <a:gdLst/>
            <a:ahLst/>
            <a:cxnLst/>
            <a:rect l="l" t="t" r="r" b="b"/>
            <a:pathLst>
              <a:path w="577563" h="577563">
                <a:moveTo>
                  <a:pt x="288782" y="0"/>
                </a:moveTo>
                <a:lnTo>
                  <a:pt x="288782" y="0"/>
                </a:lnTo>
                <a:cubicBezTo>
                  <a:pt x="448271" y="0"/>
                  <a:pt x="577563" y="129292"/>
                  <a:pt x="577563" y="288782"/>
                </a:cubicBezTo>
                <a:lnTo>
                  <a:pt x="577563" y="288782"/>
                </a:lnTo>
                <a:cubicBezTo>
                  <a:pt x="577563" y="448271"/>
                  <a:pt x="448271" y="577563"/>
                  <a:pt x="288782" y="577563"/>
                </a:cubicBezTo>
                <a:lnTo>
                  <a:pt x="288782" y="577563"/>
                </a:lnTo>
                <a:cubicBezTo>
                  <a:pt x="129292" y="577563"/>
                  <a:pt x="0" y="448271"/>
                  <a:pt x="0" y="288782"/>
                </a:cubicBezTo>
                <a:lnTo>
                  <a:pt x="0" y="288782"/>
                </a:lnTo>
                <a:cubicBezTo>
                  <a:pt x="0" y="129292"/>
                  <a:pt x="129292" y="0"/>
                  <a:pt x="288782" y="0"/>
                </a:cubicBez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20" name="Shape 18"/>
          <p:cNvSpPr/>
          <p:nvPr/>
        </p:nvSpPr>
        <p:spPr>
          <a:xfrm>
            <a:off x="907857" y="4880302"/>
            <a:ext cx="162440" cy="216586"/>
          </a:xfrm>
          <a:custGeom>
            <a:avLst/>
            <a:gdLst/>
            <a:ahLst/>
            <a:cxnLst/>
            <a:rect l="l" t="t" r="r" b="b"/>
            <a:pathLst>
              <a:path w="162440" h="216586">
                <a:moveTo>
                  <a:pt x="71660" y="212610"/>
                </a:moveTo>
                <a:cubicBezTo>
                  <a:pt x="76947" y="217898"/>
                  <a:pt x="85535" y="217898"/>
                  <a:pt x="90822" y="212610"/>
                </a:cubicBezTo>
                <a:lnTo>
                  <a:pt x="158506" y="144927"/>
                </a:lnTo>
                <a:cubicBezTo>
                  <a:pt x="163793" y="139639"/>
                  <a:pt x="163793" y="131052"/>
                  <a:pt x="158506" y="125764"/>
                </a:cubicBezTo>
                <a:cubicBezTo>
                  <a:pt x="153218" y="120476"/>
                  <a:pt x="144631" y="120476"/>
                  <a:pt x="139343" y="125764"/>
                </a:cubicBezTo>
                <a:lnTo>
                  <a:pt x="94756" y="170350"/>
                </a:lnTo>
                <a:lnTo>
                  <a:pt x="94756" y="13537"/>
                </a:lnTo>
                <a:cubicBezTo>
                  <a:pt x="94756" y="6049"/>
                  <a:pt x="88707" y="0"/>
                  <a:pt x="81220" y="0"/>
                </a:cubicBezTo>
                <a:cubicBezTo>
                  <a:pt x="73732" y="0"/>
                  <a:pt x="67683" y="6049"/>
                  <a:pt x="67683" y="13537"/>
                </a:cubicBezTo>
                <a:lnTo>
                  <a:pt x="67683" y="170350"/>
                </a:lnTo>
                <a:lnTo>
                  <a:pt x="23097" y="125764"/>
                </a:lnTo>
                <a:cubicBezTo>
                  <a:pt x="17809" y="120476"/>
                  <a:pt x="9222" y="120476"/>
                  <a:pt x="3934" y="125764"/>
                </a:cubicBezTo>
                <a:cubicBezTo>
                  <a:pt x="-1354" y="131052"/>
                  <a:pt x="-1354" y="139639"/>
                  <a:pt x="3934" y="144927"/>
                </a:cubicBezTo>
                <a:lnTo>
                  <a:pt x="71617" y="21261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1422250" y="4609569"/>
            <a:ext cx="2111716" cy="252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9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Stop-Loss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22250" y="4862253"/>
            <a:ext cx="2165862" cy="324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32" b="1" dirty="0">
                <a:solidFill>
                  <a:srgbClr val="E700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10.0%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22250" y="5187133"/>
            <a:ext cx="2093667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Automatic exit to limit downside risk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204744" y="1082931"/>
            <a:ext cx="5631242" cy="4042943"/>
          </a:xfrm>
          <a:custGeom>
            <a:avLst/>
            <a:gdLst/>
            <a:ahLst/>
            <a:cxnLst/>
            <a:rect l="l" t="t" r="r" b="b"/>
            <a:pathLst>
              <a:path w="5631242" h="4042943">
                <a:moveTo>
                  <a:pt x="72207" y="0"/>
                </a:moveTo>
                <a:lnTo>
                  <a:pt x="5559035" y="0"/>
                </a:lnTo>
                <a:cubicBezTo>
                  <a:pt x="5598914" y="0"/>
                  <a:pt x="5631242" y="32328"/>
                  <a:pt x="5631242" y="72207"/>
                </a:cubicBezTo>
                <a:lnTo>
                  <a:pt x="5631242" y="3970736"/>
                </a:lnTo>
                <a:cubicBezTo>
                  <a:pt x="5631242" y="4010615"/>
                  <a:pt x="5598914" y="4042943"/>
                  <a:pt x="5559035" y="4042943"/>
                </a:cubicBezTo>
                <a:lnTo>
                  <a:pt x="72207" y="4042943"/>
                </a:lnTo>
                <a:cubicBezTo>
                  <a:pt x="32328" y="4042943"/>
                  <a:pt x="0" y="4010615"/>
                  <a:pt x="0" y="3970736"/>
                </a:cubicBezTo>
                <a:lnTo>
                  <a:pt x="0" y="72207"/>
                </a:lnTo>
                <a:cubicBezTo>
                  <a:pt x="0" y="32355"/>
                  <a:pt x="32355" y="0"/>
                  <a:pt x="72207" y="0"/>
                </a:cubicBezTo>
                <a:close/>
              </a:path>
            </a:pathLst>
          </a:custGeom>
          <a:solidFill>
            <a:srgbClr val="FFFFFF"/>
          </a:solidFill>
          <a:ln>
            <a:solidFill>
              <a:schemeClr val="tx1"/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4147" dist="3609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385233" y="1263420"/>
            <a:ext cx="5360509" cy="252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1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Protocol Flowchart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385233" y="1660494"/>
            <a:ext cx="5270265" cy="397075"/>
          </a:xfrm>
          <a:custGeom>
            <a:avLst/>
            <a:gdLst/>
            <a:ahLst/>
            <a:cxnLst/>
            <a:rect l="l" t="t" r="r" b="b"/>
            <a:pathLst>
              <a:path w="5270265" h="397075">
                <a:moveTo>
                  <a:pt x="36098" y="0"/>
                </a:moveTo>
                <a:lnTo>
                  <a:pt x="5234167" y="0"/>
                </a:lnTo>
                <a:cubicBezTo>
                  <a:pt x="5254103" y="0"/>
                  <a:pt x="5270265" y="16162"/>
                  <a:pt x="5270265" y="36098"/>
                </a:cubicBezTo>
                <a:lnTo>
                  <a:pt x="5270265" y="360977"/>
                </a:lnTo>
                <a:cubicBezTo>
                  <a:pt x="5270265" y="380913"/>
                  <a:pt x="5254103" y="397075"/>
                  <a:pt x="5234167" y="397075"/>
                </a:cubicBezTo>
                <a:lnTo>
                  <a:pt x="36098" y="397075"/>
                </a:lnTo>
                <a:cubicBezTo>
                  <a:pt x="16162" y="397075"/>
                  <a:pt x="0" y="380913"/>
                  <a:pt x="0" y="360977"/>
                </a:cubicBezTo>
                <a:lnTo>
                  <a:pt x="0" y="36098"/>
                </a:lnTo>
                <a:cubicBezTo>
                  <a:pt x="0" y="16175"/>
                  <a:pt x="16175" y="0"/>
                  <a:pt x="36098" y="0"/>
                </a:cubicBezTo>
                <a:close/>
              </a:path>
            </a:pathLst>
          </a:custGeom>
          <a:solidFill>
            <a:srgbClr val="1E3A5F"/>
          </a:solidFill>
          <a:ln/>
        </p:spPr>
      </p:sp>
      <p:sp>
        <p:nvSpPr>
          <p:cNvPr id="27" name="Text 25"/>
          <p:cNvSpPr/>
          <p:nvPr/>
        </p:nvSpPr>
        <p:spPr>
          <a:xfrm>
            <a:off x="6461940" y="1768788"/>
            <a:ext cx="5116850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5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Position Entry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964188" y="2129765"/>
            <a:ext cx="108293" cy="144391"/>
          </a:xfrm>
          <a:custGeom>
            <a:avLst/>
            <a:gdLst/>
            <a:ahLst/>
            <a:cxnLst/>
            <a:rect l="l" t="t" r="r" b="b"/>
            <a:pathLst>
              <a:path w="108293" h="144391">
                <a:moveTo>
                  <a:pt x="47773" y="141740"/>
                </a:moveTo>
                <a:cubicBezTo>
                  <a:pt x="51298" y="145265"/>
                  <a:pt x="57023" y="145265"/>
                  <a:pt x="60548" y="141740"/>
                </a:cubicBezTo>
                <a:lnTo>
                  <a:pt x="105670" y="96618"/>
                </a:lnTo>
                <a:cubicBezTo>
                  <a:pt x="109196" y="93093"/>
                  <a:pt x="109196" y="87368"/>
                  <a:pt x="105670" y="83843"/>
                </a:cubicBezTo>
                <a:cubicBezTo>
                  <a:pt x="102145" y="80317"/>
                  <a:pt x="96420" y="80317"/>
                  <a:pt x="92895" y="83843"/>
                </a:cubicBezTo>
                <a:lnTo>
                  <a:pt x="63171" y="113567"/>
                </a:lnTo>
                <a:lnTo>
                  <a:pt x="63171" y="9024"/>
                </a:lnTo>
                <a:cubicBezTo>
                  <a:pt x="63171" y="4033"/>
                  <a:pt x="59138" y="0"/>
                  <a:pt x="54147" y="0"/>
                </a:cubicBezTo>
                <a:cubicBezTo>
                  <a:pt x="49155" y="0"/>
                  <a:pt x="45122" y="4033"/>
                  <a:pt x="45122" y="9024"/>
                </a:cubicBezTo>
                <a:lnTo>
                  <a:pt x="45122" y="113567"/>
                </a:lnTo>
                <a:lnTo>
                  <a:pt x="15398" y="83843"/>
                </a:lnTo>
                <a:cubicBezTo>
                  <a:pt x="11873" y="80317"/>
                  <a:pt x="6148" y="80317"/>
                  <a:pt x="2623" y="83843"/>
                </a:cubicBezTo>
                <a:cubicBezTo>
                  <a:pt x="-902" y="87368"/>
                  <a:pt x="-902" y="93093"/>
                  <a:pt x="2623" y="96618"/>
                </a:cubicBezTo>
                <a:lnTo>
                  <a:pt x="47745" y="141740"/>
                </a:ln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29" name="Shape 27"/>
          <p:cNvSpPr/>
          <p:nvPr/>
        </p:nvSpPr>
        <p:spPr>
          <a:xfrm>
            <a:off x="6385233" y="2346351"/>
            <a:ext cx="5270265" cy="397075"/>
          </a:xfrm>
          <a:custGeom>
            <a:avLst/>
            <a:gdLst/>
            <a:ahLst/>
            <a:cxnLst/>
            <a:rect l="l" t="t" r="r" b="b"/>
            <a:pathLst>
              <a:path w="5270265" h="397075">
                <a:moveTo>
                  <a:pt x="36098" y="0"/>
                </a:moveTo>
                <a:lnTo>
                  <a:pt x="5234167" y="0"/>
                </a:lnTo>
                <a:cubicBezTo>
                  <a:pt x="5254103" y="0"/>
                  <a:pt x="5270265" y="16162"/>
                  <a:pt x="5270265" y="36098"/>
                </a:cubicBezTo>
                <a:lnTo>
                  <a:pt x="5270265" y="360977"/>
                </a:lnTo>
                <a:cubicBezTo>
                  <a:pt x="5270265" y="380913"/>
                  <a:pt x="5254103" y="397075"/>
                  <a:pt x="5234167" y="397075"/>
                </a:cubicBezTo>
                <a:lnTo>
                  <a:pt x="36098" y="397075"/>
                </a:lnTo>
                <a:cubicBezTo>
                  <a:pt x="16162" y="397075"/>
                  <a:pt x="0" y="380913"/>
                  <a:pt x="0" y="360977"/>
                </a:cubicBezTo>
                <a:lnTo>
                  <a:pt x="0" y="36098"/>
                </a:lnTo>
                <a:cubicBezTo>
                  <a:pt x="0" y="16175"/>
                  <a:pt x="16175" y="0"/>
                  <a:pt x="36098" y="0"/>
                </a:cubicBezTo>
                <a:close/>
              </a:path>
            </a:pathLst>
          </a:custGeom>
          <a:solidFill>
            <a:srgbClr val="4A90A4"/>
          </a:solidFill>
          <a:ln/>
        </p:spPr>
      </p:sp>
      <p:sp>
        <p:nvSpPr>
          <p:cNvPr id="30" name="Text 28"/>
          <p:cNvSpPr/>
          <p:nvPr/>
        </p:nvSpPr>
        <p:spPr>
          <a:xfrm>
            <a:off x="6461940" y="2454644"/>
            <a:ext cx="5116850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5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Continuous Monitoring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964188" y="2815621"/>
            <a:ext cx="108293" cy="144391"/>
          </a:xfrm>
          <a:custGeom>
            <a:avLst/>
            <a:gdLst/>
            <a:ahLst/>
            <a:cxnLst/>
            <a:rect l="l" t="t" r="r" b="b"/>
            <a:pathLst>
              <a:path w="108293" h="144391">
                <a:moveTo>
                  <a:pt x="47773" y="141740"/>
                </a:moveTo>
                <a:cubicBezTo>
                  <a:pt x="51298" y="145265"/>
                  <a:pt x="57023" y="145265"/>
                  <a:pt x="60548" y="141740"/>
                </a:cubicBezTo>
                <a:lnTo>
                  <a:pt x="105670" y="96618"/>
                </a:lnTo>
                <a:cubicBezTo>
                  <a:pt x="109196" y="93093"/>
                  <a:pt x="109196" y="87368"/>
                  <a:pt x="105670" y="83843"/>
                </a:cubicBezTo>
                <a:cubicBezTo>
                  <a:pt x="102145" y="80317"/>
                  <a:pt x="96420" y="80317"/>
                  <a:pt x="92895" y="83843"/>
                </a:cubicBezTo>
                <a:lnTo>
                  <a:pt x="63171" y="113567"/>
                </a:lnTo>
                <a:lnTo>
                  <a:pt x="63171" y="9024"/>
                </a:lnTo>
                <a:cubicBezTo>
                  <a:pt x="63171" y="4033"/>
                  <a:pt x="59138" y="0"/>
                  <a:pt x="54147" y="0"/>
                </a:cubicBezTo>
                <a:cubicBezTo>
                  <a:pt x="49155" y="0"/>
                  <a:pt x="45122" y="4033"/>
                  <a:pt x="45122" y="9024"/>
                </a:cubicBezTo>
                <a:lnTo>
                  <a:pt x="45122" y="113567"/>
                </a:lnTo>
                <a:lnTo>
                  <a:pt x="15398" y="83843"/>
                </a:lnTo>
                <a:cubicBezTo>
                  <a:pt x="11873" y="80317"/>
                  <a:pt x="6148" y="80317"/>
                  <a:pt x="2623" y="83843"/>
                </a:cubicBezTo>
                <a:cubicBezTo>
                  <a:pt x="-902" y="87368"/>
                  <a:pt x="-902" y="93093"/>
                  <a:pt x="2623" y="96618"/>
                </a:cubicBezTo>
                <a:lnTo>
                  <a:pt x="47745" y="141740"/>
                </a:ln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32" name="Shape 30"/>
          <p:cNvSpPr/>
          <p:nvPr/>
        </p:nvSpPr>
        <p:spPr>
          <a:xfrm>
            <a:off x="6385233" y="3032207"/>
            <a:ext cx="5270265" cy="397075"/>
          </a:xfrm>
          <a:custGeom>
            <a:avLst/>
            <a:gdLst/>
            <a:ahLst/>
            <a:cxnLst/>
            <a:rect l="l" t="t" r="r" b="b"/>
            <a:pathLst>
              <a:path w="5270265" h="397075">
                <a:moveTo>
                  <a:pt x="36098" y="0"/>
                </a:moveTo>
                <a:lnTo>
                  <a:pt x="5234167" y="0"/>
                </a:lnTo>
                <a:cubicBezTo>
                  <a:pt x="5254103" y="0"/>
                  <a:pt x="5270265" y="16162"/>
                  <a:pt x="5270265" y="36098"/>
                </a:cubicBezTo>
                <a:lnTo>
                  <a:pt x="5270265" y="360977"/>
                </a:lnTo>
                <a:cubicBezTo>
                  <a:pt x="5270265" y="380913"/>
                  <a:pt x="5254103" y="397075"/>
                  <a:pt x="5234167" y="397075"/>
                </a:cubicBezTo>
                <a:lnTo>
                  <a:pt x="36098" y="397075"/>
                </a:lnTo>
                <a:cubicBezTo>
                  <a:pt x="16162" y="397075"/>
                  <a:pt x="0" y="380913"/>
                  <a:pt x="0" y="360977"/>
                </a:cubicBezTo>
                <a:lnTo>
                  <a:pt x="0" y="36098"/>
                </a:lnTo>
                <a:cubicBezTo>
                  <a:pt x="0" y="16175"/>
                  <a:pt x="16175" y="0"/>
                  <a:pt x="36098" y="0"/>
                </a:cubicBez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33" name="Text 31"/>
          <p:cNvSpPr/>
          <p:nvPr/>
        </p:nvSpPr>
        <p:spPr>
          <a:xfrm>
            <a:off x="6461940" y="3140500"/>
            <a:ext cx="5116850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5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Volatility Stress Check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964188" y="3501477"/>
            <a:ext cx="108293" cy="144391"/>
          </a:xfrm>
          <a:custGeom>
            <a:avLst/>
            <a:gdLst/>
            <a:ahLst/>
            <a:cxnLst/>
            <a:rect l="l" t="t" r="r" b="b"/>
            <a:pathLst>
              <a:path w="108293" h="144391">
                <a:moveTo>
                  <a:pt x="47773" y="141740"/>
                </a:moveTo>
                <a:cubicBezTo>
                  <a:pt x="51298" y="145265"/>
                  <a:pt x="57023" y="145265"/>
                  <a:pt x="60548" y="141740"/>
                </a:cubicBezTo>
                <a:lnTo>
                  <a:pt x="105670" y="96618"/>
                </a:lnTo>
                <a:cubicBezTo>
                  <a:pt x="109196" y="93093"/>
                  <a:pt x="109196" y="87368"/>
                  <a:pt x="105670" y="83843"/>
                </a:cubicBezTo>
                <a:cubicBezTo>
                  <a:pt x="102145" y="80317"/>
                  <a:pt x="96420" y="80317"/>
                  <a:pt x="92895" y="83843"/>
                </a:cubicBezTo>
                <a:lnTo>
                  <a:pt x="63171" y="113567"/>
                </a:lnTo>
                <a:lnTo>
                  <a:pt x="63171" y="9024"/>
                </a:lnTo>
                <a:cubicBezTo>
                  <a:pt x="63171" y="4033"/>
                  <a:pt x="59138" y="0"/>
                  <a:pt x="54147" y="0"/>
                </a:cubicBezTo>
                <a:cubicBezTo>
                  <a:pt x="49155" y="0"/>
                  <a:pt x="45122" y="4033"/>
                  <a:pt x="45122" y="9024"/>
                </a:cubicBezTo>
                <a:lnTo>
                  <a:pt x="45122" y="113567"/>
                </a:lnTo>
                <a:lnTo>
                  <a:pt x="15398" y="83843"/>
                </a:lnTo>
                <a:cubicBezTo>
                  <a:pt x="11873" y="80317"/>
                  <a:pt x="6148" y="80317"/>
                  <a:pt x="2623" y="83843"/>
                </a:cubicBezTo>
                <a:cubicBezTo>
                  <a:pt x="-902" y="87368"/>
                  <a:pt x="-902" y="93093"/>
                  <a:pt x="2623" y="96618"/>
                </a:cubicBezTo>
                <a:lnTo>
                  <a:pt x="47745" y="141740"/>
                </a:ln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35" name="Shape 33"/>
          <p:cNvSpPr/>
          <p:nvPr/>
        </p:nvSpPr>
        <p:spPr>
          <a:xfrm>
            <a:off x="6385233" y="3718064"/>
            <a:ext cx="2580986" cy="541466"/>
          </a:xfrm>
          <a:custGeom>
            <a:avLst/>
            <a:gdLst/>
            <a:ahLst/>
            <a:cxnLst/>
            <a:rect l="l" t="t" r="r" b="b"/>
            <a:pathLst>
              <a:path w="2580986" h="541466">
                <a:moveTo>
                  <a:pt x="36100" y="0"/>
                </a:moveTo>
                <a:lnTo>
                  <a:pt x="2544886" y="0"/>
                </a:lnTo>
                <a:cubicBezTo>
                  <a:pt x="2564824" y="0"/>
                  <a:pt x="2580986" y="16162"/>
                  <a:pt x="2580986" y="36100"/>
                </a:cubicBezTo>
                <a:lnTo>
                  <a:pt x="2580986" y="505366"/>
                </a:lnTo>
                <a:cubicBezTo>
                  <a:pt x="2580986" y="525303"/>
                  <a:pt x="2564824" y="541466"/>
                  <a:pt x="2544886" y="541466"/>
                </a:cubicBezTo>
                <a:lnTo>
                  <a:pt x="36100" y="541466"/>
                </a:lnTo>
                <a:cubicBezTo>
                  <a:pt x="16162" y="541466"/>
                  <a:pt x="0" y="525303"/>
                  <a:pt x="0" y="505366"/>
                </a:cubicBezTo>
                <a:lnTo>
                  <a:pt x="0" y="36100"/>
                </a:lnTo>
                <a:cubicBezTo>
                  <a:pt x="0" y="16176"/>
                  <a:pt x="16176" y="0"/>
                  <a:pt x="36100" y="0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36" name="Text 34"/>
          <p:cNvSpPr/>
          <p:nvPr/>
        </p:nvSpPr>
        <p:spPr>
          <a:xfrm>
            <a:off x="6461940" y="3826357"/>
            <a:ext cx="2427571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5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+4.5% Profit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466453" y="4006845"/>
            <a:ext cx="2418546" cy="144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53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Book Profit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9072482" y="3718064"/>
            <a:ext cx="2580986" cy="541466"/>
          </a:xfrm>
          <a:custGeom>
            <a:avLst/>
            <a:gdLst/>
            <a:ahLst/>
            <a:cxnLst/>
            <a:rect l="l" t="t" r="r" b="b"/>
            <a:pathLst>
              <a:path w="2580986" h="541466">
                <a:moveTo>
                  <a:pt x="36100" y="0"/>
                </a:moveTo>
                <a:lnTo>
                  <a:pt x="2544886" y="0"/>
                </a:lnTo>
                <a:cubicBezTo>
                  <a:pt x="2564824" y="0"/>
                  <a:pt x="2580986" y="16162"/>
                  <a:pt x="2580986" y="36100"/>
                </a:cubicBezTo>
                <a:lnTo>
                  <a:pt x="2580986" y="505366"/>
                </a:lnTo>
                <a:cubicBezTo>
                  <a:pt x="2580986" y="525303"/>
                  <a:pt x="2564824" y="541466"/>
                  <a:pt x="2544886" y="541466"/>
                </a:cubicBezTo>
                <a:lnTo>
                  <a:pt x="36100" y="541466"/>
                </a:lnTo>
                <a:cubicBezTo>
                  <a:pt x="16162" y="541466"/>
                  <a:pt x="0" y="525303"/>
                  <a:pt x="0" y="505366"/>
                </a:cubicBezTo>
                <a:lnTo>
                  <a:pt x="0" y="36100"/>
                </a:lnTo>
                <a:cubicBezTo>
                  <a:pt x="0" y="16176"/>
                  <a:pt x="16176" y="0"/>
                  <a:pt x="36100" y="0"/>
                </a:cubicBez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39" name="Text 37"/>
          <p:cNvSpPr/>
          <p:nvPr/>
        </p:nvSpPr>
        <p:spPr>
          <a:xfrm>
            <a:off x="9149189" y="3826357"/>
            <a:ext cx="2427571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5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-10.0% Loss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9153701" y="4006845"/>
            <a:ext cx="2418546" cy="144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53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Stop-Loss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964188" y="4331610"/>
            <a:ext cx="108293" cy="144391"/>
          </a:xfrm>
          <a:custGeom>
            <a:avLst/>
            <a:gdLst/>
            <a:ahLst/>
            <a:cxnLst/>
            <a:rect l="l" t="t" r="r" b="b"/>
            <a:pathLst>
              <a:path w="108293" h="144391">
                <a:moveTo>
                  <a:pt x="47773" y="141740"/>
                </a:moveTo>
                <a:cubicBezTo>
                  <a:pt x="51298" y="145265"/>
                  <a:pt x="57023" y="145265"/>
                  <a:pt x="60548" y="141740"/>
                </a:cubicBezTo>
                <a:lnTo>
                  <a:pt x="105670" y="96618"/>
                </a:lnTo>
                <a:cubicBezTo>
                  <a:pt x="109196" y="93093"/>
                  <a:pt x="109196" y="87368"/>
                  <a:pt x="105670" y="83843"/>
                </a:cubicBezTo>
                <a:cubicBezTo>
                  <a:pt x="102145" y="80317"/>
                  <a:pt x="96420" y="80317"/>
                  <a:pt x="92895" y="83843"/>
                </a:cubicBezTo>
                <a:lnTo>
                  <a:pt x="63171" y="113567"/>
                </a:lnTo>
                <a:lnTo>
                  <a:pt x="63171" y="9024"/>
                </a:lnTo>
                <a:cubicBezTo>
                  <a:pt x="63171" y="4033"/>
                  <a:pt x="59138" y="0"/>
                  <a:pt x="54147" y="0"/>
                </a:cubicBezTo>
                <a:cubicBezTo>
                  <a:pt x="49155" y="0"/>
                  <a:pt x="45122" y="4033"/>
                  <a:pt x="45122" y="9024"/>
                </a:cubicBezTo>
                <a:lnTo>
                  <a:pt x="45122" y="113567"/>
                </a:lnTo>
                <a:lnTo>
                  <a:pt x="15398" y="83843"/>
                </a:lnTo>
                <a:cubicBezTo>
                  <a:pt x="11873" y="80317"/>
                  <a:pt x="6148" y="80317"/>
                  <a:pt x="2623" y="83843"/>
                </a:cubicBezTo>
                <a:cubicBezTo>
                  <a:pt x="-902" y="87368"/>
                  <a:pt x="-902" y="93093"/>
                  <a:pt x="2623" y="96618"/>
                </a:cubicBezTo>
                <a:lnTo>
                  <a:pt x="47745" y="141740"/>
                </a:ln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42" name="Shape 40"/>
          <p:cNvSpPr/>
          <p:nvPr/>
        </p:nvSpPr>
        <p:spPr>
          <a:xfrm>
            <a:off x="6385233" y="4548196"/>
            <a:ext cx="5270265" cy="397075"/>
          </a:xfrm>
          <a:custGeom>
            <a:avLst/>
            <a:gdLst/>
            <a:ahLst/>
            <a:cxnLst/>
            <a:rect l="l" t="t" r="r" b="b"/>
            <a:pathLst>
              <a:path w="5270265" h="397075">
                <a:moveTo>
                  <a:pt x="36098" y="0"/>
                </a:moveTo>
                <a:lnTo>
                  <a:pt x="5234167" y="0"/>
                </a:lnTo>
                <a:cubicBezTo>
                  <a:pt x="5254103" y="0"/>
                  <a:pt x="5270265" y="16162"/>
                  <a:pt x="5270265" y="36098"/>
                </a:cubicBezTo>
                <a:lnTo>
                  <a:pt x="5270265" y="360977"/>
                </a:lnTo>
                <a:cubicBezTo>
                  <a:pt x="5270265" y="380913"/>
                  <a:pt x="5254103" y="397075"/>
                  <a:pt x="5234167" y="397075"/>
                </a:cubicBezTo>
                <a:lnTo>
                  <a:pt x="36098" y="397075"/>
                </a:lnTo>
                <a:cubicBezTo>
                  <a:pt x="16162" y="397075"/>
                  <a:pt x="0" y="380913"/>
                  <a:pt x="0" y="360977"/>
                </a:cubicBezTo>
                <a:lnTo>
                  <a:pt x="0" y="36098"/>
                </a:lnTo>
                <a:cubicBezTo>
                  <a:pt x="0" y="16175"/>
                  <a:pt x="16175" y="0"/>
                  <a:pt x="36098" y="0"/>
                </a:cubicBezTo>
                <a:close/>
              </a:path>
            </a:pathLst>
          </a:custGeom>
          <a:solidFill>
            <a:srgbClr val="1E3A5F"/>
          </a:solidFill>
          <a:ln/>
        </p:spPr>
      </p:sp>
      <p:sp>
        <p:nvSpPr>
          <p:cNvPr id="43" name="Text 41"/>
          <p:cNvSpPr/>
          <p:nvPr/>
        </p:nvSpPr>
        <p:spPr>
          <a:xfrm>
            <a:off x="6461940" y="4656489"/>
            <a:ext cx="5116850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5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Position Exit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204744" y="5270151"/>
            <a:ext cx="5631242" cy="1517148"/>
          </a:xfrm>
          <a:custGeom>
            <a:avLst/>
            <a:gdLst/>
            <a:ahLst/>
            <a:cxnLst/>
            <a:rect l="l" t="t" r="r" b="b"/>
            <a:pathLst>
              <a:path w="5631242" h="1588299">
                <a:moveTo>
                  <a:pt x="72188" y="0"/>
                </a:moveTo>
                <a:lnTo>
                  <a:pt x="5559054" y="0"/>
                </a:lnTo>
                <a:cubicBezTo>
                  <a:pt x="5598922" y="0"/>
                  <a:pt x="5631242" y="32320"/>
                  <a:pt x="5631242" y="72188"/>
                </a:cubicBezTo>
                <a:lnTo>
                  <a:pt x="5631242" y="1516111"/>
                </a:lnTo>
                <a:cubicBezTo>
                  <a:pt x="5631242" y="1555979"/>
                  <a:pt x="5598922" y="1588299"/>
                  <a:pt x="5559054" y="1588299"/>
                </a:cubicBezTo>
                <a:lnTo>
                  <a:pt x="72188" y="1588299"/>
                </a:lnTo>
                <a:cubicBezTo>
                  <a:pt x="32320" y="1588299"/>
                  <a:pt x="0" y="1555979"/>
                  <a:pt x="0" y="1516111"/>
                </a:cubicBezTo>
                <a:lnTo>
                  <a:pt x="0" y="72188"/>
                </a:lnTo>
                <a:cubicBezTo>
                  <a:pt x="0" y="32346"/>
                  <a:pt x="32346" y="0"/>
                  <a:pt x="72188" y="0"/>
                </a:cubicBezTo>
                <a:close/>
              </a:path>
            </a:pathLst>
          </a:custGeom>
          <a:solidFill>
            <a:srgbClr val="FFFFFF"/>
          </a:solidFill>
          <a:ln>
            <a:solidFill>
              <a:schemeClr val="tx1"/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4147" dist="3609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6349135" y="5414541"/>
            <a:ext cx="5423680" cy="252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9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Benefits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367184" y="5811616"/>
            <a:ext cx="126342" cy="126342"/>
          </a:xfrm>
          <a:custGeom>
            <a:avLst/>
            <a:gdLst/>
            <a:ahLst/>
            <a:cxnLst/>
            <a:rect l="l" t="t" r="r" b="b"/>
            <a:pathLst>
              <a:path w="126342" h="126342">
                <a:moveTo>
                  <a:pt x="63171" y="126342"/>
                </a:moveTo>
                <a:cubicBezTo>
                  <a:pt x="98036" y="126342"/>
                  <a:pt x="126342" y="98036"/>
                  <a:pt x="126342" y="63171"/>
                </a:cubicBezTo>
                <a:cubicBezTo>
                  <a:pt x="126342" y="28306"/>
                  <a:pt x="98036" y="0"/>
                  <a:pt x="63171" y="0"/>
                </a:cubicBezTo>
                <a:cubicBezTo>
                  <a:pt x="28306" y="0"/>
                  <a:pt x="0" y="28306"/>
                  <a:pt x="0" y="63171"/>
                </a:cubicBezTo>
                <a:cubicBezTo>
                  <a:pt x="0" y="98036"/>
                  <a:pt x="28306" y="126342"/>
                  <a:pt x="63171" y="126342"/>
                </a:cubicBezTo>
                <a:close/>
                <a:moveTo>
                  <a:pt x="83998" y="52486"/>
                </a:moveTo>
                <a:lnTo>
                  <a:pt x="64257" y="84072"/>
                </a:lnTo>
                <a:cubicBezTo>
                  <a:pt x="63220" y="85725"/>
                  <a:pt x="61444" y="86761"/>
                  <a:pt x="59494" y="86860"/>
                </a:cubicBezTo>
                <a:cubicBezTo>
                  <a:pt x="57545" y="86959"/>
                  <a:pt x="55669" y="86070"/>
                  <a:pt x="54510" y="84491"/>
                </a:cubicBezTo>
                <a:lnTo>
                  <a:pt x="42665" y="68698"/>
                </a:lnTo>
                <a:cubicBezTo>
                  <a:pt x="40691" y="66083"/>
                  <a:pt x="41234" y="62381"/>
                  <a:pt x="43850" y="60407"/>
                </a:cubicBezTo>
                <a:cubicBezTo>
                  <a:pt x="46465" y="58433"/>
                  <a:pt x="50167" y="58976"/>
                  <a:pt x="52141" y="61592"/>
                </a:cubicBezTo>
                <a:lnTo>
                  <a:pt x="58803" y="70475"/>
                </a:lnTo>
                <a:lnTo>
                  <a:pt x="73954" y="46218"/>
                </a:lnTo>
                <a:cubicBezTo>
                  <a:pt x="75682" y="43455"/>
                  <a:pt x="79334" y="42591"/>
                  <a:pt x="82122" y="44343"/>
                </a:cubicBezTo>
                <a:cubicBezTo>
                  <a:pt x="84911" y="46095"/>
                  <a:pt x="85750" y="49722"/>
                  <a:pt x="83998" y="52511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47" name="Text 45"/>
          <p:cNvSpPr/>
          <p:nvPr/>
        </p:nvSpPr>
        <p:spPr>
          <a:xfrm>
            <a:off x="6579258" y="5775518"/>
            <a:ext cx="2590010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Zero Emotional Bias:</a:t>
            </a:r>
            <a:r>
              <a:rPr lang="en-US" sz="995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Eliminates fear and greed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367184" y="6064300"/>
            <a:ext cx="126342" cy="126342"/>
          </a:xfrm>
          <a:custGeom>
            <a:avLst/>
            <a:gdLst/>
            <a:ahLst/>
            <a:cxnLst/>
            <a:rect l="l" t="t" r="r" b="b"/>
            <a:pathLst>
              <a:path w="126342" h="126342">
                <a:moveTo>
                  <a:pt x="63171" y="126342"/>
                </a:moveTo>
                <a:cubicBezTo>
                  <a:pt x="98036" y="126342"/>
                  <a:pt x="126342" y="98036"/>
                  <a:pt x="126342" y="63171"/>
                </a:cubicBezTo>
                <a:cubicBezTo>
                  <a:pt x="126342" y="28306"/>
                  <a:pt x="98036" y="0"/>
                  <a:pt x="63171" y="0"/>
                </a:cubicBezTo>
                <a:cubicBezTo>
                  <a:pt x="28306" y="0"/>
                  <a:pt x="0" y="28306"/>
                  <a:pt x="0" y="63171"/>
                </a:cubicBezTo>
                <a:cubicBezTo>
                  <a:pt x="0" y="98036"/>
                  <a:pt x="28306" y="126342"/>
                  <a:pt x="63171" y="126342"/>
                </a:cubicBezTo>
                <a:close/>
                <a:moveTo>
                  <a:pt x="83998" y="52486"/>
                </a:moveTo>
                <a:lnTo>
                  <a:pt x="64257" y="84072"/>
                </a:lnTo>
                <a:cubicBezTo>
                  <a:pt x="63220" y="85725"/>
                  <a:pt x="61444" y="86761"/>
                  <a:pt x="59494" y="86860"/>
                </a:cubicBezTo>
                <a:cubicBezTo>
                  <a:pt x="57545" y="86959"/>
                  <a:pt x="55669" y="86070"/>
                  <a:pt x="54510" y="84491"/>
                </a:cubicBezTo>
                <a:lnTo>
                  <a:pt x="42665" y="68698"/>
                </a:lnTo>
                <a:cubicBezTo>
                  <a:pt x="40691" y="66083"/>
                  <a:pt x="41234" y="62381"/>
                  <a:pt x="43850" y="60407"/>
                </a:cubicBezTo>
                <a:cubicBezTo>
                  <a:pt x="46465" y="58433"/>
                  <a:pt x="50167" y="58976"/>
                  <a:pt x="52141" y="61592"/>
                </a:cubicBezTo>
                <a:lnTo>
                  <a:pt x="58803" y="70475"/>
                </a:lnTo>
                <a:lnTo>
                  <a:pt x="73954" y="46218"/>
                </a:lnTo>
                <a:cubicBezTo>
                  <a:pt x="75682" y="43455"/>
                  <a:pt x="79334" y="42591"/>
                  <a:pt x="82122" y="44343"/>
                </a:cubicBezTo>
                <a:cubicBezTo>
                  <a:pt x="84911" y="46095"/>
                  <a:pt x="85750" y="49722"/>
                  <a:pt x="83998" y="52511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49" name="Text 47"/>
          <p:cNvSpPr/>
          <p:nvPr/>
        </p:nvSpPr>
        <p:spPr>
          <a:xfrm>
            <a:off x="6579258" y="6028202"/>
            <a:ext cx="2553913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24/7 Monitoring:</a:t>
            </a:r>
            <a:r>
              <a:rPr lang="en-US" sz="995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Never misses market moves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367184" y="6316984"/>
            <a:ext cx="126342" cy="126342"/>
          </a:xfrm>
          <a:custGeom>
            <a:avLst/>
            <a:gdLst/>
            <a:ahLst/>
            <a:cxnLst/>
            <a:rect l="l" t="t" r="r" b="b"/>
            <a:pathLst>
              <a:path w="126342" h="126342">
                <a:moveTo>
                  <a:pt x="63171" y="126342"/>
                </a:moveTo>
                <a:cubicBezTo>
                  <a:pt x="98036" y="126342"/>
                  <a:pt x="126342" y="98036"/>
                  <a:pt x="126342" y="63171"/>
                </a:cubicBezTo>
                <a:cubicBezTo>
                  <a:pt x="126342" y="28306"/>
                  <a:pt x="98036" y="0"/>
                  <a:pt x="63171" y="0"/>
                </a:cubicBezTo>
                <a:cubicBezTo>
                  <a:pt x="28306" y="0"/>
                  <a:pt x="0" y="28306"/>
                  <a:pt x="0" y="63171"/>
                </a:cubicBezTo>
                <a:cubicBezTo>
                  <a:pt x="0" y="98036"/>
                  <a:pt x="28306" y="126342"/>
                  <a:pt x="63171" y="126342"/>
                </a:cubicBezTo>
                <a:close/>
                <a:moveTo>
                  <a:pt x="83998" y="52486"/>
                </a:moveTo>
                <a:lnTo>
                  <a:pt x="64257" y="84072"/>
                </a:lnTo>
                <a:cubicBezTo>
                  <a:pt x="63220" y="85725"/>
                  <a:pt x="61444" y="86761"/>
                  <a:pt x="59494" y="86860"/>
                </a:cubicBezTo>
                <a:cubicBezTo>
                  <a:pt x="57545" y="86959"/>
                  <a:pt x="55669" y="86070"/>
                  <a:pt x="54510" y="84491"/>
                </a:cubicBezTo>
                <a:lnTo>
                  <a:pt x="42665" y="68698"/>
                </a:lnTo>
                <a:cubicBezTo>
                  <a:pt x="40691" y="66083"/>
                  <a:pt x="41234" y="62381"/>
                  <a:pt x="43850" y="60407"/>
                </a:cubicBezTo>
                <a:cubicBezTo>
                  <a:pt x="46465" y="58433"/>
                  <a:pt x="50167" y="58976"/>
                  <a:pt x="52141" y="61592"/>
                </a:cubicBezTo>
                <a:lnTo>
                  <a:pt x="58803" y="70475"/>
                </a:lnTo>
                <a:lnTo>
                  <a:pt x="73954" y="46218"/>
                </a:lnTo>
                <a:cubicBezTo>
                  <a:pt x="75682" y="43455"/>
                  <a:pt x="79334" y="42591"/>
                  <a:pt x="82122" y="44343"/>
                </a:cubicBezTo>
                <a:cubicBezTo>
                  <a:pt x="84911" y="46095"/>
                  <a:pt x="85750" y="49722"/>
                  <a:pt x="83998" y="52511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51" name="Text 49"/>
          <p:cNvSpPr/>
          <p:nvPr/>
        </p:nvSpPr>
        <p:spPr>
          <a:xfrm>
            <a:off x="6579258" y="6280886"/>
            <a:ext cx="2707328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Disciplined Execution:</a:t>
            </a:r>
            <a:r>
              <a:rPr lang="en-US" sz="995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Sticks to predefined rules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367184" y="6569668"/>
            <a:ext cx="126342" cy="126342"/>
          </a:xfrm>
          <a:custGeom>
            <a:avLst/>
            <a:gdLst/>
            <a:ahLst/>
            <a:cxnLst/>
            <a:rect l="l" t="t" r="r" b="b"/>
            <a:pathLst>
              <a:path w="126342" h="126342">
                <a:moveTo>
                  <a:pt x="63171" y="126342"/>
                </a:moveTo>
                <a:cubicBezTo>
                  <a:pt x="98036" y="126342"/>
                  <a:pt x="126342" y="98036"/>
                  <a:pt x="126342" y="63171"/>
                </a:cubicBezTo>
                <a:cubicBezTo>
                  <a:pt x="126342" y="28306"/>
                  <a:pt x="98036" y="0"/>
                  <a:pt x="63171" y="0"/>
                </a:cubicBezTo>
                <a:cubicBezTo>
                  <a:pt x="28306" y="0"/>
                  <a:pt x="0" y="28306"/>
                  <a:pt x="0" y="63171"/>
                </a:cubicBezTo>
                <a:cubicBezTo>
                  <a:pt x="0" y="98036"/>
                  <a:pt x="28306" y="126342"/>
                  <a:pt x="63171" y="126342"/>
                </a:cubicBezTo>
                <a:close/>
                <a:moveTo>
                  <a:pt x="83998" y="52486"/>
                </a:moveTo>
                <a:lnTo>
                  <a:pt x="64257" y="84072"/>
                </a:lnTo>
                <a:cubicBezTo>
                  <a:pt x="63220" y="85725"/>
                  <a:pt x="61444" y="86761"/>
                  <a:pt x="59494" y="86860"/>
                </a:cubicBezTo>
                <a:cubicBezTo>
                  <a:pt x="57545" y="86959"/>
                  <a:pt x="55669" y="86070"/>
                  <a:pt x="54510" y="84491"/>
                </a:cubicBezTo>
                <a:lnTo>
                  <a:pt x="42665" y="68698"/>
                </a:lnTo>
                <a:cubicBezTo>
                  <a:pt x="40691" y="66083"/>
                  <a:pt x="41234" y="62381"/>
                  <a:pt x="43850" y="60407"/>
                </a:cubicBezTo>
                <a:cubicBezTo>
                  <a:pt x="46465" y="58433"/>
                  <a:pt x="50167" y="58976"/>
                  <a:pt x="52141" y="61592"/>
                </a:cubicBezTo>
                <a:lnTo>
                  <a:pt x="58803" y="70475"/>
                </a:lnTo>
                <a:lnTo>
                  <a:pt x="73954" y="46218"/>
                </a:lnTo>
                <a:cubicBezTo>
                  <a:pt x="75682" y="43455"/>
                  <a:pt x="79334" y="42591"/>
                  <a:pt x="82122" y="44343"/>
                </a:cubicBezTo>
                <a:cubicBezTo>
                  <a:pt x="84911" y="46095"/>
                  <a:pt x="85750" y="49722"/>
                  <a:pt x="83998" y="52511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53" name="Text 51"/>
          <p:cNvSpPr/>
          <p:nvPr/>
        </p:nvSpPr>
        <p:spPr>
          <a:xfrm>
            <a:off x="6579258" y="6533570"/>
            <a:ext cx="2788548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Capital Preservation:</a:t>
            </a:r>
            <a:r>
              <a:rPr lang="en-US" sz="995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Limits maximum drawdown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3342" y="333342"/>
            <a:ext cx="533348" cy="533348"/>
          </a:xfrm>
          <a:custGeom>
            <a:avLst/>
            <a:gdLst/>
            <a:ahLst/>
            <a:cxnLst/>
            <a:rect l="l" t="t" r="r" b="b"/>
            <a:pathLst>
              <a:path w="533348" h="533348">
                <a:moveTo>
                  <a:pt x="66668" y="0"/>
                </a:moveTo>
                <a:lnTo>
                  <a:pt x="466679" y="0"/>
                </a:lnTo>
                <a:cubicBezTo>
                  <a:pt x="503499" y="0"/>
                  <a:pt x="533348" y="29848"/>
                  <a:pt x="533348" y="66668"/>
                </a:cubicBezTo>
                <a:lnTo>
                  <a:pt x="533348" y="466679"/>
                </a:lnTo>
                <a:cubicBezTo>
                  <a:pt x="533348" y="503499"/>
                  <a:pt x="503499" y="533348"/>
                  <a:pt x="466679" y="533348"/>
                </a:cubicBezTo>
                <a:lnTo>
                  <a:pt x="66668" y="533348"/>
                </a:lnTo>
                <a:cubicBezTo>
                  <a:pt x="29848" y="533348"/>
                  <a:pt x="0" y="503499"/>
                  <a:pt x="0" y="466679"/>
                </a:cubicBezTo>
                <a:lnTo>
                  <a:pt x="0" y="66668"/>
                </a:lnTo>
                <a:cubicBezTo>
                  <a:pt x="0" y="29848"/>
                  <a:pt x="29848" y="0"/>
                  <a:pt x="66668" y="0"/>
                </a:cubicBezTo>
                <a:close/>
              </a:path>
            </a:pathLst>
          </a:custGeom>
          <a:solidFill>
            <a:srgbClr val="FF0000"/>
          </a:solidFill>
          <a:ln/>
        </p:spPr>
      </p:sp>
      <p:sp>
        <p:nvSpPr>
          <p:cNvPr id="3" name="Text 1"/>
          <p:cNvSpPr/>
          <p:nvPr/>
        </p:nvSpPr>
        <p:spPr>
          <a:xfrm>
            <a:off x="476680" y="450012"/>
            <a:ext cx="375010" cy="300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969" b="1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00027" y="350010"/>
            <a:ext cx="2775076" cy="1666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9" b="1" kern="0" spc="46" dirty="0">
                <a:solidFill>
                  <a:srgbClr val="C75B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OPTIMAL HYPER-PARAMETERS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00027" y="516681"/>
            <a:ext cx="2866745" cy="3333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62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 Configuration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86049" y="930026"/>
            <a:ext cx="5666822" cy="3016750"/>
          </a:xfrm>
          <a:custGeom>
            <a:avLst/>
            <a:gdLst/>
            <a:ahLst/>
            <a:cxnLst/>
            <a:rect l="l" t="t" r="r" b="b"/>
            <a:pathLst>
              <a:path w="5666822" h="3100085">
                <a:moveTo>
                  <a:pt x="66683" y="0"/>
                </a:moveTo>
                <a:lnTo>
                  <a:pt x="5600139" y="0"/>
                </a:lnTo>
                <a:cubicBezTo>
                  <a:pt x="5636967" y="0"/>
                  <a:pt x="5666822" y="29855"/>
                  <a:pt x="5666822" y="66683"/>
                </a:cubicBezTo>
                <a:lnTo>
                  <a:pt x="5666822" y="3033402"/>
                </a:lnTo>
                <a:cubicBezTo>
                  <a:pt x="5666822" y="3070230"/>
                  <a:pt x="5636967" y="3100085"/>
                  <a:pt x="5600139" y="3100085"/>
                </a:cubicBezTo>
                <a:lnTo>
                  <a:pt x="66683" y="3100085"/>
                </a:lnTo>
                <a:cubicBezTo>
                  <a:pt x="29880" y="3100085"/>
                  <a:pt x="0" y="3070205"/>
                  <a:pt x="0" y="3033402"/>
                </a:cubicBezTo>
                <a:lnTo>
                  <a:pt x="0" y="66683"/>
                </a:lnTo>
                <a:cubicBezTo>
                  <a:pt x="0" y="29880"/>
                  <a:pt x="29880" y="0"/>
                  <a:pt x="66683" y="0"/>
                </a:cubicBezTo>
                <a:close/>
              </a:path>
            </a:pathLst>
          </a:custGeom>
          <a:solidFill>
            <a:srgbClr val="FFFFFF"/>
          </a:solidFill>
          <a:ln>
            <a:solidFill>
              <a:schemeClr val="tx1"/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0001" dist="33334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0014" y="1166699"/>
            <a:ext cx="5416815" cy="233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2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Training Configuration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0014" y="1516707"/>
            <a:ext cx="5333479" cy="400011"/>
          </a:xfrm>
          <a:custGeom>
            <a:avLst/>
            <a:gdLst/>
            <a:ahLst/>
            <a:cxnLst/>
            <a:rect l="l" t="t" r="r" b="b"/>
            <a:pathLst>
              <a:path w="5333479" h="400011">
                <a:moveTo>
                  <a:pt x="33333" y="0"/>
                </a:moveTo>
                <a:lnTo>
                  <a:pt x="5300146" y="0"/>
                </a:lnTo>
                <a:cubicBezTo>
                  <a:pt x="5318555" y="0"/>
                  <a:pt x="5333479" y="14924"/>
                  <a:pt x="5333479" y="33333"/>
                </a:cubicBezTo>
                <a:lnTo>
                  <a:pt x="5333479" y="366678"/>
                </a:lnTo>
                <a:cubicBezTo>
                  <a:pt x="5333479" y="385087"/>
                  <a:pt x="5318555" y="400011"/>
                  <a:pt x="5300146" y="400011"/>
                </a:cubicBezTo>
                <a:lnTo>
                  <a:pt x="33333" y="400011"/>
                </a:lnTo>
                <a:cubicBezTo>
                  <a:pt x="14924" y="400011"/>
                  <a:pt x="0" y="385087"/>
                  <a:pt x="0" y="366678"/>
                </a:cubicBezTo>
                <a:lnTo>
                  <a:pt x="0" y="33333"/>
                </a:lnTo>
                <a:cubicBezTo>
                  <a:pt x="0" y="14936"/>
                  <a:pt x="14936" y="0"/>
                  <a:pt x="33333" y="0"/>
                </a:cubicBezTo>
                <a:close/>
              </a:path>
            </a:pathLst>
          </a:custGeom>
          <a:solidFill>
            <a:srgbClr val="1E3A5F">
              <a:alpha val="5098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00016" y="1633378"/>
            <a:ext cx="1283368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Train-Test Split Ratio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69722" y="1633378"/>
            <a:ext cx="725020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80% - 20%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00014" y="2033389"/>
            <a:ext cx="5333479" cy="400011"/>
          </a:xfrm>
          <a:custGeom>
            <a:avLst/>
            <a:gdLst/>
            <a:ahLst/>
            <a:cxnLst/>
            <a:rect l="l" t="t" r="r" b="b"/>
            <a:pathLst>
              <a:path w="5333479" h="400011">
                <a:moveTo>
                  <a:pt x="33333" y="0"/>
                </a:moveTo>
                <a:lnTo>
                  <a:pt x="5300146" y="0"/>
                </a:lnTo>
                <a:cubicBezTo>
                  <a:pt x="5318555" y="0"/>
                  <a:pt x="5333479" y="14924"/>
                  <a:pt x="5333479" y="33333"/>
                </a:cubicBezTo>
                <a:lnTo>
                  <a:pt x="5333479" y="366678"/>
                </a:lnTo>
                <a:cubicBezTo>
                  <a:pt x="5333479" y="385087"/>
                  <a:pt x="5318555" y="400011"/>
                  <a:pt x="5300146" y="400011"/>
                </a:cubicBezTo>
                <a:lnTo>
                  <a:pt x="33333" y="400011"/>
                </a:lnTo>
                <a:cubicBezTo>
                  <a:pt x="14924" y="400011"/>
                  <a:pt x="0" y="385087"/>
                  <a:pt x="0" y="366678"/>
                </a:cubicBezTo>
                <a:lnTo>
                  <a:pt x="0" y="33333"/>
                </a:lnTo>
                <a:cubicBezTo>
                  <a:pt x="0" y="14936"/>
                  <a:pt x="14936" y="0"/>
                  <a:pt x="33333" y="0"/>
                </a:cubicBezTo>
                <a:close/>
              </a:path>
            </a:pathLst>
          </a:custGeom>
          <a:solidFill>
            <a:srgbClr val="4A90A4">
              <a:alpha val="5098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00016" y="2133392"/>
            <a:ext cx="850023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Learning Rate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396397" y="2133392"/>
            <a:ext cx="400011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b="1" dirty="0">
                <a:solidFill>
                  <a:srgbClr val="4A90A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0.001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0014" y="2533403"/>
            <a:ext cx="5333479" cy="400011"/>
          </a:xfrm>
          <a:custGeom>
            <a:avLst/>
            <a:gdLst/>
            <a:ahLst/>
            <a:cxnLst/>
            <a:rect l="l" t="t" r="r" b="b"/>
            <a:pathLst>
              <a:path w="5333479" h="400011">
                <a:moveTo>
                  <a:pt x="33333" y="0"/>
                </a:moveTo>
                <a:lnTo>
                  <a:pt x="5300146" y="0"/>
                </a:lnTo>
                <a:cubicBezTo>
                  <a:pt x="5318555" y="0"/>
                  <a:pt x="5333479" y="14924"/>
                  <a:pt x="5333479" y="33333"/>
                </a:cubicBezTo>
                <a:lnTo>
                  <a:pt x="5333479" y="366678"/>
                </a:lnTo>
                <a:cubicBezTo>
                  <a:pt x="5333479" y="385087"/>
                  <a:pt x="5318555" y="400011"/>
                  <a:pt x="5300146" y="400011"/>
                </a:cubicBezTo>
                <a:lnTo>
                  <a:pt x="33333" y="400011"/>
                </a:lnTo>
                <a:cubicBezTo>
                  <a:pt x="14924" y="400011"/>
                  <a:pt x="0" y="385087"/>
                  <a:pt x="0" y="366678"/>
                </a:cubicBezTo>
                <a:lnTo>
                  <a:pt x="0" y="33333"/>
                </a:lnTo>
                <a:cubicBezTo>
                  <a:pt x="0" y="14936"/>
                  <a:pt x="14936" y="0"/>
                  <a:pt x="33333" y="0"/>
                </a:cubicBezTo>
                <a:close/>
              </a:path>
            </a:pathLst>
          </a:custGeom>
          <a:solidFill>
            <a:srgbClr val="C75B4A">
              <a:alpha val="5098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00016" y="2633405"/>
            <a:ext cx="733353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Momentum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536402" y="2633405"/>
            <a:ext cx="258340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b="1" dirty="0">
                <a:solidFill>
                  <a:srgbClr val="C75B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0.9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00014" y="3033416"/>
            <a:ext cx="5333479" cy="400011"/>
          </a:xfrm>
          <a:custGeom>
            <a:avLst/>
            <a:gdLst/>
            <a:ahLst/>
            <a:cxnLst/>
            <a:rect l="l" t="t" r="r" b="b"/>
            <a:pathLst>
              <a:path w="5333479" h="400011">
                <a:moveTo>
                  <a:pt x="33333" y="0"/>
                </a:moveTo>
                <a:lnTo>
                  <a:pt x="5300146" y="0"/>
                </a:lnTo>
                <a:cubicBezTo>
                  <a:pt x="5318555" y="0"/>
                  <a:pt x="5333479" y="14924"/>
                  <a:pt x="5333479" y="33333"/>
                </a:cubicBezTo>
                <a:lnTo>
                  <a:pt x="5333479" y="366678"/>
                </a:lnTo>
                <a:cubicBezTo>
                  <a:pt x="5333479" y="385087"/>
                  <a:pt x="5318555" y="400011"/>
                  <a:pt x="5300146" y="400011"/>
                </a:cubicBezTo>
                <a:lnTo>
                  <a:pt x="33333" y="400011"/>
                </a:lnTo>
                <a:cubicBezTo>
                  <a:pt x="14924" y="400011"/>
                  <a:pt x="0" y="385087"/>
                  <a:pt x="0" y="366678"/>
                </a:cubicBezTo>
                <a:lnTo>
                  <a:pt x="0" y="33333"/>
                </a:lnTo>
                <a:cubicBezTo>
                  <a:pt x="0" y="14936"/>
                  <a:pt x="14936" y="0"/>
                  <a:pt x="33333" y="0"/>
                </a:cubicBezTo>
                <a:close/>
              </a:path>
            </a:pathLst>
          </a:custGeom>
          <a:solidFill>
            <a:srgbClr val="1E3A5F">
              <a:alpha val="5098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600016" y="3133419"/>
            <a:ext cx="633351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Optimizer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383064" y="3133419"/>
            <a:ext cx="416678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Adam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00014" y="3533430"/>
            <a:ext cx="5333479" cy="400011"/>
          </a:xfrm>
          <a:custGeom>
            <a:avLst/>
            <a:gdLst/>
            <a:ahLst/>
            <a:cxnLst/>
            <a:rect l="l" t="t" r="r" b="b"/>
            <a:pathLst>
              <a:path w="5333479" h="400011">
                <a:moveTo>
                  <a:pt x="33333" y="0"/>
                </a:moveTo>
                <a:lnTo>
                  <a:pt x="5300146" y="0"/>
                </a:lnTo>
                <a:cubicBezTo>
                  <a:pt x="5318555" y="0"/>
                  <a:pt x="5333479" y="14924"/>
                  <a:pt x="5333479" y="33333"/>
                </a:cubicBezTo>
                <a:lnTo>
                  <a:pt x="5333479" y="366678"/>
                </a:lnTo>
                <a:cubicBezTo>
                  <a:pt x="5333479" y="385087"/>
                  <a:pt x="5318555" y="400011"/>
                  <a:pt x="5300146" y="400011"/>
                </a:cubicBezTo>
                <a:lnTo>
                  <a:pt x="33333" y="400011"/>
                </a:lnTo>
                <a:cubicBezTo>
                  <a:pt x="14924" y="400011"/>
                  <a:pt x="0" y="385087"/>
                  <a:pt x="0" y="366678"/>
                </a:cubicBezTo>
                <a:lnTo>
                  <a:pt x="0" y="33333"/>
                </a:lnTo>
                <a:cubicBezTo>
                  <a:pt x="0" y="14936"/>
                  <a:pt x="14936" y="0"/>
                  <a:pt x="33333" y="0"/>
                </a:cubicBezTo>
                <a:close/>
              </a:path>
            </a:pathLst>
          </a:custGeom>
          <a:solidFill>
            <a:srgbClr val="4A90A4">
              <a:alpha val="5098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600016" y="3633433"/>
            <a:ext cx="1183366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Activation Function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23065" y="3633433"/>
            <a:ext cx="375010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b="1" dirty="0">
                <a:solidFill>
                  <a:srgbClr val="4A90A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ReLU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00008" y="4093447"/>
            <a:ext cx="5666822" cy="2600071"/>
          </a:xfrm>
          <a:custGeom>
            <a:avLst/>
            <a:gdLst/>
            <a:ahLst/>
            <a:cxnLst/>
            <a:rect l="l" t="t" r="r" b="b"/>
            <a:pathLst>
              <a:path w="5666822" h="2600071">
                <a:moveTo>
                  <a:pt x="66666" y="0"/>
                </a:moveTo>
                <a:lnTo>
                  <a:pt x="5600156" y="0"/>
                </a:lnTo>
                <a:cubicBezTo>
                  <a:pt x="5636974" y="0"/>
                  <a:pt x="5666822" y="29847"/>
                  <a:pt x="5666822" y="66666"/>
                </a:cubicBezTo>
                <a:lnTo>
                  <a:pt x="5666822" y="2533405"/>
                </a:lnTo>
                <a:cubicBezTo>
                  <a:pt x="5666822" y="2570224"/>
                  <a:pt x="5636974" y="2600071"/>
                  <a:pt x="5600156" y="2600071"/>
                </a:cubicBezTo>
                <a:lnTo>
                  <a:pt x="66666" y="2600071"/>
                </a:lnTo>
                <a:cubicBezTo>
                  <a:pt x="29847" y="2600071"/>
                  <a:pt x="0" y="2570224"/>
                  <a:pt x="0" y="2533405"/>
                </a:cubicBezTo>
                <a:lnTo>
                  <a:pt x="0" y="66666"/>
                </a:lnTo>
                <a:cubicBezTo>
                  <a:pt x="0" y="29872"/>
                  <a:pt x="29872" y="0"/>
                  <a:pt x="66666" y="0"/>
                </a:cubicBezTo>
                <a:close/>
              </a:path>
            </a:pathLst>
          </a:custGeom>
          <a:solidFill>
            <a:srgbClr val="FFFFFF"/>
          </a:solidFill>
          <a:ln>
            <a:solidFill>
              <a:schemeClr val="tx1"/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0001" dist="33334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00014" y="4400120"/>
            <a:ext cx="5416815" cy="233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2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BSI Parameters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00014" y="4766797"/>
            <a:ext cx="5333479" cy="400011"/>
          </a:xfrm>
          <a:custGeom>
            <a:avLst/>
            <a:gdLst/>
            <a:ahLst/>
            <a:cxnLst/>
            <a:rect l="l" t="t" r="r" b="b"/>
            <a:pathLst>
              <a:path w="5333479" h="400011">
                <a:moveTo>
                  <a:pt x="33333" y="0"/>
                </a:moveTo>
                <a:lnTo>
                  <a:pt x="5300146" y="0"/>
                </a:lnTo>
                <a:cubicBezTo>
                  <a:pt x="5318555" y="0"/>
                  <a:pt x="5333479" y="14924"/>
                  <a:pt x="5333479" y="33333"/>
                </a:cubicBezTo>
                <a:lnTo>
                  <a:pt x="5333479" y="366678"/>
                </a:lnTo>
                <a:cubicBezTo>
                  <a:pt x="5333479" y="385087"/>
                  <a:pt x="5318555" y="400011"/>
                  <a:pt x="5300146" y="400011"/>
                </a:cubicBezTo>
                <a:lnTo>
                  <a:pt x="33333" y="400011"/>
                </a:lnTo>
                <a:cubicBezTo>
                  <a:pt x="14924" y="400011"/>
                  <a:pt x="0" y="385087"/>
                  <a:pt x="0" y="366678"/>
                </a:cubicBezTo>
                <a:lnTo>
                  <a:pt x="0" y="33333"/>
                </a:lnTo>
                <a:cubicBezTo>
                  <a:pt x="0" y="14936"/>
                  <a:pt x="14936" y="0"/>
                  <a:pt x="33333" y="0"/>
                </a:cubicBezTo>
                <a:close/>
              </a:path>
            </a:pathLst>
          </a:custGeom>
          <a:solidFill>
            <a:srgbClr val="C75B4A">
              <a:alpha val="5098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600016" y="4866800"/>
            <a:ext cx="1283368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Momentum Window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269728" y="4866800"/>
            <a:ext cx="525014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b="1" dirty="0">
                <a:solidFill>
                  <a:srgbClr val="C75B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 days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00014" y="5266811"/>
            <a:ext cx="5333479" cy="400011"/>
          </a:xfrm>
          <a:custGeom>
            <a:avLst/>
            <a:gdLst/>
            <a:ahLst/>
            <a:cxnLst/>
            <a:rect l="l" t="t" r="r" b="b"/>
            <a:pathLst>
              <a:path w="5333479" h="400011">
                <a:moveTo>
                  <a:pt x="33333" y="0"/>
                </a:moveTo>
                <a:lnTo>
                  <a:pt x="5300146" y="0"/>
                </a:lnTo>
                <a:cubicBezTo>
                  <a:pt x="5318555" y="0"/>
                  <a:pt x="5333479" y="14924"/>
                  <a:pt x="5333479" y="33333"/>
                </a:cubicBezTo>
                <a:lnTo>
                  <a:pt x="5333479" y="366678"/>
                </a:lnTo>
                <a:cubicBezTo>
                  <a:pt x="5333479" y="385087"/>
                  <a:pt x="5318555" y="400011"/>
                  <a:pt x="5300146" y="400011"/>
                </a:cubicBezTo>
                <a:lnTo>
                  <a:pt x="33333" y="400011"/>
                </a:lnTo>
                <a:cubicBezTo>
                  <a:pt x="14924" y="400011"/>
                  <a:pt x="0" y="385087"/>
                  <a:pt x="0" y="366678"/>
                </a:cubicBezTo>
                <a:lnTo>
                  <a:pt x="0" y="33333"/>
                </a:lnTo>
                <a:cubicBezTo>
                  <a:pt x="0" y="14936"/>
                  <a:pt x="14936" y="0"/>
                  <a:pt x="33333" y="0"/>
                </a:cubicBezTo>
                <a:close/>
              </a:path>
            </a:pathLst>
          </a:custGeom>
          <a:solidFill>
            <a:srgbClr val="4A90A4">
              <a:alpha val="5098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600016" y="5366813"/>
            <a:ext cx="1116697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Volatility Window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269728" y="5366813"/>
            <a:ext cx="525014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b="1" dirty="0">
                <a:solidFill>
                  <a:srgbClr val="4A90A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 days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00014" y="5766824"/>
            <a:ext cx="5333479" cy="400011"/>
          </a:xfrm>
          <a:custGeom>
            <a:avLst/>
            <a:gdLst/>
            <a:ahLst/>
            <a:cxnLst/>
            <a:rect l="l" t="t" r="r" b="b"/>
            <a:pathLst>
              <a:path w="5333479" h="400011">
                <a:moveTo>
                  <a:pt x="33333" y="0"/>
                </a:moveTo>
                <a:lnTo>
                  <a:pt x="5300146" y="0"/>
                </a:lnTo>
                <a:cubicBezTo>
                  <a:pt x="5318555" y="0"/>
                  <a:pt x="5333479" y="14924"/>
                  <a:pt x="5333479" y="33333"/>
                </a:cubicBezTo>
                <a:lnTo>
                  <a:pt x="5333479" y="366678"/>
                </a:lnTo>
                <a:cubicBezTo>
                  <a:pt x="5333479" y="385087"/>
                  <a:pt x="5318555" y="400011"/>
                  <a:pt x="5300146" y="400011"/>
                </a:cubicBezTo>
                <a:lnTo>
                  <a:pt x="33333" y="400011"/>
                </a:lnTo>
                <a:cubicBezTo>
                  <a:pt x="14924" y="400011"/>
                  <a:pt x="0" y="385087"/>
                  <a:pt x="0" y="366678"/>
                </a:cubicBezTo>
                <a:lnTo>
                  <a:pt x="0" y="33333"/>
                </a:lnTo>
                <a:cubicBezTo>
                  <a:pt x="0" y="14936"/>
                  <a:pt x="14936" y="0"/>
                  <a:pt x="33333" y="0"/>
                </a:cubicBezTo>
                <a:close/>
              </a:path>
            </a:pathLst>
          </a:custGeom>
          <a:solidFill>
            <a:srgbClr val="1E3A5F">
              <a:alpha val="5098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600016" y="5866827"/>
            <a:ext cx="891691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Buy Threshold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283061" y="5866827"/>
            <a:ext cx="516681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BSI &gt; 65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00014" y="6266838"/>
            <a:ext cx="5333479" cy="400011"/>
          </a:xfrm>
          <a:custGeom>
            <a:avLst/>
            <a:gdLst/>
            <a:ahLst/>
            <a:cxnLst/>
            <a:rect l="l" t="t" r="r" b="b"/>
            <a:pathLst>
              <a:path w="5333479" h="400011">
                <a:moveTo>
                  <a:pt x="33333" y="0"/>
                </a:moveTo>
                <a:lnTo>
                  <a:pt x="5300146" y="0"/>
                </a:lnTo>
                <a:cubicBezTo>
                  <a:pt x="5318555" y="0"/>
                  <a:pt x="5333479" y="14924"/>
                  <a:pt x="5333479" y="33333"/>
                </a:cubicBezTo>
                <a:lnTo>
                  <a:pt x="5333479" y="366678"/>
                </a:lnTo>
                <a:cubicBezTo>
                  <a:pt x="5333479" y="385087"/>
                  <a:pt x="5318555" y="400011"/>
                  <a:pt x="5300146" y="400011"/>
                </a:cubicBezTo>
                <a:lnTo>
                  <a:pt x="33333" y="400011"/>
                </a:lnTo>
                <a:cubicBezTo>
                  <a:pt x="14924" y="400011"/>
                  <a:pt x="0" y="385087"/>
                  <a:pt x="0" y="366678"/>
                </a:cubicBezTo>
                <a:lnTo>
                  <a:pt x="0" y="33333"/>
                </a:lnTo>
                <a:cubicBezTo>
                  <a:pt x="0" y="14936"/>
                  <a:pt x="14936" y="0"/>
                  <a:pt x="33333" y="0"/>
                </a:cubicBezTo>
                <a:close/>
              </a:path>
            </a:pathLst>
          </a:custGeom>
          <a:solidFill>
            <a:srgbClr val="C75B4A">
              <a:alpha val="5098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600016" y="6366841"/>
            <a:ext cx="883357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Sell Threshold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283061" y="6366841"/>
            <a:ext cx="516681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b="1" dirty="0">
                <a:solidFill>
                  <a:srgbClr val="C75B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BSI &lt; 35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196419" y="925024"/>
            <a:ext cx="5666822" cy="3016752"/>
          </a:xfrm>
          <a:custGeom>
            <a:avLst/>
            <a:gdLst/>
            <a:ahLst/>
            <a:cxnLst/>
            <a:rect l="l" t="t" r="r" b="b"/>
            <a:pathLst>
              <a:path w="5666822" h="3100085">
                <a:moveTo>
                  <a:pt x="66683" y="0"/>
                </a:moveTo>
                <a:lnTo>
                  <a:pt x="5600139" y="0"/>
                </a:lnTo>
                <a:cubicBezTo>
                  <a:pt x="5636967" y="0"/>
                  <a:pt x="5666822" y="29855"/>
                  <a:pt x="5666822" y="66683"/>
                </a:cubicBezTo>
                <a:lnTo>
                  <a:pt x="5666822" y="3033402"/>
                </a:lnTo>
                <a:cubicBezTo>
                  <a:pt x="5666822" y="3070230"/>
                  <a:pt x="5636967" y="3100085"/>
                  <a:pt x="5600139" y="3100085"/>
                </a:cubicBezTo>
                <a:lnTo>
                  <a:pt x="66683" y="3100085"/>
                </a:lnTo>
                <a:cubicBezTo>
                  <a:pt x="29880" y="3100085"/>
                  <a:pt x="0" y="3070205"/>
                  <a:pt x="0" y="3033402"/>
                </a:cubicBezTo>
                <a:lnTo>
                  <a:pt x="0" y="66683"/>
                </a:lnTo>
                <a:cubicBezTo>
                  <a:pt x="0" y="29880"/>
                  <a:pt x="29880" y="0"/>
                  <a:pt x="66683" y="0"/>
                </a:cubicBezTo>
                <a:close/>
              </a:path>
            </a:pathLst>
          </a:custGeom>
          <a:solidFill>
            <a:srgbClr val="FFFFFF"/>
          </a:solidFill>
          <a:ln>
            <a:solidFill>
              <a:schemeClr val="tx1"/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0001" dist="33334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38" name="Text 36"/>
          <p:cNvSpPr/>
          <p:nvPr/>
        </p:nvSpPr>
        <p:spPr>
          <a:xfrm>
            <a:off x="6363091" y="1166699"/>
            <a:ext cx="5416815" cy="233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2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Monte Carlo GBM Parameters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363091" y="1533375"/>
            <a:ext cx="5333479" cy="400011"/>
          </a:xfrm>
          <a:custGeom>
            <a:avLst/>
            <a:gdLst/>
            <a:ahLst/>
            <a:cxnLst/>
            <a:rect l="l" t="t" r="r" b="b"/>
            <a:pathLst>
              <a:path w="5333479" h="400011">
                <a:moveTo>
                  <a:pt x="33333" y="0"/>
                </a:moveTo>
                <a:lnTo>
                  <a:pt x="5300146" y="0"/>
                </a:lnTo>
                <a:cubicBezTo>
                  <a:pt x="5318555" y="0"/>
                  <a:pt x="5333479" y="14924"/>
                  <a:pt x="5333479" y="33333"/>
                </a:cubicBezTo>
                <a:lnTo>
                  <a:pt x="5333479" y="366678"/>
                </a:lnTo>
                <a:cubicBezTo>
                  <a:pt x="5333479" y="385087"/>
                  <a:pt x="5318555" y="400011"/>
                  <a:pt x="5300146" y="400011"/>
                </a:cubicBezTo>
                <a:lnTo>
                  <a:pt x="33333" y="400011"/>
                </a:lnTo>
                <a:cubicBezTo>
                  <a:pt x="14924" y="400011"/>
                  <a:pt x="0" y="385087"/>
                  <a:pt x="0" y="366678"/>
                </a:cubicBezTo>
                <a:lnTo>
                  <a:pt x="0" y="33333"/>
                </a:lnTo>
                <a:cubicBezTo>
                  <a:pt x="0" y="14936"/>
                  <a:pt x="14936" y="0"/>
                  <a:pt x="33333" y="0"/>
                </a:cubicBezTo>
                <a:close/>
              </a:path>
            </a:pathLst>
          </a:custGeom>
          <a:solidFill>
            <a:srgbClr val="4A90A4">
              <a:alpha val="5098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6463093" y="1633378"/>
            <a:ext cx="1391705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Number of Simulations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1259474" y="1633378"/>
            <a:ext cx="400011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b="1" dirty="0">
                <a:solidFill>
                  <a:srgbClr val="4A90A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1,000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363091" y="2033389"/>
            <a:ext cx="5333479" cy="400011"/>
          </a:xfrm>
          <a:custGeom>
            <a:avLst/>
            <a:gdLst/>
            <a:ahLst/>
            <a:cxnLst/>
            <a:rect l="l" t="t" r="r" b="b"/>
            <a:pathLst>
              <a:path w="5333479" h="400011">
                <a:moveTo>
                  <a:pt x="33333" y="0"/>
                </a:moveTo>
                <a:lnTo>
                  <a:pt x="5300146" y="0"/>
                </a:lnTo>
                <a:cubicBezTo>
                  <a:pt x="5318555" y="0"/>
                  <a:pt x="5333479" y="14924"/>
                  <a:pt x="5333479" y="33333"/>
                </a:cubicBezTo>
                <a:lnTo>
                  <a:pt x="5333479" y="366678"/>
                </a:lnTo>
                <a:cubicBezTo>
                  <a:pt x="5333479" y="385087"/>
                  <a:pt x="5318555" y="400011"/>
                  <a:pt x="5300146" y="400011"/>
                </a:cubicBezTo>
                <a:lnTo>
                  <a:pt x="33333" y="400011"/>
                </a:lnTo>
                <a:cubicBezTo>
                  <a:pt x="14924" y="400011"/>
                  <a:pt x="0" y="385087"/>
                  <a:pt x="0" y="366678"/>
                </a:cubicBezTo>
                <a:lnTo>
                  <a:pt x="0" y="33333"/>
                </a:lnTo>
                <a:cubicBezTo>
                  <a:pt x="0" y="14936"/>
                  <a:pt x="14936" y="0"/>
                  <a:pt x="33333" y="0"/>
                </a:cubicBezTo>
                <a:close/>
              </a:path>
            </a:pathLst>
          </a:custGeom>
          <a:solidFill>
            <a:srgbClr val="1E3A5F">
              <a:alpha val="5098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6463093" y="2133392"/>
            <a:ext cx="833356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 Horizon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1126137" y="2133392"/>
            <a:ext cx="533348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30 days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363091" y="2533403"/>
            <a:ext cx="5333479" cy="400011"/>
          </a:xfrm>
          <a:custGeom>
            <a:avLst/>
            <a:gdLst/>
            <a:ahLst/>
            <a:cxnLst/>
            <a:rect l="l" t="t" r="r" b="b"/>
            <a:pathLst>
              <a:path w="5333479" h="400011">
                <a:moveTo>
                  <a:pt x="33333" y="0"/>
                </a:moveTo>
                <a:lnTo>
                  <a:pt x="5300146" y="0"/>
                </a:lnTo>
                <a:cubicBezTo>
                  <a:pt x="5318555" y="0"/>
                  <a:pt x="5333479" y="14924"/>
                  <a:pt x="5333479" y="33333"/>
                </a:cubicBezTo>
                <a:lnTo>
                  <a:pt x="5333479" y="366678"/>
                </a:lnTo>
                <a:cubicBezTo>
                  <a:pt x="5333479" y="385087"/>
                  <a:pt x="5318555" y="400011"/>
                  <a:pt x="5300146" y="400011"/>
                </a:cubicBezTo>
                <a:lnTo>
                  <a:pt x="33333" y="400011"/>
                </a:lnTo>
                <a:cubicBezTo>
                  <a:pt x="14924" y="400011"/>
                  <a:pt x="0" y="385087"/>
                  <a:pt x="0" y="366678"/>
                </a:cubicBezTo>
                <a:lnTo>
                  <a:pt x="0" y="33333"/>
                </a:lnTo>
                <a:cubicBezTo>
                  <a:pt x="0" y="14936"/>
                  <a:pt x="14936" y="0"/>
                  <a:pt x="33333" y="0"/>
                </a:cubicBezTo>
                <a:close/>
              </a:path>
            </a:pathLst>
          </a:custGeom>
          <a:solidFill>
            <a:srgbClr val="C75B4A">
              <a:alpha val="5098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6463093" y="2633405"/>
            <a:ext cx="1150031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Volatility Lookback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1132805" y="2633405"/>
            <a:ext cx="525014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b="1" dirty="0">
                <a:solidFill>
                  <a:srgbClr val="C75B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 days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363091" y="3033416"/>
            <a:ext cx="5333479" cy="400011"/>
          </a:xfrm>
          <a:custGeom>
            <a:avLst/>
            <a:gdLst/>
            <a:ahLst/>
            <a:cxnLst/>
            <a:rect l="l" t="t" r="r" b="b"/>
            <a:pathLst>
              <a:path w="5333479" h="400011">
                <a:moveTo>
                  <a:pt x="33333" y="0"/>
                </a:moveTo>
                <a:lnTo>
                  <a:pt x="5300146" y="0"/>
                </a:lnTo>
                <a:cubicBezTo>
                  <a:pt x="5318555" y="0"/>
                  <a:pt x="5333479" y="14924"/>
                  <a:pt x="5333479" y="33333"/>
                </a:cubicBezTo>
                <a:lnTo>
                  <a:pt x="5333479" y="366678"/>
                </a:lnTo>
                <a:cubicBezTo>
                  <a:pt x="5333479" y="385087"/>
                  <a:pt x="5318555" y="400011"/>
                  <a:pt x="5300146" y="400011"/>
                </a:cubicBezTo>
                <a:lnTo>
                  <a:pt x="33333" y="400011"/>
                </a:lnTo>
                <a:cubicBezTo>
                  <a:pt x="14924" y="400011"/>
                  <a:pt x="0" y="385087"/>
                  <a:pt x="0" y="366678"/>
                </a:cubicBezTo>
                <a:lnTo>
                  <a:pt x="0" y="33333"/>
                </a:lnTo>
                <a:cubicBezTo>
                  <a:pt x="0" y="14936"/>
                  <a:pt x="14936" y="0"/>
                  <a:pt x="33333" y="0"/>
                </a:cubicBezTo>
                <a:close/>
              </a:path>
            </a:pathLst>
          </a:custGeom>
          <a:solidFill>
            <a:srgbClr val="4A90A4">
              <a:alpha val="5098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6463093" y="3133419"/>
            <a:ext cx="1000027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Drift Calculation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10692792" y="3133419"/>
            <a:ext cx="966693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b="1" dirty="0">
                <a:solidFill>
                  <a:srgbClr val="4A90A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Historical Mean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363091" y="3533430"/>
            <a:ext cx="5333479" cy="400011"/>
          </a:xfrm>
          <a:custGeom>
            <a:avLst/>
            <a:gdLst/>
            <a:ahLst/>
            <a:cxnLst/>
            <a:rect l="l" t="t" r="r" b="b"/>
            <a:pathLst>
              <a:path w="5333479" h="400011">
                <a:moveTo>
                  <a:pt x="33333" y="0"/>
                </a:moveTo>
                <a:lnTo>
                  <a:pt x="5300146" y="0"/>
                </a:lnTo>
                <a:cubicBezTo>
                  <a:pt x="5318555" y="0"/>
                  <a:pt x="5333479" y="14924"/>
                  <a:pt x="5333479" y="33333"/>
                </a:cubicBezTo>
                <a:lnTo>
                  <a:pt x="5333479" y="366678"/>
                </a:lnTo>
                <a:cubicBezTo>
                  <a:pt x="5333479" y="385087"/>
                  <a:pt x="5318555" y="400011"/>
                  <a:pt x="5300146" y="400011"/>
                </a:cubicBezTo>
                <a:lnTo>
                  <a:pt x="33333" y="400011"/>
                </a:lnTo>
                <a:cubicBezTo>
                  <a:pt x="14924" y="400011"/>
                  <a:pt x="0" y="385087"/>
                  <a:pt x="0" y="366678"/>
                </a:cubicBezTo>
                <a:lnTo>
                  <a:pt x="0" y="33333"/>
                </a:lnTo>
                <a:cubicBezTo>
                  <a:pt x="0" y="14936"/>
                  <a:pt x="14936" y="0"/>
                  <a:pt x="33333" y="0"/>
                </a:cubicBezTo>
                <a:close/>
              </a:path>
            </a:pathLst>
          </a:custGeom>
          <a:solidFill>
            <a:srgbClr val="1E3A5F">
              <a:alpha val="5098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6463093" y="3633433"/>
            <a:ext cx="1050029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Confidence Level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11326143" y="3633433"/>
            <a:ext cx="333342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90%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166836" y="4064854"/>
            <a:ext cx="5666822" cy="2625072"/>
          </a:xfrm>
          <a:custGeom>
            <a:avLst/>
            <a:gdLst/>
            <a:ahLst/>
            <a:cxnLst/>
            <a:rect l="l" t="t" r="r" b="b"/>
            <a:pathLst>
              <a:path w="5666822" h="2625072">
                <a:moveTo>
                  <a:pt x="66677" y="0"/>
                </a:moveTo>
                <a:lnTo>
                  <a:pt x="5600145" y="0"/>
                </a:lnTo>
                <a:cubicBezTo>
                  <a:pt x="5636969" y="0"/>
                  <a:pt x="5666822" y="29852"/>
                  <a:pt x="5666822" y="66677"/>
                </a:cubicBezTo>
                <a:lnTo>
                  <a:pt x="5666822" y="2558395"/>
                </a:lnTo>
                <a:cubicBezTo>
                  <a:pt x="5666822" y="2595220"/>
                  <a:pt x="5636969" y="2625072"/>
                  <a:pt x="5600145" y="2625072"/>
                </a:cubicBezTo>
                <a:lnTo>
                  <a:pt x="66677" y="2625072"/>
                </a:lnTo>
                <a:cubicBezTo>
                  <a:pt x="29852" y="2625072"/>
                  <a:pt x="0" y="2595220"/>
                  <a:pt x="0" y="2558395"/>
                </a:cubicBezTo>
                <a:lnTo>
                  <a:pt x="0" y="66677"/>
                </a:lnTo>
                <a:cubicBezTo>
                  <a:pt x="0" y="29852"/>
                  <a:pt x="29852" y="0"/>
                  <a:pt x="66677" y="0"/>
                </a:cubicBezTo>
                <a:close/>
              </a:path>
            </a:pathLst>
          </a:custGeom>
          <a:solidFill>
            <a:srgbClr val="FFFFFF"/>
          </a:solidFill>
          <a:ln>
            <a:solidFill>
              <a:schemeClr val="tx1"/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0001" dist="33334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6363091" y="4400120"/>
            <a:ext cx="5416815" cy="233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2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Ghost Hedge Protocol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366424" y="4770130"/>
            <a:ext cx="5323479" cy="406678"/>
          </a:xfrm>
          <a:custGeom>
            <a:avLst/>
            <a:gdLst/>
            <a:ahLst/>
            <a:cxnLst/>
            <a:rect l="l" t="t" r="r" b="b"/>
            <a:pathLst>
              <a:path w="5323479" h="406678">
                <a:moveTo>
                  <a:pt x="33335" y="0"/>
                </a:moveTo>
                <a:lnTo>
                  <a:pt x="5290144" y="0"/>
                </a:lnTo>
                <a:cubicBezTo>
                  <a:pt x="5308554" y="0"/>
                  <a:pt x="5323479" y="14925"/>
                  <a:pt x="5323479" y="33335"/>
                </a:cubicBezTo>
                <a:lnTo>
                  <a:pt x="5323479" y="373342"/>
                </a:lnTo>
                <a:cubicBezTo>
                  <a:pt x="5323479" y="391753"/>
                  <a:pt x="5308554" y="406678"/>
                  <a:pt x="5290144" y="406678"/>
                </a:cubicBezTo>
                <a:lnTo>
                  <a:pt x="33335" y="406678"/>
                </a:lnTo>
                <a:cubicBezTo>
                  <a:pt x="14925" y="406678"/>
                  <a:pt x="0" y="391753"/>
                  <a:pt x="0" y="373342"/>
                </a:cubicBezTo>
                <a:lnTo>
                  <a:pt x="0" y="33335"/>
                </a:lnTo>
                <a:cubicBezTo>
                  <a:pt x="0" y="14937"/>
                  <a:pt x="14937" y="0"/>
                  <a:pt x="33335" y="0"/>
                </a:cubicBezTo>
                <a:close/>
              </a:path>
            </a:pathLst>
          </a:custGeom>
          <a:solidFill>
            <a:srgbClr val="DCFCE7"/>
          </a:solidFill>
          <a:ln w="10160">
            <a:solidFill>
              <a:srgbClr val="05DF72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469761" y="4873465"/>
            <a:ext cx="1183366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Profit Booking Level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11239475" y="4873465"/>
            <a:ext cx="416678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b="1" dirty="0">
                <a:solidFill>
                  <a:srgbClr val="00A6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+4.5%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366424" y="5283483"/>
            <a:ext cx="5323479" cy="406678"/>
          </a:xfrm>
          <a:custGeom>
            <a:avLst/>
            <a:gdLst/>
            <a:ahLst/>
            <a:cxnLst/>
            <a:rect l="l" t="t" r="r" b="b"/>
            <a:pathLst>
              <a:path w="5323479" h="406678">
                <a:moveTo>
                  <a:pt x="33335" y="0"/>
                </a:moveTo>
                <a:lnTo>
                  <a:pt x="5290144" y="0"/>
                </a:lnTo>
                <a:cubicBezTo>
                  <a:pt x="5308554" y="0"/>
                  <a:pt x="5323479" y="14925"/>
                  <a:pt x="5323479" y="33335"/>
                </a:cubicBezTo>
                <a:lnTo>
                  <a:pt x="5323479" y="373342"/>
                </a:lnTo>
                <a:cubicBezTo>
                  <a:pt x="5323479" y="391753"/>
                  <a:pt x="5308554" y="406678"/>
                  <a:pt x="5290144" y="406678"/>
                </a:cubicBezTo>
                <a:lnTo>
                  <a:pt x="33335" y="406678"/>
                </a:lnTo>
                <a:cubicBezTo>
                  <a:pt x="14925" y="406678"/>
                  <a:pt x="0" y="391753"/>
                  <a:pt x="0" y="373342"/>
                </a:cubicBezTo>
                <a:lnTo>
                  <a:pt x="0" y="33335"/>
                </a:lnTo>
                <a:cubicBezTo>
                  <a:pt x="0" y="14937"/>
                  <a:pt x="14937" y="0"/>
                  <a:pt x="33335" y="0"/>
                </a:cubicBezTo>
                <a:close/>
              </a:path>
            </a:pathLst>
          </a:custGeom>
          <a:solidFill>
            <a:srgbClr val="FFE2E2"/>
          </a:solidFill>
          <a:ln w="10160">
            <a:solidFill>
              <a:srgbClr val="FF646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469761" y="5386817"/>
            <a:ext cx="991694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Stop-Loss Level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11166139" y="5386817"/>
            <a:ext cx="483347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b="1" dirty="0">
                <a:solidFill>
                  <a:srgbClr val="E700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-10.0%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6363091" y="5793493"/>
            <a:ext cx="5333479" cy="400011"/>
          </a:xfrm>
          <a:custGeom>
            <a:avLst/>
            <a:gdLst/>
            <a:ahLst/>
            <a:cxnLst/>
            <a:rect l="l" t="t" r="r" b="b"/>
            <a:pathLst>
              <a:path w="5333479" h="400011">
                <a:moveTo>
                  <a:pt x="33333" y="0"/>
                </a:moveTo>
                <a:lnTo>
                  <a:pt x="5300146" y="0"/>
                </a:lnTo>
                <a:cubicBezTo>
                  <a:pt x="5318555" y="0"/>
                  <a:pt x="5333479" y="14924"/>
                  <a:pt x="5333479" y="33333"/>
                </a:cubicBezTo>
                <a:lnTo>
                  <a:pt x="5333479" y="366678"/>
                </a:lnTo>
                <a:cubicBezTo>
                  <a:pt x="5333479" y="385087"/>
                  <a:pt x="5318555" y="400011"/>
                  <a:pt x="5300146" y="400011"/>
                </a:cubicBezTo>
                <a:lnTo>
                  <a:pt x="33333" y="400011"/>
                </a:lnTo>
                <a:cubicBezTo>
                  <a:pt x="14924" y="400011"/>
                  <a:pt x="0" y="385087"/>
                  <a:pt x="0" y="366678"/>
                </a:cubicBezTo>
                <a:lnTo>
                  <a:pt x="0" y="33333"/>
                </a:lnTo>
                <a:cubicBezTo>
                  <a:pt x="0" y="14936"/>
                  <a:pt x="14936" y="0"/>
                  <a:pt x="33333" y="0"/>
                </a:cubicBezTo>
                <a:close/>
              </a:path>
            </a:pathLst>
          </a:custGeom>
          <a:solidFill>
            <a:srgbClr val="4A90A4">
              <a:alpha val="5098"/>
            </a:srgbClr>
          </a:solidFill>
          <a:ln/>
        </p:spPr>
      </p:sp>
      <p:sp>
        <p:nvSpPr>
          <p:cNvPr id="63" name="Text 61"/>
          <p:cNvSpPr/>
          <p:nvPr/>
        </p:nvSpPr>
        <p:spPr>
          <a:xfrm>
            <a:off x="6463093" y="5893496"/>
            <a:ext cx="1333370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Monitoring Frequency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11026135" y="5893496"/>
            <a:ext cx="633351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b="1" dirty="0">
                <a:solidFill>
                  <a:srgbClr val="4A90A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6363091" y="6293507"/>
            <a:ext cx="5333479" cy="400011"/>
          </a:xfrm>
          <a:custGeom>
            <a:avLst/>
            <a:gdLst/>
            <a:ahLst/>
            <a:cxnLst/>
            <a:rect l="l" t="t" r="r" b="b"/>
            <a:pathLst>
              <a:path w="5333479" h="400011">
                <a:moveTo>
                  <a:pt x="33333" y="0"/>
                </a:moveTo>
                <a:lnTo>
                  <a:pt x="5300146" y="0"/>
                </a:lnTo>
                <a:cubicBezTo>
                  <a:pt x="5318555" y="0"/>
                  <a:pt x="5333479" y="14924"/>
                  <a:pt x="5333479" y="33333"/>
                </a:cubicBezTo>
                <a:lnTo>
                  <a:pt x="5333479" y="366678"/>
                </a:lnTo>
                <a:cubicBezTo>
                  <a:pt x="5333479" y="385087"/>
                  <a:pt x="5318555" y="400011"/>
                  <a:pt x="5300146" y="400011"/>
                </a:cubicBezTo>
                <a:lnTo>
                  <a:pt x="33333" y="400011"/>
                </a:lnTo>
                <a:cubicBezTo>
                  <a:pt x="14924" y="400011"/>
                  <a:pt x="0" y="385087"/>
                  <a:pt x="0" y="366678"/>
                </a:cubicBezTo>
                <a:lnTo>
                  <a:pt x="0" y="33333"/>
                </a:lnTo>
                <a:cubicBezTo>
                  <a:pt x="0" y="14936"/>
                  <a:pt x="14936" y="0"/>
                  <a:pt x="33333" y="0"/>
                </a:cubicBezTo>
                <a:close/>
              </a:path>
            </a:pathLst>
          </a:custGeom>
          <a:solidFill>
            <a:srgbClr val="1E3A5F">
              <a:alpha val="5098"/>
            </a:srgbClr>
          </a:solidFill>
          <a:ln/>
        </p:spPr>
      </p:sp>
      <p:sp>
        <p:nvSpPr>
          <p:cNvPr id="66" name="Text 64"/>
          <p:cNvSpPr/>
          <p:nvPr/>
        </p:nvSpPr>
        <p:spPr>
          <a:xfrm>
            <a:off x="6463093" y="6393510"/>
            <a:ext cx="983360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Execution Delay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11046135" y="6393510"/>
            <a:ext cx="616684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&lt;1 second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3135" y="353135"/>
            <a:ext cx="565017" cy="565017"/>
          </a:xfrm>
          <a:custGeom>
            <a:avLst/>
            <a:gdLst/>
            <a:ahLst/>
            <a:cxnLst/>
            <a:rect l="l" t="t" r="r" b="b"/>
            <a:pathLst>
              <a:path w="565017" h="565017">
                <a:moveTo>
                  <a:pt x="70627" y="0"/>
                </a:moveTo>
                <a:lnTo>
                  <a:pt x="494390" y="0"/>
                </a:lnTo>
                <a:cubicBezTo>
                  <a:pt x="533396" y="0"/>
                  <a:pt x="565017" y="31621"/>
                  <a:pt x="565017" y="70627"/>
                </a:cubicBezTo>
                <a:lnTo>
                  <a:pt x="565017" y="494390"/>
                </a:lnTo>
                <a:cubicBezTo>
                  <a:pt x="565017" y="533396"/>
                  <a:pt x="533396" y="565017"/>
                  <a:pt x="494390" y="565017"/>
                </a:cubicBezTo>
                <a:lnTo>
                  <a:pt x="70627" y="565017"/>
                </a:lnTo>
                <a:cubicBezTo>
                  <a:pt x="31621" y="565017"/>
                  <a:pt x="0" y="533396"/>
                  <a:pt x="0" y="494390"/>
                </a:cubicBezTo>
                <a:lnTo>
                  <a:pt x="0" y="70627"/>
                </a:lnTo>
                <a:cubicBezTo>
                  <a:pt x="0" y="31621"/>
                  <a:pt x="31621" y="0"/>
                  <a:pt x="70627" y="0"/>
                </a:cubicBezTo>
                <a:close/>
              </a:path>
            </a:pathLst>
          </a:custGeom>
          <a:solidFill>
            <a:srgbClr val="FF0000"/>
          </a:solidFill>
          <a:ln/>
        </p:spPr>
      </p:sp>
      <p:sp>
        <p:nvSpPr>
          <p:cNvPr id="3" name="Text 1"/>
          <p:cNvSpPr/>
          <p:nvPr/>
        </p:nvSpPr>
        <p:spPr>
          <a:xfrm>
            <a:off x="504984" y="476733"/>
            <a:ext cx="397277" cy="317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85" b="1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59406" y="370792"/>
            <a:ext cx="3195875" cy="176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3" b="1" kern="0" spc="49" dirty="0">
                <a:solidFill>
                  <a:srgbClr val="C75B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PROPOSED OPTIMIZER ALGORITHM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59406" y="547360"/>
            <a:ext cx="3292988" cy="353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03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Optimizer Comparison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53135" y="1077063"/>
            <a:ext cx="3707922" cy="4202311"/>
          </a:xfrm>
          <a:custGeom>
            <a:avLst/>
            <a:gdLst/>
            <a:ahLst/>
            <a:cxnLst/>
            <a:rect l="l" t="t" r="r" b="b"/>
            <a:pathLst>
              <a:path w="3707922" h="4202311">
                <a:moveTo>
                  <a:pt x="35314" y="0"/>
                </a:moveTo>
                <a:lnTo>
                  <a:pt x="3672608" y="0"/>
                </a:lnTo>
                <a:cubicBezTo>
                  <a:pt x="3692111" y="0"/>
                  <a:pt x="3707922" y="15810"/>
                  <a:pt x="3707922" y="35314"/>
                </a:cubicBezTo>
                <a:lnTo>
                  <a:pt x="3707922" y="4131675"/>
                </a:lnTo>
                <a:cubicBezTo>
                  <a:pt x="3707922" y="4170687"/>
                  <a:pt x="3676297" y="4202311"/>
                  <a:pt x="3637286" y="4202311"/>
                </a:cubicBezTo>
                <a:lnTo>
                  <a:pt x="70636" y="4202311"/>
                </a:lnTo>
                <a:cubicBezTo>
                  <a:pt x="31625" y="4202311"/>
                  <a:pt x="0" y="4170687"/>
                  <a:pt x="0" y="4131675"/>
                </a:cubicBezTo>
                <a:lnTo>
                  <a:pt x="0" y="35314"/>
                </a:lnTo>
                <a:cubicBezTo>
                  <a:pt x="0" y="15823"/>
                  <a:pt x="15823" y="0"/>
                  <a:pt x="35314" y="0"/>
                </a:cubicBezTo>
                <a:close/>
              </a:path>
            </a:pathLst>
          </a:custGeom>
          <a:solidFill>
            <a:srgbClr val="FFFFFF"/>
          </a:solidFill>
          <a:ln>
            <a:solidFill>
              <a:schemeClr val="tx1"/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2970" dist="35314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53135" y="1077063"/>
            <a:ext cx="3707922" cy="35314"/>
          </a:xfrm>
          <a:custGeom>
            <a:avLst/>
            <a:gdLst/>
            <a:ahLst/>
            <a:cxnLst/>
            <a:rect l="l" t="t" r="r" b="b"/>
            <a:pathLst>
              <a:path w="3707922" h="35314">
                <a:moveTo>
                  <a:pt x="35314" y="0"/>
                </a:moveTo>
                <a:lnTo>
                  <a:pt x="3672608" y="0"/>
                </a:lnTo>
                <a:cubicBezTo>
                  <a:pt x="3692111" y="0"/>
                  <a:pt x="3707922" y="15810"/>
                  <a:pt x="3707922" y="35314"/>
                </a:cubicBezTo>
                <a:lnTo>
                  <a:pt x="3707922" y="35314"/>
                </a:lnTo>
                <a:lnTo>
                  <a:pt x="0" y="35314"/>
                </a:lnTo>
                <a:lnTo>
                  <a:pt x="0" y="35314"/>
                </a:lnTo>
                <a:cubicBezTo>
                  <a:pt x="0" y="15810"/>
                  <a:pt x="15810" y="0"/>
                  <a:pt x="35314" y="0"/>
                </a:cubicBezTo>
                <a:close/>
              </a:path>
            </a:pathLst>
          </a:custGeom>
          <a:solidFill>
            <a:srgbClr val="99A1AF"/>
          </a:solidFill>
          <a:ln/>
        </p:spPr>
      </p:sp>
      <p:sp>
        <p:nvSpPr>
          <p:cNvPr id="8" name="Shape 6"/>
          <p:cNvSpPr/>
          <p:nvPr/>
        </p:nvSpPr>
        <p:spPr>
          <a:xfrm>
            <a:off x="1961778" y="1271287"/>
            <a:ext cx="494390" cy="494390"/>
          </a:xfrm>
          <a:custGeom>
            <a:avLst/>
            <a:gdLst/>
            <a:ahLst/>
            <a:cxnLst/>
            <a:rect l="l" t="t" r="r" b="b"/>
            <a:pathLst>
              <a:path w="494390" h="494390">
                <a:moveTo>
                  <a:pt x="247195" y="0"/>
                </a:moveTo>
                <a:lnTo>
                  <a:pt x="247195" y="0"/>
                </a:lnTo>
                <a:cubicBezTo>
                  <a:pt x="383625" y="0"/>
                  <a:pt x="494390" y="110764"/>
                  <a:pt x="494390" y="247195"/>
                </a:cubicBezTo>
                <a:lnTo>
                  <a:pt x="494390" y="247195"/>
                </a:lnTo>
                <a:cubicBezTo>
                  <a:pt x="494390" y="383625"/>
                  <a:pt x="383625" y="494390"/>
                  <a:pt x="247195" y="494390"/>
                </a:cubicBezTo>
                <a:lnTo>
                  <a:pt x="247195" y="494390"/>
                </a:lnTo>
                <a:cubicBezTo>
                  <a:pt x="110764" y="494390"/>
                  <a:pt x="0" y="383625"/>
                  <a:pt x="0" y="247195"/>
                </a:cubicBezTo>
                <a:lnTo>
                  <a:pt x="0" y="247195"/>
                </a:lnTo>
                <a:cubicBezTo>
                  <a:pt x="0" y="110764"/>
                  <a:pt x="110764" y="0"/>
                  <a:pt x="247195" y="0"/>
                </a:cubicBezTo>
                <a:close/>
              </a:path>
            </a:pathLst>
          </a:custGeom>
          <a:solidFill>
            <a:srgbClr val="99A1AF"/>
          </a:solidFill>
          <a:ln/>
        </p:spPr>
      </p:sp>
      <p:sp>
        <p:nvSpPr>
          <p:cNvPr id="9" name="Shape 7"/>
          <p:cNvSpPr/>
          <p:nvPr/>
        </p:nvSpPr>
        <p:spPr>
          <a:xfrm>
            <a:off x="2120689" y="1430198"/>
            <a:ext cx="176568" cy="176568"/>
          </a:xfrm>
          <a:custGeom>
            <a:avLst/>
            <a:gdLst/>
            <a:ahLst/>
            <a:cxnLst/>
            <a:rect l="l" t="t" r="r" b="b"/>
            <a:pathLst>
              <a:path w="176568" h="176568">
                <a:moveTo>
                  <a:pt x="22071" y="22071"/>
                </a:moveTo>
                <a:cubicBezTo>
                  <a:pt x="22071" y="15967"/>
                  <a:pt x="17139" y="11035"/>
                  <a:pt x="11035" y="11035"/>
                </a:cubicBezTo>
                <a:cubicBezTo>
                  <a:pt x="4931" y="11035"/>
                  <a:pt x="0" y="15967"/>
                  <a:pt x="0" y="22071"/>
                </a:cubicBezTo>
                <a:lnTo>
                  <a:pt x="0" y="137944"/>
                </a:lnTo>
                <a:cubicBezTo>
                  <a:pt x="0" y="153186"/>
                  <a:pt x="12346" y="165532"/>
                  <a:pt x="27589" y="165532"/>
                </a:cubicBezTo>
                <a:lnTo>
                  <a:pt x="165532" y="165532"/>
                </a:lnTo>
                <a:cubicBezTo>
                  <a:pt x="171636" y="165532"/>
                  <a:pt x="176568" y="160601"/>
                  <a:pt x="176568" y="154497"/>
                </a:cubicBezTo>
                <a:cubicBezTo>
                  <a:pt x="176568" y="148393"/>
                  <a:pt x="171636" y="143461"/>
                  <a:pt x="165532" y="143461"/>
                </a:cubicBezTo>
                <a:lnTo>
                  <a:pt x="27589" y="143461"/>
                </a:lnTo>
                <a:cubicBezTo>
                  <a:pt x="24554" y="143461"/>
                  <a:pt x="22071" y="140978"/>
                  <a:pt x="22071" y="137944"/>
                </a:cubicBezTo>
                <a:lnTo>
                  <a:pt x="22071" y="22071"/>
                </a:lnTo>
                <a:close/>
                <a:moveTo>
                  <a:pt x="162291" y="51936"/>
                </a:moveTo>
                <a:cubicBezTo>
                  <a:pt x="166601" y="47625"/>
                  <a:pt x="166601" y="40624"/>
                  <a:pt x="162291" y="36314"/>
                </a:cubicBezTo>
                <a:cubicBezTo>
                  <a:pt x="157980" y="32003"/>
                  <a:pt x="150979" y="32003"/>
                  <a:pt x="146668" y="36314"/>
                </a:cubicBezTo>
                <a:lnTo>
                  <a:pt x="110355" y="72662"/>
                </a:lnTo>
                <a:lnTo>
                  <a:pt x="90560" y="52901"/>
                </a:lnTo>
                <a:cubicBezTo>
                  <a:pt x="86249" y="48591"/>
                  <a:pt x="79249" y="48591"/>
                  <a:pt x="74938" y="52901"/>
                </a:cubicBezTo>
                <a:lnTo>
                  <a:pt x="41831" y="86008"/>
                </a:lnTo>
                <a:cubicBezTo>
                  <a:pt x="37521" y="90319"/>
                  <a:pt x="37521" y="97319"/>
                  <a:pt x="41831" y="101630"/>
                </a:cubicBezTo>
                <a:cubicBezTo>
                  <a:pt x="46142" y="105941"/>
                  <a:pt x="53143" y="105941"/>
                  <a:pt x="57453" y="101630"/>
                </a:cubicBezTo>
                <a:lnTo>
                  <a:pt x="82766" y="76317"/>
                </a:lnTo>
                <a:lnTo>
                  <a:pt x="102561" y="96112"/>
                </a:lnTo>
                <a:cubicBezTo>
                  <a:pt x="106872" y="100423"/>
                  <a:pt x="113872" y="100423"/>
                  <a:pt x="118183" y="96112"/>
                </a:cubicBezTo>
                <a:lnTo>
                  <a:pt x="162325" y="5197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489975" y="1836304"/>
            <a:ext cx="3434242" cy="247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51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Algorithm 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8804" y="2083499"/>
            <a:ext cx="3416585" cy="176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73" dirty="0">
                <a:solidFill>
                  <a:srgbClr val="6A72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Gradient Descent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29703" y="2401321"/>
            <a:ext cx="3354786" cy="1130033"/>
          </a:xfrm>
          <a:custGeom>
            <a:avLst/>
            <a:gdLst/>
            <a:ahLst/>
            <a:cxnLst/>
            <a:rect l="l" t="t" r="r" b="b"/>
            <a:pathLst>
              <a:path w="3354786" h="1130033">
                <a:moveTo>
                  <a:pt x="35314" y="0"/>
                </a:moveTo>
                <a:lnTo>
                  <a:pt x="3319473" y="0"/>
                </a:lnTo>
                <a:cubicBezTo>
                  <a:pt x="3338976" y="0"/>
                  <a:pt x="3354786" y="15810"/>
                  <a:pt x="3354786" y="35314"/>
                </a:cubicBezTo>
                <a:lnTo>
                  <a:pt x="3354786" y="1094720"/>
                </a:lnTo>
                <a:cubicBezTo>
                  <a:pt x="3354786" y="1114223"/>
                  <a:pt x="3338976" y="1130033"/>
                  <a:pt x="3319473" y="1130033"/>
                </a:cubicBezTo>
                <a:lnTo>
                  <a:pt x="35314" y="1130033"/>
                </a:lnTo>
                <a:cubicBezTo>
                  <a:pt x="15810" y="1130033"/>
                  <a:pt x="0" y="1114223"/>
                  <a:pt x="0" y="1094720"/>
                </a:cubicBezTo>
                <a:lnTo>
                  <a:pt x="0" y="35314"/>
                </a:lnTo>
                <a:cubicBezTo>
                  <a:pt x="0" y="15810"/>
                  <a:pt x="15810" y="0"/>
                  <a:pt x="35314" y="0"/>
                </a:cubicBezTo>
                <a:close/>
              </a:path>
            </a:pathLst>
          </a:custGeom>
          <a:solidFill>
            <a:srgbClr val="F3F4F6"/>
          </a:solidFill>
          <a:ln/>
        </p:spPr>
      </p:sp>
      <p:sp>
        <p:nvSpPr>
          <p:cNvPr id="13" name="Text 11"/>
          <p:cNvSpPr/>
          <p:nvPr/>
        </p:nvSpPr>
        <p:spPr>
          <a:xfrm>
            <a:off x="635644" y="2507261"/>
            <a:ext cx="3204704" cy="176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3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Characteristics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5644" y="2754456"/>
            <a:ext cx="3195875" cy="141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4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Fixed learning rate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5644" y="2930912"/>
            <a:ext cx="3195875" cy="141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4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Simple update rule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5644" y="3107376"/>
            <a:ext cx="3195875" cy="141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4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Linear convergence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5644" y="3283832"/>
            <a:ext cx="3195875" cy="141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4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Batch processing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33234" y="3640386"/>
            <a:ext cx="3353021" cy="1137096"/>
          </a:xfrm>
          <a:custGeom>
            <a:avLst/>
            <a:gdLst/>
            <a:ahLst/>
            <a:cxnLst/>
            <a:rect l="l" t="t" r="r" b="b"/>
            <a:pathLst>
              <a:path w="3353021" h="1137096">
                <a:moveTo>
                  <a:pt x="35318" y="0"/>
                </a:moveTo>
                <a:lnTo>
                  <a:pt x="3317703" y="0"/>
                </a:lnTo>
                <a:cubicBezTo>
                  <a:pt x="3337208" y="0"/>
                  <a:pt x="3353021" y="15812"/>
                  <a:pt x="3353021" y="35318"/>
                </a:cubicBezTo>
                <a:lnTo>
                  <a:pt x="3353021" y="1101778"/>
                </a:lnTo>
                <a:cubicBezTo>
                  <a:pt x="3353021" y="1121284"/>
                  <a:pt x="3337208" y="1137096"/>
                  <a:pt x="3317703" y="1137096"/>
                </a:cubicBezTo>
                <a:lnTo>
                  <a:pt x="35318" y="1137096"/>
                </a:lnTo>
                <a:cubicBezTo>
                  <a:pt x="15812" y="1137096"/>
                  <a:pt x="0" y="1121284"/>
                  <a:pt x="0" y="1101778"/>
                </a:cubicBezTo>
                <a:lnTo>
                  <a:pt x="0" y="35318"/>
                </a:lnTo>
                <a:cubicBezTo>
                  <a:pt x="0" y="15826"/>
                  <a:pt x="15826" y="0"/>
                  <a:pt x="35318" y="0"/>
                </a:cubicBezTo>
                <a:close/>
              </a:path>
            </a:pathLst>
          </a:custGeom>
          <a:solidFill>
            <a:srgbClr val="FEF2F2"/>
          </a:solidFill>
          <a:ln w="10160">
            <a:solidFill>
              <a:srgbClr val="FFC9C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2706" y="3749857"/>
            <a:ext cx="3195875" cy="176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3" b="1" dirty="0">
                <a:solidFill>
                  <a:srgbClr val="C1000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Drawbacks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69192" y="4014708"/>
            <a:ext cx="79455" cy="105941"/>
          </a:xfrm>
          <a:custGeom>
            <a:avLst/>
            <a:gdLst/>
            <a:ahLst/>
            <a:cxnLst/>
            <a:rect l="l" t="t" r="r" b="b"/>
            <a:pathLst>
              <a:path w="79455" h="105941">
                <a:moveTo>
                  <a:pt x="11401" y="15188"/>
                </a:moveTo>
                <a:cubicBezTo>
                  <a:pt x="8815" y="12601"/>
                  <a:pt x="4614" y="12601"/>
                  <a:pt x="2028" y="15188"/>
                </a:cubicBezTo>
                <a:cubicBezTo>
                  <a:pt x="-559" y="17774"/>
                  <a:pt x="-559" y="21974"/>
                  <a:pt x="2028" y="24561"/>
                </a:cubicBezTo>
                <a:lnTo>
                  <a:pt x="30458" y="52970"/>
                </a:lnTo>
                <a:lnTo>
                  <a:pt x="2048" y="81400"/>
                </a:lnTo>
                <a:cubicBezTo>
                  <a:pt x="-538" y="83987"/>
                  <a:pt x="-538" y="88187"/>
                  <a:pt x="2048" y="90774"/>
                </a:cubicBezTo>
                <a:cubicBezTo>
                  <a:pt x="4635" y="93360"/>
                  <a:pt x="8835" y="93360"/>
                  <a:pt x="11422" y="90774"/>
                </a:cubicBezTo>
                <a:lnTo>
                  <a:pt x="39831" y="62344"/>
                </a:lnTo>
                <a:lnTo>
                  <a:pt x="68261" y="90753"/>
                </a:lnTo>
                <a:cubicBezTo>
                  <a:pt x="70848" y="93339"/>
                  <a:pt x="75048" y="93339"/>
                  <a:pt x="77635" y="90753"/>
                </a:cubicBezTo>
                <a:cubicBezTo>
                  <a:pt x="80221" y="88167"/>
                  <a:pt x="80221" y="83966"/>
                  <a:pt x="77635" y="81380"/>
                </a:cubicBezTo>
                <a:lnTo>
                  <a:pt x="49204" y="52970"/>
                </a:lnTo>
                <a:lnTo>
                  <a:pt x="77614" y="24540"/>
                </a:lnTo>
                <a:cubicBezTo>
                  <a:pt x="80200" y="21954"/>
                  <a:pt x="80200" y="17753"/>
                  <a:pt x="77614" y="15167"/>
                </a:cubicBezTo>
                <a:cubicBezTo>
                  <a:pt x="75027" y="12580"/>
                  <a:pt x="70827" y="12580"/>
                  <a:pt x="68241" y="15167"/>
                </a:cubicBezTo>
                <a:lnTo>
                  <a:pt x="39831" y="43597"/>
                </a:lnTo>
                <a:lnTo>
                  <a:pt x="11401" y="15188"/>
                </a:ln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21" name="Text 19"/>
          <p:cNvSpPr/>
          <p:nvPr/>
        </p:nvSpPr>
        <p:spPr>
          <a:xfrm>
            <a:off x="810446" y="3997051"/>
            <a:ext cx="909324" cy="141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4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Slow convergence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69192" y="4191164"/>
            <a:ext cx="79455" cy="105941"/>
          </a:xfrm>
          <a:custGeom>
            <a:avLst/>
            <a:gdLst/>
            <a:ahLst/>
            <a:cxnLst/>
            <a:rect l="l" t="t" r="r" b="b"/>
            <a:pathLst>
              <a:path w="79455" h="105941">
                <a:moveTo>
                  <a:pt x="11401" y="15188"/>
                </a:moveTo>
                <a:cubicBezTo>
                  <a:pt x="8815" y="12601"/>
                  <a:pt x="4614" y="12601"/>
                  <a:pt x="2028" y="15188"/>
                </a:cubicBezTo>
                <a:cubicBezTo>
                  <a:pt x="-559" y="17774"/>
                  <a:pt x="-559" y="21974"/>
                  <a:pt x="2028" y="24561"/>
                </a:cubicBezTo>
                <a:lnTo>
                  <a:pt x="30458" y="52970"/>
                </a:lnTo>
                <a:lnTo>
                  <a:pt x="2048" y="81400"/>
                </a:lnTo>
                <a:cubicBezTo>
                  <a:pt x="-538" y="83987"/>
                  <a:pt x="-538" y="88187"/>
                  <a:pt x="2048" y="90774"/>
                </a:cubicBezTo>
                <a:cubicBezTo>
                  <a:pt x="4635" y="93360"/>
                  <a:pt x="8835" y="93360"/>
                  <a:pt x="11422" y="90774"/>
                </a:cubicBezTo>
                <a:lnTo>
                  <a:pt x="39831" y="62344"/>
                </a:lnTo>
                <a:lnTo>
                  <a:pt x="68261" y="90753"/>
                </a:lnTo>
                <a:cubicBezTo>
                  <a:pt x="70848" y="93339"/>
                  <a:pt x="75048" y="93339"/>
                  <a:pt x="77635" y="90753"/>
                </a:cubicBezTo>
                <a:cubicBezTo>
                  <a:pt x="80221" y="88167"/>
                  <a:pt x="80221" y="83966"/>
                  <a:pt x="77635" y="81380"/>
                </a:cubicBezTo>
                <a:lnTo>
                  <a:pt x="49204" y="52970"/>
                </a:lnTo>
                <a:lnTo>
                  <a:pt x="77614" y="24540"/>
                </a:lnTo>
                <a:cubicBezTo>
                  <a:pt x="80200" y="21954"/>
                  <a:pt x="80200" y="17753"/>
                  <a:pt x="77614" y="15167"/>
                </a:cubicBezTo>
                <a:cubicBezTo>
                  <a:pt x="75027" y="12580"/>
                  <a:pt x="70827" y="12580"/>
                  <a:pt x="68241" y="15167"/>
                </a:cubicBezTo>
                <a:lnTo>
                  <a:pt x="39831" y="43597"/>
                </a:lnTo>
                <a:lnTo>
                  <a:pt x="11401" y="15188"/>
                </a:ln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23" name="Text 21"/>
          <p:cNvSpPr/>
          <p:nvPr/>
        </p:nvSpPr>
        <p:spPr>
          <a:xfrm>
            <a:off x="810446" y="4173507"/>
            <a:ext cx="918152" cy="141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4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Local minima traps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69192" y="4367628"/>
            <a:ext cx="79455" cy="105941"/>
          </a:xfrm>
          <a:custGeom>
            <a:avLst/>
            <a:gdLst/>
            <a:ahLst/>
            <a:cxnLst/>
            <a:rect l="l" t="t" r="r" b="b"/>
            <a:pathLst>
              <a:path w="79455" h="105941">
                <a:moveTo>
                  <a:pt x="11401" y="15188"/>
                </a:moveTo>
                <a:cubicBezTo>
                  <a:pt x="8815" y="12601"/>
                  <a:pt x="4614" y="12601"/>
                  <a:pt x="2028" y="15188"/>
                </a:cubicBezTo>
                <a:cubicBezTo>
                  <a:pt x="-559" y="17774"/>
                  <a:pt x="-559" y="21974"/>
                  <a:pt x="2028" y="24561"/>
                </a:cubicBezTo>
                <a:lnTo>
                  <a:pt x="30458" y="52970"/>
                </a:lnTo>
                <a:lnTo>
                  <a:pt x="2048" y="81400"/>
                </a:lnTo>
                <a:cubicBezTo>
                  <a:pt x="-538" y="83987"/>
                  <a:pt x="-538" y="88187"/>
                  <a:pt x="2048" y="90774"/>
                </a:cubicBezTo>
                <a:cubicBezTo>
                  <a:pt x="4635" y="93360"/>
                  <a:pt x="8835" y="93360"/>
                  <a:pt x="11422" y="90774"/>
                </a:cubicBezTo>
                <a:lnTo>
                  <a:pt x="39831" y="62344"/>
                </a:lnTo>
                <a:lnTo>
                  <a:pt x="68261" y="90753"/>
                </a:lnTo>
                <a:cubicBezTo>
                  <a:pt x="70848" y="93339"/>
                  <a:pt x="75048" y="93339"/>
                  <a:pt x="77635" y="90753"/>
                </a:cubicBezTo>
                <a:cubicBezTo>
                  <a:pt x="80221" y="88167"/>
                  <a:pt x="80221" y="83966"/>
                  <a:pt x="77635" y="81380"/>
                </a:cubicBezTo>
                <a:lnTo>
                  <a:pt x="49204" y="52970"/>
                </a:lnTo>
                <a:lnTo>
                  <a:pt x="77614" y="24540"/>
                </a:lnTo>
                <a:cubicBezTo>
                  <a:pt x="80200" y="21954"/>
                  <a:pt x="80200" y="17753"/>
                  <a:pt x="77614" y="15167"/>
                </a:cubicBezTo>
                <a:cubicBezTo>
                  <a:pt x="75027" y="12580"/>
                  <a:pt x="70827" y="12580"/>
                  <a:pt x="68241" y="15167"/>
                </a:cubicBezTo>
                <a:lnTo>
                  <a:pt x="39831" y="43597"/>
                </a:lnTo>
                <a:lnTo>
                  <a:pt x="11401" y="15188"/>
                </a:ln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25" name="Text 23"/>
          <p:cNvSpPr/>
          <p:nvPr/>
        </p:nvSpPr>
        <p:spPr>
          <a:xfrm>
            <a:off x="810446" y="4349971"/>
            <a:ext cx="891667" cy="141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4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Fixed learning rate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69192" y="4544084"/>
            <a:ext cx="79455" cy="105941"/>
          </a:xfrm>
          <a:custGeom>
            <a:avLst/>
            <a:gdLst/>
            <a:ahLst/>
            <a:cxnLst/>
            <a:rect l="l" t="t" r="r" b="b"/>
            <a:pathLst>
              <a:path w="79455" h="105941">
                <a:moveTo>
                  <a:pt x="11401" y="15188"/>
                </a:moveTo>
                <a:cubicBezTo>
                  <a:pt x="8815" y="12601"/>
                  <a:pt x="4614" y="12601"/>
                  <a:pt x="2028" y="15188"/>
                </a:cubicBezTo>
                <a:cubicBezTo>
                  <a:pt x="-559" y="17774"/>
                  <a:pt x="-559" y="21974"/>
                  <a:pt x="2028" y="24561"/>
                </a:cubicBezTo>
                <a:lnTo>
                  <a:pt x="30458" y="52970"/>
                </a:lnTo>
                <a:lnTo>
                  <a:pt x="2048" y="81400"/>
                </a:lnTo>
                <a:cubicBezTo>
                  <a:pt x="-538" y="83987"/>
                  <a:pt x="-538" y="88187"/>
                  <a:pt x="2048" y="90774"/>
                </a:cubicBezTo>
                <a:cubicBezTo>
                  <a:pt x="4635" y="93360"/>
                  <a:pt x="8835" y="93360"/>
                  <a:pt x="11422" y="90774"/>
                </a:cubicBezTo>
                <a:lnTo>
                  <a:pt x="39831" y="62344"/>
                </a:lnTo>
                <a:lnTo>
                  <a:pt x="68261" y="90753"/>
                </a:lnTo>
                <a:cubicBezTo>
                  <a:pt x="70848" y="93339"/>
                  <a:pt x="75048" y="93339"/>
                  <a:pt x="77635" y="90753"/>
                </a:cubicBezTo>
                <a:cubicBezTo>
                  <a:pt x="80221" y="88167"/>
                  <a:pt x="80221" y="83966"/>
                  <a:pt x="77635" y="81380"/>
                </a:cubicBezTo>
                <a:lnTo>
                  <a:pt x="49204" y="52970"/>
                </a:lnTo>
                <a:lnTo>
                  <a:pt x="77614" y="24540"/>
                </a:lnTo>
                <a:cubicBezTo>
                  <a:pt x="80200" y="21954"/>
                  <a:pt x="80200" y="17753"/>
                  <a:pt x="77614" y="15167"/>
                </a:cubicBezTo>
                <a:cubicBezTo>
                  <a:pt x="75027" y="12580"/>
                  <a:pt x="70827" y="12580"/>
                  <a:pt x="68241" y="15167"/>
                </a:cubicBezTo>
                <a:lnTo>
                  <a:pt x="39831" y="43597"/>
                </a:lnTo>
                <a:lnTo>
                  <a:pt x="11401" y="15188"/>
                </a:ln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27" name="Text 25"/>
          <p:cNvSpPr/>
          <p:nvPr/>
        </p:nvSpPr>
        <p:spPr>
          <a:xfrm>
            <a:off x="810446" y="4526427"/>
            <a:ext cx="988779" cy="141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4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Poor for volatile data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915870" y="4907703"/>
            <a:ext cx="586205" cy="190693"/>
          </a:xfrm>
          <a:custGeom>
            <a:avLst/>
            <a:gdLst/>
            <a:ahLst/>
            <a:cxnLst/>
            <a:rect l="l" t="t" r="r" b="b"/>
            <a:pathLst>
              <a:path w="586205" h="190693">
                <a:moveTo>
                  <a:pt x="95347" y="0"/>
                </a:moveTo>
                <a:lnTo>
                  <a:pt x="490858" y="0"/>
                </a:lnTo>
                <a:cubicBezTo>
                  <a:pt x="543517" y="0"/>
                  <a:pt x="586205" y="42688"/>
                  <a:pt x="586205" y="95347"/>
                </a:cubicBezTo>
                <a:lnTo>
                  <a:pt x="586205" y="95347"/>
                </a:lnTo>
                <a:cubicBezTo>
                  <a:pt x="586205" y="148005"/>
                  <a:pt x="543517" y="190693"/>
                  <a:pt x="490858" y="190693"/>
                </a:cubicBezTo>
                <a:lnTo>
                  <a:pt x="95347" y="190693"/>
                </a:lnTo>
                <a:cubicBezTo>
                  <a:pt x="42723" y="190693"/>
                  <a:pt x="0" y="147970"/>
                  <a:pt x="0" y="95347"/>
                </a:cubicBezTo>
                <a:lnTo>
                  <a:pt x="0" y="95347"/>
                </a:lnTo>
                <a:cubicBezTo>
                  <a:pt x="0" y="42723"/>
                  <a:pt x="42723" y="0"/>
                  <a:pt x="95347" y="0"/>
                </a:cubicBezTo>
                <a:close/>
              </a:path>
            </a:pathLst>
          </a:custGeom>
          <a:solidFill>
            <a:srgbClr val="E5E7EB"/>
          </a:solidFill>
          <a:ln/>
        </p:spPr>
      </p:sp>
      <p:sp>
        <p:nvSpPr>
          <p:cNvPr id="29" name="Text 27"/>
          <p:cNvSpPr/>
          <p:nvPr/>
        </p:nvSpPr>
        <p:spPr>
          <a:xfrm>
            <a:off x="1889385" y="4907703"/>
            <a:ext cx="639175" cy="190693"/>
          </a:xfrm>
          <a:prstGeom prst="rect">
            <a:avLst/>
          </a:prstGeom>
          <a:noFill/>
          <a:ln/>
        </p:spPr>
        <p:txBody>
          <a:bodyPr wrap="square" lIns="105941" tIns="35314" rIns="105941" bIns="35314" rtlCol="0" anchor="ctr"/>
          <a:lstStyle/>
          <a:p>
            <a:pPr algn="ctr">
              <a:lnSpc>
                <a:spcPct val="110000"/>
              </a:lnSpc>
            </a:pPr>
            <a:r>
              <a:rPr lang="en-US" sz="834" b="1" dirty="0">
                <a:solidFill>
                  <a:srgbClr val="4A55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Baseline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241487" y="1077063"/>
            <a:ext cx="3707922" cy="4202311"/>
          </a:xfrm>
          <a:custGeom>
            <a:avLst/>
            <a:gdLst/>
            <a:ahLst/>
            <a:cxnLst/>
            <a:rect l="l" t="t" r="r" b="b"/>
            <a:pathLst>
              <a:path w="3707922" h="4202311">
                <a:moveTo>
                  <a:pt x="35314" y="0"/>
                </a:moveTo>
                <a:lnTo>
                  <a:pt x="3672608" y="0"/>
                </a:lnTo>
                <a:cubicBezTo>
                  <a:pt x="3692111" y="0"/>
                  <a:pt x="3707922" y="15810"/>
                  <a:pt x="3707922" y="35314"/>
                </a:cubicBezTo>
                <a:lnTo>
                  <a:pt x="3707922" y="4131675"/>
                </a:lnTo>
                <a:cubicBezTo>
                  <a:pt x="3707922" y="4170687"/>
                  <a:pt x="3676297" y="4202311"/>
                  <a:pt x="3637286" y="4202311"/>
                </a:cubicBezTo>
                <a:lnTo>
                  <a:pt x="70636" y="4202311"/>
                </a:lnTo>
                <a:cubicBezTo>
                  <a:pt x="31625" y="4202311"/>
                  <a:pt x="0" y="4170687"/>
                  <a:pt x="0" y="4131675"/>
                </a:cubicBezTo>
                <a:lnTo>
                  <a:pt x="0" y="35314"/>
                </a:lnTo>
                <a:cubicBezTo>
                  <a:pt x="0" y="15823"/>
                  <a:pt x="15823" y="0"/>
                  <a:pt x="35314" y="0"/>
                </a:cubicBezTo>
                <a:close/>
              </a:path>
            </a:pathLst>
          </a:custGeom>
          <a:solidFill>
            <a:srgbClr val="FFFFFF"/>
          </a:solidFill>
          <a:ln>
            <a:solidFill>
              <a:schemeClr val="tx1"/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2970" dist="35314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241487" y="1077063"/>
            <a:ext cx="3707922" cy="35314"/>
          </a:xfrm>
          <a:custGeom>
            <a:avLst/>
            <a:gdLst/>
            <a:ahLst/>
            <a:cxnLst/>
            <a:rect l="l" t="t" r="r" b="b"/>
            <a:pathLst>
              <a:path w="3707922" h="35314">
                <a:moveTo>
                  <a:pt x="35314" y="0"/>
                </a:moveTo>
                <a:lnTo>
                  <a:pt x="3672608" y="0"/>
                </a:lnTo>
                <a:cubicBezTo>
                  <a:pt x="3692111" y="0"/>
                  <a:pt x="3707922" y="15810"/>
                  <a:pt x="3707922" y="35314"/>
                </a:cubicBezTo>
                <a:lnTo>
                  <a:pt x="3707922" y="35314"/>
                </a:lnTo>
                <a:lnTo>
                  <a:pt x="0" y="35314"/>
                </a:lnTo>
                <a:lnTo>
                  <a:pt x="0" y="35314"/>
                </a:lnTo>
                <a:cubicBezTo>
                  <a:pt x="0" y="15810"/>
                  <a:pt x="15810" y="0"/>
                  <a:pt x="35314" y="0"/>
                </a:cubicBezTo>
                <a:close/>
              </a:path>
            </a:pathLst>
          </a:custGeom>
          <a:solidFill>
            <a:srgbClr val="4A90A4"/>
          </a:solidFill>
          <a:ln/>
        </p:spPr>
      </p:sp>
      <p:sp>
        <p:nvSpPr>
          <p:cNvPr id="32" name="Shape 30"/>
          <p:cNvSpPr/>
          <p:nvPr/>
        </p:nvSpPr>
        <p:spPr>
          <a:xfrm>
            <a:off x="5850130" y="1271287"/>
            <a:ext cx="494390" cy="494390"/>
          </a:xfrm>
          <a:custGeom>
            <a:avLst/>
            <a:gdLst/>
            <a:ahLst/>
            <a:cxnLst/>
            <a:rect l="l" t="t" r="r" b="b"/>
            <a:pathLst>
              <a:path w="494390" h="494390">
                <a:moveTo>
                  <a:pt x="247195" y="0"/>
                </a:moveTo>
                <a:lnTo>
                  <a:pt x="247195" y="0"/>
                </a:lnTo>
                <a:cubicBezTo>
                  <a:pt x="383625" y="0"/>
                  <a:pt x="494390" y="110764"/>
                  <a:pt x="494390" y="247195"/>
                </a:cubicBezTo>
                <a:lnTo>
                  <a:pt x="494390" y="247195"/>
                </a:lnTo>
                <a:cubicBezTo>
                  <a:pt x="494390" y="383625"/>
                  <a:pt x="383625" y="494390"/>
                  <a:pt x="247195" y="494390"/>
                </a:cubicBezTo>
                <a:lnTo>
                  <a:pt x="247195" y="494390"/>
                </a:lnTo>
                <a:cubicBezTo>
                  <a:pt x="110764" y="494390"/>
                  <a:pt x="0" y="383625"/>
                  <a:pt x="0" y="247195"/>
                </a:cubicBezTo>
                <a:lnTo>
                  <a:pt x="0" y="247195"/>
                </a:lnTo>
                <a:cubicBezTo>
                  <a:pt x="0" y="110764"/>
                  <a:pt x="110764" y="0"/>
                  <a:pt x="247195" y="0"/>
                </a:cubicBezTo>
                <a:close/>
              </a:path>
            </a:pathLst>
          </a:custGeom>
          <a:solidFill>
            <a:srgbClr val="4A90A4"/>
          </a:solidFill>
          <a:ln/>
        </p:spPr>
      </p:sp>
      <p:sp>
        <p:nvSpPr>
          <p:cNvPr id="33" name="Shape 31"/>
          <p:cNvSpPr/>
          <p:nvPr/>
        </p:nvSpPr>
        <p:spPr>
          <a:xfrm>
            <a:off x="6009041" y="1430198"/>
            <a:ext cx="176568" cy="176568"/>
          </a:xfrm>
          <a:custGeom>
            <a:avLst/>
            <a:gdLst/>
            <a:ahLst/>
            <a:cxnLst/>
            <a:rect l="l" t="t" r="r" b="b"/>
            <a:pathLst>
              <a:path w="176568" h="176568">
                <a:moveTo>
                  <a:pt x="137426" y="4207"/>
                </a:moveTo>
                <a:lnTo>
                  <a:pt x="107010" y="34624"/>
                </a:lnTo>
                <a:lnTo>
                  <a:pt x="141944" y="69558"/>
                </a:lnTo>
                <a:lnTo>
                  <a:pt x="172360" y="39141"/>
                </a:lnTo>
                <a:cubicBezTo>
                  <a:pt x="175050" y="36417"/>
                  <a:pt x="176568" y="32762"/>
                  <a:pt x="176568" y="28968"/>
                </a:cubicBezTo>
                <a:cubicBezTo>
                  <a:pt x="176568" y="25175"/>
                  <a:pt x="175050" y="21519"/>
                  <a:pt x="172360" y="18795"/>
                </a:cubicBezTo>
                <a:lnTo>
                  <a:pt x="157773" y="4207"/>
                </a:lnTo>
                <a:cubicBezTo>
                  <a:pt x="155049" y="1517"/>
                  <a:pt x="151393" y="0"/>
                  <a:pt x="147600" y="0"/>
                </a:cubicBezTo>
                <a:cubicBezTo>
                  <a:pt x="143806" y="0"/>
                  <a:pt x="140151" y="1517"/>
                  <a:pt x="137426" y="4207"/>
                </a:cubicBezTo>
                <a:close/>
                <a:moveTo>
                  <a:pt x="95319" y="46315"/>
                </a:moveTo>
                <a:lnTo>
                  <a:pt x="4207" y="137426"/>
                </a:lnTo>
                <a:cubicBezTo>
                  <a:pt x="1517" y="140151"/>
                  <a:pt x="0" y="143806"/>
                  <a:pt x="0" y="147600"/>
                </a:cubicBezTo>
                <a:cubicBezTo>
                  <a:pt x="0" y="151393"/>
                  <a:pt x="1517" y="155049"/>
                  <a:pt x="4207" y="157773"/>
                </a:cubicBezTo>
                <a:lnTo>
                  <a:pt x="18795" y="172360"/>
                </a:lnTo>
                <a:cubicBezTo>
                  <a:pt x="21519" y="175050"/>
                  <a:pt x="25175" y="176568"/>
                  <a:pt x="28968" y="176568"/>
                </a:cubicBezTo>
                <a:cubicBezTo>
                  <a:pt x="32762" y="176568"/>
                  <a:pt x="36417" y="175050"/>
                  <a:pt x="39141" y="172360"/>
                </a:cubicBezTo>
                <a:lnTo>
                  <a:pt x="130253" y="81249"/>
                </a:lnTo>
                <a:lnTo>
                  <a:pt x="95319" y="46315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4378327" y="1836304"/>
            <a:ext cx="3434242" cy="247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51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Algorithm 2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387156" y="2083499"/>
            <a:ext cx="3416585" cy="176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73" dirty="0">
                <a:solidFill>
                  <a:srgbClr val="6A72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Adam Optimizer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418055" y="2401321"/>
            <a:ext cx="3354786" cy="1130033"/>
          </a:xfrm>
          <a:custGeom>
            <a:avLst/>
            <a:gdLst/>
            <a:ahLst/>
            <a:cxnLst/>
            <a:rect l="l" t="t" r="r" b="b"/>
            <a:pathLst>
              <a:path w="3354786" h="1130033">
                <a:moveTo>
                  <a:pt x="35314" y="0"/>
                </a:moveTo>
                <a:lnTo>
                  <a:pt x="3319473" y="0"/>
                </a:lnTo>
                <a:cubicBezTo>
                  <a:pt x="3338976" y="0"/>
                  <a:pt x="3354786" y="15810"/>
                  <a:pt x="3354786" y="35314"/>
                </a:cubicBezTo>
                <a:lnTo>
                  <a:pt x="3354786" y="1094720"/>
                </a:lnTo>
                <a:cubicBezTo>
                  <a:pt x="3354786" y="1114223"/>
                  <a:pt x="3338976" y="1130033"/>
                  <a:pt x="3319473" y="1130033"/>
                </a:cubicBezTo>
                <a:lnTo>
                  <a:pt x="35314" y="1130033"/>
                </a:lnTo>
                <a:cubicBezTo>
                  <a:pt x="15810" y="1130033"/>
                  <a:pt x="0" y="1114223"/>
                  <a:pt x="0" y="1094720"/>
                </a:cubicBezTo>
                <a:lnTo>
                  <a:pt x="0" y="35314"/>
                </a:lnTo>
                <a:cubicBezTo>
                  <a:pt x="0" y="15810"/>
                  <a:pt x="15810" y="0"/>
                  <a:pt x="35314" y="0"/>
                </a:cubicBezTo>
                <a:close/>
              </a:path>
            </a:pathLst>
          </a:custGeom>
          <a:solidFill>
            <a:srgbClr val="4A90A4">
              <a:alpha val="10196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4523996" y="2507261"/>
            <a:ext cx="3204704" cy="176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3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Characteristics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4523996" y="2754456"/>
            <a:ext cx="3195875" cy="141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4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Adaptive learning rate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4523996" y="2930912"/>
            <a:ext cx="3195875" cy="141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4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Momentum integration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4523996" y="3107376"/>
            <a:ext cx="3195875" cy="141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4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RMSprop benefits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4523996" y="3283832"/>
            <a:ext cx="3195875" cy="141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4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Bias correction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4421586" y="3640386"/>
            <a:ext cx="3353021" cy="1137096"/>
          </a:xfrm>
          <a:custGeom>
            <a:avLst/>
            <a:gdLst/>
            <a:ahLst/>
            <a:cxnLst/>
            <a:rect l="l" t="t" r="r" b="b"/>
            <a:pathLst>
              <a:path w="3353021" h="1137096">
                <a:moveTo>
                  <a:pt x="35318" y="0"/>
                </a:moveTo>
                <a:lnTo>
                  <a:pt x="3317703" y="0"/>
                </a:lnTo>
                <a:cubicBezTo>
                  <a:pt x="3337208" y="0"/>
                  <a:pt x="3353021" y="15812"/>
                  <a:pt x="3353021" y="35318"/>
                </a:cubicBezTo>
                <a:lnTo>
                  <a:pt x="3353021" y="1101778"/>
                </a:lnTo>
                <a:cubicBezTo>
                  <a:pt x="3353021" y="1121284"/>
                  <a:pt x="3337208" y="1137096"/>
                  <a:pt x="3317703" y="1137096"/>
                </a:cubicBezTo>
                <a:lnTo>
                  <a:pt x="35318" y="1137096"/>
                </a:lnTo>
                <a:cubicBezTo>
                  <a:pt x="15812" y="1137096"/>
                  <a:pt x="0" y="1121284"/>
                  <a:pt x="0" y="1101778"/>
                </a:cubicBezTo>
                <a:lnTo>
                  <a:pt x="0" y="35318"/>
                </a:lnTo>
                <a:cubicBezTo>
                  <a:pt x="0" y="15826"/>
                  <a:pt x="15826" y="0"/>
                  <a:pt x="35318" y="0"/>
                </a:cubicBezTo>
                <a:close/>
              </a:path>
            </a:pathLst>
          </a:custGeom>
          <a:solidFill>
            <a:srgbClr val="FEFCE8"/>
          </a:solidFill>
          <a:ln w="10160">
            <a:solidFill>
              <a:srgbClr val="FFF08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31058" y="3749857"/>
            <a:ext cx="3195875" cy="176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3" b="1" dirty="0">
                <a:solidFill>
                  <a:srgbClr val="A65F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Drawbacks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4557543" y="4014708"/>
            <a:ext cx="79455" cy="105941"/>
          </a:xfrm>
          <a:custGeom>
            <a:avLst/>
            <a:gdLst/>
            <a:ahLst/>
            <a:cxnLst/>
            <a:rect l="l" t="t" r="r" b="b"/>
            <a:pathLst>
              <a:path w="79455" h="105941">
                <a:moveTo>
                  <a:pt x="11401" y="15188"/>
                </a:moveTo>
                <a:cubicBezTo>
                  <a:pt x="8815" y="12601"/>
                  <a:pt x="4614" y="12601"/>
                  <a:pt x="2028" y="15188"/>
                </a:cubicBezTo>
                <a:cubicBezTo>
                  <a:pt x="-559" y="17774"/>
                  <a:pt x="-559" y="21974"/>
                  <a:pt x="2028" y="24561"/>
                </a:cubicBezTo>
                <a:lnTo>
                  <a:pt x="30458" y="52970"/>
                </a:lnTo>
                <a:lnTo>
                  <a:pt x="2048" y="81400"/>
                </a:lnTo>
                <a:cubicBezTo>
                  <a:pt x="-538" y="83987"/>
                  <a:pt x="-538" y="88187"/>
                  <a:pt x="2048" y="90774"/>
                </a:cubicBezTo>
                <a:cubicBezTo>
                  <a:pt x="4635" y="93360"/>
                  <a:pt x="8835" y="93360"/>
                  <a:pt x="11422" y="90774"/>
                </a:cubicBezTo>
                <a:lnTo>
                  <a:pt x="39831" y="62344"/>
                </a:lnTo>
                <a:lnTo>
                  <a:pt x="68261" y="90753"/>
                </a:lnTo>
                <a:cubicBezTo>
                  <a:pt x="70848" y="93339"/>
                  <a:pt x="75048" y="93339"/>
                  <a:pt x="77635" y="90753"/>
                </a:cubicBezTo>
                <a:cubicBezTo>
                  <a:pt x="80221" y="88167"/>
                  <a:pt x="80221" y="83966"/>
                  <a:pt x="77635" y="81380"/>
                </a:cubicBezTo>
                <a:lnTo>
                  <a:pt x="49204" y="52970"/>
                </a:lnTo>
                <a:lnTo>
                  <a:pt x="77614" y="24540"/>
                </a:lnTo>
                <a:cubicBezTo>
                  <a:pt x="80200" y="21954"/>
                  <a:pt x="80200" y="17753"/>
                  <a:pt x="77614" y="15167"/>
                </a:cubicBezTo>
                <a:cubicBezTo>
                  <a:pt x="75027" y="12580"/>
                  <a:pt x="70827" y="12580"/>
                  <a:pt x="68241" y="15167"/>
                </a:cubicBezTo>
                <a:lnTo>
                  <a:pt x="39831" y="43597"/>
                </a:lnTo>
                <a:lnTo>
                  <a:pt x="11401" y="15188"/>
                </a:lnTo>
                <a:close/>
              </a:path>
            </a:pathLst>
          </a:custGeom>
          <a:solidFill>
            <a:srgbClr val="D08700"/>
          </a:solidFill>
          <a:ln/>
        </p:spPr>
      </p:sp>
      <p:sp>
        <p:nvSpPr>
          <p:cNvPr id="45" name="Text 43"/>
          <p:cNvSpPr/>
          <p:nvPr/>
        </p:nvSpPr>
        <p:spPr>
          <a:xfrm>
            <a:off x="4698798" y="3997051"/>
            <a:ext cx="812211" cy="141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4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General purpose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4557543" y="4191164"/>
            <a:ext cx="79455" cy="105941"/>
          </a:xfrm>
          <a:custGeom>
            <a:avLst/>
            <a:gdLst/>
            <a:ahLst/>
            <a:cxnLst/>
            <a:rect l="l" t="t" r="r" b="b"/>
            <a:pathLst>
              <a:path w="79455" h="105941">
                <a:moveTo>
                  <a:pt x="11401" y="15188"/>
                </a:moveTo>
                <a:cubicBezTo>
                  <a:pt x="8815" y="12601"/>
                  <a:pt x="4614" y="12601"/>
                  <a:pt x="2028" y="15188"/>
                </a:cubicBezTo>
                <a:cubicBezTo>
                  <a:pt x="-559" y="17774"/>
                  <a:pt x="-559" y="21974"/>
                  <a:pt x="2028" y="24561"/>
                </a:cubicBezTo>
                <a:lnTo>
                  <a:pt x="30458" y="52970"/>
                </a:lnTo>
                <a:lnTo>
                  <a:pt x="2048" y="81400"/>
                </a:lnTo>
                <a:cubicBezTo>
                  <a:pt x="-538" y="83987"/>
                  <a:pt x="-538" y="88187"/>
                  <a:pt x="2048" y="90774"/>
                </a:cubicBezTo>
                <a:cubicBezTo>
                  <a:pt x="4635" y="93360"/>
                  <a:pt x="8835" y="93360"/>
                  <a:pt x="11422" y="90774"/>
                </a:cubicBezTo>
                <a:lnTo>
                  <a:pt x="39831" y="62344"/>
                </a:lnTo>
                <a:lnTo>
                  <a:pt x="68261" y="90753"/>
                </a:lnTo>
                <a:cubicBezTo>
                  <a:pt x="70848" y="93339"/>
                  <a:pt x="75048" y="93339"/>
                  <a:pt x="77635" y="90753"/>
                </a:cubicBezTo>
                <a:cubicBezTo>
                  <a:pt x="80221" y="88167"/>
                  <a:pt x="80221" y="83966"/>
                  <a:pt x="77635" y="81380"/>
                </a:cubicBezTo>
                <a:lnTo>
                  <a:pt x="49204" y="52970"/>
                </a:lnTo>
                <a:lnTo>
                  <a:pt x="77614" y="24540"/>
                </a:lnTo>
                <a:cubicBezTo>
                  <a:pt x="80200" y="21954"/>
                  <a:pt x="80200" y="17753"/>
                  <a:pt x="77614" y="15167"/>
                </a:cubicBezTo>
                <a:cubicBezTo>
                  <a:pt x="75027" y="12580"/>
                  <a:pt x="70827" y="12580"/>
                  <a:pt x="68241" y="15167"/>
                </a:cubicBezTo>
                <a:lnTo>
                  <a:pt x="39831" y="43597"/>
                </a:lnTo>
                <a:lnTo>
                  <a:pt x="11401" y="15188"/>
                </a:lnTo>
                <a:close/>
              </a:path>
            </a:pathLst>
          </a:custGeom>
          <a:solidFill>
            <a:srgbClr val="D08700"/>
          </a:solidFill>
          <a:ln/>
        </p:spPr>
      </p:sp>
      <p:sp>
        <p:nvSpPr>
          <p:cNvPr id="47" name="Text 45"/>
          <p:cNvSpPr/>
          <p:nvPr/>
        </p:nvSpPr>
        <p:spPr>
          <a:xfrm>
            <a:off x="4698798" y="4173507"/>
            <a:ext cx="891667" cy="141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4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 market-aware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4557543" y="4367628"/>
            <a:ext cx="79455" cy="105941"/>
          </a:xfrm>
          <a:custGeom>
            <a:avLst/>
            <a:gdLst/>
            <a:ahLst/>
            <a:cxnLst/>
            <a:rect l="l" t="t" r="r" b="b"/>
            <a:pathLst>
              <a:path w="79455" h="105941">
                <a:moveTo>
                  <a:pt x="11401" y="15188"/>
                </a:moveTo>
                <a:cubicBezTo>
                  <a:pt x="8815" y="12601"/>
                  <a:pt x="4614" y="12601"/>
                  <a:pt x="2028" y="15188"/>
                </a:cubicBezTo>
                <a:cubicBezTo>
                  <a:pt x="-559" y="17774"/>
                  <a:pt x="-559" y="21974"/>
                  <a:pt x="2028" y="24561"/>
                </a:cubicBezTo>
                <a:lnTo>
                  <a:pt x="30458" y="52970"/>
                </a:lnTo>
                <a:lnTo>
                  <a:pt x="2048" y="81400"/>
                </a:lnTo>
                <a:cubicBezTo>
                  <a:pt x="-538" y="83987"/>
                  <a:pt x="-538" y="88187"/>
                  <a:pt x="2048" y="90774"/>
                </a:cubicBezTo>
                <a:cubicBezTo>
                  <a:pt x="4635" y="93360"/>
                  <a:pt x="8835" y="93360"/>
                  <a:pt x="11422" y="90774"/>
                </a:cubicBezTo>
                <a:lnTo>
                  <a:pt x="39831" y="62344"/>
                </a:lnTo>
                <a:lnTo>
                  <a:pt x="68261" y="90753"/>
                </a:lnTo>
                <a:cubicBezTo>
                  <a:pt x="70848" y="93339"/>
                  <a:pt x="75048" y="93339"/>
                  <a:pt x="77635" y="90753"/>
                </a:cubicBezTo>
                <a:cubicBezTo>
                  <a:pt x="80221" y="88167"/>
                  <a:pt x="80221" y="83966"/>
                  <a:pt x="77635" y="81380"/>
                </a:cubicBezTo>
                <a:lnTo>
                  <a:pt x="49204" y="52970"/>
                </a:lnTo>
                <a:lnTo>
                  <a:pt x="77614" y="24540"/>
                </a:lnTo>
                <a:cubicBezTo>
                  <a:pt x="80200" y="21954"/>
                  <a:pt x="80200" y="17753"/>
                  <a:pt x="77614" y="15167"/>
                </a:cubicBezTo>
                <a:cubicBezTo>
                  <a:pt x="75027" y="12580"/>
                  <a:pt x="70827" y="12580"/>
                  <a:pt x="68241" y="15167"/>
                </a:cubicBezTo>
                <a:lnTo>
                  <a:pt x="39831" y="43597"/>
                </a:lnTo>
                <a:lnTo>
                  <a:pt x="11401" y="15188"/>
                </a:lnTo>
                <a:close/>
              </a:path>
            </a:pathLst>
          </a:custGeom>
          <a:solidFill>
            <a:srgbClr val="D08700"/>
          </a:solidFill>
          <a:ln/>
        </p:spPr>
      </p:sp>
      <p:sp>
        <p:nvSpPr>
          <p:cNvPr id="49" name="Text 47"/>
          <p:cNvSpPr/>
          <p:nvPr/>
        </p:nvSpPr>
        <p:spPr>
          <a:xfrm>
            <a:off x="4698798" y="4349971"/>
            <a:ext cx="900495" cy="141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4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Memory overhead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4557543" y="4544084"/>
            <a:ext cx="79455" cy="105941"/>
          </a:xfrm>
          <a:custGeom>
            <a:avLst/>
            <a:gdLst/>
            <a:ahLst/>
            <a:cxnLst/>
            <a:rect l="l" t="t" r="r" b="b"/>
            <a:pathLst>
              <a:path w="79455" h="105941">
                <a:moveTo>
                  <a:pt x="11401" y="15188"/>
                </a:moveTo>
                <a:cubicBezTo>
                  <a:pt x="8815" y="12601"/>
                  <a:pt x="4614" y="12601"/>
                  <a:pt x="2028" y="15188"/>
                </a:cubicBezTo>
                <a:cubicBezTo>
                  <a:pt x="-559" y="17774"/>
                  <a:pt x="-559" y="21974"/>
                  <a:pt x="2028" y="24561"/>
                </a:cubicBezTo>
                <a:lnTo>
                  <a:pt x="30458" y="52970"/>
                </a:lnTo>
                <a:lnTo>
                  <a:pt x="2048" y="81400"/>
                </a:lnTo>
                <a:cubicBezTo>
                  <a:pt x="-538" y="83987"/>
                  <a:pt x="-538" y="88187"/>
                  <a:pt x="2048" y="90774"/>
                </a:cubicBezTo>
                <a:cubicBezTo>
                  <a:pt x="4635" y="93360"/>
                  <a:pt x="8835" y="93360"/>
                  <a:pt x="11422" y="90774"/>
                </a:cubicBezTo>
                <a:lnTo>
                  <a:pt x="39831" y="62344"/>
                </a:lnTo>
                <a:lnTo>
                  <a:pt x="68261" y="90753"/>
                </a:lnTo>
                <a:cubicBezTo>
                  <a:pt x="70848" y="93339"/>
                  <a:pt x="75048" y="93339"/>
                  <a:pt x="77635" y="90753"/>
                </a:cubicBezTo>
                <a:cubicBezTo>
                  <a:pt x="80221" y="88167"/>
                  <a:pt x="80221" y="83966"/>
                  <a:pt x="77635" y="81380"/>
                </a:cubicBezTo>
                <a:lnTo>
                  <a:pt x="49204" y="52970"/>
                </a:lnTo>
                <a:lnTo>
                  <a:pt x="77614" y="24540"/>
                </a:lnTo>
                <a:cubicBezTo>
                  <a:pt x="80200" y="21954"/>
                  <a:pt x="80200" y="17753"/>
                  <a:pt x="77614" y="15167"/>
                </a:cubicBezTo>
                <a:cubicBezTo>
                  <a:pt x="75027" y="12580"/>
                  <a:pt x="70827" y="12580"/>
                  <a:pt x="68241" y="15167"/>
                </a:cubicBezTo>
                <a:lnTo>
                  <a:pt x="39831" y="43597"/>
                </a:lnTo>
                <a:lnTo>
                  <a:pt x="11401" y="15188"/>
                </a:lnTo>
                <a:close/>
              </a:path>
            </a:pathLst>
          </a:custGeom>
          <a:solidFill>
            <a:srgbClr val="D08700"/>
          </a:solidFill>
          <a:ln/>
        </p:spPr>
      </p:sp>
      <p:sp>
        <p:nvSpPr>
          <p:cNvPr id="51" name="Text 49"/>
          <p:cNvSpPr/>
          <p:nvPr/>
        </p:nvSpPr>
        <p:spPr>
          <a:xfrm>
            <a:off x="4698798" y="4526427"/>
            <a:ext cx="812211" cy="141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4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Static adaptation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5786565" y="4907703"/>
            <a:ext cx="621518" cy="190693"/>
          </a:xfrm>
          <a:custGeom>
            <a:avLst/>
            <a:gdLst/>
            <a:ahLst/>
            <a:cxnLst/>
            <a:rect l="l" t="t" r="r" b="b"/>
            <a:pathLst>
              <a:path w="621518" h="190693">
                <a:moveTo>
                  <a:pt x="95347" y="0"/>
                </a:moveTo>
                <a:lnTo>
                  <a:pt x="526172" y="0"/>
                </a:lnTo>
                <a:cubicBezTo>
                  <a:pt x="578830" y="0"/>
                  <a:pt x="621518" y="42688"/>
                  <a:pt x="621518" y="95347"/>
                </a:cubicBezTo>
                <a:lnTo>
                  <a:pt x="621518" y="95347"/>
                </a:lnTo>
                <a:cubicBezTo>
                  <a:pt x="621518" y="148005"/>
                  <a:pt x="578830" y="190693"/>
                  <a:pt x="526172" y="190693"/>
                </a:cubicBezTo>
                <a:lnTo>
                  <a:pt x="95347" y="190693"/>
                </a:lnTo>
                <a:cubicBezTo>
                  <a:pt x="42723" y="190693"/>
                  <a:pt x="0" y="147970"/>
                  <a:pt x="0" y="95347"/>
                </a:cubicBezTo>
                <a:lnTo>
                  <a:pt x="0" y="95347"/>
                </a:lnTo>
                <a:cubicBezTo>
                  <a:pt x="0" y="42723"/>
                  <a:pt x="42723" y="0"/>
                  <a:pt x="95347" y="0"/>
                </a:cubicBezTo>
                <a:close/>
              </a:path>
            </a:pathLst>
          </a:custGeom>
          <a:solidFill>
            <a:srgbClr val="4A90A4">
              <a:alpha val="2000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5760080" y="4907703"/>
            <a:ext cx="674489" cy="190693"/>
          </a:xfrm>
          <a:prstGeom prst="rect">
            <a:avLst/>
          </a:prstGeom>
          <a:noFill/>
          <a:ln/>
        </p:spPr>
        <p:txBody>
          <a:bodyPr wrap="square" lIns="105941" tIns="35314" rIns="105941" bIns="35314" rtlCol="0" anchor="ctr"/>
          <a:lstStyle/>
          <a:p>
            <a:pPr algn="ctr">
              <a:lnSpc>
                <a:spcPct val="110000"/>
              </a:lnSpc>
            </a:pPr>
            <a:r>
              <a:rPr lang="en-US" sz="834" b="1" dirty="0">
                <a:solidFill>
                  <a:srgbClr val="4A90A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Standard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8129839" y="1077063"/>
            <a:ext cx="3707922" cy="4202311"/>
          </a:xfrm>
          <a:custGeom>
            <a:avLst/>
            <a:gdLst/>
            <a:ahLst/>
            <a:cxnLst/>
            <a:rect l="l" t="t" r="r" b="b"/>
            <a:pathLst>
              <a:path w="3707922" h="4202311">
                <a:moveTo>
                  <a:pt x="35314" y="0"/>
                </a:moveTo>
                <a:lnTo>
                  <a:pt x="3672608" y="0"/>
                </a:lnTo>
                <a:cubicBezTo>
                  <a:pt x="3692111" y="0"/>
                  <a:pt x="3707922" y="15810"/>
                  <a:pt x="3707922" y="35314"/>
                </a:cubicBezTo>
                <a:lnTo>
                  <a:pt x="3707922" y="4131675"/>
                </a:lnTo>
                <a:cubicBezTo>
                  <a:pt x="3707922" y="4170687"/>
                  <a:pt x="3676297" y="4202311"/>
                  <a:pt x="3637286" y="4202311"/>
                </a:cubicBezTo>
                <a:lnTo>
                  <a:pt x="70636" y="4202311"/>
                </a:lnTo>
                <a:cubicBezTo>
                  <a:pt x="31625" y="4202311"/>
                  <a:pt x="0" y="4170687"/>
                  <a:pt x="0" y="4131675"/>
                </a:cubicBezTo>
                <a:lnTo>
                  <a:pt x="0" y="35314"/>
                </a:lnTo>
                <a:cubicBezTo>
                  <a:pt x="0" y="15823"/>
                  <a:pt x="15823" y="0"/>
                  <a:pt x="35314" y="0"/>
                </a:cubicBezTo>
                <a:close/>
              </a:path>
            </a:pathLst>
          </a:custGeom>
          <a:solidFill>
            <a:srgbClr val="1E3A5F"/>
          </a:solidFill>
          <a:ln>
            <a:solidFill>
              <a:schemeClr val="tx1"/>
            </a:solidFill>
          </a:ln>
          <a:effectLst>
            <a:glow rad="101600">
              <a:schemeClr val="accent5">
                <a:satMod val="175000"/>
                <a:alpha val="40000"/>
              </a:schemeClr>
            </a:glow>
            <a:outerShdw blurRad="52970" dist="35314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8129839" y="1077063"/>
            <a:ext cx="3707922" cy="35314"/>
          </a:xfrm>
          <a:custGeom>
            <a:avLst/>
            <a:gdLst/>
            <a:ahLst/>
            <a:cxnLst/>
            <a:rect l="l" t="t" r="r" b="b"/>
            <a:pathLst>
              <a:path w="3707922" h="35314">
                <a:moveTo>
                  <a:pt x="35314" y="0"/>
                </a:moveTo>
                <a:lnTo>
                  <a:pt x="3672608" y="0"/>
                </a:lnTo>
                <a:cubicBezTo>
                  <a:pt x="3692111" y="0"/>
                  <a:pt x="3707922" y="15810"/>
                  <a:pt x="3707922" y="35314"/>
                </a:cubicBezTo>
                <a:lnTo>
                  <a:pt x="3707922" y="35314"/>
                </a:lnTo>
                <a:lnTo>
                  <a:pt x="0" y="35314"/>
                </a:lnTo>
                <a:lnTo>
                  <a:pt x="0" y="35314"/>
                </a:lnTo>
                <a:cubicBezTo>
                  <a:pt x="0" y="15810"/>
                  <a:pt x="15810" y="0"/>
                  <a:pt x="35314" y="0"/>
                </a:cubicBez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56" name="Shape 54"/>
          <p:cNvSpPr/>
          <p:nvPr/>
        </p:nvSpPr>
        <p:spPr>
          <a:xfrm>
            <a:off x="9738482" y="1271287"/>
            <a:ext cx="494390" cy="494390"/>
          </a:xfrm>
          <a:custGeom>
            <a:avLst/>
            <a:gdLst/>
            <a:ahLst/>
            <a:cxnLst/>
            <a:rect l="l" t="t" r="r" b="b"/>
            <a:pathLst>
              <a:path w="494390" h="494390">
                <a:moveTo>
                  <a:pt x="247195" y="0"/>
                </a:moveTo>
                <a:lnTo>
                  <a:pt x="247195" y="0"/>
                </a:lnTo>
                <a:cubicBezTo>
                  <a:pt x="383625" y="0"/>
                  <a:pt x="494390" y="110764"/>
                  <a:pt x="494390" y="247195"/>
                </a:cubicBezTo>
                <a:lnTo>
                  <a:pt x="494390" y="247195"/>
                </a:lnTo>
                <a:cubicBezTo>
                  <a:pt x="494390" y="383625"/>
                  <a:pt x="383625" y="494390"/>
                  <a:pt x="247195" y="494390"/>
                </a:cubicBezTo>
                <a:lnTo>
                  <a:pt x="247195" y="494390"/>
                </a:lnTo>
                <a:cubicBezTo>
                  <a:pt x="110764" y="494390"/>
                  <a:pt x="0" y="383625"/>
                  <a:pt x="0" y="247195"/>
                </a:cubicBezTo>
                <a:lnTo>
                  <a:pt x="0" y="247195"/>
                </a:lnTo>
                <a:cubicBezTo>
                  <a:pt x="0" y="110764"/>
                  <a:pt x="110764" y="0"/>
                  <a:pt x="247195" y="0"/>
                </a:cubicBez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57" name="Shape 55"/>
          <p:cNvSpPr/>
          <p:nvPr/>
        </p:nvSpPr>
        <p:spPr>
          <a:xfrm>
            <a:off x="9897393" y="1430198"/>
            <a:ext cx="176568" cy="176568"/>
          </a:xfrm>
          <a:custGeom>
            <a:avLst/>
            <a:gdLst/>
            <a:ahLst/>
            <a:cxnLst/>
            <a:rect l="l" t="t" r="r" b="b"/>
            <a:pathLst>
              <a:path w="176568" h="176568">
                <a:moveTo>
                  <a:pt x="44142" y="110355"/>
                </a:moveTo>
                <a:lnTo>
                  <a:pt x="8449" y="110355"/>
                </a:lnTo>
                <a:cubicBezTo>
                  <a:pt x="-138" y="110355"/>
                  <a:pt x="-5414" y="101009"/>
                  <a:pt x="-1000" y="93629"/>
                </a:cubicBezTo>
                <a:lnTo>
                  <a:pt x="17243" y="63213"/>
                </a:lnTo>
                <a:cubicBezTo>
                  <a:pt x="20243" y="58212"/>
                  <a:pt x="25623" y="55177"/>
                  <a:pt x="31451" y="55177"/>
                </a:cubicBezTo>
                <a:lnTo>
                  <a:pt x="64213" y="55177"/>
                </a:lnTo>
                <a:cubicBezTo>
                  <a:pt x="90456" y="10725"/>
                  <a:pt x="129598" y="8484"/>
                  <a:pt x="155773" y="12311"/>
                </a:cubicBezTo>
                <a:cubicBezTo>
                  <a:pt x="160187" y="12967"/>
                  <a:pt x="163635" y="16415"/>
                  <a:pt x="164256" y="20795"/>
                </a:cubicBezTo>
                <a:cubicBezTo>
                  <a:pt x="168084" y="46970"/>
                  <a:pt x="165843" y="86111"/>
                  <a:pt x="121390" y="112355"/>
                </a:cubicBezTo>
                <a:lnTo>
                  <a:pt x="121390" y="145117"/>
                </a:lnTo>
                <a:cubicBezTo>
                  <a:pt x="121390" y="150945"/>
                  <a:pt x="118356" y="156324"/>
                  <a:pt x="113355" y="159325"/>
                </a:cubicBezTo>
                <a:lnTo>
                  <a:pt x="82939" y="177568"/>
                </a:lnTo>
                <a:cubicBezTo>
                  <a:pt x="75593" y="181982"/>
                  <a:pt x="66213" y="176671"/>
                  <a:pt x="66213" y="168119"/>
                </a:cubicBezTo>
                <a:lnTo>
                  <a:pt x="66213" y="132426"/>
                </a:lnTo>
                <a:cubicBezTo>
                  <a:pt x="66213" y="120252"/>
                  <a:pt x="56315" y="110355"/>
                  <a:pt x="44142" y="110355"/>
                </a:cubicBezTo>
                <a:lnTo>
                  <a:pt x="44107" y="110355"/>
                </a:lnTo>
                <a:close/>
                <a:moveTo>
                  <a:pt x="137944" y="55177"/>
                </a:moveTo>
                <a:cubicBezTo>
                  <a:pt x="137944" y="46041"/>
                  <a:pt x="130526" y="38624"/>
                  <a:pt x="121390" y="38624"/>
                </a:cubicBezTo>
                <a:cubicBezTo>
                  <a:pt x="112254" y="38624"/>
                  <a:pt x="104837" y="46041"/>
                  <a:pt x="104837" y="55177"/>
                </a:cubicBezTo>
                <a:cubicBezTo>
                  <a:pt x="104837" y="64313"/>
                  <a:pt x="112254" y="71731"/>
                  <a:pt x="121390" y="71731"/>
                </a:cubicBezTo>
                <a:cubicBezTo>
                  <a:pt x="130526" y="71731"/>
                  <a:pt x="137944" y="64313"/>
                  <a:pt x="137944" y="5517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8" name="Text 56"/>
          <p:cNvSpPr/>
          <p:nvPr/>
        </p:nvSpPr>
        <p:spPr>
          <a:xfrm>
            <a:off x="8266679" y="1836304"/>
            <a:ext cx="3434242" cy="247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51" b="1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Proposed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8275508" y="2083499"/>
            <a:ext cx="3416585" cy="176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73" dirty="0">
                <a:solidFill>
                  <a:srgbClr val="F5F1E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Volatility-Aware Adaptive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8306407" y="2401321"/>
            <a:ext cx="3354786" cy="1130033"/>
          </a:xfrm>
          <a:custGeom>
            <a:avLst/>
            <a:gdLst/>
            <a:ahLst/>
            <a:cxnLst/>
            <a:rect l="l" t="t" r="r" b="b"/>
            <a:pathLst>
              <a:path w="3354786" h="1130033">
                <a:moveTo>
                  <a:pt x="35314" y="0"/>
                </a:moveTo>
                <a:lnTo>
                  <a:pt x="3319473" y="0"/>
                </a:lnTo>
                <a:cubicBezTo>
                  <a:pt x="3338976" y="0"/>
                  <a:pt x="3354786" y="15810"/>
                  <a:pt x="3354786" y="35314"/>
                </a:cubicBezTo>
                <a:lnTo>
                  <a:pt x="3354786" y="1094720"/>
                </a:lnTo>
                <a:cubicBezTo>
                  <a:pt x="3354786" y="1114223"/>
                  <a:pt x="3338976" y="1130033"/>
                  <a:pt x="3319473" y="1130033"/>
                </a:cubicBezTo>
                <a:lnTo>
                  <a:pt x="35314" y="1130033"/>
                </a:lnTo>
                <a:cubicBezTo>
                  <a:pt x="15810" y="1130033"/>
                  <a:pt x="0" y="1114223"/>
                  <a:pt x="0" y="1094720"/>
                </a:cubicBezTo>
                <a:lnTo>
                  <a:pt x="0" y="35314"/>
                </a:lnTo>
                <a:cubicBezTo>
                  <a:pt x="0" y="15810"/>
                  <a:pt x="15810" y="0"/>
                  <a:pt x="35314" y="0"/>
                </a:cubicBezTo>
                <a:close/>
              </a:path>
            </a:pathLst>
          </a:custGeom>
          <a:solidFill>
            <a:srgbClr val="F5F1EB">
              <a:alpha val="10196"/>
            </a:srgbClr>
          </a:solidFill>
          <a:ln/>
        </p:spPr>
      </p:sp>
      <p:sp>
        <p:nvSpPr>
          <p:cNvPr id="61" name="Text 59"/>
          <p:cNvSpPr/>
          <p:nvPr/>
        </p:nvSpPr>
        <p:spPr>
          <a:xfrm>
            <a:off x="8412348" y="2507261"/>
            <a:ext cx="3204704" cy="176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3" b="1" dirty="0">
                <a:solidFill>
                  <a:srgbClr val="C75B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Characteristics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8412348" y="2754456"/>
            <a:ext cx="3195875" cy="141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4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Volatility-aware updates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8412348" y="2930912"/>
            <a:ext cx="3195875" cy="141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4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Market regime detection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8412348" y="3107376"/>
            <a:ext cx="3195875" cy="141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4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Dynamic momentum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8412348" y="3283832"/>
            <a:ext cx="3195875" cy="141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4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Risk-adjusted learning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8309938" y="3640386"/>
            <a:ext cx="3353021" cy="1137096"/>
          </a:xfrm>
          <a:custGeom>
            <a:avLst/>
            <a:gdLst/>
            <a:ahLst/>
            <a:cxnLst/>
            <a:rect l="l" t="t" r="r" b="b"/>
            <a:pathLst>
              <a:path w="3353021" h="1137096">
                <a:moveTo>
                  <a:pt x="35318" y="0"/>
                </a:moveTo>
                <a:lnTo>
                  <a:pt x="3317703" y="0"/>
                </a:lnTo>
                <a:cubicBezTo>
                  <a:pt x="3337208" y="0"/>
                  <a:pt x="3353021" y="15812"/>
                  <a:pt x="3353021" y="35318"/>
                </a:cubicBezTo>
                <a:lnTo>
                  <a:pt x="3353021" y="1101778"/>
                </a:lnTo>
                <a:cubicBezTo>
                  <a:pt x="3353021" y="1121284"/>
                  <a:pt x="3337208" y="1137096"/>
                  <a:pt x="3317703" y="1137096"/>
                </a:cubicBezTo>
                <a:lnTo>
                  <a:pt x="35318" y="1137096"/>
                </a:lnTo>
                <a:cubicBezTo>
                  <a:pt x="15812" y="1137096"/>
                  <a:pt x="0" y="1121284"/>
                  <a:pt x="0" y="1101778"/>
                </a:cubicBezTo>
                <a:lnTo>
                  <a:pt x="0" y="35318"/>
                </a:lnTo>
                <a:cubicBezTo>
                  <a:pt x="0" y="15826"/>
                  <a:pt x="15826" y="0"/>
                  <a:pt x="35318" y="0"/>
                </a:cubicBezTo>
                <a:close/>
              </a:path>
            </a:pathLst>
          </a:custGeom>
          <a:solidFill>
            <a:srgbClr val="00C950">
              <a:alpha val="20000"/>
            </a:srgbClr>
          </a:solidFill>
          <a:ln w="10160">
            <a:solidFill>
              <a:srgbClr val="05DF72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419410" y="3749857"/>
            <a:ext cx="3195875" cy="176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3" b="1" dirty="0">
                <a:solidFill>
                  <a:srgbClr val="05DF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Advantages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8439274" y="4014708"/>
            <a:ext cx="92698" cy="105941"/>
          </a:xfrm>
          <a:custGeom>
            <a:avLst/>
            <a:gdLst/>
            <a:ahLst/>
            <a:cxnLst/>
            <a:rect l="l" t="t" r="r" b="b"/>
            <a:pathLst>
              <a:path w="92698" h="105941">
                <a:moveTo>
                  <a:pt x="89967" y="14505"/>
                </a:moveTo>
                <a:cubicBezTo>
                  <a:pt x="92926" y="16657"/>
                  <a:pt x="93588" y="20795"/>
                  <a:pt x="91436" y="23754"/>
                </a:cubicBezTo>
                <a:lnTo>
                  <a:pt x="38466" y="96588"/>
                </a:lnTo>
                <a:cubicBezTo>
                  <a:pt x="37328" y="98161"/>
                  <a:pt x="35569" y="99133"/>
                  <a:pt x="33624" y="99299"/>
                </a:cubicBezTo>
                <a:cubicBezTo>
                  <a:pt x="31679" y="99464"/>
                  <a:pt x="29796" y="98740"/>
                  <a:pt x="28430" y="97374"/>
                </a:cubicBezTo>
                <a:lnTo>
                  <a:pt x="1945" y="70889"/>
                </a:lnTo>
                <a:cubicBezTo>
                  <a:pt x="-641" y="68303"/>
                  <a:pt x="-641" y="64102"/>
                  <a:pt x="1945" y="61516"/>
                </a:cubicBezTo>
                <a:cubicBezTo>
                  <a:pt x="4531" y="58929"/>
                  <a:pt x="8732" y="58929"/>
                  <a:pt x="11318" y="61516"/>
                </a:cubicBezTo>
                <a:lnTo>
                  <a:pt x="32320" y="82518"/>
                </a:lnTo>
                <a:lnTo>
                  <a:pt x="80738" y="15953"/>
                </a:lnTo>
                <a:cubicBezTo>
                  <a:pt x="82890" y="12994"/>
                  <a:pt x="87029" y="12332"/>
                  <a:pt x="89987" y="14484"/>
                </a:cubicBezTo>
                <a:close/>
              </a:path>
            </a:pathLst>
          </a:custGeom>
          <a:solidFill>
            <a:srgbClr val="05DF72"/>
          </a:solidFill>
          <a:ln/>
        </p:spPr>
      </p:sp>
      <p:sp>
        <p:nvSpPr>
          <p:cNvPr id="69" name="Text 67"/>
          <p:cNvSpPr/>
          <p:nvPr/>
        </p:nvSpPr>
        <p:spPr>
          <a:xfrm>
            <a:off x="8587149" y="3997051"/>
            <a:ext cx="812211" cy="141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4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Market-adaptive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8439274" y="4191164"/>
            <a:ext cx="92698" cy="105941"/>
          </a:xfrm>
          <a:custGeom>
            <a:avLst/>
            <a:gdLst/>
            <a:ahLst/>
            <a:cxnLst/>
            <a:rect l="l" t="t" r="r" b="b"/>
            <a:pathLst>
              <a:path w="92698" h="105941">
                <a:moveTo>
                  <a:pt x="89967" y="14505"/>
                </a:moveTo>
                <a:cubicBezTo>
                  <a:pt x="92926" y="16657"/>
                  <a:pt x="93588" y="20795"/>
                  <a:pt x="91436" y="23754"/>
                </a:cubicBezTo>
                <a:lnTo>
                  <a:pt x="38466" y="96588"/>
                </a:lnTo>
                <a:cubicBezTo>
                  <a:pt x="37328" y="98161"/>
                  <a:pt x="35569" y="99133"/>
                  <a:pt x="33624" y="99299"/>
                </a:cubicBezTo>
                <a:cubicBezTo>
                  <a:pt x="31679" y="99464"/>
                  <a:pt x="29796" y="98740"/>
                  <a:pt x="28430" y="97374"/>
                </a:cubicBezTo>
                <a:lnTo>
                  <a:pt x="1945" y="70889"/>
                </a:lnTo>
                <a:cubicBezTo>
                  <a:pt x="-641" y="68303"/>
                  <a:pt x="-641" y="64102"/>
                  <a:pt x="1945" y="61516"/>
                </a:cubicBezTo>
                <a:cubicBezTo>
                  <a:pt x="4531" y="58929"/>
                  <a:pt x="8732" y="58929"/>
                  <a:pt x="11318" y="61516"/>
                </a:cubicBezTo>
                <a:lnTo>
                  <a:pt x="32320" y="82518"/>
                </a:lnTo>
                <a:lnTo>
                  <a:pt x="80738" y="15953"/>
                </a:lnTo>
                <a:cubicBezTo>
                  <a:pt x="82890" y="12994"/>
                  <a:pt x="87029" y="12332"/>
                  <a:pt x="89987" y="14484"/>
                </a:cubicBezTo>
                <a:close/>
              </a:path>
            </a:pathLst>
          </a:custGeom>
          <a:solidFill>
            <a:srgbClr val="05DF72"/>
          </a:solidFill>
          <a:ln/>
        </p:spPr>
      </p:sp>
      <p:sp>
        <p:nvSpPr>
          <p:cNvPr id="71" name="Text 69"/>
          <p:cNvSpPr/>
          <p:nvPr/>
        </p:nvSpPr>
        <p:spPr>
          <a:xfrm>
            <a:off x="8587149" y="4173507"/>
            <a:ext cx="953466" cy="141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4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Faster convergence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8439274" y="4367628"/>
            <a:ext cx="92698" cy="105941"/>
          </a:xfrm>
          <a:custGeom>
            <a:avLst/>
            <a:gdLst/>
            <a:ahLst/>
            <a:cxnLst/>
            <a:rect l="l" t="t" r="r" b="b"/>
            <a:pathLst>
              <a:path w="92698" h="105941">
                <a:moveTo>
                  <a:pt x="89967" y="14505"/>
                </a:moveTo>
                <a:cubicBezTo>
                  <a:pt x="92926" y="16657"/>
                  <a:pt x="93588" y="20795"/>
                  <a:pt x="91436" y="23754"/>
                </a:cubicBezTo>
                <a:lnTo>
                  <a:pt x="38466" y="96588"/>
                </a:lnTo>
                <a:cubicBezTo>
                  <a:pt x="37328" y="98161"/>
                  <a:pt x="35569" y="99133"/>
                  <a:pt x="33624" y="99299"/>
                </a:cubicBezTo>
                <a:cubicBezTo>
                  <a:pt x="31679" y="99464"/>
                  <a:pt x="29796" y="98740"/>
                  <a:pt x="28430" y="97374"/>
                </a:cubicBezTo>
                <a:lnTo>
                  <a:pt x="1945" y="70889"/>
                </a:lnTo>
                <a:cubicBezTo>
                  <a:pt x="-641" y="68303"/>
                  <a:pt x="-641" y="64102"/>
                  <a:pt x="1945" y="61516"/>
                </a:cubicBezTo>
                <a:cubicBezTo>
                  <a:pt x="4531" y="58929"/>
                  <a:pt x="8732" y="58929"/>
                  <a:pt x="11318" y="61516"/>
                </a:cubicBezTo>
                <a:lnTo>
                  <a:pt x="32320" y="82518"/>
                </a:lnTo>
                <a:lnTo>
                  <a:pt x="80738" y="15953"/>
                </a:lnTo>
                <a:cubicBezTo>
                  <a:pt x="82890" y="12994"/>
                  <a:pt x="87029" y="12332"/>
                  <a:pt x="89987" y="14484"/>
                </a:cubicBezTo>
                <a:close/>
              </a:path>
            </a:pathLst>
          </a:custGeom>
          <a:solidFill>
            <a:srgbClr val="05DF72"/>
          </a:solidFill>
          <a:ln/>
        </p:spPr>
      </p:sp>
      <p:sp>
        <p:nvSpPr>
          <p:cNvPr id="73" name="Text 71"/>
          <p:cNvSpPr/>
          <p:nvPr/>
        </p:nvSpPr>
        <p:spPr>
          <a:xfrm>
            <a:off x="8587149" y="4349971"/>
            <a:ext cx="688614" cy="141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4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Risk-sensitive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8439274" y="4544084"/>
            <a:ext cx="92698" cy="105941"/>
          </a:xfrm>
          <a:custGeom>
            <a:avLst/>
            <a:gdLst/>
            <a:ahLst/>
            <a:cxnLst/>
            <a:rect l="l" t="t" r="r" b="b"/>
            <a:pathLst>
              <a:path w="92698" h="105941">
                <a:moveTo>
                  <a:pt x="89967" y="14505"/>
                </a:moveTo>
                <a:cubicBezTo>
                  <a:pt x="92926" y="16657"/>
                  <a:pt x="93588" y="20795"/>
                  <a:pt x="91436" y="23754"/>
                </a:cubicBezTo>
                <a:lnTo>
                  <a:pt x="38466" y="96588"/>
                </a:lnTo>
                <a:cubicBezTo>
                  <a:pt x="37328" y="98161"/>
                  <a:pt x="35569" y="99133"/>
                  <a:pt x="33624" y="99299"/>
                </a:cubicBezTo>
                <a:cubicBezTo>
                  <a:pt x="31679" y="99464"/>
                  <a:pt x="29796" y="98740"/>
                  <a:pt x="28430" y="97374"/>
                </a:cubicBezTo>
                <a:lnTo>
                  <a:pt x="1945" y="70889"/>
                </a:lnTo>
                <a:cubicBezTo>
                  <a:pt x="-641" y="68303"/>
                  <a:pt x="-641" y="64102"/>
                  <a:pt x="1945" y="61516"/>
                </a:cubicBezTo>
                <a:cubicBezTo>
                  <a:pt x="4531" y="58929"/>
                  <a:pt x="8732" y="58929"/>
                  <a:pt x="11318" y="61516"/>
                </a:cubicBezTo>
                <a:lnTo>
                  <a:pt x="32320" y="82518"/>
                </a:lnTo>
                <a:lnTo>
                  <a:pt x="80738" y="15953"/>
                </a:lnTo>
                <a:cubicBezTo>
                  <a:pt x="82890" y="12994"/>
                  <a:pt x="87029" y="12332"/>
                  <a:pt x="89987" y="14484"/>
                </a:cubicBezTo>
                <a:close/>
              </a:path>
            </a:pathLst>
          </a:custGeom>
          <a:solidFill>
            <a:srgbClr val="05DF72"/>
          </a:solidFill>
          <a:ln/>
        </p:spPr>
      </p:sp>
      <p:sp>
        <p:nvSpPr>
          <p:cNvPr id="75" name="Text 73"/>
          <p:cNvSpPr/>
          <p:nvPr/>
        </p:nvSpPr>
        <p:spPr>
          <a:xfrm>
            <a:off x="8587149" y="4526427"/>
            <a:ext cx="988779" cy="141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4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Robust performance</a:t>
            </a:r>
            <a:endParaRPr lang="en-US" sz="1600" dirty="0"/>
          </a:p>
        </p:txBody>
      </p:sp>
      <p:sp>
        <p:nvSpPr>
          <p:cNvPr id="76" name="Shape 74"/>
          <p:cNvSpPr/>
          <p:nvPr/>
        </p:nvSpPr>
        <p:spPr>
          <a:xfrm>
            <a:off x="9600759" y="4907703"/>
            <a:ext cx="769835" cy="190693"/>
          </a:xfrm>
          <a:custGeom>
            <a:avLst/>
            <a:gdLst/>
            <a:ahLst/>
            <a:cxnLst/>
            <a:rect l="l" t="t" r="r" b="b"/>
            <a:pathLst>
              <a:path w="769835" h="190693">
                <a:moveTo>
                  <a:pt x="95347" y="0"/>
                </a:moveTo>
                <a:lnTo>
                  <a:pt x="674489" y="0"/>
                </a:lnTo>
                <a:cubicBezTo>
                  <a:pt x="727147" y="0"/>
                  <a:pt x="769835" y="42688"/>
                  <a:pt x="769835" y="95347"/>
                </a:cubicBezTo>
                <a:lnTo>
                  <a:pt x="769835" y="95347"/>
                </a:lnTo>
                <a:cubicBezTo>
                  <a:pt x="769835" y="148005"/>
                  <a:pt x="727147" y="190693"/>
                  <a:pt x="674489" y="190693"/>
                </a:cubicBezTo>
                <a:lnTo>
                  <a:pt x="95347" y="190693"/>
                </a:lnTo>
                <a:cubicBezTo>
                  <a:pt x="42723" y="190693"/>
                  <a:pt x="0" y="147970"/>
                  <a:pt x="0" y="95347"/>
                </a:cubicBezTo>
                <a:lnTo>
                  <a:pt x="0" y="95347"/>
                </a:lnTo>
                <a:cubicBezTo>
                  <a:pt x="0" y="42723"/>
                  <a:pt x="42723" y="0"/>
                  <a:pt x="95347" y="0"/>
                </a:cubicBez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77" name="Text 75"/>
          <p:cNvSpPr/>
          <p:nvPr/>
        </p:nvSpPr>
        <p:spPr>
          <a:xfrm>
            <a:off x="9574274" y="4907703"/>
            <a:ext cx="822806" cy="190693"/>
          </a:xfrm>
          <a:prstGeom prst="rect">
            <a:avLst/>
          </a:prstGeom>
          <a:noFill/>
          <a:ln/>
        </p:spPr>
        <p:txBody>
          <a:bodyPr wrap="square" lIns="105941" tIns="35314" rIns="105941" bIns="35314" rtlCol="0" anchor="ctr"/>
          <a:lstStyle/>
          <a:p>
            <a:pPr algn="ctr">
              <a:lnSpc>
                <a:spcPct val="110000"/>
              </a:lnSpc>
            </a:pPr>
            <a:r>
              <a:rPr lang="en-US" sz="834" b="1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QuantShield</a:t>
            </a:r>
            <a:endParaRPr lang="en-US" sz="1600" dirty="0"/>
          </a:p>
        </p:txBody>
      </p:sp>
      <p:sp>
        <p:nvSpPr>
          <p:cNvPr id="78" name="Shape 76"/>
          <p:cNvSpPr/>
          <p:nvPr/>
        </p:nvSpPr>
        <p:spPr>
          <a:xfrm>
            <a:off x="353135" y="5416214"/>
            <a:ext cx="11485729" cy="1447855"/>
          </a:xfrm>
          <a:custGeom>
            <a:avLst/>
            <a:gdLst/>
            <a:ahLst/>
            <a:cxnLst/>
            <a:rect l="l" t="t" r="r" b="b"/>
            <a:pathLst>
              <a:path w="11485729" h="1447855">
                <a:moveTo>
                  <a:pt x="70626" y="0"/>
                </a:moveTo>
                <a:lnTo>
                  <a:pt x="11415103" y="0"/>
                </a:lnTo>
                <a:cubicBezTo>
                  <a:pt x="11454109" y="0"/>
                  <a:pt x="11485729" y="31621"/>
                  <a:pt x="11485729" y="70626"/>
                </a:cubicBezTo>
                <a:lnTo>
                  <a:pt x="11485729" y="1377229"/>
                </a:lnTo>
                <a:cubicBezTo>
                  <a:pt x="11485729" y="1416235"/>
                  <a:pt x="11454109" y="1447855"/>
                  <a:pt x="11415103" y="1447855"/>
                </a:cubicBezTo>
                <a:lnTo>
                  <a:pt x="70626" y="1447855"/>
                </a:lnTo>
                <a:cubicBezTo>
                  <a:pt x="31621" y="1447855"/>
                  <a:pt x="0" y="1416235"/>
                  <a:pt x="0" y="1377229"/>
                </a:cubicBezTo>
                <a:lnTo>
                  <a:pt x="0" y="70626"/>
                </a:lnTo>
                <a:cubicBezTo>
                  <a:pt x="0" y="31647"/>
                  <a:pt x="31647" y="0"/>
                  <a:pt x="7062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2970" dist="35314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9" name="Text 77"/>
          <p:cNvSpPr/>
          <p:nvPr/>
        </p:nvSpPr>
        <p:spPr>
          <a:xfrm>
            <a:off x="454662" y="5557469"/>
            <a:ext cx="11282676" cy="247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51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Convergence Performance Comparison</a:t>
            </a:r>
            <a:endParaRPr lang="en-US" sz="1600" dirty="0"/>
          </a:p>
        </p:txBody>
      </p:sp>
      <p:sp>
        <p:nvSpPr>
          <p:cNvPr id="80" name="Shape 78"/>
          <p:cNvSpPr/>
          <p:nvPr/>
        </p:nvSpPr>
        <p:spPr>
          <a:xfrm>
            <a:off x="494390" y="5910604"/>
            <a:ext cx="2692657" cy="812211"/>
          </a:xfrm>
          <a:custGeom>
            <a:avLst/>
            <a:gdLst/>
            <a:ahLst/>
            <a:cxnLst/>
            <a:rect l="l" t="t" r="r" b="b"/>
            <a:pathLst>
              <a:path w="2692657" h="812211">
                <a:moveTo>
                  <a:pt x="35315" y="0"/>
                </a:moveTo>
                <a:lnTo>
                  <a:pt x="2657343" y="0"/>
                </a:lnTo>
                <a:cubicBezTo>
                  <a:pt x="2676846" y="0"/>
                  <a:pt x="2692657" y="15811"/>
                  <a:pt x="2692657" y="35315"/>
                </a:cubicBezTo>
                <a:lnTo>
                  <a:pt x="2692657" y="776896"/>
                </a:lnTo>
                <a:cubicBezTo>
                  <a:pt x="2692657" y="796400"/>
                  <a:pt x="2676846" y="812211"/>
                  <a:pt x="2657343" y="812211"/>
                </a:cubicBezTo>
                <a:lnTo>
                  <a:pt x="35315" y="812211"/>
                </a:lnTo>
                <a:cubicBezTo>
                  <a:pt x="15824" y="812211"/>
                  <a:pt x="0" y="796387"/>
                  <a:pt x="0" y="776896"/>
                </a:cubicBezTo>
                <a:lnTo>
                  <a:pt x="0" y="35315"/>
                </a:lnTo>
                <a:cubicBezTo>
                  <a:pt x="0" y="15824"/>
                  <a:pt x="15824" y="0"/>
                  <a:pt x="35315" y="0"/>
                </a:cubicBezTo>
                <a:close/>
              </a:path>
            </a:pathLst>
          </a:custGeom>
          <a:solidFill>
            <a:srgbClr val="F3F4F6"/>
          </a:solidFill>
          <a:ln>
            <a:solidFill>
              <a:schemeClr val="tx1"/>
            </a:solidFill>
          </a:ln>
          <a:effectLst/>
        </p:spPr>
      </p:sp>
      <p:sp>
        <p:nvSpPr>
          <p:cNvPr id="81" name="Text 79"/>
          <p:cNvSpPr/>
          <p:nvPr/>
        </p:nvSpPr>
        <p:spPr>
          <a:xfrm>
            <a:off x="569431" y="6016545"/>
            <a:ext cx="2542575" cy="176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73" dirty="0">
                <a:solidFill>
                  <a:srgbClr val="4A55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Convergence Speed</a:t>
            </a:r>
            <a:endParaRPr lang="en-US" sz="1600" dirty="0"/>
          </a:p>
        </p:txBody>
      </p:sp>
      <p:sp>
        <p:nvSpPr>
          <p:cNvPr id="82" name="Text 80"/>
          <p:cNvSpPr/>
          <p:nvPr/>
        </p:nvSpPr>
        <p:spPr>
          <a:xfrm>
            <a:off x="556188" y="6228426"/>
            <a:ext cx="2569060" cy="247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90" b="1" dirty="0">
                <a:solidFill>
                  <a:srgbClr val="6A72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Slow</a:t>
            </a:r>
            <a:endParaRPr lang="en-US" sz="1600" dirty="0"/>
          </a:p>
        </p:txBody>
      </p:sp>
      <p:sp>
        <p:nvSpPr>
          <p:cNvPr id="83" name="Text 81"/>
          <p:cNvSpPr/>
          <p:nvPr/>
        </p:nvSpPr>
        <p:spPr>
          <a:xfrm>
            <a:off x="573845" y="6475621"/>
            <a:ext cx="2533747" cy="141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34" dirty="0">
                <a:solidFill>
                  <a:srgbClr val="6A72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Algorithm 1</a:t>
            </a:r>
            <a:endParaRPr lang="en-US" sz="1600" dirty="0"/>
          </a:p>
        </p:txBody>
      </p:sp>
      <p:sp>
        <p:nvSpPr>
          <p:cNvPr id="84" name="Shape 82"/>
          <p:cNvSpPr/>
          <p:nvPr/>
        </p:nvSpPr>
        <p:spPr>
          <a:xfrm>
            <a:off x="3331171" y="5910604"/>
            <a:ext cx="2692657" cy="812211"/>
          </a:xfrm>
          <a:custGeom>
            <a:avLst/>
            <a:gdLst/>
            <a:ahLst/>
            <a:cxnLst/>
            <a:rect l="l" t="t" r="r" b="b"/>
            <a:pathLst>
              <a:path w="2692657" h="812211">
                <a:moveTo>
                  <a:pt x="35315" y="0"/>
                </a:moveTo>
                <a:lnTo>
                  <a:pt x="2657343" y="0"/>
                </a:lnTo>
                <a:cubicBezTo>
                  <a:pt x="2676846" y="0"/>
                  <a:pt x="2692657" y="15811"/>
                  <a:pt x="2692657" y="35315"/>
                </a:cubicBezTo>
                <a:lnTo>
                  <a:pt x="2692657" y="776896"/>
                </a:lnTo>
                <a:cubicBezTo>
                  <a:pt x="2692657" y="796400"/>
                  <a:pt x="2676846" y="812211"/>
                  <a:pt x="2657343" y="812211"/>
                </a:cubicBezTo>
                <a:lnTo>
                  <a:pt x="35315" y="812211"/>
                </a:lnTo>
                <a:cubicBezTo>
                  <a:pt x="15824" y="812211"/>
                  <a:pt x="0" y="796387"/>
                  <a:pt x="0" y="776896"/>
                </a:cubicBezTo>
                <a:lnTo>
                  <a:pt x="0" y="35315"/>
                </a:lnTo>
                <a:cubicBezTo>
                  <a:pt x="0" y="15824"/>
                  <a:pt x="15824" y="0"/>
                  <a:pt x="35315" y="0"/>
                </a:cubicBezTo>
                <a:close/>
              </a:path>
            </a:pathLst>
          </a:custGeom>
          <a:solidFill>
            <a:srgbClr val="4A90A4">
              <a:alpha val="10196"/>
            </a:srgbClr>
          </a:solidFill>
          <a:ln>
            <a:solidFill>
              <a:schemeClr val="tx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perspectiveFront"/>
            <a:lightRig rig="threePt" dir="t"/>
          </a:scene3d>
        </p:spPr>
      </p:sp>
      <p:sp>
        <p:nvSpPr>
          <p:cNvPr id="85" name="Text 83"/>
          <p:cNvSpPr/>
          <p:nvPr/>
        </p:nvSpPr>
        <p:spPr>
          <a:xfrm>
            <a:off x="3406212" y="6016545"/>
            <a:ext cx="2542575" cy="176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73" dirty="0">
                <a:solidFill>
                  <a:srgbClr val="4A90A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Convergence Speed</a:t>
            </a:r>
            <a:endParaRPr lang="en-US" sz="1600" dirty="0"/>
          </a:p>
        </p:txBody>
      </p:sp>
      <p:sp>
        <p:nvSpPr>
          <p:cNvPr id="86" name="Text 84"/>
          <p:cNvSpPr/>
          <p:nvPr/>
        </p:nvSpPr>
        <p:spPr>
          <a:xfrm>
            <a:off x="3392969" y="6228426"/>
            <a:ext cx="2569060" cy="247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90" b="1" dirty="0">
                <a:solidFill>
                  <a:srgbClr val="4A90A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Medium</a:t>
            </a:r>
            <a:endParaRPr lang="en-US" sz="1600" dirty="0"/>
          </a:p>
        </p:txBody>
      </p:sp>
      <p:sp>
        <p:nvSpPr>
          <p:cNvPr id="87" name="Text 85"/>
          <p:cNvSpPr/>
          <p:nvPr/>
        </p:nvSpPr>
        <p:spPr>
          <a:xfrm>
            <a:off x="3410626" y="6475621"/>
            <a:ext cx="2533747" cy="141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34" dirty="0">
                <a:solidFill>
                  <a:srgbClr val="4A90A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Algorithm 2</a:t>
            </a:r>
            <a:endParaRPr lang="en-US" sz="1600" dirty="0"/>
          </a:p>
        </p:txBody>
      </p:sp>
      <p:sp>
        <p:nvSpPr>
          <p:cNvPr id="88" name="Shape 86"/>
          <p:cNvSpPr/>
          <p:nvPr/>
        </p:nvSpPr>
        <p:spPr>
          <a:xfrm>
            <a:off x="6168062" y="5910604"/>
            <a:ext cx="2692657" cy="812211"/>
          </a:xfrm>
          <a:custGeom>
            <a:avLst/>
            <a:gdLst/>
            <a:ahLst/>
            <a:cxnLst/>
            <a:rect l="l" t="t" r="r" b="b"/>
            <a:pathLst>
              <a:path w="2692657" h="812211">
                <a:moveTo>
                  <a:pt x="35315" y="0"/>
                </a:moveTo>
                <a:lnTo>
                  <a:pt x="2657343" y="0"/>
                </a:lnTo>
                <a:cubicBezTo>
                  <a:pt x="2676846" y="0"/>
                  <a:pt x="2692657" y="15811"/>
                  <a:pt x="2692657" y="35315"/>
                </a:cubicBezTo>
                <a:lnTo>
                  <a:pt x="2692657" y="776896"/>
                </a:lnTo>
                <a:cubicBezTo>
                  <a:pt x="2692657" y="796400"/>
                  <a:pt x="2676846" y="812211"/>
                  <a:pt x="2657343" y="812211"/>
                </a:cubicBezTo>
                <a:lnTo>
                  <a:pt x="35315" y="812211"/>
                </a:lnTo>
                <a:cubicBezTo>
                  <a:pt x="15824" y="812211"/>
                  <a:pt x="0" y="796387"/>
                  <a:pt x="0" y="776896"/>
                </a:cubicBezTo>
                <a:lnTo>
                  <a:pt x="0" y="35315"/>
                </a:lnTo>
                <a:cubicBezTo>
                  <a:pt x="0" y="15824"/>
                  <a:pt x="15824" y="0"/>
                  <a:pt x="35315" y="0"/>
                </a:cubicBezTo>
                <a:close/>
              </a:path>
            </a:pathLst>
          </a:custGeom>
          <a:solidFill>
            <a:srgbClr val="C75B4A">
              <a:alpha val="10196"/>
            </a:srgbClr>
          </a:solidFill>
          <a:ln>
            <a:solidFill>
              <a:schemeClr val="tx1"/>
            </a:solidFill>
          </a:ln>
        </p:spPr>
      </p:sp>
      <p:sp>
        <p:nvSpPr>
          <p:cNvPr id="89" name="Text 87"/>
          <p:cNvSpPr/>
          <p:nvPr/>
        </p:nvSpPr>
        <p:spPr>
          <a:xfrm>
            <a:off x="6243103" y="6016545"/>
            <a:ext cx="2542575" cy="176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73" dirty="0">
                <a:solidFill>
                  <a:srgbClr val="C75B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Convergence Speed</a:t>
            </a:r>
            <a:endParaRPr lang="en-US" sz="1600" dirty="0"/>
          </a:p>
        </p:txBody>
      </p:sp>
      <p:sp>
        <p:nvSpPr>
          <p:cNvPr id="90" name="Text 88"/>
          <p:cNvSpPr/>
          <p:nvPr/>
        </p:nvSpPr>
        <p:spPr>
          <a:xfrm>
            <a:off x="6229861" y="6228426"/>
            <a:ext cx="2569060" cy="247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90" b="1" dirty="0">
                <a:solidFill>
                  <a:srgbClr val="C75B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Fast</a:t>
            </a:r>
            <a:endParaRPr lang="en-US" sz="1600" dirty="0"/>
          </a:p>
        </p:txBody>
      </p:sp>
      <p:sp>
        <p:nvSpPr>
          <p:cNvPr id="91" name="Text 89"/>
          <p:cNvSpPr/>
          <p:nvPr/>
        </p:nvSpPr>
        <p:spPr>
          <a:xfrm>
            <a:off x="6247517" y="6475621"/>
            <a:ext cx="2533747" cy="141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34" dirty="0">
                <a:solidFill>
                  <a:srgbClr val="C75B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Proposed</a:t>
            </a:r>
            <a:endParaRPr lang="en-US" sz="1600" dirty="0"/>
          </a:p>
        </p:txBody>
      </p:sp>
      <p:sp>
        <p:nvSpPr>
          <p:cNvPr id="92" name="Shape 90"/>
          <p:cNvSpPr/>
          <p:nvPr/>
        </p:nvSpPr>
        <p:spPr>
          <a:xfrm>
            <a:off x="9004842" y="5910604"/>
            <a:ext cx="2692657" cy="812211"/>
          </a:xfrm>
          <a:custGeom>
            <a:avLst/>
            <a:gdLst/>
            <a:ahLst/>
            <a:cxnLst/>
            <a:rect l="l" t="t" r="r" b="b"/>
            <a:pathLst>
              <a:path w="2692657" h="812211">
                <a:moveTo>
                  <a:pt x="35315" y="0"/>
                </a:moveTo>
                <a:lnTo>
                  <a:pt x="2657343" y="0"/>
                </a:lnTo>
                <a:cubicBezTo>
                  <a:pt x="2676846" y="0"/>
                  <a:pt x="2692657" y="15811"/>
                  <a:pt x="2692657" y="35315"/>
                </a:cubicBezTo>
                <a:lnTo>
                  <a:pt x="2692657" y="776896"/>
                </a:lnTo>
                <a:cubicBezTo>
                  <a:pt x="2692657" y="796400"/>
                  <a:pt x="2676846" y="812211"/>
                  <a:pt x="2657343" y="812211"/>
                </a:cubicBezTo>
                <a:lnTo>
                  <a:pt x="35315" y="812211"/>
                </a:lnTo>
                <a:cubicBezTo>
                  <a:pt x="15824" y="812211"/>
                  <a:pt x="0" y="796387"/>
                  <a:pt x="0" y="776896"/>
                </a:cubicBezTo>
                <a:lnTo>
                  <a:pt x="0" y="35315"/>
                </a:lnTo>
                <a:cubicBezTo>
                  <a:pt x="0" y="15824"/>
                  <a:pt x="15824" y="0"/>
                  <a:pt x="35315" y="0"/>
                </a:cubicBezTo>
                <a:close/>
              </a:path>
            </a:pathLst>
          </a:custGeom>
          <a:solidFill>
            <a:srgbClr val="DCFCE7"/>
          </a:solidFill>
          <a:ln>
            <a:solidFill>
              <a:schemeClr val="tx1"/>
            </a:solidFill>
          </a:ln>
        </p:spPr>
      </p:sp>
      <p:sp>
        <p:nvSpPr>
          <p:cNvPr id="93" name="Text 91"/>
          <p:cNvSpPr/>
          <p:nvPr/>
        </p:nvSpPr>
        <p:spPr>
          <a:xfrm>
            <a:off x="9079884" y="6016545"/>
            <a:ext cx="2542575" cy="176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73" dirty="0">
                <a:solidFill>
                  <a:srgbClr val="0082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Improvement</a:t>
            </a:r>
            <a:endParaRPr lang="en-US" sz="1600" dirty="0"/>
          </a:p>
        </p:txBody>
      </p:sp>
      <p:sp>
        <p:nvSpPr>
          <p:cNvPr id="94" name="Text 92"/>
          <p:cNvSpPr/>
          <p:nvPr/>
        </p:nvSpPr>
        <p:spPr>
          <a:xfrm>
            <a:off x="9066642" y="6228426"/>
            <a:ext cx="2569060" cy="247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90" b="1" dirty="0">
                <a:solidFill>
                  <a:srgbClr val="00A6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40%</a:t>
            </a:r>
            <a:endParaRPr lang="en-US" sz="1600" dirty="0"/>
          </a:p>
        </p:txBody>
      </p:sp>
      <p:sp>
        <p:nvSpPr>
          <p:cNvPr id="95" name="Text 93"/>
          <p:cNvSpPr/>
          <p:nvPr/>
        </p:nvSpPr>
        <p:spPr>
          <a:xfrm>
            <a:off x="9084298" y="6475621"/>
            <a:ext cx="2533747" cy="141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34" dirty="0">
                <a:solidFill>
                  <a:srgbClr val="00A6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vs Adam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2857" y="362857"/>
            <a:ext cx="580571" cy="580571"/>
          </a:xfrm>
          <a:custGeom>
            <a:avLst/>
            <a:gdLst/>
            <a:ahLst/>
            <a:cxnLst/>
            <a:rect l="l" t="t" r="r" b="b"/>
            <a:pathLst>
              <a:path w="580571" h="580571">
                <a:moveTo>
                  <a:pt x="72571" y="0"/>
                </a:moveTo>
                <a:lnTo>
                  <a:pt x="508000" y="0"/>
                </a:lnTo>
                <a:cubicBezTo>
                  <a:pt x="548080" y="0"/>
                  <a:pt x="580571" y="32491"/>
                  <a:pt x="580571" y="72571"/>
                </a:cubicBezTo>
                <a:lnTo>
                  <a:pt x="580571" y="508000"/>
                </a:lnTo>
                <a:cubicBezTo>
                  <a:pt x="580571" y="548080"/>
                  <a:pt x="548080" y="580571"/>
                  <a:pt x="508000" y="580571"/>
                </a:cubicBezTo>
                <a:lnTo>
                  <a:pt x="72571" y="580571"/>
                </a:lnTo>
                <a:cubicBezTo>
                  <a:pt x="32491" y="580571"/>
                  <a:pt x="0" y="548080"/>
                  <a:pt x="0" y="508000"/>
                </a:cubicBezTo>
                <a:lnTo>
                  <a:pt x="0" y="72571"/>
                </a:lnTo>
                <a:cubicBezTo>
                  <a:pt x="0" y="32518"/>
                  <a:pt x="32518" y="0"/>
                  <a:pt x="72571" y="0"/>
                </a:cubicBezTo>
                <a:close/>
              </a:path>
            </a:pathLst>
          </a:custGeom>
          <a:solidFill>
            <a:srgbClr val="FF0000"/>
          </a:solidFill>
          <a:ln/>
        </p:spPr>
      </p:sp>
      <p:sp>
        <p:nvSpPr>
          <p:cNvPr id="3" name="Text 1"/>
          <p:cNvSpPr/>
          <p:nvPr/>
        </p:nvSpPr>
        <p:spPr>
          <a:xfrm>
            <a:off x="518886" y="489857"/>
            <a:ext cx="408214" cy="3265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43" b="1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88571" y="381000"/>
            <a:ext cx="3828143" cy="181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b="1" kern="0" spc="50" dirty="0">
                <a:solidFill>
                  <a:srgbClr val="C75B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PROPOSED OPTIMIZER ALGORITHM (CONTINUED)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88571" y="562429"/>
            <a:ext cx="3927929" cy="362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71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Mathematical Formulation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2857" y="1088571"/>
            <a:ext cx="5624286" cy="4027714"/>
          </a:xfrm>
          <a:custGeom>
            <a:avLst/>
            <a:gdLst/>
            <a:ahLst/>
            <a:cxnLst/>
            <a:rect l="l" t="t" r="r" b="b"/>
            <a:pathLst>
              <a:path w="5624286" h="4027714">
                <a:moveTo>
                  <a:pt x="72579" y="0"/>
                </a:moveTo>
                <a:lnTo>
                  <a:pt x="5551706" y="0"/>
                </a:lnTo>
                <a:cubicBezTo>
                  <a:pt x="5591791" y="0"/>
                  <a:pt x="5624286" y="32495"/>
                  <a:pt x="5624286" y="72579"/>
                </a:cubicBezTo>
                <a:lnTo>
                  <a:pt x="5624286" y="3955135"/>
                </a:lnTo>
                <a:cubicBezTo>
                  <a:pt x="5624286" y="3995219"/>
                  <a:pt x="5591791" y="4027714"/>
                  <a:pt x="5551706" y="4027714"/>
                </a:cubicBezTo>
                <a:lnTo>
                  <a:pt x="72579" y="4027714"/>
                </a:lnTo>
                <a:cubicBezTo>
                  <a:pt x="32495" y="4027714"/>
                  <a:pt x="0" y="3995219"/>
                  <a:pt x="0" y="3955135"/>
                </a:cubicBezTo>
                <a:lnTo>
                  <a:pt x="0" y="72579"/>
                </a:lnTo>
                <a:cubicBezTo>
                  <a:pt x="0" y="32522"/>
                  <a:pt x="32522" y="0"/>
                  <a:pt x="72579" y="0"/>
                </a:cubicBezTo>
                <a:close/>
              </a:path>
            </a:pathLst>
          </a:custGeom>
          <a:solidFill>
            <a:srgbClr val="FFFFFF"/>
          </a:solidFill>
          <a:ln>
            <a:solidFill>
              <a:schemeClr val="tx1"/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4429" dist="36286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4286" y="1270000"/>
            <a:ext cx="535214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9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Proposed Optimizer Equations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4286" y="1669143"/>
            <a:ext cx="5261429" cy="1016000"/>
          </a:xfrm>
          <a:custGeom>
            <a:avLst/>
            <a:gdLst/>
            <a:ahLst/>
            <a:cxnLst/>
            <a:rect l="l" t="t" r="r" b="b"/>
            <a:pathLst>
              <a:path w="5261429" h="1016000">
                <a:moveTo>
                  <a:pt x="72573" y="0"/>
                </a:moveTo>
                <a:lnTo>
                  <a:pt x="5188856" y="0"/>
                </a:lnTo>
                <a:cubicBezTo>
                  <a:pt x="5228937" y="0"/>
                  <a:pt x="5261429" y="32492"/>
                  <a:pt x="5261429" y="72573"/>
                </a:cubicBezTo>
                <a:lnTo>
                  <a:pt x="5261429" y="943427"/>
                </a:lnTo>
                <a:cubicBezTo>
                  <a:pt x="5261429" y="983508"/>
                  <a:pt x="5228937" y="1016000"/>
                  <a:pt x="5188856" y="1016000"/>
                </a:cubicBezTo>
                <a:lnTo>
                  <a:pt x="72573" y="1016000"/>
                </a:lnTo>
                <a:cubicBezTo>
                  <a:pt x="32492" y="1016000"/>
                  <a:pt x="0" y="983508"/>
                  <a:pt x="0" y="943427"/>
                </a:cubicBezTo>
                <a:lnTo>
                  <a:pt x="0" y="72573"/>
                </a:lnTo>
                <a:cubicBezTo>
                  <a:pt x="0" y="32519"/>
                  <a:pt x="32519" y="0"/>
                  <a:pt x="72573" y="0"/>
                </a:cubicBezTo>
                <a:close/>
              </a:path>
            </a:pathLst>
          </a:custGeom>
          <a:solidFill>
            <a:srgbClr val="1E3A5F">
              <a:alpha val="5098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89429" y="1814286"/>
            <a:ext cx="5034643" cy="181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Adaptive Learning Rate: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8607" y="2068286"/>
            <a:ext cx="505278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86" b="1" dirty="0">
                <a:solidFill>
                  <a:srgbClr val="1E3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η</a:t>
            </a:r>
            <a:r>
              <a:rPr lang="en-US" sz="964" b="1" dirty="0">
                <a:solidFill>
                  <a:srgbClr val="1E3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</a:t>
            </a:r>
            <a:r>
              <a:rPr lang="en-US" sz="1286" b="1" dirty="0">
                <a:solidFill>
                  <a:srgbClr val="1E3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= η</a:t>
            </a:r>
            <a:r>
              <a:rPr lang="en-US" sz="964" b="1" dirty="0">
                <a:solidFill>
                  <a:srgbClr val="1E3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</a:t>
            </a:r>
            <a:r>
              <a:rPr lang="en-US" sz="1286" b="1" dirty="0">
                <a:solidFill>
                  <a:srgbClr val="1E3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× (1 + σ</a:t>
            </a:r>
            <a:r>
              <a:rPr lang="en-US" sz="964" b="1" dirty="0">
                <a:solidFill>
                  <a:srgbClr val="1E3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</a:t>
            </a:r>
            <a:r>
              <a:rPr lang="en-US" sz="1286" b="1" dirty="0">
                <a:solidFill>
                  <a:srgbClr val="1E3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× α)</a:t>
            </a:r>
            <a:r>
              <a:rPr lang="en-US" sz="964" b="1" dirty="0">
                <a:solidFill>
                  <a:srgbClr val="1E3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-1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2214" y="2394857"/>
            <a:ext cx="5025571" cy="145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57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σ = volatility, α = sensitivity parameter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4286" y="2793885"/>
            <a:ext cx="5261429" cy="1016000"/>
          </a:xfrm>
          <a:custGeom>
            <a:avLst/>
            <a:gdLst/>
            <a:ahLst/>
            <a:cxnLst/>
            <a:rect l="l" t="t" r="r" b="b"/>
            <a:pathLst>
              <a:path w="5261429" h="1016000">
                <a:moveTo>
                  <a:pt x="72573" y="0"/>
                </a:moveTo>
                <a:lnTo>
                  <a:pt x="5188856" y="0"/>
                </a:lnTo>
                <a:cubicBezTo>
                  <a:pt x="5228937" y="0"/>
                  <a:pt x="5261429" y="32492"/>
                  <a:pt x="5261429" y="72573"/>
                </a:cubicBezTo>
                <a:lnTo>
                  <a:pt x="5261429" y="943427"/>
                </a:lnTo>
                <a:cubicBezTo>
                  <a:pt x="5261429" y="983508"/>
                  <a:pt x="5228937" y="1016000"/>
                  <a:pt x="5188856" y="1016000"/>
                </a:cubicBezTo>
                <a:lnTo>
                  <a:pt x="72573" y="1016000"/>
                </a:lnTo>
                <a:cubicBezTo>
                  <a:pt x="32492" y="1016000"/>
                  <a:pt x="0" y="983508"/>
                  <a:pt x="0" y="943427"/>
                </a:cubicBezTo>
                <a:lnTo>
                  <a:pt x="0" y="72573"/>
                </a:lnTo>
                <a:cubicBezTo>
                  <a:pt x="0" y="32519"/>
                  <a:pt x="32519" y="0"/>
                  <a:pt x="72573" y="0"/>
                </a:cubicBezTo>
                <a:close/>
              </a:path>
            </a:pathLst>
          </a:custGeom>
          <a:solidFill>
            <a:srgbClr val="C75B4A">
              <a:alpha val="5098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89429" y="2939028"/>
            <a:ext cx="5034643" cy="181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Momentum Update: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8607" y="3193028"/>
            <a:ext cx="505278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86" b="1" dirty="0">
                <a:solidFill>
                  <a:srgbClr val="C75B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</a:t>
            </a:r>
            <a:r>
              <a:rPr lang="en-US" sz="964" b="1" dirty="0">
                <a:solidFill>
                  <a:srgbClr val="C75B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</a:t>
            </a:r>
            <a:r>
              <a:rPr lang="en-US" sz="1286" b="1" dirty="0">
                <a:solidFill>
                  <a:srgbClr val="C75B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= β</a:t>
            </a:r>
            <a:r>
              <a:rPr lang="en-US" sz="964" b="1" dirty="0">
                <a:solidFill>
                  <a:srgbClr val="C75B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r>
              <a:rPr lang="en-US" sz="1286" b="1" dirty="0">
                <a:solidFill>
                  <a:srgbClr val="C75B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× m</a:t>
            </a:r>
            <a:r>
              <a:rPr lang="en-US" sz="964" b="1" dirty="0">
                <a:solidFill>
                  <a:srgbClr val="C75B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t-1</a:t>
            </a:r>
            <a:r>
              <a:rPr lang="en-US" sz="1286" b="1" dirty="0">
                <a:solidFill>
                  <a:srgbClr val="C75B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+ (1-β</a:t>
            </a:r>
            <a:r>
              <a:rPr lang="en-US" sz="964" b="1" dirty="0">
                <a:solidFill>
                  <a:srgbClr val="C75B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r>
              <a:rPr lang="en-US" sz="1286" b="1" dirty="0">
                <a:solidFill>
                  <a:srgbClr val="C75B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 × (g</a:t>
            </a:r>
            <a:r>
              <a:rPr lang="en-US" sz="964" b="1" dirty="0">
                <a:solidFill>
                  <a:srgbClr val="C75B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</a:t>
            </a:r>
            <a:r>
              <a:rPr lang="en-US" sz="1286" b="1" dirty="0">
                <a:solidFill>
                  <a:srgbClr val="C75B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× w</a:t>
            </a:r>
            <a:r>
              <a:rPr lang="en-US" sz="964" b="1" dirty="0">
                <a:solidFill>
                  <a:srgbClr val="C75B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risk</a:t>
            </a:r>
            <a:r>
              <a:rPr lang="en-US" sz="1286" b="1" dirty="0">
                <a:solidFill>
                  <a:srgbClr val="C75B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2214" y="3519599"/>
            <a:ext cx="5025571" cy="145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57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</a:t>
            </a:r>
            <a:r>
              <a:rPr lang="en-US" sz="643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risk</a:t>
            </a:r>
            <a:r>
              <a:rPr lang="en-US" sz="857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risk-adjusted weight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4286" y="3918636"/>
            <a:ext cx="5261429" cy="1016000"/>
          </a:xfrm>
          <a:custGeom>
            <a:avLst/>
            <a:gdLst/>
            <a:ahLst/>
            <a:cxnLst/>
            <a:rect l="l" t="t" r="r" b="b"/>
            <a:pathLst>
              <a:path w="5261429" h="1016000">
                <a:moveTo>
                  <a:pt x="72573" y="0"/>
                </a:moveTo>
                <a:lnTo>
                  <a:pt x="5188856" y="0"/>
                </a:lnTo>
                <a:cubicBezTo>
                  <a:pt x="5228937" y="0"/>
                  <a:pt x="5261429" y="32492"/>
                  <a:pt x="5261429" y="72573"/>
                </a:cubicBezTo>
                <a:lnTo>
                  <a:pt x="5261429" y="943427"/>
                </a:lnTo>
                <a:cubicBezTo>
                  <a:pt x="5261429" y="983508"/>
                  <a:pt x="5228937" y="1016000"/>
                  <a:pt x="5188856" y="1016000"/>
                </a:cubicBezTo>
                <a:lnTo>
                  <a:pt x="72573" y="1016000"/>
                </a:lnTo>
                <a:cubicBezTo>
                  <a:pt x="32492" y="1016000"/>
                  <a:pt x="0" y="983508"/>
                  <a:pt x="0" y="943427"/>
                </a:cubicBezTo>
                <a:lnTo>
                  <a:pt x="0" y="72573"/>
                </a:lnTo>
                <a:cubicBezTo>
                  <a:pt x="0" y="32519"/>
                  <a:pt x="32519" y="0"/>
                  <a:pt x="72573" y="0"/>
                </a:cubicBezTo>
                <a:close/>
              </a:path>
            </a:pathLst>
          </a:custGeom>
          <a:solidFill>
            <a:srgbClr val="4A90A4">
              <a:alpha val="5098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89429" y="4063779"/>
            <a:ext cx="5034643" cy="181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Parameter Update: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8607" y="4317779"/>
            <a:ext cx="505278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86" b="1" dirty="0">
                <a:solidFill>
                  <a:srgbClr val="4A90A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θ</a:t>
            </a:r>
            <a:r>
              <a:rPr lang="en-US" sz="964" b="1" dirty="0">
                <a:solidFill>
                  <a:srgbClr val="4A90A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</a:t>
            </a:r>
            <a:r>
              <a:rPr lang="en-US" sz="1286" b="1" dirty="0">
                <a:solidFill>
                  <a:srgbClr val="4A90A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= θ</a:t>
            </a:r>
            <a:r>
              <a:rPr lang="en-US" sz="964" b="1" dirty="0">
                <a:solidFill>
                  <a:srgbClr val="4A90A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t-1</a:t>
            </a:r>
            <a:r>
              <a:rPr lang="en-US" sz="1286" b="1" dirty="0">
                <a:solidFill>
                  <a:srgbClr val="4A90A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- η</a:t>
            </a:r>
            <a:r>
              <a:rPr lang="en-US" sz="964" b="1" dirty="0">
                <a:solidFill>
                  <a:srgbClr val="4A90A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</a:t>
            </a:r>
            <a:r>
              <a:rPr lang="en-US" sz="1286" b="1" dirty="0">
                <a:solidFill>
                  <a:srgbClr val="4A90A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× m</a:t>
            </a:r>
            <a:r>
              <a:rPr lang="en-US" sz="964" b="1" dirty="0">
                <a:solidFill>
                  <a:srgbClr val="4A90A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</a:t>
            </a:r>
            <a:r>
              <a:rPr lang="en-US" sz="1286" b="1" dirty="0">
                <a:solidFill>
                  <a:srgbClr val="4A90A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/ √(v</a:t>
            </a:r>
            <a:r>
              <a:rPr lang="en-US" sz="964" b="1" dirty="0">
                <a:solidFill>
                  <a:srgbClr val="4A90A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</a:t>
            </a:r>
            <a:r>
              <a:rPr lang="en-US" sz="1286" b="1" dirty="0">
                <a:solidFill>
                  <a:srgbClr val="4A90A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+ ε)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62214" y="4644350"/>
            <a:ext cx="5025571" cy="145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57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 = second moment estimate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62857" y="5256377"/>
            <a:ext cx="5533572" cy="1564885"/>
          </a:xfrm>
          <a:custGeom>
            <a:avLst/>
            <a:gdLst/>
            <a:ahLst/>
            <a:cxnLst/>
            <a:rect l="l" t="t" r="r" b="b"/>
            <a:pathLst>
              <a:path w="5624286" h="1596571">
                <a:moveTo>
                  <a:pt x="72564" y="0"/>
                </a:moveTo>
                <a:lnTo>
                  <a:pt x="5551722" y="0"/>
                </a:lnTo>
                <a:cubicBezTo>
                  <a:pt x="5591798" y="0"/>
                  <a:pt x="5624286" y="32488"/>
                  <a:pt x="5624286" y="72564"/>
                </a:cubicBezTo>
                <a:lnTo>
                  <a:pt x="5624286" y="1524007"/>
                </a:lnTo>
                <a:cubicBezTo>
                  <a:pt x="5624286" y="1564083"/>
                  <a:pt x="5591798" y="1596571"/>
                  <a:pt x="5551722" y="1596571"/>
                </a:cubicBezTo>
                <a:lnTo>
                  <a:pt x="72564" y="1596571"/>
                </a:lnTo>
                <a:cubicBezTo>
                  <a:pt x="32488" y="1596571"/>
                  <a:pt x="0" y="1564083"/>
                  <a:pt x="0" y="1524007"/>
                </a:cubicBezTo>
                <a:lnTo>
                  <a:pt x="0" y="72564"/>
                </a:lnTo>
                <a:cubicBezTo>
                  <a:pt x="0" y="32515"/>
                  <a:pt x="32515" y="0"/>
                  <a:pt x="72564" y="0"/>
                </a:cubicBezTo>
                <a:close/>
              </a:path>
            </a:pathLst>
          </a:custGeom>
          <a:solidFill>
            <a:srgbClr val="1E3A5F"/>
          </a:solidFill>
          <a:ln/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</p:sp>
      <p:sp>
        <p:nvSpPr>
          <p:cNvPr id="21" name="Text 19"/>
          <p:cNvSpPr/>
          <p:nvPr/>
        </p:nvSpPr>
        <p:spPr>
          <a:xfrm>
            <a:off x="508000" y="5406235"/>
            <a:ext cx="541564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6" b="1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It Outperforms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26143" y="5805378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23" name="Text 21"/>
          <p:cNvSpPr/>
          <p:nvPr/>
        </p:nvSpPr>
        <p:spPr>
          <a:xfrm>
            <a:off x="739321" y="5769092"/>
            <a:ext cx="4064000" cy="181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b="1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Volatility Awareness:</a:t>
            </a:r>
            <a:r>
              <a:rPr lang="en-US" sz="10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Reduces learning rate during high volatility periods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26143" y="6059378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25" name="Text 23"/>
          <p:cNvSpPr/>
          <p:nvPr/>
        </p:nvSpPr>
        <p:spPr>
          <a:xfrm>
            <a:off x="739321" y="6023092"/>
            <a:ext cx="2984500" cy="181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b="1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Risk Adjustment:</a:t>
            </a:r>
            <a:r>
              <a:rPr lang="en-US" sz="10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Weights gradients by risk exposure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26143" y="6313378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27" name="Text 25"/>
          <p:cNvSpPr/>
          <p:nvPr/>
        </p:nvSpPr>
        <p:spPr>
          <a:xfrm>
            <a:off x="739321" y="6277092"/>
            <a:ext cx="2676071" cy="181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b="1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Regime Detection:</a:t>
            </a:r>
            <a:r>
              <a:rPr lang="en-US" sz="10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Adapts to bull/bear markets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26143" y="6567378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29" name="Text 27"/>
          <p:cNvSpPr/>
          <p:nvPr/>
        </p:nvSpPr>
        <p:spPr>
          <a:xfrm>
            <a:off x="739321" y="6531092"/>
            <a:ext cx="2911929" cy="181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b="1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Faster Convergence:</a:t>
            </a:r>
            <a:r>
              <a:rPr lang="en-US" sz="10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40% improvement over Adam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204857" y="1088571"/>
            <a:ext cx="5624286" cy="3810000"/>
          </a:xfrm>
          <a:custGeom>
            <a:avLst/>
            <a:gdLst/>
            <a:ahLst/>
            <a:cxnLst/>
            <a:rect l="l" t="t" r="r" b="b"/>
            <a:pathLst>
              <a:path w="5624286" h="3810000">
                <a:moveTo>
                  <a:pt x="72581" y="0"/>
                </a:moveTo>
                <a:lnTo>
                  <a:pt x="5551705" y="0"/>
                </a:lnTo>
                <a:cubicBezTo>
                  <a:pt x="5591790" y="0"/>
                  <a:pt x="5624286" y="32495"/>
                  <a:pt x="5624286" y="72581"/>
                </a:cubicBezTo>
                <a:lnTo>
                  <a:pt x="5624286" y="3737420"/>
                </a:lnTo>
                <a:cubicBezTo>
                  <a:pt x="5624286" y="3777505"/>
                  <a:pt x="5591790" y="3810000"/>
                  <a:pt x="5551705" y="3810000"/>
                </a:cubicBezTo>
                <a:lnTo>
                  <a:pt x="72581" y="3810000"/>
                </a:lnTo>
                <a:cubicBezTo>
                  <a:pt x="32495" y="3810000"/>
                  <a:pt x="0" y="3777505"/>
                  <a:pt x="0" y="3737420"/>
                </a:cubicBezTo>
                <a:lnTo>
                  <a:pt x="0" y="72581"/>
                </a:lnTo>
                <a:cubicBezTo>
                  <a:pt x="0" y="32522"/>
                  <a:pt x="32522" y="0"/>
                  <a:pt x="72580" y="0"/>
                </a:cubicBezTo>
                <a:close/>
              </a:path>
            </a:pathLst>
          </a:custGeom>
          <a:solidFill>
            <a:srgbClr val="FFFFFF"/>
          </a:solidFill>
          <a:ln>
            <a:solidFill>
              <a:schemeClr val="tx1"/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4429" dist="36286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386286" y="1270000"/>
            <a:ext cx="535214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9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Optimization Flow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386286" y="1759742"/>
            <a:ext cx="362857" cy="362857"/>
          </a:xfrm>
          <a:custGeom>
            <a:avLst/>
            <a:gdLst/>
            <a:ahLst/>
            <a:cxnLst/>
            <a:rect l="l" t="t" r="r" b="b"/>
            <a:pathLst>
              <a:path w="362857" h="362857">
                <a:moveTo>
                  <a:pt x="181429" y="0"/>
                </a:moveTo>
                <a:lnTo>
                  <a:pt x="181429" y="0"/>
                </a:lnTo>
                <a:cubicBezTo>
                  <a:pt x="281562" y="0"/>
                  <a:pt x="362857" y="81295"/>
                  <a:pt x="362857" y="181429"/>
                </a:cubicBezTo>
                <a:lnTo>
                  <a:pt x="362857" y="181429"/>
                </a:lnTo>
                <a:cubicBezTo>
                  <a:pt x="362857" y="281562"/>
                  <a:pt x="281562" y="362857"/>
                  <a:pt x="181429" y="362857"/>
                </a:cubicBezTo>
                <a:lnTo>
                  <a:pt x="181429" y="362857"/>
                </a:lnTo>
                <a:cubicBezTo>
                  <a:pt x="81295" y="362857"/>
                  <a:pt x="0" y="281562"/>
                  <a:pt x="0" y="181429"/>
                </a:cubicBezTo>
                <a:lnTo>
                  <a:pt x="0" y="181429"/>
                </a:lnTo>
                <a:cubicBezTo>
                  <a:pt x="0" y="81295"/>
                  <a:pt x="81295" y="0"/>
                  <a:pt x="181429" y="0"/>
                </a:cubicBezTo>
                <a:close/>
              </a:path>
            </a:pathLst>
          </a:custGeom>
          <a:solidFill>
            <a:srgbClr val="1E3A5F"/>
          </a:solidFill>
          <a:ln/>
        </p:spPr>
      </p:sp>
      <p:sp>
        <p:nvSpPr>
          <p:cNvPr id="33" name="Text 31"/>
          <p:cNvSpPr/>
          <p:nvPr/>
        </p:nvSpPr>
        <p:spPr>
          <a:xfrm>
            <a:off x="6350000" y="1759742"/>
            <a:ext cx="435429" cy="362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43" b="1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1669143"/>
            <a:ext cx="4789714" cy="544286"/>
          </a:xfrm>
          <a:custGeom>
            <a:avLst/>
            <a:gdLst/>
            <a:ahLst/>
            <a:cxnLst/>
            <a:rect l="l" t="t" r="r" b="b"/>
            <a:pathLst>
              <a:path w="4789714" h="544286">
                <a:moveTo>
                  <a:pt x="36288" y="0"/>
                </a:moveTo>
                <a:lnTo>
                  <a:pt x="4753427" y="0"/>
                </a:lnTo>
                <a:cubicBezTo>
                  <a:pt x="4773468" y="0"/>
                  <a:pt x="4789714" y="16246"/>
                  <a:pt x="4789714" y="36288"/>
                </a:cubicBezTo>
                <a:lnTo>
                  <a:pt x="4789714" y="507998"/>
                </a:lnTo>
                <a:cubicBezTo>
                  <a:pt x="4789714" y="528039"/>
                  <a:pt x="4773468" y="544286"/>
                  <a:pt x="4753427" y="544286"/>
                </a:cubicBezTo>
                <a:lnTo>
                  <a:pt x="36288" y="544286"/>
                </a:lnTo>
                <a:cubicBezTo>
                  <a:pt x="16246" y="544286"/>
                  <a:pt x="0" y="528039"/>
                  <a:pt x="0" y="507998"/>
                </a:cubicBezTo>
                <a:lnTo>
                  <a:pt x="0" y="36288"/>
                </a:lnTo>
                <a:cubicBezTo>
                  <a:pt x="0" y="16260"/>
                  <a:pt x="16260" y="0"/>
                  <a:pt x="36288" y="0"/>
                </a:cubicBezTo>
                <a:close/>
              </a:path>
            </a:pathLst>
          </a:custGeom>
          <a:solidFill>
            <a:srgbClr val="1E3A5F">
              <a:alpha val="10196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6966857" y="1778000"/>
            <a:ext cx="4635500" cy="181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Compute Gradient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966857" y="1959429"/>
            <a:ext cx="4626429" cy="145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57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Calculate loss function gradient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962571" y="2285885"/>
            <a:ext cx="108857" cy="145143"/>
          </a:xfrm>
          <a:custGeom>
            <a:avLst/>
            <a:gdLst/>
            <a:ahLst/>
            <a:cxnLst/>
            <a:rect l="l" t="t" r="r" b="b"/>
            <a:pathLst>
              <a:path w="108857" h="145143">
                <a:moveTo>
                  <a:pt x="48022" y="142478"/>
                </a:moveTo>
                <a:cubicBezTo>
                  <a:pt x="51565" y="146022"/>
                  <a:pt x="57320" y="146022"/>
                  <a:pt x="60864" y="142478"/>
                </a:cubicBezTo>
                <a:lnTo>
                  <a:pt x="106221" y="97121"/>
                </a:lnTo>
                <a:cubicBezTo>
                  <a:pt x="109764" y="93577"/>
                  <a:pt x="109764" y="87823"/>
                  <a:pt x="106221" y="84279"/>
                </a:cubicBezTo>
                <a:cubicBezTo>
                  <a:pt x="102677" y="80736"/>
                  <a:pt x="96923" y="80736"/>
                  <a:pt x="93379" y="84279"/>
                </a:cubicBezTo>
                <a:lnTo>
                  <a:pt x="63500" y="114158"/>
                </a:lnTo>
                <a:lnTo>
                  <a:pt x="63500" y="9071"/>
                </a:lnTo>
                <a:cubicBezTo>
                  <a:pt x="63500" y="4054"/>
                  <a:pt x="59446" y="0"/>
                  <a:pt x="54429" y="0"/>
                </a:cubicBezTo>
                <a:cubicBezTo>
                  <a:pt x="49411" y="0"/>
                  <a:pt x="45357" y="4054"/>
                  <a:pt x="45357" y="9071"/>
                </a:cubicBezTo>
                <a:lnTo>
                  <a:pt x="45357" y="114158"/>
                </a:lnTo>
                <a:lnTo>
                  <a:pt x="15478" y="84279"/>
                </a:lnTo>
                <a:cubicBezTo>
                  <a:pt x="11935" y="80736"/>
                  <a:pt x="6180" y="80736"/>
                  <a:pt x="2636" y="84279"/>
                </a:cubicBezTo>
                <a:cubicBezTo>
                  <a:pt x="-907" y="87823"/>
                  <a:pt x="-907" y="93577"/>
                  <a:pt x="2636" y="97121"/>
                </a:cubicBezTo>
                <a:lnTo>
                  <a:pt x="47994" y="142478"/>
                </a:ln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38" name="Shape 36"/>
          <p:cNvSpPr/>
          <p:nvPr/>
        </p:nvSpPr>
        <p:spPr>
          <a:xfrm>
            <a:off x="6386286" y="2594207"/>
            <a:ext cx="362857" cy="362857"/>
          </a:xfrm>
          <a:custGeom>
            <a:avLst/>
            <a:gdLst/>
            <a:ahLst/>
            <a:cxnLst/>
            <a:rect l="l" t="t" r="r" b="b"/>
            <a:pathLst>
              <a:path w="362857" h="362857">
                <a:moveTo>
                  <a:pt x="181429" y="0"/>
                </a:moveTo>
                <a:lnTo>
                  <a:pt x="181429" y="0"/>
                </a:lnTo>
                <a:cubicBezTo>
                  <a:pt x="281562" y="0"/>
                  <a:pt x="362857" y="81295"/>
                  <a:pt x="362857" y="181429"/>
                </a:cubicBezTo>
                <a:lnTo>
                  <a:pt x="362857" y="181429"/>
                </a:lnTo>
                <a:cubicBezTo>
                  <a:pt x="362857" y="281562"/>
                  <a:pt x="281562" y="362857"/>
                  <a:pt x="181429" y="362857"/>
                </a:cubicBezTo>
                <a:lnTo>
                  <a:pt x="181429" y="362857"/>
                </a:lnTo>
                <a:cubicBezTo>
                  <a:pt x="81295" y="362857"/>
                  <a:pt x="0" y="281562"/>
                  <a:pt x="0" y="181429"/>
                </a:cubicBezTo>
                <a:lnTo>
                  <a:pt x="0" y="181429"/>
                </a:lnTo>
                <a:cubicBezTo>
                  <a:pt x="0" y="81295"/>
                  <a:pt x="81295" y="0"/>
                  <a:pt x="181429" y="0"/>
                </a:cubicBez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39" name="Text 37"/>
          <p:cNvSpPr/>
          <p:nvPr/>
        </p:nvSpPr>
        <p:spPr>
          <a:xfrm>
            <a:off x="6350000" y="2594207"/>
            <a:ext cx="435429" cy="362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43" b="1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858000" y="2503599"/>
            <a:ext cx="4789714" cy="544286"/>
          </a:xfrm>
          <a:custGeom>
            <a:avLst/>
            <a:gdLst/>
            <a:ahLst/>
            <a:cxnLst/>
            <a:rect l="l" t="t" r="r" b="b"/>
            <a:pathLst>
              <a:path w="4789714" h="544286">
                <a:moveTo>
                  <a:pt x="36288" y="0"/>
                </a:moveTo>
                <a:lnTo>
                  <a:pt x="4753427" y="0"/>
                </a:lnTo>
                <a:cubicBezTo>
                  <a:pt x="4773468" y="0"/>
                  <a:pt x="4789714" y="16246"/>
                  <a:pt x="4789714" y="36288"/>
                </a:cubicBezTo>
                <a:lnTo>
                  <a:pt x="4789714" y="507998"/>
                </a:lnTo>
                <a:cubicBezTo>
                  <a:pt x="4789714" y="528039"/>
                  <a:pt x="4773468" y="544286"/>
                  <a:pt x="4753427" y="544286"/>
                </a:cubicBezTo>
                <a:lnTo>
                  <a:pt x="36288" y="544286"/>
                </a:lnTo>
                <a:cubicBezTo>
                  <a:pt x="16246" y="544286"/>
                  <a:pt x="0" y="528039"/>
                  <a:pt x="0" y="507998"/>
                </a:cubicBezTo>
                <a:lnTo>
                  <a:pt x="0" y="36288"/>
                </a:lnTo>
                <a:cubicBezTo>
                  <a:pt x="0" y="16260"/>
                  <a:pt x="16260" y="0"/>
                  <a:pt x="36288" y="0"/>
                </a:cubicBezTo>
                <a:close/>
              </a:path>
            </a:pathLst>
          </a:custGeom>
          <a:solidFill>
            <a:srgbClr val="C75B4A">
              <a:alpha val="10196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6966857" y="2612456"/>
            <a:ext cx="4635500" cy="181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Risk Weighting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966857" y="2793885"/>
            <a:ext cx="4626429" cy="145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57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Apply volatility-based risk adjustment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962571" y="3120350"/>
            <a:ext cx="108857" cy="145143"/>
          </a:xfrm>
          <a:custGeom>
            <a:avLst/>
            <a:gdLst/>
            <a:ahLst/>
            <a:cxnLst/>
            <a:rect l="l" t="t" r="r" b="b"/>
            <a:pathLst>
              <a:path w="108857" h="145143">
                <a:moveTo>
                  <a:pt x="48022" y="142478"/>
                </a:moveTo>
                <a:cubicBezTo>
                  <a:pt x="51565" y="146022"/>
                  <a:pt x="57320" y="146022"/>
                  <a:pt x="60864" y="142478"/>
                </a:cubicBezTo>
                <a:lnTo>
                  <a:pt x="106221" y="97121"/>
                </a:lnTo>
                <a:cubicBezTo>
                  <a:pt x="109764" y="93577"/>
                  <a:pt x="109764" y="87823"/>
                  <a:pt x="106221" y="84279"/>
                </a:cubicBezTo>
                <a:cubicBezTo>
                  <a:pt x="102677" y="80736"/>
                  <a:pt x="96923" y="80736"/>
                  <a:pt x="93379" y="84279"/>
                </a:cubicBezTo>
                <a:lnTo>
                  <a:pt x="63500" y="114158"/>
                </a:lnTo>
                <a:lnTo>
                  <a:pt x="63500" y="9071"/>
                </a:lnTo>
                <a:cubicBezTo>
                  <a:pt x="63500" y="4054"/>
                  <a:pt x="59446" y="0"/>
                  <a:pt x="54429" y="0"/>
                </a:cubicBezTo>
                <a:cubicBezTo>
                  <a:pt x="49411" y="0"/>
                  <a:pt x="45357" y="4054"/>
                  <a:pt x="45357" y="9071"/>
                </a:cubicBezTo>
                <a:lnTo>
                  <a:pt x="45357" y="114158"/>
                </a:lnTo>
                <a:lnTo>
                  <a:pt x="15478" y="84279"/>
                </a:lnTo>
                <a:cubicBezTo>
                  <a:pt x="11935" y="80736"/>
                  <a:pt x="6180" y="80736"/>
                  <a:pt x="2636" y="84279"/>
                </a:cubicBezTo>
                <a:cubicBezTo>
                  <a:pt x="-907" y="87823"/>
                  <a:pt x="-907" y="93577"/>
                  <a:pt x="2636" y="97121"/>
                </a:cubicBezTo>
                <a:lnTo>
                  <a:pt x="47994" y="142478"/>
                </a:ln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44" name="Shape 42"/>
          <p:cNvSpPr/>
          <p:nvPr/>
        </p:nvSpPr>
        <p:spPr>
          <a:xfrm>
            <a:off x="6386286" y="3428663"/>
            <a:ext cx="362857" cy="362857"/>
          </a:xfrm>
          <a:custGeom>
            <a:avLst/>
            <a:gdLst/>
            <a:ahLst/>
            <a:cxnLst/>
            <a:rect l="l" t="t" r="r" b="b"/>
            <a:pathLst>
              <a:path w="362857" h="362857">
                <a:moveTo>
                  <a:pt x="181429" y="0"/>
                </a:moveTo>
                <a:lnTo>
                  <a:pt x="181429" y="0"/>
                </a:lnTo>
                <a:cubicBezTo>
                  <a:pt x="281562" y="0"/>
                  <a:pt x="362857" y="81295"/>
                  <a:pt x="362857" y="181429"/>
                </a:cubicBezTo>
                <a:lnTo>
                  <a:pt x="362857" y="181429"/>
                </a:lnTo>
                <a:cubicBezTo>
                  <a:pt x="362857" y="281562"/>
                  <a:pt x="281562" y="362857"/>
                  <a:pt x="181429" y="362857"/>
                </a:cubicBezTo>
                <a:lnTo>
                  <a:pt x="181429" y="362857"/>
                </a:lnTo>
                <a:cubicBezTo>
                  <a:pt x="81295" y="362857"/>
                  <a:pt x="0" y="281562"/>
                  <a:pt x="0" y="181429"/>
                </a:cubicBezTo>
                <a:lnTo>
                  <a:pt x="0" y="181429"/>
                </a:lnTo>
                <a:cubicBezTo>
                  <a:pt x="0" y="81295"/>
                  <a:pt x="81295" y="0"/>
                  <a:pt x="181429" y="0"/>
                </a:cubicBezTo>
                <a:close/>
              </a:path>
            </a:pathLst>
          </a:custGeom>
          <a:solidFill>
            <a:srgbClr val="4A90A4"/>
          </a:solidFill>
          <a:ln/>
        </p:spPr>
      </p:sp>
      <p:sp>
        <p:nvSpPr>
          <p:cNvPr id="45" name="Text 43"/>
          <p:cNvSpPr/>
          <p:nvPr/>
        </p:nvSpPr>
        <p:spPr>
          <a:xfrm>
            <a:off x="6350000" y="3428663"/>
            <a:ext cx="435429" cy="362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43" b="1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858000" y="3338064"/>
            <a:ext cx="4789714" cy="544286"/>
          </a:xfrm>
          <a:custGeom>
            <a:avLst/>
            <a:gdLst/>
            <a:ahLst/>
            <a:cxnLst/>
            <a:rect l="l" t="t" r="r" b="b"/>
            <a:pathLst>
              <a:path w="4789714" h="544286">
                <a:moveTo>
                  <a:pt x="36288" y="0"/>
                </a:moveTo>
                <a:lnTo>
                  <a:pt x="4753427" y="0"/>
                </a:lnTo>
                <a:cubicBezTo>
                  <a:pt x="4773468" y="0"/>
                  <a:pt x="4789714" y="16246"/>
                  <a:pt x="4789714" y="36288"/>
                </a:cubicBezTo>
                <a:lnTo>
                  <a:pt x="4789714" y="507998"/>
                </a:lnTo>
                <a:cubicBezTo>
                  <a:pt x="4789714" y="528039"/>
                  <a:pt x="4773468" y="544286"/>
                  <a:pt x="4753427" y="544286"/>
                </a:cubicBezTo>
                <a:lnTo>
                  <a:pt x="36288" y="544286"/>
                </a:lnTo>
                <a:cubicBezTo>
                  <a:pt x="16246" y="544286"/>
                  <a:pt x="0" y="528039"/>
                  <a:pt x="0" y="507998"/>
                </a:cubicBezTo>
                <a:lnTo>
                  <a:pt x="0" y="36288"/>
                </a:lnTo>
                <a:cubicBezTo>
                  <a:pt x="0" y="16260"/>
                  <a:pt x="16260" y="0"/>
                  <a:pt x="36288" y="0"/>
                </a:cubicBezTo>
                <a:close/>
              </a:path>
            </a:pathLst>
          </a:custGeom>
          <a:solidFill>
            <a:srgbClr val="4A90A4">
              <a:alpha val="10196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6966857" y="3446921"/>
            <a:ext cx="4635500" cy="181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Adaptive LR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966857" y="3628350"/>
            <a:ext cx="4626429" cy="145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57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Adjust learning rate based on market regime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8962571" y="3954806"/>
            <a:ext cx="108857" cy="145143"/>
          </a:xfrm>
          <a:custGeom>
            <a:avLst/>
            <a:gdLst/>
            <a:ahLst/>
            <a:cxnLst/>
            <a:rect l="l" t="t" r="r" b="b"/>
            <a:pathLst>
              <a:path w="108857" h="145143">
                <a:moveTo>
                  <a:pt x="48022" y="142478"/>
                </a:moveTo>
                <a:cubicBezTo>
                  <a:pt x="51565" y="146022"/>
                  <a:pt x="57320" y="146022"/>
                  <a:pt x="60864" y="142478"/>
                </a:cubicBezTo>
                <a:lnTo>
                  <a:pt x="106221" y="97121"/>
                </a:lnTo>
                <a:cubicBezTo>
                  <a:pt x="109764" y="93577"/>
                  <a:pt x="109764" y="87823"/>
                  <a:pt x="106221" y="84279"/>
                </a:cubicBezTo>
                <a:cubicBezTo>
                  <a:pt x="102677" y="80736"/>
                  <a:pt x="96923" y="80736"/>
                  <a:pt x="93379" y="84279"/>
                </a:cubicBezTo>
                <a:lnTo>
                  <a:pt x="63500" y="114158"/>
                </a:lnTo>
                <a:lnTo>
                  <a:pt x="63500" y="9071"/>
                </a:lnTo>
                <a:cubicBezTo>
                  <a:pt x="63500" y="4054"/>
                  <a:pt x="59446" y="0"/>
                  <a:pt x="54429" y="0"/>
                </a:cubicBezTo>
                <a:cubicBezTo>
                  <a:pt x="49411" y="0"/>
                  <a:pt x="45357" y="4054"/>
                  <a:pt x="45357" y="9071"/>
                </a:cubicBezTo>
                <a:lnTo>
                  <a:pt x="45357" y="114158"/>
                </a:lnTo>
                <a:lnTo>
                  <a:pt x="15478" y="84279"/>
                </a:lnTo>
                <a:cubicBezTo>
                  <a:pt x="11935" y="80736"/>
                  <a:pt x="6180" y="80736"/>
                  <a:pt x="2636" y="84279"/>
                </a:cubicBezTo>
                <a:cubicBezTo>
                  <a:pt x="-907" y="87823"/>
                  <a:pt x="-907" y="93577"/>
                  <a:pt x="2636" y="97121"/>
                </a:cubicBezTo>
                <a:lnTo>
                  <a:pt x="47994" y="142478"/>
                </a:ln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50" name="Shape 48"/>
          <p:cNvSpPr/>
          <p:nvPr/>
        </p:nvSpPr>
        <p:spPr>
          <a:xfrm>
            <a:off x="6386286" y="4263120"/>
            <a:ext cx="362857" cy="362857"/>
          </a:xfrm>
          <a:custGeom>
            <a:avLst/>
            <a:gdLst/>
            <a:ahLst/>
            <a:cxnLst/>
            <a:rect l="l" t="t" r="r" b="b"/>
            <a:pathLst>
              <a:path w="362857" h="362857">
                <a:moveTo>
                  <a:pt x="181429" y="0"/>
                </a:moveTo>
                <a:lnTo>
                  <a:pt x="181429" y="0"/>
                </a:lnTo>
                <a:cubicBezTo>
                  <a:pt x="281562" y="0"/>
                  <a:pt x="362857" y="81295"/>
                  <a:pt x="362857" y="181429"/>
                </a:cubicBezTo>
                <a:lnTo>
                  <a:pt x="362857" y="181429"/>
                </a:lnTo>
                <a:cubicBezTo>
                  <a:pt x="362857" y="281562"/>
                  <a:pt x="281562" y="362857"/>
                  <a:pt x="181429" y="362857"/>
                </a:cubicBezTo>
                <a:lnTo>
                  <a:pt x="181429" y="362857"/>
                </a:lnTo>
                <a:cubicBezTo>
                  <a:pt x="81295" y="362857"/>
                  <a:pt x="0" y="281562"/>
                  <a:pt x="0" y="181429"/>
                </a:cubicBezTo>
                <a:lnTo>
                  <a:pt x="0" y="181429"/>
                </a:lnTo>
                <a:cubicBezTo>
                  <a:pt x="0" y="81295"/>
                  <a:pt x="81295" y="0"/>
                  <a:pt x="181429" y="0"/>
                </a:cubicBezTo>
                <a:close/>
              </a:path>
            </a:pathLst>
          </a:custGeom>
          <a:solidFill>
            <a:srgbClr val="1E3A5F"/>
          </a:solidFill>
          <a:ln/>
        </p:spPr>
      </p:sp>
      <p:sp>
        <p:nvSpPr>
          <p:cNvPr id="51" name="Text 49"/>
          <p:cNvSpPr/>
          <p:nvPr/>
        </p:nvSpPr>
        <p:spPr>
          <a:xfrm>
            <a:off x="6350000" y="4263120"/>
            <a:ext cx="435429" cy="362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43" b="1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858000" y="4172521"/>
            <a:ext cx="4789714" cy="544286"/>
          </a:xfrm>
          <a:custGeom>
            <a:avLst/>
            <a:gdLst/>
            <a:ahLst/>
            <a:cxnLst/>
            <a:rect l="l" t="t" r="r" b="b"/>
            <a:pathLst>
              <a:path w="4789714" h="544286">
                <a:moveTo>
                  <a:pt x="36288" y="0"/>
                </a:moveTo>
                <a:lnTo>
                  <a:pt x="4753427" y="0"/>
                </a:lnTo>
                <a:cubicBezTo>
                  <a:pt x="4773468" y="0"/>
                  <a:pt x="4789714" y="16246"/>
                  <a:pt x="4789714" y="36288"/>
                </a:cubicBezTo>
                <a:lnTo>
                  <a:pt x="4789714" y="507998"/>
                </a:lnTo>
                <a:cubicBezTo>
                  <a:pt x="4789714" y="528039"/>
                  <a:pt x="4773468" y="544286"/>
                  <a:pt x="4753427" y="544286"/>
                </a:cubicBezTo>
                <a:lnTo>
                  <a:pt x="36288" y="544286"/>
                </a:lnTo>
                <a:cubicBezTo>
                  <a:pt x="16246" y="544286"/>
                  <a:pt x="0" y="528039"/>
                  <a:pt x="0" y="507998"/>
                </a:cubicBezTo>
                <a:lnTo>
                  <a:pt x="0" y="36288"/>
                </a:lnTo>
                <a:cubicBezTo>
                  <a:pt x="0" y="16260"/>
                  <a:pt x="16260" y="0"/>
                  <a:pt x="36288" y="0"/>
                </a:cubicBezTo>
                <a:close/>
              </a:path>
            </a:pathLst>
          </a:custGeom>
          <a:solidFill>
            <a:srgbClr val="1E3A5F">
              <a:alpha val="10196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6966857" y="4281378"/>
            <a:ext cx="4635500" cy="181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Parameter Update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6966857" y="4462806"/>
            <a:ext cx="4626429" cy="145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57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Apply momentum-based parameter update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204857" y="5024408"/>
            <a:ext cx="5624286" cy="1669259"/>
          </a:xfrm>
          <a:custGeom>
            <a:avLst/>
            <a:gdLst/>
            <a:ahLst/>
            <a:cxnLst/>
            <a:rect l="l" t="t" r="r" b="b"/>
            <a:pathLst>
              <a:path w="5624286" h="1778000">
                <a:moveTo>
                  <a:pt x="72578" y="0"/>
                </a:moveTo>
                <a:lnTo>
                  <a:pt x="5551708" y="0"/>
                </a:lnTo>
                <a:cubicBezTo>
                  <a:pt x="5591791" y="0"/>
                  <a:pt x="5624286" y="32494"/>
                  <a:pt x="5624286" y="72578"/>
                </a:cubicBezTo>
                <a:lnTo>
                  <a:pt x="5624286" y="1705422"/>
                </a:lnTo>
                <a:cubicBezTo>
                  <a:pt x="5624286" y="1745506"/>
                  <a:pt x="5591791" y="1778000"/>
                  <a:pt x="5551708" y="1778000"/>
                </a:cubicBezTo>
                <a:lnTo>
                  <a:pt x="72578" y="1778000"/>
                </a:lnTo>
                <a:cubicBezTo>
                  <a:pt x="32494" y="1778000"/>
                  <a:pt x="0" y="1745506"/>
                  <a:pt x="0" y="1705422"/>
                </a:cubicBezTo>
                <a:lnTo>
                  <a:pt x="0" y="72578"/>
                </a:lnTo>
                <a:cubicBezTo>
                  <a:pt x="0" y="32521"/>
                  <a:pt x="32521" y="0"/>
                  <a:pt x="72578" y="0"/>
                </a:cubicBezTo>
                <a:close/>
              </a:path>
            </a:pathLst>
          </a:custGeom>
          <a:solidFill>
            <a:srgbClr val="FFFFFF"/>
          </a:solidFill>
          <a:ln>
            <a:solidFill>
              <a:schemeClr val="tx1"/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4429" dist="36286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6350000" y="5188405"/>
            <a:ext cx="541564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6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Hyperparameters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350000" y="5551262"/>
            <a:ext cx="2612571" cy="508000"/>
          </a:xfrm>
          <a:custGeom>
            <a:avLst/>
            <a:gdLst/>
            <a:ahLst/>
            <a:cxnLst/>
            <a:rect l="l" t="t" r="r" b="b"/>
            <a:pathLst>
              <a:path w="2612571" h="508000">
                <a:moveTo>
                  <a:pt x="36286" y="0"/>
                </a:moveTo>
                <a:lnTo>
                  <a:pt x="2576285" y="0"/>
                </a:lnTo>
                <a:cubicBezTo>
                  <a:pt x="2596325" y="0"/>
                  <a:pt x="2612571" y="16246"/>
                  <a:pt x="2612571" y="36286"/>
                </a:cubicBezTo>
                <a:lnTo>
                  <a:pt x="2612571" y="471714"/>
                </a:lnTo>
                <a:cubicBezTo>
                  <a:pt x="2612571" y="491754"/>
                  <a:pt x="2596325" y="508000"/>
                  <a:pt x="2576285" y="508000"/>
                </a:cubicBezTo>
                <a:lnTo>
                  <a:pt x="36286" y="508000"/>
                </a:lnTo>
                <a:cubicBezTo>
                  <a:pt x="16246" y="508000"/>
                  <a:pt x="0" y="491754"/>
                  <a:pt x="0" y="471714"/>
                </a:cubicBezTo>
                <a:lnTo>
                  <a:pt x="0" y="36286"/>
                </a:lnTo>
                <a:cubicBezTo>
                  <a:pt x="0" y="16259"/>
                  <a:pt x="16259" y="0"/>
                  <a:pt x="36286" y="0"/>
                </a:cubicBezTo>
                <a:close/>
              </a:path>
            </a:pathLst>
          </a:custGeom>
          <a:solidFill>
            <a:srgbClr val="1E3A5F">
              <a:alpha val="5098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6395357" y="5623834"/>
            <a:ext cx="2521857" cy="145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57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Initial LR (η₀)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6386286" y="5768862"/>
            <a:ext cx="2540000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43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0.001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9071429" y="5551262"/>
            <a:ext cx="2612571" cy="508000"/>
          </a:xfrm>
          <a:custGeom>
            <a:avLst/>
            <a:gdLst/>
            <a:ahLst/>
            <a:cxnLst/>
            <a:rect l="l" t="t" r="r" b="b"/>
            <a:pathLst>
              <a:path w="2612571" h="508000">
                <a:moveTo>
                  <a:pt x="36286" y="0"/>
                </a:moveTo>
                <a:lnTo>
                  <a:pt x="2576285" y="0"/>
                </a:lnTo>
                <a:cubicBezTo>
                  <a:pt x="2596325" y="0"/>
                  <a:pt x="2612571" y="16246"/>
                  <a:pt x="2612571" y="36286"/>
                </a:cubicBezTo>
                <a:lnTo>
                  <a:pt x="2612571" y="471714"/>
                </a:lnTo>
                <a:cubicBezTo>
                  <a:pt x="2612571" y="491754"/>
                  <a:pt x="2596325" y="508000"/>
                  <a:pt x="2576285" y="508000"/>
                </a:cubicBezTo>
                <a:lnTo>
                  <a:pt x="36286" y="508000"/>
                </a:lnTo>
                <a:cubicBezTo>
                  <a:pt x="16246" y="508000"/>
                  <a:pt x="0" y="491754"/>
                  <a:pt x="0" y="471714"/>
                </a:cubicBezTo>
                <a:lnTo>
                  <a:pt x="0" y="36286"/>
                </a:lnTo>
                <a:cubicBezTo>
                  <a:pt x="0" y="16259"/>
                  <a:pt x="16259" y="0"/>
                  <a:pt x="36286" y="0"/>
                </a:cubicBezTo>
                <a:close/>
              </a:path>
            </a:pathLst>
          </a:custGeom>
          <a:solidFill>
            <a:srgbClr val="C75B4A">
              <a:alpha val="5098"/>
            </a:srgbClr>
          </a:solidFill>
          <a:ln/>
        </p:spPr>
      </p:sp>
      <p:sp>
        <p:nvSpPr>
          <p:cNvPr id="61" name="Text 59"/>
          <p:cNvSpPr/>
          <p:nvPr/>
        </p:nvSpPr>
        <p:spPr>
          <a:xfrm>
            <a:off x="9116786" y="5623834"/>
            <a:ext cx="2521857" cy="145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57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Beta 1 (β₁)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9107714" y="5768862"/>
            <a:ext cx="2540000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43" b="1" dirty="0">
                <a:solidFill>
                  <a:srgbClr val="C75B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0.9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6350000" y="6168004"/>
            <a:ext cx="2612571" cy="508000"/>
          </a:xfrm>
          <a:custGeom>
            <a:avLst/>
            <a:gdLst/>
            <a:ahLst/>
            <a:cxnLst/>
            <a:rect l="l" t="t" r="r" b="b"/>
            <a:pathLst>
              <a:path w="2612571" h="508000">
                <a:moveTo>
                  <a:pt x="36286" y="0"/>
                </a:moveTo>
                <a:lnTo>
                  <a:pt x="2576285" y="0"/>
                </a:lnTo>
                <a:cubicBezTo>
                  <a:pt x="2596325" y="0"/>
                  <a:pt x="2612571" y="16246"/>
                  <a:pt x="2612571" y="36286"/>
                </a:cubicBezTo>
                <a:lnTo>
                  <a:pt x="2612571" y="471714"/>
                </a:lnTo>
                <a:cubicBezTo>
                  <a:pt x="2612571" y="491754"/>
                  <a:pt x="2596325" y="508000"/>
                  <a:pt x="2576285" y="508000"/>
                </a:cubicBezTo>
                <a:lnTo>
                  <a:pt x="36286" y="508000"/>
                </a:lnTo>
                <a:cubicBezTo>
                  <a:pt x="16246" y="508000"/>
                  <a:pt x="0" y="491754"/>
                  <a:pt x="0" y="471714"/>
                </a:cubicBezTo>
                <a:lnTo>
                  <a:pt x="0" y="36286"/>
                </a:lnTo>
                <a:cubicBezTo>
                  <a:pt x="0" y="16259"/>
                  <a:pt x="16259" y="0"/>
                  <a:pt x="36286" y="0"/>
                </a:cubicBezTo>
                <a:close/>
              </a:path>
            </a:pathLst>
          </a:custGeom>
          <a:solidFill>
            <a:srgbClr val="4A90A4">
              <a:alpha val="5098"/>
            </a:srgbClr>
          </a:solidFill>
          <a:ln/>
        </p:spPr>
      </p:sp>
      <p:sp>
        <p:nvSpPr>
          <p:cNvPr id="64" name="Text 62"/>
          <p:cNvSpPr/>
          <p:nvPr/>
        </p:nvSpPr>
        <p:spPr>
          <a:xfrm>
            <a:off x="6395357" y="6240576"/>
            <a:ext cx="2521857" cy="145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57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Beta 2 (β₂)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6386286" y="6385604"/>
            <a:ext cx="2540000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43" b="1" dirty="0">
                <a:solidFill>
                  <a:srgbClr val="4A90A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0.999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9071429" y="6168004"/>
            <a:ext cx="2612571" cy="508000"/>
          </a:xfrm>
          <a:custGeom>
            <a:avLst/>
            <a:gdLst/>
            <a:ahLst/>
            <a:cxnLst/>
            <a:rect l="l" t="t" r="r" b="b"/>
            <a:pathLst>
              <a:path w="2612571" h="508000">
                <a:moveTo>
                  <a:pt x="36286" y="0"/>
                </a:moveTo>
                <a:lnTo>
                  <a:pt x="2576285" y="0"/>
                </a:lnTo>
                <a:cubicBezTo>
                  <a:pt x="2596325" y="0"/>
                  <a:pt x="2612571" y="16246"/>
                  <a:pt x="2612571" y="36286"/>
                </a:cubicBezTo>
                <a:lnTo>
                  <a:pt x="2612571" y="471714"/>
                </a:lnTo>
                <a:cubicBezTo>
                  <a:pt x="2612571" y="491754"/>
                  <a:pt x="2596325" y="508000"/>
                  <a:pt x="2576285" y="508000"/>
                </a:cubicBezTo>
                <a:lnTo>
                  <a:pt x="36286" y="508000"/>
                </a:lnTo>
                <a:cubicBezTo>
                  <a:pt x="16246" y="508000"/>
                  <a:pt x="0" y="491754"/>
                  <a:pt x="0" y="471714"/>
                </a:cubicBezTo>
                <a:lnTo>
                  <a:pt x="0" y="36286"/>
                </a:lnTo>
                <a:cubicBezTo>
                  <a:pt x="0" y="16259"/>
                  <a:pt x="16259" y="0"/>
                  <a:pt x="36286" y="0"/>
                </a:cubicBezTo>
                <a:close/>
              </a:path>
            </a:pathLst>
          </a:custGeom>
          <a:solidFill>
            <a:srgbClr val="1E3A5F">
              <a:alpha val="5098"/>
            </a:srgbClr>
          </a:solidFill>
          <a:ln/>
        </p:spPr>
      </p:sp>
      <p:sp>
        <p:nvSpPr>
          <p:cNvPr id="67" name="Text 65"/>
          <p:cNvSpPr/>
          <p:nvPr/>
        </p:nvSpPr>
        <p:spPr>
          <a:xfrm>
            <a:off x="9116786" y="6240576"/>
            <a:ext cx="2521857" cy="145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57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Sensitivity (α)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9107714" y="6385604"/>
            <a:ext cx="2540000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43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0.5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500" y="317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63500" y="0"/>
                </a:moveTo>
                <a:lnTo>
                  <a:pt x="444500" y="0"/>
                </a:lnTo>
                <a:cubicBezTo>
                  <a:pt x="479547" y="0"/>
                  <a:pt x="508000" y="28453"/>
                  <a:pt x="508000" y="63500"/>
                </a:cubicBezTo>
                <a:lnTo>
                  <a:pt x="508000" y="444500"/>
                </a:lnTo>
                <a:cubicBezTo>
                  <a:pt x="508000" y="479547"/>
                  <a:pt x="479547" y="508000"/>
                  <a:pt x="444500" y="508000"/>
                </a:cubicBezTo>
                <a:lnTo>
                  <a:pt x="63500" y="508000"/>
                </a:lnTo>
                <a:cubicBezTo>
                  <a:pt x="28453" y="508000"/>
                  <a:pt x="0" y="479547"/>
                  <a:pt x="0" y="444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FF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4025" y="428625"/>
            <a:ext cx="35718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52500" y="333375"/>
            <a:ext cx="3055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kern="0" spc="44" dirty="0">
                <a:solidFill>
                  <a:srgbClr val="C75B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PROPOSED CLASSIFIER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52500" y="492125"/>
            <a:ext cx="314325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Classification Approach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17500" y="952500"/>
            <a:ext cx="5683250" cy="3683000"/>
          </a:xfrm>
          <a:custGeom>
            <a:avLst/>
            <a:gdLst/>
            <a:ahLst/>
            <a:cxnLst/>
            <a:rect l="l" t="t" r="r" b="b"/>
            <a:pathLst>
              <a:path w="5683250" h="3683000">
                <a:moveTo>
                  <a:pt x="63495" y="0"/>
                </a:moveTo>
                <a:lnTo>
                  <a:pt x="5619755" y="0"/>
                </a:lnTo>
                <a:cubicBezTo>
                  <a:pt x="5654822" y="0"/>
                  <a:pt x="5683250" y="28428"/>
                  <a:pt x="5683250" y="63495"/>
                </a:cubicBezTo>
                <a:lnTo>
                  <a:pt x="5683250" y="3619505"/>
                </a:lnTo>
                <a:cubicBezTo>
                  <a:pt x="5683250" y="3654572"/>
                  <a:pt x="5654822" y="3683000"/>
                  <a:pt x="5619755" y="3683000"/>
                </a:cubicBezTo>
                <a:lnTo>
                  <a:pt x="63495" y="3683000"/>
                </a:lnTo>
                <a:cubicBezTo>
                  <a:pt x="28428" y="3683000"/>
                  <a:pt x="0" y="3654572"/>
                  <a:pt x="0" y="3619505"/>
                </a:cubicBezTo>
                <a:lnTo>
                  <a:pt x="0" y="63495"/>
                </a:lnTo>
                <a:cubicBezTo>
                  <a:pt x="0" y="28451"/>
                  <a:pt x="28451" y="0"/>
                  <a:pt x="63495" y="0"/>
                </a:cubicBezTo>
                <a:close/>
              </a:path>
            </a:pathLst>
          </a:custGeom>
          <a:solidFill>
            <a:srgbClr val="FFFFFF"/>
          </a:solidFill>
          <a:ln>
            <a:solidFill>
              <a:schemeClr val="tx1"/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47625" dist="317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6250" y="1111250"/>
            <a:ext cx="5445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Binary Classification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76250" y="1460500"/>
            <a:ext cx="5429250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Generates Buy/Sell signals based on BSI thresholds and Monte Carlo win probability: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82600" y="1800225"/>
            <a:ext cx="5354637" cy="1282700"/>
          </a:xfrm>
          <a:custGeom>
            <a:avLst/>
            <a:gdLst/>
            <a:ahLst/>
            <a:cxnLst/>
            <a:rect l="l" t="t" r="r" b="b"/>
            <a:pathLst>
              <a:path w="5354637" h="1282700">
                <a:moveTo>
                  <a:pt x="63494" y="0"/>
                </a:moveTo>
                <a:lnTo>
                  <a:pt x="5291144" y="0"/>
                </a:lnTo>
                <a:cubicBezTo>
                  <a:pt x="5326210" y="0"/>
                  <a:pt x="5354637" y="28427"/>
                  <a:pt x="5354637" y="63494"/>
                </a:cubicBezTo>
                <a:lnTo>
                  <a:pt x="5354637" y="1219206"/>
                </a:lnTo>
                <a:cubicBezTo>
                  <a:pt x="5354637" y="1254273"/>
                  <a:pt x="5326210" y="1282700"/>
                  <a:pt x="5291144" y="1282700"/>
                </a:cubicBezTo>
                <a:lnTo>
                  <a:pt x="63494" y="1282700"/>
                </a:lnTo>
                <a:cubicBezTo>
                  <a:pt x="28427" y="1282700"/>
                  <a:pt x="0" y="1254273"/>
                  <a:pt x="0" y="1219206"/>
                </a:cubicBezTo>
                <a:lnTo>
                  <a:pt x="0" y="63494"/>
                </a:lnTo>
                <a:cubicBezTo>
                  <a:pt x="0" y="28451"/>
                  <a:pt x="28451" y="0"/>
                  <a:pt x="63494" y="0"/>
                </a:cubicBezTo>
                <a:close/>
              </a:path>
            </a:pathLst>
          </a:custGeom>
          <a:solidFill>
            <a:srgbClr val="F0FDF4"/>
          </a:solidFill>
          <a:ln w="20320">
            <a:solidFill>
              <a:srgbClr val="05DF7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5950" y="1933580"/>
            <a:ext cx="754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0082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BUY Signal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511800" y="1949455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79846" y="6474"/>
                </a:moveTo>
                <a:cubicBezTo>
                  <a:pt x="75195" y="1823"/>
                  <a:pt x="67642" y="1823"/>
                  <a:pt x="62992" y="6474"/>
                </a:cubicBezTo>
                <a:lnTo>
                  <a:pt x="3460" y="66005"/>
                </a:lnTo>
                <a:cubicBezTo>
                  <a:pt x="-1191" y="70656"/>
                  <a:pt x="-1191" y="78209"/>
                  <a:pt x="3460" y="82860"/>
                </a:cubicBezTo>
                <a:cubicBezTo>
                  <a:pt x="8111" y="87511"/>
                  <a:pt x="15664" y="87511"/>
                  <a:pt x="20315" y="82860"/>
                </a:cubicBezTo>
                <a:lnTo>
                  <a:pt x="59531" y="43644"/>
                </a:lnTo>
                <a:lnTo>
                  <a:pt x="59531" y="181570"/>
                </a:lnTo>
                <a:cubicBezTo>
                  <a:pt x="59531" y="188156"/>
                  <a:pt x="64852" y="193477"/>
                  <a:pt x="71438" y="193477"/>
                </a:cubicBezTo>
                <a:cubicBezTo>
                  <a:pt x="78023" y="193477"/>
                  <a:pt x="83344" y="188156"/>
                  <a:pt x="83344" y="181570"/>
                </a:cubicBezTo>
                <a:lnTo>
                  <a:pt x="83344" y="43644"/>
                </a:lnTo>
                <a:lnTo>
                  <a:pt x="122560" y="82860"/>
                </a:lnTo>
                <a:cubicBezTo>
                  <a:pt x="127211" y="87511"/>
                  <a:pt x="134764" y="87511"/>
                  <a:pt x="139415" y="82860"/>
                </a:cubicBezTo>
                <a:cubicBezTo>
                  <a:pt x="144066" y="78209"/>
                  <a:pt x="144066" y="70656"/>
                  <a:pt x="139415" y="66005"/>
                </a:cubicBezTo>
                <a:lnTo>
                  <a:pt x="79883" y="6474"/>
                </a:lnTo>
                <a:close/>
              </a:path>
            </a:pathLst>
          </a:custGeom>
          <a:solidFill>
            <a:srgbClr val="00A63E"/>
          </a:solidFill>
          <a:ln/>
        </p:spPr>
      </p:sp>
      <p:sp>
        <p:nvSpPr>
          <p:cNvPr id="12" name="Text 10"/>
          <p:cNvSpPr/>
          <p:nvPr/>
        </p:nvSpPr>
        <p:spPr>
          <a:xfrm>
            <a:off x="615950" y="2219330"/>
            <a:ext cx="51435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BSI Score &gt; 65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15950" y="2409830"/>
            <a:ext cx="51435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Win Probability &gt; 60%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15950" y="2600330"/>
            <a:ext cx="51435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Monte Carlo median &gt; current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15950" y="2790830"/>
            <a:ext cx="51435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Ghost Hedge: Active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82600" y="3190877"/>
            <a:ext cx="5354637" cy="1282700"/>
          </a:xfrm>
          <a:custGeom>
            <a:avLst/>
            <a:gdLst/>
            <a:ahLst/>
            <a:cxnLst/>
            <a:rect l="l" t="t" r="r" b="b"/>
            <a:pathLst>
              <a:path w="5354637" h="1282700">
                <a:moveTo>
                  <a:pt x="63494" y="0"/>
                </a:moveTo>
                <a:lnTo>
                  <a:pt x="5291144" y="0"/>
                </a:lnTo>
                <a:cubicBezTo>
                  <a:pt x="5326210" y="0"/>
                  <a:pt x="5354637" y="28427"/>
                  <a:pt x="5354637" y="63494"/>
                </a:cubicBezTo>
                <a:lnTo>
                  <a:pt x="5354637" y="1219206"/>
                </a:lnTo>
                <a:cubicBezTo>
                  <a:pt x="5354637" y="1254273"/>
                  <a:pt x="5326210" y="1282700"/>
                  <a:pt x="5291144" y="1282700"/>
                </a:cubicBezTo>
                <a:lnTo>
                  <a:pt x="63494" y="1282700"/>
                </a:lnTo>
                <a:cubicBezTo>
                  <a:pt x="28427" y="1282700"/>
                  <a:pt x="0" y="1254273"/>
                  <a:pt x="0" y="1219206"/>
                </a:cubicBezTo>
                <a:lnTo>
                  <a:pt x="0" y="63494"/>
                </a:lnTo>
                <a:cubicBezTo>
                  <a:pt x="0" y="28451"/>
                  <a:pt x="28451" y="0"/>
                  <a:pt x="63494" y="0"/>
                </a:cubicBezTo>
                <a:close/>
              </a:path>
            </a:pathLst>
          </a:custGeom>
          <a:solidFill>
            <a:srgbClr val="FEF2F2"/>
          </a:solidFill>
          <a:ln w="20320">
            <a:solidFill>
              <a:srgbClr val="FF646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5950" y="3324223"/>
            <a:ext cx="7858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C1000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SELL Signal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511800" y="3340098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63029" y="187003"/>
                </a:moveTo>
                <a:cubicBezTo>
                  <a:pt x="67680" y="191653"/>
                  <a:pt x="75233" y="191653"/>
                  <a:pt x="79883" y="187003"/>
                </a:cubicBezTo>
                <a:lnTo>
                  <a:pt x="139415" y="127471"/>
                </a:lnTo>
                <a:cubicBezTo>
                  <a:pt x="144066" y="122820"/>
                  <a:pt x="144066" y="115267"/>
                  <a:pt x="139415" y="110617"/>
                </a:cubicBezTo>
                <a:cubicBezTo>
                  <a:pt x="134764" y="105966"/>
                  <a:pt x="127211" y="105966"/>
                  <a:pt x="122560" y="110617"/>
                </a:cubicBezTo>
                <a:lnTo>
                  <a:pt x="83344" y="149833"/>
                </a:lnTo>
                <a:lnTo>
                  <a:pt x="83344" y="11906"/>
                </a:lnTo>
                <a:cubicBezTo>
                  <a:pt x="83344" y="5321"/>
                  <a:pt x="78023" y="0"/>
                  <a:pt x="71438" y="0"/>
                </a:cubicBezTo>
                <a:cubicBezTo>
                  <a:pt x="64852" y="0"/>
                  <a:pt x="59531" y="5321"/>
                  <a:pt x="59531" y="11906"/>
                </a:cubicBezTo>
                <a:lnTo>
                  <a:pt x="59531" y="149833"/>
                </a:lnTo>
                <a:lnTo>
                  <a:pt x="20315" y="110617"/>
                </a:lnTo>
                <a:cubicBezTo>
                  <a:pt x="15664" y="105966"/>
                  <a:pt x="8111" y="105966"/>
                  <a:pt x="3460" y="110617"/>
                </a:cubicBezTo>
                <a:cubicBezTo>
                  <a:pt x="-1191" y="115267"/>
                  <a:pt x="-1191" y="122820"/>
                  <a:pt x="3460" y="127471"/>
                </a:cubicBezTo>
                <a:lnTo>
                  <a:pt x="62992" y="187003"/>
                </a:lnTo>
                <a:close/>
              </a:path>
            </a:pathLst>
          </a:custGeom>
          <a:solidFill>
            <a:srgbClr val="E7000B"/>
          </a:solidFill>
          <a:ln/>
        </p:spPr>
      </p:sp>
      <p:sp>
        <p:nvSpPr>
          <p:cNvPr id="19" name="Text 17"/>
          <p:cNvSpPr/>
          <p:nvPr/>
        </p:nvSpPr>
        <p:spPr>
          <a:xfrm>
            <a:off x="615950" y="3609973"/>
            <a:ext cx="51435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BSI Score &lt; 35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15950" y="3800473"/>
            <a:ext cx="51435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Win Probability &lt; 40%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15950" y="3990973"/>
            <a:ext cx="51435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Monte Carlo median &lt; current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15950" y="4181473"/>
            <a:ext cx="51435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Stop-loss triggered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191250" y="952500"/>
            <a:ext cx="5683250" cy="3952875"/>
          </a:xfrm>
          <a:custGeom>
            <a:avLst/>
            <a:gdLst/>
            <a:ahLst/>
            <a:cxnLst/>
            <a:rect l="l" t="t" r="r" b="b"/>
            <a:pathLst>
              <a:path w="5683250" h="3952875">
                <a:moveTo>
                  <a:pt x="63483" y="0"/>
                </a:moveTo>
                <a:lnTo>
                  <a:pt x="5619767" y="0"/>
                </a:lnTo>
                <a:cubicBezTo>
                  <a:pt x="5654828" y="0"/>
                  <a:pt x="5683250" y="28422"/>
                  <a:pt x="5683250" y="63483"/>
                </a:cubicBezTo>
                <a:lnTo>
                  <a:pt x="5683250" y="3889392"/>
                </a:lnTo>
                <a:cubicBezTo>
                  <a:pt x="5683250" y="3924453"/>
                  <a:pt x="5654828" y="3952875"/>
                  <a:pt x="5619767" y="3952875"/>
                </a:cubicBezTo>
                <a:lnTo>
                  <a:pt x="63483" y="3952875"/>
                </a:lnTo>
                <a:cubicBezTo>
                  <a:pt x="28422" y="3952875"/>
                  <a:pt x="0" y="3924453"/>
                  <a:pt x="0" y="3889392"/>
                </a:cubicBezTo>
                <a:lnTo>
                  <a:pt x="0" y="63483"/>
                </a:lnTo>
                <a:cubicBezTo>
                  <a:pt x="0" y="28446"/>
                  <a:pt x="28446" y="0"/>
                  <a:pt x="63483" y="0"/>
                </a:cubicBezTo>
                <a:close/>
              </a:path>
            </a:pathLst>
          </a:custGeom>
          <a:solidFill>
            <a:srgbClr val="FFFFFF"/>
          </a:solidFill>
          <a:ln>
            <a:solidFill>
              <a:schemeClr val="tx1"/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47625" dist="317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350000" y="1111250"/>
            <a:ext cx="5445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Multi-Class Classification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350000" y="1460500"/>
            <a:ext cx="5429250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Extended classification with confidence levels for nuanced decision-making: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365875" y="1793875"/>
            <a:ext cx="5349875" cy="539750"/>
          </a:xfrm>
          <a:custGeom>
            <a:avLst/>
            <a:gdLst/>
            <a:ahLst/>
            <a:cxnLst/>
            <a:rect l="l" t="t" r="r" b="b"/>
            <a:pathLst>
              <a:path w="5349875" h="539750">
                <a:moveTo>
                  <a:pt x="31750" y="0"/>
                </a:moveTo>
                <a:lnTo>
                  <a:pt x="5286373" y="0"/>
                </a:lnTo>
                <a:cubicBezTo>
                  <a:pt x="5321444" y="0"/>
                  <a:pt x="5349875" y="28431"/>
                  <a:pt x="5349875" y="63502"/>
                </a:cubicBezTo>
                <a:lnTo>
                  <a:pt x="5349875" y="476248"/>
                </a:lnTo>
                <a:cubicBezTo>
                  <a:pt x="5349875" y="511319"/>
                  <a:pt x="5321444" y="539750"/>
                  <a:pt x="5286373" y="539750"/>
                </a:cubicBezTo>
                <a:lnTo>
                  <a:pt x="31750" y="539750"/>
                </a:lnTo>
                <a:cubicBezTo>
                  <a:pt x="14227" y="539750"/>
                  <a:pt x="0" y="525523"/>
                  <a:pt x="0" y="508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DCFCE7"/>
          </a:solidFill>
          <a:ln/>
        </p:spPr>
      </p:sp>
      <p:sp>
        <p:nvSpPr>
          <p:cNvPr id="27" name="Shape 25"/>
          <p:cNvSpPr/>
          <p:nvPr/>
        </p:nvSpPr>
        <p:spPr>
          <a:xfrm>
            <a:off x="6365875" y="1793875"/>
            <a:ext cx="31750" cy="539750"/>
          </a:xfrm>
          <a:custGeom>
            <a:avLst/>
            <a:gdLst/>
            <a:ahLst/>
            <a:cxnLst/>
            <a:rect l="l" t="t" r="r" b="b"/>
            <a:pathLst>
              <a:path w="31750" h="539750">
                <a:moveTo>
                  <a:pt x="31750" y="0"/>
                </a:moveTo>
                <a:lnTo>
                  <a:pt x="31750" y="0"/>
                </a:lnTo>
                <a:lnTo>
                  <a:pt x="31750" y="539750"/>
                </a:lnTo>
                <a:lnTo>
                  <a:pt x="31750" y="539750"/>
                </a:lnTo>
                <a:cubicBezTo>
                  <a:pt x="14227" y="539750"/>
                  <a:pt x="0" y="525523"/>
                  <a:pt x="0" y="508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28" name="Text 26"/>
          <p:cNvSpPr/>
          <p:nvPr/>
        </p:nvSpPr>
        <p:spPr>
          <a:xfrm>
            <a:off x="6477000" y="1889125"/>
            <a:ext cx="520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82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STRONG BUY (Confidence: 80-100%)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477000" y="2079625"/>
            <a:ext cx="5199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BSI &gt; 75, Win Prob &gt; 70%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365875" y="2397125"/>
            <a:ext cx="5349875" cy="539750"/>
          </a:xfrm>
          <a:custGeom>
            <a:avLst/>
            <a:gdLst/>
            <a:ahLst/>
            <a:cxnLst/>
            <a:rect l="l" t="t" r="r" b="b"/>
            <a:pathLst>
              <a:path w="5349875" h="539750">
                <a:moveTo>
                  <a:pt x="31750" y="0"/>
                </a:moveTo>
                <a:lnTo>
                  <a:pt x="5286373" y="0"/>
                </a:lnTo>
                <a:cubicBezTo>
                  <a:pt x="5321444" y="0"/>
                  <a:pt x="5349875" y="28431"/>
                  <a:pt x="5349875" y="63502"/>
                </a:cubicBezTo>
                <a:lnTo>
                  <a:pt x="5349875" y="476248"/>
                </a:lnTo>
                <a:cubicBezTo>
                  <a:pt x="5349875" y="511319"/>
                  <a:pt x="5321444" y="539750"/>
                  <a:pt x="5286373" y="539750"/>
                </a:cubicBezTo>
                <a:lnTo>
                  <a:pt x="31750" y="539750"/>
                </a:lnTo>
                <a:cubicBezTo>
                  <a:pt x="14227" y="539750"/>
                  <a:pt x="0" y="525523"/>
                  <a:pt x="0" y="508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0FDF4"/>
          </a:solidFill>
          <a:ln/>
        </p:spPr>
      </p:sp>
      <p:sp>
        <p:nvSpPr>
          <p:cNvPr id="31" name="Shape 29"/>
          <p:cNvSpPr/>
          <p:nvPr/>
        </p:nvSpPr>
        <p:spPr>
          <a:xfrm>
            <a:off x="6365875" y="2397125"/>
            <a:ext cx="31750" cy="539750"/>
          </a:xfrm>
          <a:custGeom>
            <a:avLst/>
            <a:gdLst/>
            <a:ahLst/>
            <a:cxnLst/>
            <a:rect l="l" t="t" r="r" b="b"/>
            <a:pathLst>
              <a:path w="31750" h="539750">
                <a:moveTo>
                  <a:pt x="31750" y="0"/>
                </a:moveTo>
                <a:lnTo>
                  <a:pt x="31750" y="0"/>
                </a:lnTo>
                <a:lnTo>
                  <a:pt x="31750" y="539750"/>
                </a:lnTo>
                <a:lnTo>
                  <a:pt x="31750" y="539750"/>
                </a:lnTo>
                <a:cubicBezTo>
                  <a:pt x="14227" y="539750"/>
                  <a:pt x="0" y="525523"/>
                  <a:pt x="0" y="508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5DF72"/>
          </a:solidFill>
          <a:ln/>
        </p:spPr>
      </p:sp>
      <p:sp>
        <p:nvSpPr>
          <p:cNvPr id="32" name="Text 30"/>
          <p:cNvSpPr/>
          <p:nvPr/>
        </p:nvSpPr>
        <p:spPr>
          <a:xfrm>
            <a:off x="6477000" y="2492375"/>
            <a:ext cx="520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A6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BUY (Confidence: 60-80%)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477000" y="2682875"/>
            <a:ext cx="5199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BSI 65-75, Win Prob 60-70%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365875" y="3000375"/>
            <a:ext cx="5349875" cy="539750"/>
          </a:xfrm>
          <a:custGeom>
            <a:avLst/>
            <a:gdLst/>
            <a:ahLst/>
            <a:cxnLst/>
            <a:rect l="l" t="t" r="r" b="b"/>
            <a:pathLst>
              <a:path w="5349875" h="539750">
                <a:moveTo>
                  <a:pt x="31750" y="0"/>
                </a:moveTo>
                <a:lnTo>
                  <a:pt x="5286373" y="0"/>
                </a:lnTo>
                <a:cubicBezTo>
                  <a:pt x="5321444" y="0"/>
                  <a:pt x="5349875" y="28431"/>
                  <a:pt x="5349875" y="63502"/>
                </a:cubicBezTo>
                <a:lnTo>
                  <a:pt x="5349875" y="476248"/>
                </a:lnTo>
                <a:cubicBezTo>
                  <a:pt x="5349875" y="511319"/>
                  <a:pt x="5321444" y="539750"/>
                  <a:pt x="5286373" y="539750"/>
                </a:cubicBezTo>
                <a:lnTo>
                  <a:pt x="31750" y="539750"/>
                </a:lnTo>
                <a:cubicBezTo>
                  <a:pt x="14227" y="539750"/>
                  <a:pt x="0" y="525523"/>
                  <a:pt x="0" y="508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EFCE8"/>
          </a:solidFill>
          <a:ln/>
        </p:spPr>
      </p:sp>
      <p:sp>
        <p:nvSpPr>
          <p:cNvPr id="35" name="Shape 33"/>
          <p:cNvSpPr/>
          <p:nvPr/>
        </p:nvSpPr>
        <p:spPr>
          <a:xfrm>
            <a:off x="6365875" y="3000375"/>
            <a:ext cx="31750" cy="539750"/>
          </a:xfrm>
          <a:custGeom>
            <a:avLst/>
            <a:gdLst/>
            <a:ahLst/>
            <a:cxnLst/>
            <a:rect l="l" t="t" r="r" b="b"/>
            <a:pathLst>
              <a:path w="31750" h="539750">
                <a:moveTo>
                  <a:pt x="31750" y="0"/>
                </a:moveTo>
                <a:lnTo>
                  <a:pt x="31750" y="0"/>
                </a:lnTo>
                <a:lnTo>
                  <a:pt x="31750" y="539750"/>
                </a:lnTo>
                <a:lnTo>
                  <a:pt x="31750" y="539750"/>
                </a:lnTo>
                <a:cubicBezTo>
                  <a:pt x="14227" y="539750"/>
                  <a:pt x="0" y="525523"/>
                  <a:pt x="0" y="508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DC700"/>
          </a:solidFill>
          <a:ln/>
        </p:spPr>
      </p:sp>
      <p:sp>
        <p:nvSpPr>
          <p:cNvPr id="36" name="Text 34"/>
          <p:cNvSpPr/>
          <p:nvPr/>
        </p:nvSpPr>
        <p:spPr>
          <a:xfrm>
            <a:off x="6477000" y="3095625"/>
            <a:ext cx="520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D087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HOLD (Confidence: 40-60%)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477000" y="3286125"/>
            <a:ext cx="5199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BSI 35-65, Win Prob 40-60%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365875" y="3603625"/>
            <a:ext cx="5349875" cy="539750"/>
          </a:xfrm>
          <a:custGeom>
            <a:avLst/>
            <a:gdLst/>
            <a:ahLst/>
            <a:cxnLst/>
            <a:rect l="l" t="t" r="r" b="b"/>
            <a:pathLst>
              <a:path w="5349875" h="539750">
                <a:moveTo>
                  <a:pt x="31750" y="0"/>
                </a:moveTo>
                <a:lnTo>
                  <a:pt x="5286373" y="0"/>
                </a:lnTo>
                <a:cubicBezTo>
                  <a:pt x="5321444" y="0"/>
                  <a:pt x="5349875" y="28431"/>
                  <a:pt x="5349875" y="63502"/>
                </a:cubicBezTo>
                <a:lnTo>
                  <a:pt x="5349875" y="476248"/>
                </a:lnTo>
                <a:cubicBezTo>
                  <a:pt x="5349875" y="511319"/>
                  <a:pt x="5321444" y="539750"/>
                  <a:pt x="5286373" y="539750"/>
                </a:cubicBezTo>
                <a:lnTo>
                  <a:pt x="31750" y="539750"/>
                </a:lnTo>
                <a:cubicBezTo>
                  <a:pt x="14227" y="539750"/>
                  <a:pt x="0" y="525523"/>
                  <a:pt x="0" y="508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EF2F2"/>
          </a:solidFill>
          <a:ln/>
        </p:spPr>
      </p:sp>
      <p:sp>
        <p:nvSpPr>
          <p:cNvPr id="39" name="Shape 37"/>
          <p:cNvSpPr/>
          <p:nvPr/>
        </p:nvSpPr>
        <p:spPr>
          <a:xfrm>
            <a:off x="6365875" y="3603625"/>
            <a:ext cx="31750" cy="539750"/>
          </a:xfrm>
          <a:custGeom>
            <a:avLst/>
            <a:gdLst/>
            <a:ahLst/>
            <a:cxnLst/>
            <a:rect l="l" t="t" r="r" b="b"/>
            <a:pathLst>
              <a:path w="31750" h="539750">
                <a:moveTo>
                  <a:pt x="31750" y="0"/>
                </a:moveTo>
                <a:lnTo>
                  <a:pt x="31750" y="0"/>
                </a:lnTo>
                <a:lnTo>
                  <a:pt x="31750" y="539750"/>
                </a:lnTo>
                <a:lnTo>
                  <a:pt x="31750" y="539750"/>
                </a:lnTo>
                <a:cubicBezTo>
                  <a:pt x="14227" y="539750"/>
                  <a:pt x="0" y="525523"/>
                  <a:pt x="0" y="508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40" name="Text 38"/>
          <p:cNvSpPr/>
          <p:nvPr/>
        </p:nvSpPr>
        <p:spPr>
          <a:xfrm>
            <a:off x="6477000" y="3698875"/>
            <a:ext cx="520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700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SELL (Confidence: 60-80%)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477000" y="3889375"/>
            <a:ext cx="5199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BSI 25-35, Win Prob 30-40%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365875" y="4206875"/>
            <a:ext cx="5349875" cy="539750"/>
          </a:xfrm>
          <a:custGeom>
            <a:avLst/>
            <a:gdLst/>
            <a:ahLst/>
            <a:cxnLst/>
            <a:rect l="l" t="t" r="r" b="b"/>
            <a:pathLst>
              <a:path w="5349875" h="539750">
                <a:moveTo>
                  <a:pt x="31750" y="0"/>
                </a:moveTo>
                <a:lnTo>
                  <a:pt x="5286373" y="0"/>
                </a:lnTo>
                <a:cubicBezTo>
                  <a:pt x="5321444" y="0"/>
                  <a:pt x="5349875" y="28431"/>
                  <a:pt x="5349875" y="63502"/>
                </a:cubicBezTo>
                <a:lnTo>
                  <a:pt x="5349875" y="476248"/>
                </a:lnTo>
                <a:cubicBezTo>
                  <a:pt x="5349875" y="511319"/>
                  <a:pt x="5321444" y="539750"/>
                  <a:pt x="5286373" y="539750"/>
                </a:cubicBezTo>
                <a:lnTo>
                  <a:pt x="31750" y="539750"/>
                </a:lnTo>
                <a:cubicBezTo>
                  <a:pt x="14227" y="539750"/>
                  <a:pt x="0" y="525523"/>
                  <a:pt x="0" y="508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E2E2"/>
          </a:solidFill>
          <a:ln/>
        </p:spPr>
      </p:sp>
      <p:sp>
        <p:nvSpPr>
          <p:cNvPr id="43" name="Shape 41"/>
          <p:cNvSpPr/>
          <p:nvPr/>
        </p:nvSpPr>
        <p:spPr>
          <a:xfrm>
            <a:off x="6365875" y="4206875"/>
            <a:ext cx="31750" cy="539750"/>
          </a:xfrm>
          <a:custGeom>
            <a:avLst/>
            <a:gdLst/>
            <a:ahLst/>
            <a:cxnLst/>
            <a:rect l="l" t="t" r="r" b="b"/>
            <a:pathLst>
              <a:path w="31750" h="539750">
                <a:moveTo>
                  <a:pt x="31750" y="0"/>
                </a:moveTo>
                <a:lnTo>
                  <a:pt x="31750" y="0"/>
                </a:lnTo>
                <a:lnTo>
                  <a:pt x="31750" y="539750"/>
                </a:lnTo>
                <a:lnTo>
                  <a:pt x="31750" y="539750"/>
                </a:lnTo>
                <a:cubicBezTo>
                  <a:pt x="14227" y="539750"/>
                  <a:pt x="0" y="525523"/>
                  <a:pt x="0" y="508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44" name="Text 42"/>
          <p:cNvSpPr/>
          <p:nvPr/>
        </p:nvSpPr>
        <p:spPr>
          <a:xfrm>
            <a:off x="6477000" y="4302125"/>
            <a:ext cx="520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C1000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STRONG SELL (Confidence: 80-100%)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477000" y="4492625"/>
            <a:ext cx="5199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BSI &lt; 25, Win Prob &lt; 30%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1256247" y="5032375"/>
            <a:ext cx="8511106" cy="1794592"/>
          </a:xfrm>
          <a:custGeom>
            <a:avLst/>
            <a:gdLst/>
            <a:ahLst/>
            <a:cxnLst/>
            <a:rect l="l" t="t" r="r" b="b"/>
            <a:pathLst>
              <a:path w="5683250" h="1905000">
                <a:moveTo>
                  <a:pt x="63494" y="0"/>
                </a:moveTo>
                <a:lnTo>
                  <a:pt x="5619756" y="0"/>
                </a:lnTo>
                <a:cubicBezTo>
                  <a:pt x="5654823" y="0"/>
                  <a:pt x="5683250" y="28427"/>
                  <a:pt x="5683250" y="63494"/>
                </a:cubicBezTo>
                <a:lnTo>
                  <a:pt x="5683250" y="1841506"/>
                </a:lnTo>
                <a:cubicBezTo>
                  <a:pt x="5683250" y="1876573"/>
                  <a:pt x="5654823" y="1905000"/>
                  <a:pt x="5619756" y="1905000"/>
                </a:cubicBezTo>
                <a:lnTo>
                  <a:pt x="63494" y="1905000"/>
                </a:lnTo>
                <a:cubicBezTo>
                  <a:pt x="28427" y="1905000"/>
                  <a:pt x="0" y="1876573"/>
                  <a:pt x="0" y="1841506"/>
                </a:cubicBezTo>
                <a:lnTo>
                  <a:pt x="0" y="63494"/>
                </a:lnTo>
                <a:cubicBezTo>
                  <a:pt x="0" y="28451"/>
                  <a:pt x="28451" y="0"/>
                  <a:pt x="63494" y="0"/>
                </a:cubicBezTo>
                <a:close/>
              </a:path>
            </a:pathLst>
          </a:custGeom>
          <a:solidFill>
            <a:srgbClr val="1E3A5F"/>
          </a:solidFill>
          <a:ln>
            <a:solidFill>
              <a:schemeClr val="tx1"/>
            </a:solidFill>
          </a:ln>
          <a:effectLst>
            <a:glow rad="101600">
              <a:schemeClr val="accent5">
                <a:satMod val="175000"/>
                <a:alpha val="40000"/>
              </a:schemeClr>
            </a:glow>
          </a:effectLst>
        </p:spPr>
      </p:sp>
      <p:sp>
        <p:nvSpPr>
          <p:cNvPr id="47" name="Text 45"/>
          <p:cNvSpPr/>
          <p:nvPr/>
        </p:nvSpPr>
        <p:spPr>
          <a:xfrm>
            <a:off x="4749282" y="5159375"/>
            <a:ext cx="7069656" cy="2457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Decision Boundaries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2039938" y="5445125"/>
            <a:ext cx="7202552" cy="317500"/>
          </a:xfrm>
          <a:custGeom>
            <a:avLst/>
            <a:gdLst/>
            <a:ahLst/>
            <a:cxnLst/>
            <a:rect l="l" t="t" r="r" b="b"/>
            <a:pathLst>
              <a:path w="5429250" h="285750">
                <a:moveTo>
                  <a:pt x="31750" y="0"/>
                </a:moveTo>
                <a:lnTo>
                  <a:pt x="5397500" y="0"/>
                </a:lnTo>
                <a:cubicBezTo>
                  <a:pt x="5415035" y="0"/>
                  <a:pt x="5429250" y="14215"/>
                  <a:pt x="5429250" y="31750"/>
                </a:cubicBezTo>
                <a:lnTo>
                  <a:pt x="5429250" y="254000"/>
                </a:lnTo>
                <a:cubicBezTo>
                  <a:pt x="5429250" y="271535"/>
                  <a:pt x="5415035" y="285750"/>
                  <a:pt x="5397500" y="285750"/>
                </a:cubicBezTo>
                <a:lnTo>
                  <a:pt x="31750" y="285750"/>
                </a:lnTo>
                <a:cubicBezTo>
                  <a:pt x="14215" y="285750"/>
                  <a:pt x="0" y="271535"/>
                  <a:pt x="0" y="254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5F1EB">
              <a:alpha val="10196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3587750" y="5540375"/>
            <a:ext cx="1016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BSI Threshold (Buy)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8230767" y="5540375"/>
            <a:ext cx="254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C75B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&gt; 65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2039937" y="5866167"/>
            <a:ext cx="7202551" cy="245708"/>
          </a:xfrm>
          <a:custGeom>
            <a:avLst/>
            <a:gdLst/>
            <a:ahLst/>
            <a:cxnLst/>
            <a:rect l="l" t="t" r="r" b="b"/>
            <a:pathLst>
              <a:path w="5429250" h="285750">
                <a:moveTo>
                  <a:pt x="31750" y="0"/>
                </a:moveTo>
                <a:lnTo>
                  <a:pt x="5397500" y="0"/>
                </a:lnTo>
                <a:cubicBezTo>
                  <a:pt x="5415035" y="0"/>
                  <a:pt x="5429250" y="14215"/>
                  <a:pt x="5429250" y="31750"/>
                </a:cubicBezTo>
                <a:lnTo>
                  <a:pt x="5429250" y="254000"/>
                </a:lnTo>
                <a:cubicBezTo>
                  <a:pt x="5429250" y="271535"/>
                  <a:pt x="5415035" y="285750"/>
                  <a:pt x="5397500" y="285750"/>
                </a:cubicBezTo>
                <a:lnTo>
                  <a:pt x="31750" y="285750"/>
                </a:lnTo>
                <a:cubicBezTo>
                  <a:pt x="14215" y="285750"/>
                  <a:pt x="0" y="271535"/>
                  <a:pt x="0" y="254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5F1EB">
              <a:alpha val="10196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3603625" y="5897921"/>
            <a:ext cx="1000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BSI Threshold (Sell)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8230767" y="5899930"/>
            <a:ext cx="254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C75B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&lt; 35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3587750" y="6261096"/>
            <a:ext cx="1087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Win Probability (Buy)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8179173" y="6238352"/>
            <a:ext cx="357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4A90A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&gt; 60%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3595688" y="6546524"/>
            <a:ext cx="10795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Win Probability (Sell)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8199002" y="6561549"/>
            <a:ext cx="357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4A90A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&lt; 40%</a:t>
            </a:r>
            <a:endParaRPr lang="en-US" sz="1600" dirty="0"/>
          </a:p>
        </p:txBody>
      </p:sp>
      <p:sp>
        <p:nvSpPr>
          <p:cNvPr id="60" name="Shape 49">
            <a:extLst>
              <a:ext uri="{FF2B5EF4-FFF2-40B4-BE49-F238E27FC236}">
                <a16:creationId xmlns:a16="http://schemas.microsoft.com/office/drawing/2014/main" id="{68CFFDD7-7076-6E70-BADB-E8FEF25C9828}"/>
              </a:ext>
            </a:extLst>
          </p:cNvPr>
          <p:cNvSpPr/>
          <p:nvPr/>
        </p:nvSpPr>
        <p:spPr>
          <a:xfrm>
            <a:off x="2039935" y="6213858"/>
            <a:ext cx="7202551" cy="245708"/>
          </a:xfrm>
          <a:custGeom>
            <a:avLst/>
            <a:gdLst/>
            <a:ahLst/>
            <a:cxnLst/>
            <a:rect l="l" t="t" r="r" b="b"/>
            <a:pathLst>
              <a:path w="5429250" h="285750">
                <a:moveTo>
                  <a:pt x="31750" y="0"/>
                </a:moveTo>
                <a:lnTo>
                  <a:pt x="5397500" y="0"/>
                </a:lnTo>
                <a:cubicBezTo>
                  <a:pt x="5415035" y="0"/>
                  <a:pt x="5429250" y="14215"/>
                  <a:pt x="5429250" y="31750"/>
                </a:cubicBezTo>
                <a:lnTo>
                  <a:pt x="5429250" y="254000"/>
                </a:lnTo>
                <a:cubicBezTo>
                  <a:pt x="5429250" y="271535"/>
                  <a:pt x="5415035" y="285750"/>
                  <a:pt x="5397500" y="285750"/>
                </a:cubicBezTo>
                <a:lnTo>
                  <a:pt x="31750" y="285750"/>
                </a:lnTo>
                <a:cubicBezTo>
                  <a:pt x="14215" y="285750"/>
                  <a:pt x="0" y="271535"/>
                  <a:pt x="0" y="254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5F1EB">
              <a:alpha val="10196"/>
            </a:srgbClr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61" name="Shape 49">
            <a:extLst>
              <a:ext uri="{FF2B5EF4-FFF2-40B4-BE49-F238E27FC236}">
                <a16:creationId xmlns:a16="http://schemas.microsoft.com/office/drawing/2014/main" id="{01D0F567-FB1C-3DB4-8F55-F3F3CD2C9F69}"/>
              </a:ext>
            </a:extLst>
          </p:cNvPr>
          <p:cNvSpPr/>
          <p:nvPr/>
        </p:nvSpPr>
        <p:spPr>
          <a:xfrm>
            <a:off x="2039936" y="6542313"/>
            <a:ext cx="7202551" cy="245708"/>
          </a:xfrm>
          <a:custGeom>
            <a:avLst/>
            <a:gdLst/>
            <a:ahLst/>
            <a:cxnLst/>
            <a:rect l="l" t="t" r="r" b="b"/>
            <a:pathLst>
              <a:path w="5429250" h="285750">
                <a:moveTo>
                  <a:pt x="31750" y="0"/>
                </a:moveTo>
                <a:lnTo>
                  <a:pt x="5397500" y="0"/>
                </a:lnTo>
                <a:cubicBezTo>
                  <a:pt x="5415035" y="0"/>
                  <a:pt x="5429250" y="14215"/>
                  <a:pt x="5429250" y="31750"/>
                </a:cubicBezTo>
                <a:lnTo>
                  <a:pt x="5429250" y="254000"/>
                </a:lnTo>
                <a:cubicBezTo>
                  <a:pt x="5429250" y="271535"/>
                  <a:pt x="5415035" y="285750"/>
                  <a:pt x="5397500" y="285750"/>
                </a:cubicBezTo>
                <a:lnTo>
                  <a:pt x="31750" y="285750"/>
                </a:lnTo>
                <a:cubicBezTo>
                  <a:pt x="14215" y="285750"/>
                  <a:pt x="0" y="271535"/>
                  <a:pt x="0" y="254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5F1EB">
              <a:alpha val="10196"/>
            </a:srgbClr>
          </a:solidFill>
          <a:ln/>
        </p:spPr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0578" y="370578"/>
            <a:ext cx="592924" cy="592924"/>
          </a:xfrm>
          <a:custGeom>
            <a:avLst/>
            <a:gdLst/>
            <a:ahLst/>
            <a:cxnLst/>
            <a:rect l="l" t="t" r="r" b="b"/>
            <a:pathLst>
              <a:path w="592924" h="592924">
                <a:moveTo>
                  <a:pt x="74116" y="0"/>
                </a:moveTo>
                <a:lnTo>
                  <a:pt x="518809" y="0"/>
                </a:lnTo>
                <a:cubicBezTo>
                  <a:pt x="559741" y="0"/>
                  <a:pt x="592924" y="33183"/>
                  <a:pt x="592924" y="74116"/>
                </a:cubicBezTo>
                <a:lnTo>
                  <a:pt x="592924" y="518809"/>
                </a:lnTo>
                <a:cubicBezTo>
                  <a:pt x="592924" y="559741"/>
                  <a:pt x="559741" y="592924"/>
                  <a:pt x="518809" y="592924"/>
                </a:cubicBezTo>
                <a:lnTo>
                  <a:pt x="74116" y="592924"/>
                </a:lnTo>
                <a:cubicBezTo>
                  <a:pt x="33183" y="592924"/>
                  <a:pt x="0" y="559741"/>
                  <a:pt x="0" y="518809"/>
                </a:cubicBezTo>
                <a:lnTo>
                  <a:pt x="0" y="74116"/>
                </a:lnTo>
                <a:cubicBezTo>
                  <a:pt x="0" y="33183"/>
                  <a:pt x="33183" y="0"/>
                  <a:pt x="74116" y="0"/>
                </a:cubicBezTo>
                <a:close/>
              </a:path>
            </a:pathLst>
          </a:custGeom>
          <a:solidFill>
            <a:srgbClr val="FF0000"/>
          </a:solidFill>
          <a:ln/>
        </p:spPr>
      </p:sp>
      <p:sp>
        <p:nvSpPr>
          <p:cNvPr id="3" name="Text 1"/>
          <p:cNvSpPr/>
          <p:nvPr/>
        </p:nvSpPr>
        <p:spPr>
          <a:xfrm>
            <a:off x="529926" y="500280"/>
            <a:ext cx="416900" cy="333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88" b="1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11733" y="389106"/>
            <a:ext cx="3974444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b="1" kern="0" spc="51" dirty="0">
                <a:solidFill>
                  <a:srgbClr val="C75B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ENVIRONMENTAL SETUP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11733" y="574395"/>
            <a:ext cx="4076353" cy="370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26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Development Environment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70578" y="1111733"/>
            <a:ext cx="5614249" cy="4224584"/>
          </a:xfrm>
          <a:custGeom>
            <a:avLst/>
            <a:gdLst/>
            <a:ahLst/>
            <a:cxnLst/>
            <a:rect l="l" t="t" r="r" b="b"/>
            <a:pathLst>
              <a:path w="5614249" h="4224584">
                <a:moveTo>
                  <a:pt x="74099" y="0"/>
                </a:moveTo>
                <a:lnTo>
                  <a:pt x="5540150" y="0"/>
                </a:lnTo>
                <a:cubicBezTo>
                  <a:pt x="5581047" y="0"/>
                  <a:pt x="5614249" y="33203"/>
                  <a:pt x="5614249" y="74099"/>
                </a:cubicBezTo>
                <a:lnTo>
                  <a:pt x="5614249" y="4150484"/>
                </a:lnTo>
                <a:cubicBezTo>
                  <a:pt x="5614249" y="4191408"/>
                  <a:pt x="5581074" y="4224584"/>
                  <a:pt x="5540150" y="4224584"/>
                </a:cubicBezTo>
                <a:lnTo>
                  <a:pt x="74099" y="4224584"/>
                </a:lnTo>
                <a:cubicBezTo>
                  <a:pt x="33203" y="4224584"/>
                  <a:pt x="0" y="4191381"/>
                  <a:pt x="0" y="4150484"/>
                </a:cubicBezTo>
                <a:lnTo>
                  <a:pt x="0" y="74099"/>
                </a:lnTo>
                <a:cubicBezTo>
                  <a:pt x="0" y="33203"/>
                  <a:pt x="33203" y="0"/>
                  <a:pt x="74099" y="0"/>
                </a:cubicBezTo>
                <a:close/>
              </a:path>
            </a:pathLst>
          </a:custGeom>
          <a:solidFill>
            <a:srgbClr val="FFFFFF"/>
          </a:solidFill>
          <a:ln>
            <a:solidFill>
              <a:schemeClr val="tx1"/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5587" dist="3705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55866" y="1297021"/>
            <a:ext cx="5336316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9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Hardware Specifications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55866" y="1704657"/>
            <a:ext cx="5243672" cy="778213"/>
          </a:xfrm>
          <a:custGeom>
            <a:avLst/>
            <a:gdLst/>
            <a:ahLst/>
            <a:cxnLst/>
            <a:rect l="l" t="t" r="r" b="b"/>
            <a:pathLst>
              <a:path w="5243672" h="778213">
                <a:moveTo>
                  <a:pt x="74117" y="0"/>
                </a:moveTo>
                <a:lnTo>
                  <a:pt x="5169555" y="0"/>
                </a:lnTo>
                <a:cubicBezTo>
                  <a:pt x="5210488" y="0"/>
                  <a:pt x="5243672" y="33183"/>
                  <a:pt x="5243672" y="74117"/>
                </a:cubicBezTo>
                <a:lnTo>
                  <a:pt x="5243672" y="704096"/>
                </a:lnTo>
                <a:cubicBezTo>
                  <a:pt x="5243672" y="745029"/>
                  <a:pt x="5210488" y="778213"/>
                  <a:pt x="5169555" y="778213"/>
                </a:cubicBezTo>
                <a:lnTo>
                  <a:pt x="74117" y="778213"/>
                </a:lnTo>
                <a:cubicBezTo>
                  <a:pt x="33183" y="778213"/>
                  <a:pt x="0" y="745029"/>
                  <a:pt x="0" y="704096"/>
                </a:cubicBezTo>
                <a:lnTo>
                  <a:pt x="0" y="74117"/>
                </a:lnTo>
                <a:cubicBezTo>
                  <a:pt x="0" y="33211"/>
                  <a:pt x="33211" y="0"/>
                  <a:pt x="74117" y="0"/>
                </a:cubicBezTo>
                <a:close/>
              </a:path>
            </a:pathLst>
          </a:custGeom>
          <a:solidFill>
            <a:srgbClr val="1E3A5F">
              <a:alpha val="5098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90201" y="1852888"/>
            <a:ext cx="185289" cy="185289"/>
          </a:xfrm>
          <a:custGeom>
            <a:avLst/>
            <a:gdLst/>
            <a:ahLst/>
            <a:cxnLst/>
            <a:rect l="l" t="t" r="r" b="b"/>
            <a:pathLst>
              <a:path w="185289" h="185289">
                <a:moveTo>
                  <a:pt x="63693" y="8685"/>
                </a:moveTo>
                <a:cubicBezTo>
                  <a:pt x="63693" y="3872"/>
                  <a:pt x="59821" y="0"/>
                  <a:pt x="55008" y="0"/>
                </a:cubicBezTo>
                <a:cubicBezTo>
                  <a:pt x="50194" y="0"/>
                  <a:pt x="46322" y="3872"/>
                  <a:pt x="46322" y="8685"/>
                </a:cubicBezTo>
                <a:lnTo>
                  <a:pt x="46322" y="23161"/>
                </a:lnTo>
                <a:cubicBezTo>
                  <a:pt x="33547" y="23161"/>
                  <a:pt x="23161" y="33547"/>
                  <a:pt x="23161" y="46322"/>
                </a:cubicBezTo>
                <a:lnTo>
                  <a:pt x="8685" y="46322"/>
                </a:lnTo>
                <a:cubicBezTo>
                  <a:pt x="3872" y="46322"/>
                  <a:pt x="0" y="50194"/>
                  <a:pt x="0" y="55008"/>
                </a:cubicBezTo>
                <a:cubicBezTo>
                  <a:pt x="0" y="59821"/>
                  <a:pt x="3872" y="63693"/>
                  <a:pt x="8685" y="63693"/>
                </a:cubicBezTo>
                <a:lnTo>
                  <a:pt x="23161" y="63693"/>
                </a:lnTo>
                <a:lnTo>
                  <a:pt x="23161" y="83959"/>
                </a:lnTo>
                <a:lnTo>
                  <a:pt x="8685" y="83959"/>
                </a:lnTo>
                <a:cubicBezTo>
                  <a:pt x="3872" y="83959"/>
                  <a:pt x="0" y="87831"/>
                  <a:pt x="0" y="92644"/>
                </a:cubicBezTo>
                <a:cubicBezTo>
                  <a:pt x="0" y="97458"/>
                  <a:pt x="3872" y="101330"/>
                  <a:pt x="8685" y="101330"/>
                </a:cubicBezTo>
                <a:lnTo>
                  <a:pt x="23161" y="101330"/>
                </a:lnTo>
                <a:lnTo>
                  <a:pt x="23161" y="121596"/>
                </a:lnTo>
                <a:lnTo>
                  <a:pt x="8685" y="121596"/>
                </a:lnTo>
                <a:cubicBezTo>
                  <a:pt x="3872" y="121596"/>
                  <a:pt x="0" y="125468"/>
                  <a:pt x="0" y="130281"/>
                </a:cubicBezTo>
                <a:cubicBezTo>
                  <a:pt x="0" y="135094"/>
                  <a:pt x="3872" y="138967"/>
                  <a:pt x="8685" y="138967"/>
                </a:cubicBezTo>
                <a:lnTo>
                  <a:pt x="23161" y="138967"/>
                </a:lnTo>
                <a:cubicBezTo>
                  <a:pt x="23161" y="151741"/>
                  <a:pt x="33547" y="162128"/>
                  <a:pt x="46322" y="162128"/>
                </a:cubicBezTo>
                <a:lnTo>
                  <a:pt x="46322" y="176603"/>
                </a:lnTo>
                <a:cubicBezTo>
                  <a:pt x="46322" y="181417"/>
                  <a:pt x="50194" y="185289"/>
                  <a:pt x="55008" y="185289"/>
                </a:cubicBezTo>
                <a:cubicBezTo>
                  <a:pt x="59821" y="185289"/>
                  <a:pt x="63693" y="181417"/>
                  <a:pt x="63693" y="176603"/>
                </a:cubicBezTo>
                <a:lnTo>
                  <a:pt x="63693" y="162128"/>
                </a:lnTo>
                <a:lnTo>
                  <a:pt x="83959" y="162128"/>
                </a:lnTo>
                <a:lnTo>
                  <a:pt x="83959" y="176603"/>
                </a:lnTo>
                <a:cubicBezTo>
                  <a:pt x="83959" y="181417"/>
                  <a:pt x="87831" y="185289"/>
                  <a:pt x="92644" y="185289"/>
                </a:cubicBezTo>
                <a:cubicBezTo>
                  <a:pt x="97458" y="185289"/>
                  <a:pt x="101330" y="181417"/>
                  <a:pt x="101330" y="176603"/>
                </a:cubicBezTo>
                <a:lnTo>
                  <a:pt x="101330" y="162128"/>
                </a:lnTo>
                <a:lnTo>
                  <a:pt x="121596" y="162128"/>
                </a:lnTo>
                <a:lnTo>
                  <a:pt x="121596" y="176603"/>
                </a:lnTo>
                <a:cubicBezTo>
                  <a:pt x="121596" y="181417"/>
                  <a:pt x="125468" y="185289"/>
                  <a:pt x="130281" y="185289"/>
                </a:cubicBezTo>
                <a:cubicBezTo>
                  <a:pt x="135094" y="185289"/>
                  <a:pt x="138967" y="181417"/>
                  <a:pt x="138967" y="176603"/>
                </a:cubicBezTo>
                <a:lnTo>
                  <a:pt x="138967" y="162128"/>
                </a:lnTo>
                <a:cubicBezTo>
                  <a:pt x="151741" y="162128"/>
                  <a:pt x="162128" y="151741"/>
                  <a:pt x="162128" y="138967"/>
                </a:cubicBezTo>
                <a:lnTo>
                  <a:pt x="176603" y="138967"/>
                </a:lnTo>
                <a:cubicBezTo>
                  <a:pt x="181417" y="138967"/>
                  <a:pt x="185289" y="135094"/>
                  <a:pt x="185289" y="130281"/>
                </a:cubicBezTo>
                <a:cubicBezTo>
                  <a:pt x="185289" y="125468"/>
                  <a:pt x="181417" y="121596"/>
                  <a:pt x="176603" y="121596"/>
                </a:cubicBezTo>
                <a:lnTo>
                  <a:pt x="162128" y="121596"/>
                </a:lnTo>
                <a:lnTo>
                  <a:pt x="162128" y="101330"/>
                </a:lnTo>
                <a:lnTo>
                  <a:pt x="176603" y="101330"/>
                </a:lnTo>
                <a:cubicBezTo>
                  <a:pt x="181417" y="101330"/>
                  <a:pt x="185289" y="97458"/>
                  <a:pt x="185289" y="92644"/>
                </a:cubicBezTo>
                <a:cubicBezTo>
                  <a:pt x="185289" y="87831"/>
                  <a:pt x="181417" y="83959"/>
                  <a:pt x="176603" y="83959"/>
                </a:cubicBezTo>
                <a:lnTo>
                  <a:pt x="162128" y="83959"/>
                </a:lnTo>
                <a:lnTo>
                  <a:pt x="162128" y="63693"/>
                </a:lnTo>
                <a:lnTo>
                  <a:pt x="176603" y="63693"/>
                </a:lnTo>
                <a:cubicBezTo>
                  <a:pt x="181417" y="63693"/>
                  <a:pt x="185289" y="59821"/>
                  <a:pt x="185289" y="55008"/>
                </a:cubicBezTo>
                <a:cubicBezTo>
                  <a:pt x="185289" y="50194"/>
                  <a:pt x="181417" y="46322"/>
                  <a:pt x="176603" y="46322"/>
                </a:cubicBezTo>
                <a:lnTo>
                  <a:pt x="162128" y="46322"/>
                </a:lnTo>
                <a:cubicBezTo>
                  <a:pt x="162128" y="33547"/>
                  <a:pt x="151741" y="23161"/>
                  <a:pt x="138967" y="23161"/>
                </a:cubicBezTo>
                <a:lnTo>
                  <a:pt x="138967" y="8685"/>
                </a:lnTo>
                <a:cubicBezTo>
                  <a:pt x="138967" y="3872"/>
                  <a:pt x="135094" y="0"/>
                  <a:pt x="130281" y="0"/>
                </a:cubicBezTo>
                <a:cubicBezTo>
                  <a:pt x="125468" y="0"/>
                  <a:pt x="121596" y="3872"/>
                  <a:pt x="121596" y="8685"/>
                </a:cubicBezTo>
                <a:lnTo>
                  <a:pt x="121596" y="23161"/>
                </a:lnTo>
                <a:lnTo>
                  <a:pt x="101330" y="23161"/>
                </a:lnTo>
                <a:lnTo>
                  <a:pt x="101330" y="8685"/>
                </a:lnTo>
                <a:cubicBezTo>
                  <a:pt x="101330" y="3872"/>
                  <a:pt x="97458" y="0"/>
                  <a:pt x="92644" y="0"/>
                </a:cubicBezTo>
                <a:cubicBezTo>
                  <a:pt x="87831" y="0"/>
                  <a:pt x="83959" y="3872"/>
                  <a:pt x="83959" y="8685"/>
                </a:cubicBezTo>
                <a:lnTo>
                  <a:pt x="83959" y="23161"/>
                </a:lnTo>
                <a:lnTo>
                  <a:pt x="63693" y="23161"/>
                </a:lnTo>
                <a:lnTo>
                  <a:pt x="63693" y="8685"/>
                </a:lnTo>
                <a:close/>
                <a:moveTo>
                  <a:pt x="57903" y="46322"/>
                </a:moveTo>
                <a:lnTo>
                  <a:pt x="127386" y="46322"/>
                </a:lnTo>
                <a:cubicBezTo>
                  <a:pt x="133792" y="46322"/>
                  <a:pt x="138967" y="51497"/>
                  <a:pt x="138967" y="57903"/>
                </a:cubicBezTo>
                <a:lnTo>
                  <a:pt x="138967" y="127386"/>
                </a:lnTo>
                <a:cubicBezTo>
                  <a:pt x="138967" y="133792"/>
                  <a:pt x="133792" y="138967"/>
                  <a:pt x="127386" y="138967"/>
                </a:cubicBezTo>
                <a:lnTo>
                  <a:pt x="57903" y="138967"/>
                </a:lnTo>
                <a:cubicBezTo>
                  <a:pt x="51497" y="138967"/>
                  <a:pt x="46322" y="133792"/>
                  <a:pt x="46322" y="127386"/>
                </a:cubicBezTo>
                <a:lnTo>
                  <a:pt x="46322" y="57903"/>
                </a:lnTo>
                <a:cubicBezTo>
                  <a:pt x="46322" y="51497"/>
                  <a:pt x="51497" y="46322"/>
                  <a:pt x="57903" y="46322"/>
                </a:cubicBezTo>
                <a:close/>
                <a:moveTo>
                  <a:pt x="63693" y="63693"/>
                </a:moveTo>
                <a:lnTo>
                  <a:pt x="63693" y="121596"/>
                </a:lnTo>
                <a:lnTo>
                  <a:pt x="121596" y="121596"/>
                </a:lnTo>
                <a:lnTo>
                  <a:pt x="121596" y="63693"/>
                </a:lnTo>
                <a:lnTo>
                  <a:pt x="63693" y="63693"/>
                </a:lnTo>
                <a:close/>
              </a:path>
            </a:pathLst>
          </a:custGeom>
          <a:solidFill>
            <a:srgbClr val="1E3A5F"/>
          </a:solidFill>
          <a:ln/>
        </p:spPr>
      </p:sp>
      <p:sp>
        <p:nvSpPr>
          <p:cNvPr id="10" name="Text 8"/>
          <p:cNvSpPr/>
          <p:nvPr/>
        </p:nvSpPr>
        <p:spPr>
          <a:xfrm>
            <a:off x="1009824" y="1815830"/>
            <a:ext cx="2140085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Processor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9824" y="2038176"/>
            <a:ext cx="2130821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Intel Core i7-12700H / AMD Ryzen 7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09824" y="2223465"/>
            <a:ext cx="2121556" cy="148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5" dirty="0">
                <a:solidFill>
                  <a:srgbClr val="4A90A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2.7 GHz, 12 Cores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55866" y="2593925"/>
            <a:ext cx="5243672" cy="778213"/>
          </a:xfrm>
          <a:custGeom>
            <a:avLst/>
            <a:gdLst/>
            <a:ahLst/>
            <a:cxnLst/>
            <a:rect l="l" t="t" r="r" b="b"/>
            <a:pathLst>
              <a:path w="5243672" h="778213">
                <a:moveTo>
                  <a:pt x="74117" y="0"/>
                </a:moveTo>
                <a:lnTo>
                  <a:pt x="5169555" y="0"/>
                </a:lnTo>
                <a:cubicBezTo>
                  <a:pt x="5210488" y="0"/>
                  <a:pt x="5243672" y="33183"/>
                  <a:pt x="5243672" y="74117"/>
                </a:cubicBezTo>
                <a:lnTo>
                  <a:pt x="5243672" y="704096"/>
                </a:lnTo>
                <a:cubicBezTo>
                  <a:pt x="5243672" y="745029"/>
                  <a:pt x="5210488" y="778213"/>
                  <a:pt x="5169555" y="778213"/>
                </a:cubicBezTo>
                <a:lnTo>
                  <a:pt x="74117" y="778213"/>
                </a:lnTo>
                <a:cubicBezTo>
                  <a:pt x="33183" y="778213"/>
                  <a:pt x="0" y="745029"/>
                  <a:pt x="0" y="704096"/>
                </a:cubicBezTo>
                <a:lnTo>
                  <a:pt x="0" y="74117"/>
                </a:lnTo>
                <a:cubicBezTo>
                  <a:pt x="0" y="33211"/>
                  <a:pt x="33211" y="0"/>
                  <a:pt x="74117" y="0"/>
                </a:cubicBezTo>
                <a:close/>
              </a:path>
            </a:pathLst>
          </a:custGeom>
          <a:solidFill>
            <a:srgbClr val="C75B4A">
              <a:alpha val="5098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90201" y="2742156"/>
            <a:ext cx="185289" cy="185289"/>
          </a:xfrm>
          <a:custGeom>
            <a:avLst/>
            <a:gdLst/>
            <a:ahLst/>
            <a:cxnLst/>
            <a:rect l="l" t="t" r="r" b="b"/>
            <a:pathLst>
              <a:path w="185289" h="185289">
                <a:moveTo>
                  <a:pt x="23161" y="23161"/>
                </a:moveTo>
                <a:cubicBezTo>
                  <a:pt x="10386" y="23161"/>
                  <a:pt x="0" y="33547"/>
                  <a:pt x="0" y="46322"/>
                </a:cubicBezTo>
                <a:lnTo>
                  <a:pt x="0" y="49000"/>
                </a:lnTo>
                <a:cubicBezTo>
                  <a:pt x="0" y="51461"/>
                  <a:pt x="1592" y="53560"/>
                  <a:pt x="3655" y="54899"/>
                </a:cubicBezTo>
                <a:cubicBezTo>
                  <a:pt x="8432" y="58011"/>
                  <a:pt x="11581" y="63367"/>
                  <a:pt x="11581" y="69483"/>
                </a:cubicBezTo>
                <a:cubicBezTo>
                  <a:pt x="11581" y="75599"/>
                  <a:pt x="8432" y="80955"/>
                  <a:pt x="3655" y="84068"/>
                </a:cubicBezTo>
                <a:cubicBezTo>
                  <a:pt x="1592" y="85407"/>
                  <a:pt x="0" y="87506"/>
                  <a:pt x="0" y="89966"/>
                </a:cubicBezTo>
                <a:lnTo>
                  <a:pt x="0" y="110015"/>
                </a:lnTo>
                <a:lnTo>
                  <a:pt x="185289" y="110015"/>
                </a:lnTo>
                <a:lnTo>
                  <a:pt x="185289" y="89966"/>
                </a:lnTo>
                <a:cubicBezTo>
                  <a:pt x="185289" y="87506"/>
                  <a:pt x="183696" y="85407"/>
                  <a:pt x="181634" y="84068"/>
                </a:cubicBezTo>
                <a:cubicBezTo>
                  <a:pt x="176857" y="80955"/>
                  <a:pt x="173708" y="75599"/>
                  <a:pt x="173708" y="69483"/>
                </a:cubicBezTo>
                <a:cubicBezTo>
                  <a:pt x="173708" y="63367"/>
                  <a:pt x="176857" y="58011"/>
                  <a:pt x="181634" y="54899"/>
                </a:cubicBezTo>
                <a:cubicBezTo>
                  <a:pt x="183696" y="53560"/>
                  <a:pt x="185289" y="51461"/>
                  <a:pt x="185289" y="49000"/>
                </a:cubicBezTo>
                <a:lnTo>
                  <a:pt x="185289" y="46322"/>
                </a:lnTo>
                <a:cubicBezTo>
                  <a:pt x="185289" y="33547"/>
                  <a:pt x="174902" y="23161"/>
                  <a:pt x="162128" y="23161"/>
                </a:cubicBezTo>
                <a:lnTo>
                  <a:pt x="23161" y="23161"/>
                </a:lnTo>
                <a:close/>
                <a:moveTo>
                  <a:pt x="185289" y="150547"/>
                </a:moveTo>
                <a:lnTo>
                  <a:pt x="185289" y="127386"/>
                </a:lnTo>
                <a:lnTo>
                  <a:pt x="0" y="127386"/>
                </a:lnTo>
                <a:lnTo>
                  <a:pt x="0" y="150547"/>
                </a:lnTo>
                <a:cubicBezTo>
                  <a:pt x="0" y="156953"/>
                  <a:pt x="5175" y="162128"/>
                  <a:pt x="11581" y="162128"/>
                </a:cubicBezTo>
                <a:lnTo>
                  <a:pt x="34742" y="162128"/>
                </a:lnTo>
                <a:lnTo>
                  <a:pt x="34742" y="153442"/>
                </a:lnTo>
                <a:cubicBezTo>
                  <a:pt x="34742" y="148629"/>
                  <a:pt x="38614" y="144757"/>
                  <a:pt x="43427" y="144757"/>
                </a:cubicBezTo>
                <a:cubicBezTo>
                  <a:pt x="48240" y="144757"/>
                  <a:pt x="52112" y="148629"/>
                  <a:pt x="52112" y="153442"/>
                </a:cubicBezTo>
                <a:lnTo>
                  <a:pt x="52112" y="162128"/>
                </a:lnTo>
                <a:lnTo>
                  <a:pt x="83959" y="162128"/>
                </a:lnTo>
                <a:lnTo>
                  <a:pt x="83959" y="153442"/>
                </a:lnTo>
                <a:cubicBezTo>
                  <a:pt x="83959" y="148629"/>
                  <a:pt x="87831" y="144757"/>
                  <a:pt x="92644" y="144757"/>
                </a:cubicBezTo>
                <a:cubicBezTo>
                  <a:pt x="97458" y="144757"/>
                  <a:pt x="101330" y="148629"/>
                  <a:pt x="101330" y="153442"/>
                </a:cubicBezTo>
                <a:lnTo>
                  <a:pt x="101330" y="162128"/>
                </a:lnTo>
                <a:lnTo>
                  <a:pt x="133176" y="162128"/>
                </a:lnTo>
                <a:lnTo>
                  <a:pt x="133176" y="153442"/>
                </a:lnTo>
                <a:cubicBezTo>
                  <a:pt x="133176" y="148629"/>
                  <a:pt x="137049" y="144757"/>
                  <a:pt x="141862" y="144757"/>
                </a:cubicBezTo>
                <a:cubicBezTo>
                  <a:pt x="146675" y="144757"/>
                  <a:pt x="150547" y="148629"/>
                  <a:pt x="150547" y="153442"/>
                </a:cubicBezTo>
                <a:lnTo>
                  <a:pt x="150547" y="162128"/>
                </a:lnTo>
                <a:lnTo>
                  <a:pt x="173708" y="162128"/>
                </a:lnTo>
                <a:cubicBezTo>
                  <a:pt x="180114" y="162128"/>
                  <a:pt x="185289" y="156953"/>
                  <a:pt x="185289" y="150547"/>
                </a:cubicBezTo>
                <a:close/>
                <a:moveTo>
                  <a:pt x="57903" y="57903"/>
                </a:moveTo>
                <a:lnTo>
                  <a:pt x="57903" y="81064"/>
                </a:lnTo>
                <a:cubicBezTo>
                  <a:pt x="57903" y="87469"/>
                  <a:pt x="52728" y="92644"/>
                  <a:pt x="46322" y="92644"/>
                </a:cubicBezTo>
                <a:cubicBezTo>
                  <a:pt x="39917" y="92644"/>
                  <a:pt x="34742" y="87469"/>
                  <a:pt x="34742" y="81064"/>
                </a:cubicBezTo>
                <a:lnTo>
                  <a:pt x="34742" y="57903"/>
                </a:lnTo>
                <a:cubicBezTo>
                  <a:pt x="34742" y="51497"/>
                  <a:pt x="39917" y="46322"/>
                  <a:pt x="46322" y="46322"/>
                </a:cubicBezTo>
                <a:cubicBezTo>
                  <a:pt x="52728" y="46322"/>
                  <a:pt x="57903" y="51497"/>
                  <a:pt x="57903" y="57903"/>
                </a:cubicBezTo>
                <a:close/>
                <a:moveTo>
                  <a:pt x="104225" y="57903"/>
                </a:moveTo>
                <a:lnTo>
                  <a:pt x="104225" y="81064"/>
                </a:lnTo>
                <a:cubicBezTo>
                  <a:pt x="104225" y="87469"/>
                  <a:pt x="99050" y="92644"/>
                  <a:pt x="92644" y="92644"/>
                </a:cubicBezTo>
                <a:cubicBezTo>
                  <a:pt x="86239" y="92644"/>
                  <a:pt x="81064" y="87469"/>
                  <a:pt x="81064" y="81064"/>
                </a:cubicBezTo>
                <a:lnTo>
                  <a:pt x="81064" y="57903"/>
                </a:lnTo>
                <a:cubicBezTo>
                  <a:pt x="81064" y="51497"/>
                  <a:pt x="86239" y="46322"/>
                  <a:pt x="92644" y="46322"/>
                </a:cubicBezTo>
                <a:cubicBezTo>
                  <a:pt x="99050" y="46322"/>
                  <a:pt x="104225" y="51497"/>
                  <a:pt x="104225" y="57903"/>
                </a:cubicBezTo>
                <a:close/>
                <a:moveTo>
                  <a:pt x="150547" y="57903"/>
                </a:moveTo>
                <a:lnTo>
                  <a:pt x="150547" y="81064"/>
                </a:lnTo>
                <a:cubicBezTo>
                  <a:pt x="150547" y="87469"/>
                  <a:pt x="145372" y="92644"/>
                  <a:pt x="138967" y="92644"/>
                </a:cubicBezTo>
                <a:cubicBezTo>
                  <a:pt x="132561" y="92644"/>
                  <a:pt x="127386" y="87469"/>
                  <a:pt x="127386" y="81064"/>
                </a:cubicBezTo>
                <a:lnTo>
                  <a:pt x="127386" y="57903"/>
                </a:lnTo>
                <a:cubicBezTo>
                  <a:pt x="127386" y="51497"/>
                  <a:pt x="132561" y="46322"/>
                  <a:pt x="138967" y="46322"/>
                </a:cubicBezTo>
                <a:cubicBezTo>
                  <a:pt x="145372" y="46322"/>
                  <a:pt x="150547" y="51497"/>
                  <a:pt x="150547" y="57903"/>
                </a:cubicBez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15" name="Text 13"/>
          <p:cNvSpPr/>
          <p:nvPr/>
        </p:nvSpPr>
        <p:spPr>
          <a:xfrm>
            <a:off x="1009824" y="2705098"/>
            <a:ext cx="759684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RAM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09824" y="2927445"/>
            <a:ext cx="750419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16 GB DDR4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09824" y="3112733"/>
            <a:ext cx="741155" cy="148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5" dirty="0">
                <a:solidFill>
                  <a:srgbClr val="4A90A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3200 MHz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55866" y="3483202"/>
            <a:ext cx="5243672" cy="778213"/>
          </a:xfrm>
          <a:custGeom>
            <a:avLst/>
            <a:gdLst/>
            <a:ahLst/>
            <a:cxnLst/>
            <a:rect l="l" t="t" r="r" b="b"/>
            <a:pathLst>
              <a:path w="5243672" h="778213">
                <a:moveTo>
                  <a:pt x="74117" y="0"/>
                </a:moveTo>
                <a:lnTo>
                  <a:pt x="5169555" y="0"/>
                </a:lnTo>
                <a:cubicBezTo>
                  <a:pt x="5210488" y="0"/>
                  <a:pt x="5243672" y="33183"/>
                  <a:pt x="5243672" y="74117"/>
                </a:cubicBezTo>
                <a:lnTo>
                  <a:pt x="5243672" y="704096"/>
                </a:lnTo>
                <a:cubicBezTo>
                  <a:pt x="5243672" y="745029"/>
                  <a:pt x="5210488" y="778213"/>
                  <a:pt x="5169555" y="778213"/>
                </a:cubicBezTo>
                <a:lnTo>
                  <a:pt x="74117" y="778213"/>
                </a:lnTo>
                <a:cubicBezTo>
                  <a:pt x="33183" y="778213"/>
                  <a:pt x="0" y="745029"/>
                  <a:pt x="0" y="704096"/>
                </a:cubicBezTo>
                <a:lnTo>
                  <a:pt x="0" y="74117"/>
                </a:lnTo>
                <a:cubicBezTo>
                  <a:pt x="0" y="33211"/>
                  <a:pt x="33211" y="0"/>
                  <a:pt x="74117" y="0"/>
                </a:cubicBezTo>
                <a:close/>
              </a:path>
            </a:pathLst>
          </a:custGeom>
          <a:solidFill>
            <a:srgbClr val="4A90A4">
              <a:alpha val="5098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701781" y="3631433"/>
            <a:ext cx="162128" cy="185289"/>
          </a:xfrm>
          <a:custGeom>
            <a:avLst/>
            <a:gdLst/>
            <a:ahLst/>
            <a:cxnLst/>
            <a:rect l="l" t="t" r="r" b="b"/>
            <a:pathLst>
              <a:path w="162128" h="185289">
                <a:moveTo>
                  <a:pt x="23161" y="11581"/>
                </a:moveTo>
                <a:cubicBezTo>
                  <a:pt x="10386" y="11581"/>
                  <a:pt x="0" y="21967"/>
                  <a:pt x="0" y="34742"/>
                </a:cubicBezTo>
                <a:lnTo>
                  <a:pt x="0" y="94128"/>
                </a:lnTo>
                <a:cubicBezTo>
                  <a:pt x="6550" y="89532"/>
                  <a:pt x="14548" y="86854"/>
                  <a:pt x="23161" y="86854"/>
                </a:cubicBezTo>
                <a:lnTo>
                  <a:pt x="138967" y="86854"/>
                </a:lnTo>
                <a:cubicBezTo>
                  <a:pt x="147580" y="86854"/>
                  <a:pt x="155577" y="89532"/>
                  <a:pt x="162128" y="94128"/>
                </a:cubicBezTo>
                <a:lnTo>
                  <a:pt x="162128" y="34742"/>
                </a:lnTo>
                <a:cubicBezTo>
                  <a:pt x="162128" y="21967"/>
                  <a:pt x="151741" y="11581"/>
                  <a:pt x="138967" y="11581"/>
                </a:cubicBezTo>
                <a:lnTo>
                  <a:pt x="23161" y="11581"/>
                </a:lnTo>
                <a:close/>
                <a:moveTo>
                  <a:pt x="162128" y="127386"/>
                </a:moveTo>
                <a:cubicBezTo>
                  <a:pt x="162128" y="114611"/>
                  <a:pt x="151741" y="104225"/>
                  <a:pt x="138967" y="104225"/>
                </a:cubicBezTo>
                <a:lnTo>
                  <a:pt x="23161" y="104225"/>
                </a:lnTo>
                <a:cubicBezTo>
                  <a:pt x="10386" y="104225"/>
                  <a:pt x="0" y="114611"/>
                  <a:pt x="0" y="127386"/>
                </a:cubicBezTo>
                <a:lnTo>
                  <a:pt x="0" y="150547"/>
                </a:lnTo>
                <a:cubicBezTo>
                  <a:pt x="0" y="163322"/>
                  <a:pt x="10386" y="173708"/>
                  <a:pt x="23161" y="173708"/>
                </a:cubicBezTo>
                <a:lnTo>
                  <a:pt x="138967" y="173708"/>
                </a:lnTo>
                <a:cubicBezTo>
                  <a:pt x="151741" y="173708"/>
                  <a:pt x="162128" y="163322"/>
                  <a:pt x="162128" y="150547"/>
                </a:cubicBezTo>
                <a:lnTo>
                  <a:pt x="162128" y="127386"/>
                </a:lnTo>
                <a:close/>
                <a:moveTo>
                  <a:pt x="81064" y="138967"/>
                </a:moveTo>
                <a:cubicBezTo>
                  <a:pt x="81064" y="132575"/>
                  <a:pt x="86253" y="127386"/>
                  <a:pt x="92644" y="127386"/>
                </a:cubicBezTo>
                <a:cubicBezTo>
                  <a:pt x="99036" y="127386"/>
                  <a:pt x="104225" y="132575"/>
                  <a:pt x="104225" y="138967"/>
                </a:cubicBezTo>
                <a:cubicBezTo>
                  <a:pt x="104225" y="145358"/>
                  <a:pt x="99036" y="150547"/>
                  <a:pt x="92644" y="150547"/>
                </a:cubicBezTo>
                <a:cubicBezTo>
                  <a:pt x="86253" y="150547"/>
                  <a:pt x="81064" y="145358"/>
                  <a:pt x="81064" y="138967"/>
                </a:cubicBezTo>
                <a:close/>
                <a:moveTo>
                  <a:pt x="127386" y="127386"/>
                </a:moveTo>
                <a:cubicBezTo>
                  <a:pt x="133777" y="127386"/>
                  <a:pt x="138967" y="132575"/>
                  <a:pt x="138967" y="138967"/>
                </a:cubicBezTo>
                <a:cubicBezTo>
                  <a:pt x="138967" y="145358"/>
                  <a:pt x="133777" y="150547"/>
                  <a:pt x="127386" y="150547"/>
                </a:cubicBezTo>
                <a:cubicBezTo>
                  <a:pt x="120995" y="150547"/>
                  <a:pt x="115805" y="145358"/>
                  <a:pt x="115805" y="138967"/>
                </a:cubicBezTo>
                <a:cubicBezTo>
                  <a:pt x="115805" y="132575"/>
                  <a:pt x="120995" y="127386"/>
                  <a:pt x="127386" y="127386"/>
                </a:cubicBezTo>
                <a:close/>
              </a:path>
            </a:pathLst>
          </a:custGeom>
          <a:solidFill>
            <a:srgbClr val="4A90A4"/>
          </a:solidFill>
          <a:ln/>
        </p:spPr>
      </p:sp>
      <p:sp>
        <p:nvSpPr>
          <p:cNvPr id="20" name="Text 18"/>
          <p:cNvSpPr/>
          <p:nvPr/>
        </p:nvSpPr>
        <p:spPr>
          <a:xfrm>
            <a:off x="1009824" y="3594376"/>
            <a:ext cx="722626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Storage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09824" y="3816722"/>
            <a:ext cx="713362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512 GB SSD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09824" y="4002011"/>
            <a:ext cx="704097" cy="148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5" dirty="0">
                <a:solidFill>
                  <a:srgbClr val="4A90A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NVMe M.2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55866" y="4372471"/>
            <a:ext cx="5243672" cy="778213"/>
          </a:xfrm>
          <a:custGeom>
            <a:avLst/>
            <a:gdLst/>
            <a:ahLst/>
            <a:cxnLst/>
            <a:rect l="l" t="t" r="r" b="b"/>
            <a:pathLst>
              <a:path w="5243672" h="778213">
                <a:moveTo>
                  <a:pt x="74117" y="0"/>
                </a:moveTo>
                <a:lnTo>
                  <a:pt x="5169555" y="0"/>
                </a:lnTo>
                <a:cubicBezTo>
                  <a:pt x="5210488" y="0"/>
                  <a:pt x="5243672" y="33183"/>
                  <a:pt x="5243672" y="74117"/>
                </a:cubicBezTo>
                <a:lnTo>
                  <a:pt x="5243672" y="704096"/>
                </a:lnTo>
                <a:cubicBezTo>
                  <a:pt x="5243672" y="745029"/>
                  <a:pt x="5210488" y="778213"/>
                  <a:pt x="5169555" y="778213"/>
                </a:cubicBezTo>
                <a:lnTo>
                  <a:pt x="74117" y="778213"/>
                </a:lnTo>
                <a:cubicBezTo>
                  <a:pt x="33183" y="778213"/>
                  <a:pt x="0" y="745029"/>
                  <a:pt x="0" y="704096"/>
                </a:cubicBezTo>
                <a:lnTo>
                  <a:pt x="0" y="74117"/>
                </a:lnTo>
                <a:cubicBezTo>
                  <a:pt x="0" y="33211"/>
                  <a:pt x="33211" y="0"/>
                  <a:pt x="74117" y="0"/>
                </a:cubicBezTo>
                <a:close/>
              </a:path>
            </a:pathLst>
          </a:custGeom>
          <a:solidFill>
            <a:srgbClr val="1E3A5F">
              <a:alpha val="5098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690201" y="4520702"/>
            <a:ext cx="185289" cy="185289"/>
          </a:xfrm>
          <a:custGeom>
            <a:avLst/>
            <a:gdLst/>
            <a:ahLst/>
            <a:cxnLst/>
            <a:rect l="l" t="t" r="r" b="b"/>
            <a:pathLst>
              <a:path w="185289" h="185289">
                <a:moveTo>
                  <a:pt x="23161" y="11581"/>
                </a:moveTo>
                <a:cubicBezTo>
                  <a:pt x="10386" y="11581"/>
                  <a:pt x="0" y="21967"/>
                  <a:pt x="0" y="34742"/>
                </a:cubicBezTo>
                <a:lnTo>
                  <a:pt x="0" y="127386"/>
                </a:lnTo>
                <a:cubicBezTo>
                  <a:pt x="0" y="140161"/>
                  <a:pt x="10386" y="150547"/>
                  <a:pt x="23161" y="150547"/>
                </a:cubicBezTo>
                <a:lnTo>
                  <a:pt x="75274" y="150547"/>
                </a:lnTo>
                <a:lnTo>
                  <a:pt x="69483" y="167918"/>
                </a:lnTo>
                <a:lnTo>
                  <a:pt x="43427" y="167918"/>
                </a:lnTo>
                <a:cubicBezTo>
                  <a:pt x="38614" y="167918"/>
                  <a:pt x="34742" y="171790"/>
                  <a:pt x="34742" y="176603"/>
                </a:cubicBezTo>
                <a:cubicBezTo>
                  <a:pt x="34742" y="181417"/>
                  <a:pt x="38614" y="185289"/>
                  <a:pt x="43427" y="185289"/>
                </a:cubicBezTo>
                <a:lnTo>
                  <a:pt x="141862" y="185289"/>
                </a:lnTo>
                <a:cubicBezTo>
                  <a:pt x="146675" y="185289"/>
                  <a:pt x="150547" y="181417"/>
                  <a:pt x="150547" y="176603"/>
                </a:cubicBezTo>
                <a:cubicBezTo>
                  <a:pt x="150547" y="171790"/>
                  <a:pt x="146675" y="167918"/>
                  <a:pt x="141862" y="167918"/>
                </a:cubicBezTo>
                <a:lnTo>
                  <a:pt x="115805" y="167918"/>
                </a:lnTo>
                <a:lnTo>
                  <a:pt x="110015" y="150547"/>
                </a:lnTo>
                <a:lnTo>
                  <a:pt x="162128" y="150547"/>
                </a:lnTo>
                <a:cubicBezTo>
                  <a:pt x="174902" y="150547"/>
                  <a:pt x="185289" y="140161"/>
                  <a:pt x="185289" y="127386"/>
                </a:cubicBezTo>
                <a:lnTo>
                  <a:pt x="185289" y="34742"/>
                </a:lnTo>
                <a:cubicBezTo>
                  <a:pt x="185289" y="21967"/>
                  <a:pt x="174902" y="11581"/>
                  <a:pt x="162128" y="11581"/>
                </a:cubicBezTo>
                <a:lnTo>
                  <a:pt x="23161" y="11581"/>
                </a:lnTo>
                <a:close/>
                <a:moveTo>
                  <a:pt x="34742" y="34742"/>
                </a:moveTo>
                <a:lnTo>
                  <a:pt x="150547" y="34742"/>
                </a:lnTo>
                <a:cubicBezTo>
                  <a:pt x="156953" y="34742"/>
                  <a:pt x="162128" y="39917"/>
                  <a:pt x="162128" y="46322"/>
                </a:cubicBezTo>
                <a:lnTo>
                  <a:pt x="162128" y="104225"/>
                </a:lnTo>
                <a:cubicBezTo>
                  <a:pt x="162128" y="110630"/>
                  <a:pt x="156953" y="115805"/>
                  <a:pt x="150547" y="115805"/>
                </a:cubicBezTo>
                <a:lnTo>
                  <a:pt x="34742" y="115805"/>
                </a:lnTo>
                <a:cubicBezTo>
                  <a:pt x="28336" y="115805"/>
                  <a:pt x="23161" y="110630"/>
                  <a:pt x="23161" y="104225"/>
                </a:cubicBezTo>
                <a:lnTo>
                  <a:pt x="23161" y="46322"/>
                </a:lnTo>
                <a:cubicBezTo>
                  <a:pt x="23161" y="39917"/>
                  <a:pt x="28336" y="34742"/>
                  <a:pt x="34742" y="34742"/>
                </a:cubicBezTo>
                <a:close/>
              </a:path>
            </a:pathLst>
          </a:custGeom>
          <a:solidFill>
            <a:srgbClr val="1E3A5F"/>
          </a:solidFill>
          <a:ln/>
        </p:spPr>
      </p:sp>
      <p:sp>
        <p:nvSpPr>
          <p:cNvPr id="25" name="Text 23"/>
          <p:cNvSpPr/>
          <p:nvPr/>
        </p:nvSpPr>
        <p:spPr>
          <a:xfrm>
            <a:off x="1009824" y="4483644"/>
            <a:ext cx="1649070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GPU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09824" y="4705991"/>
            <a:ext cx="1639805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NVIDIA GeForce RTX 3060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09824" y="4891279"/>
            <a:ext cx="1630541" cy="148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5" dirty="0">
                <a:solidFill>
                  <a:srgbClr val="4A90A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 GB VRAM (Optional)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70578" y="5484086"/>
            <a:ext cx="5614249" cy="1271277"/>
          </a:xfrm>
          <a:custGeom>
            <a:avLst/>
            <a:gdLst/>
            <a:ahLst/>
            <a:cxnLst/>
            <a:rect l="l" t="t" r="r" b="b"/>
            <a:pathLst>
              <a:path w="5614249" h="1371137">
                <a:moveTo>
                  <a:pt x="74110" y="0"/>
                </a:moveTo>
                <a:lnTo>
                  <a:pt x="5540139" y="0"/>
                </a:lnTo>
                <a:cubicBezTo>
                  <a:pt x="5581069" y="0"/>
                  <a:pt x="5614249" y="33180"/>
                  <a:pt x="5614249" y="74110"/>
                </a:cubicBezTo>
                <a:lnTo>
                  <a:pt x="5614249" y="1297027"/>
                </a:lnTo>
                <a:cubicBezTo>
                  <a:pt x="5614249" y="1337957"/>
                  <a:pt x="5581069" y="1371137"/>
                  <a:pt x="5540139" y="1371137"/>
                </a:cubicBezTo>
                <a:lnTo>
                  <a:pt x="74110" y="1371137"/>
                </a:lnTo>
                <a:cubicBezTo>
                  <a:pt x="33180" y="1371137"/>
                  <a:pt x="0" y="1337957"/>
                  <a:pt x="0" y="1297027"/>
                </a:cubicBezTo>
                <a:lnTo>
                  <a:pt x="0" y="74110"/>
                </a:lnTo>
                <a:cubicBezTo>
                  <a:pt x="0" y="33180"/>
                  <a:pt x="33180" y="0"/>
                  <a:pt x="74110" y="0"/>
                </a:cubicBezTo>
                <a:close/>
              </a:path>
            </a:pathLst>
          </a:custGeom>
          <a:solidFill>
            <a:srgbClr val="FFFFFF"/>
          </a:solidFill>
          <a:ln>
            <a:solidFill>
              <a:schemeClr val="tx1"/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5587" dist="3705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55866" y="5669374"/>
            <a:ext cx="5336316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9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Operating System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55866" y="6077010"/>
            <a:ext cx="592924" cy="592924"/>
          </a:xfrm>
          <a:custGeom>
            <a:avLst/>
            <a:gdLst/>
            <a:ahLst/>
            <a:cxnLst/>
            <a:rect l="l" t="t" r="r" b="b"/>
            <a:pathLst>
              <a:path w="592924" h="592924">
                <a:moveTo>
                  <a:pt x="74116" y="0"/>
                </a:moveTo>
                <a:lnTo>
                  <a:pt x="518809" y="0"/>
                </a:lnTo>
                <a:cubicBezTo>
                  <a:pt x="559741" y="0"/>
                  <a:pt x="592924" y="33183"/>
                  <a:pt x="592924" y="74116"/>
                </a:cubicBezTo>
                <a:lnTo>
                  <a:pt x="592924" y="518809"/>
                </a:lnTo>
                <a:cubicBezTo>
                  <a:pt x="592924" y="559741"/>
                  <a:pt x="559741" y="592924"/>
                  <a:pt x="518809" y="592924"/>
                </a:cubicBezTo>
                <a:lnTo>
                  <a:pt x="74116" y="592924"/>
                </a:lnTo>
                <a:cubicBezTo>
                  <a:pt x="33183" y="592924"/>
                  <a:pt x="0" y="559741"/>
                  <a:pt x="0" y="518809"/>
                </a:cubicBezTo>
                <a:lnTo>
                  <a:pt x="0" y="74116"/>
                </a:lnTo>
                <a:cubicBezTo>
                  <a:pt x="0" y="33183"/>
                  <a:pt x="33183" y="0"/>
                  <a:pt x="74116" y="0"/>
                </a:cubicBezTo>
                <a:close/>
              </a:path>
            </a:pathLst>
          </a:custGeom>
          <a:solidFill>
            <a:srgbClr val="1E3A5F"/>
          </a:solidFill>
          <a:ln/>
        </p:spPr>
      </p:sp>
      <p:sp>
        <p:nvSpPr>
          <p:cNvPr id="31" name="Shape 29"/>
          <p:cNvSpPr/>
          <p:nvPr/>
        </p:nvSpPr>
        <p:spPr>
          <a:xfrm>
            <a:off x="733049" y="6234505"/>
            <a:ext cx="243191" cy="277933"/>
          </a:xfrm>
          <a:custGeom>
            <a:avLst/>
            <a:gdLst/>
            <a:ahLst/>
            <a:cxnLst/>
            <a:rect l="l" t="t" r="r" b="b"/>
            <a:pathLst>
              <a:path w="243191" h="277933">
                <a:moveTo>
                  <a:pt x="0" y="50864"/>
                </a:moveTo>
                <a:lnTo>
                  <a:pt x="99665" y="37130"/>
                </a:lnTo>
                <a:lnTo>
                  <a:pt x="99665" y="133430"/>
                </a:lnTo>
                <a:lnTo>
                  <a:pt x="0" y="133430"/>
                </a:lnTo>
                <a:lnTo>
                  <a:pt x="0" y="50864"/>
                </a:lnTo>
                <a:close/>
                <a:moveTo>
                  <a:pt x="0" y="227069"/>
                </a:moveTo>
                <a:lnTo>
                  <a:pt x="99665" y="240803"/>
                </a:lnTo>
                <a:lnTo>
                  <a:pt x="99665" y="145698"/>
                </a:lnTo>
                <a:lnTo>
                  <a:pt x="0" y="145698"/>
                </a:lnTo>
                <a:lnTo>
                  <a:pt x="0" y="227069"/>
                </a:lnTo>
                <a:close/>
                <a:moveTo>
                  <a:pt x="110630" y="242269"/>
                </a:moveTo>
                <a:lnTo>
                  <a:pt x="243191" y="260562"/>
                </a:lnTo>
                <a:lnTo>
                  <a:pt x="243191" y="145698"/>
                </a:lnTo>
                <a:lnTo>
                  <a:pt x="110630" y="145698"/>
                </a:lnTo>
                <a:lnTo>
                  <a:pt x="110630" y="242269"/>
                </a:lnTo>
                <a:close/>
                <a:moveTo>
                  <a:pt x="110630" y="35664"/>
                </a:moveTo>
                <a:lnTo>
                  <a:pt x="110630" y="133430"/>
                </a:lnTo>
                <a:lnTo>
                  <a:pt x="243191" y="133430"/>
                </a:lnTo>
                <a:lnTo>
                  <a:pt x="243191" y="17371"/>
                </a:lnTo>
                <a:lnTo>
                  <a:pt x="110630" y="35664"/>
                </a:lnTo>
                <a:close/>
              </a:path>
            </a:pathLst>
          </a:custGeom>
          <a:solidFill>
            <a:srgbClr val="F5F1EB"/>
          </a:solidFill>
          <a:ln/>
        </p:spPr>
      </p:sp>
      <p:sp>
        <p:nvSpPr>
          <p:cNvPr id="32" name="Text 30"/>
          <p:cNvSpPr/>
          <p:nvPr/>
        </p:nvSpPr>
        <p:spPr>
          <a:xfrm>
            <a:off x="1297021" y="6077010"/>
            <a:ext cx="1510103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3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Windows 11 / Linux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297021" y="6336414"/>
            <a:ext cx="1491574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64-bit Architecture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297021" y="6521703"/>
            <a:ext cx="1482310" cy="148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5" dirty="0">
                <a:solidFill>
                  <a:srgbClr val="4A90A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Version 22H2 or later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205089" y="1111733"/>
            <a:ext cx="5614249" cy="3928122"/>
          </a:xfrm>
          <a:custGeom>
            <a:avLst/>
            <a:gdLst/>
            <a:ahLst/>
            <a:cxnLst/>
            <a:rect l="l" t="t" r="r" b="b"/>
            <a:pathLst>
              <a:path w="5614249" h="3928122">
                <a:moveTo>
                  <a:pt x="74124" y="0"/>
                </a:moveTo>
                <a:lnTo>
                  <a:pt x="5540126" y="0"/>
                </a:lnTo>
                <a:cubicBezTo>
                  <a:pt x="5581063" y="0"/>
                  <a:pt x="5614249" y="33186"/>
                  <a:pt x="5614249" y="74124"/>
                </a:cubicBezTo>
                <a:lnTo>
                  <a:pt x="5614249" y="3853998"/>
                </a:lnTo>
                <a:cubicBezTo>
                  <a:pt x="5614249" y="3894935"/>
                  <a:pt x="5581063" y="3928122"/>
                  <a:pt x="5540126" y="3928122"/>
                </a:cubicBezTo>
                <a:lnTo>
                  <a:pt x="74124" y="3928122"/>
                </a:lnTo>
                <a:cubicBezTo>
                  <a:pt x="33186" y="3928122"/>
                  <a:pt x="0" y="3894935"/>
                  <a:pt x="0" y="3853998"/>
                </a:cubicBezTo>
                <a:lnTo>
                  <a:pt x="0" y="74124"/>
                </a:lnTo>
                <a:cubicBezTo>
                  <a:pt x="0" y="33186"/>
                  <a:pt x="33186" y="0"/>
                  <a:pt x="74124" y="0"/>
                </a:cubicBezTo>
                <a:close/>
              </a:path>
            </a:pathLst>
          </a:custGeom>
          <a:solidFill>
            <a:srgbClr val="FFFFFF"/>
          </a:solidFill>
          <a:ln>
            <a:solidFill>
              <a:schemeClr val="tx1"/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5587" dist="3705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390378" y="1297021"/>
            <a:ext cx="5336316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9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Software &amp; Tools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390378" y="1704657"/>
            <a:ext cx="5243672" cy="704097"/>
          </a:xfrm>
          <a:custGeom>
            <a:avLst/>
            <a:gdLst/>
            <a:ahLst/>
            <a:cxnLst/>
            <a:rect l="l" t="t" r="r" b="b"/>
            <a:pathLst>
              <a:path w="5243672" h="704097">
                <a:moveTo>
                  <a:pt x="74113" y="0"/>
                </a:moveTo>
                <a:lnTo>
                  <a:pt x="5169558" y="0"/>
                </a:lnTo>
                <a:cubicBezTo>
                  <a:pt x="5210490" y="0"/>
                  <a:pt x="5243672" y="33182"/>
                  <a:pt x="5243672" y="74113"/>
                </a:cubicBezTo>
                <a:lnTo>
                  <a:pt x="5243672" y="629984"/>
                </a:lnTo>
                <a:cubicBezTo>
                  <a:pt x="5243672" y="670916"/>
                  <a:pt x="5210490" y="704097"/>
                  <a:pt x="5169558" y="704097"/>
                </a:cubicBezTo>
                <a:lnTo>
                  <a:pt x="74113" y="704097"/>
                </a:lnTo>
                <a:cubicBezTo>
                  <a:pt x="33209" y="704097"/>
                  <a:pt x="0" y="670888"/>
                  <a:pt x="0" y="629984"/>
                </a:cubicBezTo>
                <a:lnTo>
                  <a:pt x="0" y="74113"/>
                </a:lnTo>
                <a:cubicBezTo>
                  <a:pt x="0" y="33209"/>
                  <a:pt x="33209" y="0"/>
                  <a:pt x="74113" y="0"/>
                </a:cubicBezTo>
                <a:close/>
              </a:path>
            </a:pathLst>
          </a:custGeom>
          <a:solidFill>
            <a:srgbClr val="1E3A5F">
              <a:alpha val="5098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6501551" y="1815830"/>
            <a:ext cx="648511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Frontend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10868575" y="1815830"/>
            <a:ext cx="648511" cy="222347"/>
          </a:xfrm>
          <a:custGeom>
            <a:avLst/>
            <a:gdLst/>
            <a:ahLst/>
            <a:cxnLst/>
            <a:rect l="l" t="t" r="r" b="b"/>
            <a:pathLst>
              <a:path w="648511" h="222347">
                <a:moveTo>
                  <a:pt x="37058" y="0"/>
                </a:moveTo>
                <a:lnTo>
                  <a:pt x="611452" y="0"/>
                </a:lnTo>
                <a:cubicBezTo>
                  <a:pt x="631919" y="0"/>
                  <a:pt x="648511" y="16592"/>
                  <a:pt x="648511" y="37058"/>
                </a:cubicBezTo>
                <a:lnTo>
                  <a:pt x="648511" y="185288"/>
                </a:lnTo>
                <a:cubicBezTo>
                  <a:pt x="648511" y="205755"/>
                  <a:pt x="631919" y="222347"/>
                  <a:pt x="611452" y="222347"/>
                </a:cubicBezTo>
                <a:lnTo>
                  <a:pt x="37058" y="222347"/>
                </a:lnTo>
                <a:cubicBezTo>
                  <a:pt x="16605" y="222347"/>
                  <a:pt x="0" y="205741"/>
                  <a:pt x="0" y="185288"/>
                </a:cubicBezTo>
                <a:lnTo>
                  <a:pt x="0" y="37058"/>
                </a:lnTo>
                <a:cubicBezTo>
                  <a:pt x="0" y="16605"/>
                  <a:pt x="16605" y="0"/>
                  <a:pt x="37058" y="0"/>
                </a:cubicBez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40" name="Text 38"/>
          <p:cNvSpPr/>
          <p:nvPr/>
        </p:nvSpPr>
        <p:spPr>
          <a:xfrm>
            <a:off x="10868575" y="1815830"/>
            <a:ext cx="704097" cy="222347"/>
          </a:xfrm>
          <a:prstGeom prst="rect">
            <a:avLst/>
          </a:prstGeom>
          <a:noFill/>
          <a:ln/>
        </p:spPr>
        <p:txBody>
          <a:bodyPr wrap="square" lIns="74116" tIns="37058" rIns="74116" bIns="37058" rtlCol="0" anchor="ctr"/>
          <a:lstStyle/>
          <a:p>
            <a:pPr>
              <a:lnSpc>
                <a:spcPct val="110000"/>
              </a:lnSpc>
            </a:pPr>
            <a:r>
              <a:rPr lang="en-US" sz="875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React.js 18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501551" y="2112292"/>
            <a:ext cx="5086176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JavaScript, HTML5, CSS3, Tailwind CSS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390378" y="2519927"/>
            <a:ext cx="5243672" cy="704097"/>
          </a:xfrm>
          <a:custGeom>
            <a:avLst/>
            <a:gdLst/>
            <a:ahLst/>
            <a:cxnLst/>
            <a:rect l="l" t="t" r="r" b="b"/>
            <a:pathLst>
              <a:path w="5243672" h="704097">
                <a:moveTo>
                  <a:pt x="74113" y="0"/>
                </a:moveTo>
                <a:lnTo>
                  <a:pt x="5169558" y="0"/>
                </a:lnTo>
                <a:cubicBezTo>
                  <a:pt x="5210490" y="0"/>
                  <a:pt x="5243672" y="33182"/>
                  <a:pt x="5243672" y="74113"/>
                </a:cubicBezTo>
                <a:lnTo>
                  <a:pt x="5243672" y="629984"/>
                </a:lnTo>
                <a:cubicBezTo>
                  <a:pt x="5243672" y="670916"/>
                  <a:pt x="5210490" y="704097"/>
                  <a:pt x="5169558" y="704097"/>
                </a:cubicBezTo>
                <a:lnTo>
                  <a:pt x="74113" y="704097"/>
                </a:lnTo>
                <a:cubicBezTo>
                  <a:pt x="33209" y="704097"/>
                  <a:pt x="0" y="670888"/>
                  <a:pt x="0" y="629984"/>
                </a:cubicBezTo>
                <a:lnTo>
                  <a:pt x="0" y="74113"/>
                </a:lnTo>
                <a:cubicBezTo>
                  <a:pt x="0" y="33209"/>
                  <a:pt x="33209" y="0"/>
                  <a:pt x="74113" y="0"/>
                </a:cubicBezTo>
                <a:close/>
              </a:path>
            </a:pathLst>
          </a:custGeom>
          <a:solidFill>
            <a:srgbClr val="C75B4A">
              <a:alpha val="5098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6501551" y="2631100"/>
            <a:ext cx="611453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Backend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11016806" y="2631100"/>
            <a:ext cx="500280" cy="222347"/>
          </a:xfrm>
          <a:custGeom>
            <a:avLst/>
            <a:gdLst/>
            <a:ahLst/>
            <a:cxnLst/>
            <a:rect l="l" t="t" r="r" b="b"/>
            <a:pathLst>
              <a:path w="500280" h="222347">
                <a:moveTo>
                  <a:pt x="37058" y="0"/>
                </a:moveTo>
                <a:lnTo>
                  <a:pt x="463221" y="0"/>
                </a:lnTo>
                <a:cubicBezTo>
                  <a:pt x="483688" y="0"/>
                  <a:pt x="500280" y="16592"/>
                  <a:pt x="500280" y="37058"/>
                </a:cubicBezTo>
                <a:lnTo>
                  <a:pt x="500280" y="185288"/>
                </a:lnTo>
                <a:cubicBezTo>
                  <a:pt x="500280" y="205755"/>
                  <a:pt x="483688" y="222347"/>
                  <a:pt x="463221" y="222347"/>
                </a:cubicBezTo>
                <a:lnTo>
                  <a:pt x="37058" y="222347"/>
                </a:lnTo>
                <a:cubicBezTo>
                  <a:pt x="16605" y="222347"/>
                  <a:pt x="0" y="205741"/>
                  <a:pt x="0" y="185288"/>
                </a:cubicBezTo>
                <a:lnTo>
                  <a:pt x="0" y="37058"/>
                </a:lnTo>
                <a:cubicBezTo>
                  <a:pt x="0" y="16605"/>
                  <a:pt x="16605" y="0"/>
                  <a:pt x="37058" y="0"/>
                </a:cubicBezTo>
                <a:close/>
              </a:path>
            </a:pathLst>
          </a:custGeom>
          <a:solidFill>
            <a:srgbClr val="4A90A4"/>
          </a:solidFill>
          <a:ln/>
        </p:spPr>
      </p:sp>
      <p:sp>
        <p:nvSpPr>
          <p:cNvPr id="45" name="Text 43"/>
          <p:cNvSpPr/>
          <p:nvPr/>
        </p:nvSpPr>
        <p:spPr>
          <a:xfrm>
            <a:off x="11016806" y="2631100"/>
            <a:ext cx="555866" cy="222347"/>
          </a:xfrm>
          <a:prstGeom prst="rect">
            <a:avLst/>
          </a:prstGeom>
          <a:noFill/>
          <a:ln/>
        </p:spPr>
        <p:txBody>
          <a:bodyPr wrap="square" lIns="74116" tIns="37058" rIns="74116" bIns="37058" rtlCol="0" anchor="ctr"/>
          <a:lstStyle/>
          <a:p>
            <a:pPr>
              <a:lnSpc>
                <a:spcPct val="110000"/>
              </a:lnSpc>
            </a:pPr>
            <a:r>
              <a:rPr lang="en-US" sz="875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FastAPI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501551" y="2927562"/>
            <a:ext cx="5086176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Python 3.9+, Uvicorn, Pydantic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390378" y="3335198"/>
            <a:ext cx="5243672" cy="704097"/>
          </a:xfrm>
          <a:custGeom>
            <a:avLst/>
            <a:gdLst/>
            <a:ahLst/>
            <a:cxnLst/>
            <a:rect l="l" t="t" r="r" b="b"/>
            <a:pathLst>
              <a:path w="5243672" h="704097">
                <a:moveTo>
                  <a:pt x="74113" y="0"/>
                </a:moveTo>
                <a:lnTo>
                  <a:pt x="5169558" y="0"/>
                </a:lnTo>
                <a:cubicBezTo>
                  <a:pt x="5210490" y="0"/>
                  <a:pt x="5243672" y="33182"/>
                  <a:pt x="5243672" y="74113"/>
                </a:cubicBezTo>
                <a:lnTo>
                  <a:pt x="5243672" y="629984"/>
                </a:lnTo>
                <a:cubicBezTo>
                  <a:pt x="5243672" y="670916"/>
                  <a:pt x="5210490" y="704097"/>
                  <a:pt x="5169558" y="704097"/>
                </a:cubicBezTo>
                <a:lnTo>
                  <a:pt x="74113" y="704097"/>
                </a:lnTo>
                <a:cubicBezTo>
                  <a:pt x="33209" y="704097"/>
                  <a:pt x="0" y="670888"/>
                  <a:pt x="0" y="629984"/>
                </a:cubicBezTo>
                <a:lnTo>
                  <a:pt x="0" y="74113"/>
                </a:lnTo>
                <a:cubicBezTo>
                  <a:pt x="0" y="33209"/>
                  <a:pt x="33209" y="0"/>
                  <a:pt x="74113" y="0"/>
                </a:cubicBezTo>
                <a:close/>
              </a:path>
            </a:pathLst>
          </a:custGeom>
          <a:solidFill>
            <a:srgbClr val="4A90A4">
              <a:alpha val="5098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6501551" y="3446371"/>
            <a:ext cx="852328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Source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10964926" y="3446371"/>
            <a:ext cx="555866" cy="222347"/>
          </a:xfrm>
          <a:custGeom>
            <a:avLst/>
            <a:gdLst/>
            <a:ahLst/>
            <a:cxnLst/>
            <a:rect l="l" t="t" r="r" b="b"/>
            <a:pathLst>
              <a:path w="555866" h="222347">
                <a:moveTo>
                  <a:pt x="37058" y="0"/>
                </a:moveTo>
                <a:lnTo>
                  <a:pt x="518808" y="0"/>
                </a:lnTo>
                <a:cubicBezTo>
                  <a:pt x="539275" y="0"/>
                  <a:pt x="555866" y="16592"/>
                  <a:pt x="555866" y="37058"/>
                </a:cubicBezTo>
                <a:lnTo>
                  <a:pt x="555866" y="185288"/>
                </a:lnTo>
                <a:cubicBezTo>
                  <a:pt x="555866" y="205755"/>
                  <a:pt x="539275" y="222347"/>
                  <a:pt x="518808" y="222347"/>
                </a:cubicBezTo>
                <a:lnTo>
                  <a:pt x="37058" y="222347"/>
                </a:lnTo>
                <a:cubicBezTo>
                  <a:pt x="16605" y="222347"/>
                  <a:pt x="0" y="205741"/>
                  <a:pt x="0" y="185288"/>
                </a:cubicBezTo>
                <a:lnTo>
                  <a:pt x="0" y="37058"/>
                </a:lnTo>
                <a:cubicBezTo>
                  <a:pt x="0" y="16605"/>
                  <a:pt x="16605" y="0"/>
                  <a:pt x="37058" y="0"/>
                </a:cubicBezTo>
                <a:close/>
              </a:path>
            </a:pathLst>
          </a:custGeom>
          <a:solidFill>
            <a:srgbClr val="1E3A5F"/>
          </a:solidFill>
          <a:ln/>
        </p:spPr>
      </p:sp>
      <p:sp>
        <p:nvSpPr>
          <p:cNvPr id="50" name="Text 48"/>
          <p:cNvSpPr/>
          <p:nvPr/>
        </p:nvSpPr>
        <p:spPr>
          <a:xfrm>
            <a:off x="10964926" y="3446371"/>
            <a:ext cx="611453" cy="222347"/>
          </a:xfrm>
          <a:prstGeom prst="rect">
            <a:avLst/>
          </a:prstGeom>
          <a:noFill/>
          <a:ln/>
        </p:spPr>
        <p:txBody>
          <a:bodyPr wrap="square" lIns="74116" tIns="37058" rIns="74116" bIns="37058" rtlCol="0" anchor="ctr"/>
          <a:lstStyle/>
          <a:p>
            <a:pPr>
              <a:lnSpc>
                <a:spcPct val="110000"/>
              </a:lnSpc>
            </a:pPr>
            <a:r>
              <a:rPr lang="en-US" sz="875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yfinance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501551" y="3742833"/>
            <a:ext cx="5086176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Yahoo Finance API, Pandas, NumPy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390378" y="4150468"/>
            <a:ext cx="5243672" cy="704097"/>
          </a:xfrm>
          <a:custGeom>
            <a:avLst/>
            <a:gdLst/>
            <a:ahLst/>
            <a:cxnLst/>
            <a:rect l="l" t="t" r="r" b="b"/>
            <a:pathLst>
              <a:path w="5243672" h="704097">
                <a:moveTo>
                  <a:pt x="74113" y="0"/>
                </a:moveTo>
                <a:lnTo>
                  <a:pt x="5169558" y="0"/>
                </a:lnTo>
                <a:cubicBezTo>
                  <a:pt x="5210490" y="0"/>
                  <a:pt x="5243672" y="33182"/>
                  <a:pt x="5243672" y="74113"/>
                </a:cubicBezTo>
                <a:lnTo>
                  <a:pt x="5243672" y="629984"/>
                </a:lnTo>
                <a:cubicBezTo>
                  <a:pt x="5243672" y="670916"/>
                  <a:pt x="5210490" y="704097"/>
                  <a:pt x="5169558" y="704097"/>
                </a:cubicBezTo>
                <a:lnTo>
                  <a:pt x="74113" y="704097"/>
                </a:lnTo>
                <a:cubicBezTo>
                  <a:pt x="33209" y="704097"/>
                  <a:pt x="0" y="670888"/>
                  <a:pt x="0" y="629984"/>
                </a:cubicBezTo>
                <a:lnTo>
                  <a:pt x="0" y="74113"/>
                </a:lnTo>
                <a:cubicBezTo>
                  <a:pt x="0" y="33209"/>
                  <a:pt x="33209" y="0"/>
                  <a:pt x="74113" y="0"/>
                </a:cubicBezTo>
                <a:close/>
              </a:path>
            </a:pathLst>
          </a:custGeom>
          <a:solidFill>
            <a:srgbClr val="1E3A5F">
              <a:alpha val="5098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6501551" y="4261641"/>
            <a:ext cx="676304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Database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10816695" y="4261641"/>
            <a:ext cx="704097" cy="222347"/>
          </a:xfrm>
          <a:custGeom>
            <a:avLst/>
            <a:gdLst/>
            <a:ahLst/>
            <a:cxnLst/>
            <a:rect l="l" t="t" r="r" b="b"/>
            <a:pathLst>
              <a:path w="704097" h="222347">
                <a:moveTo>
                  <a:pt x="37058" y="0"/>
                </a:moveTo>
                <a:lnTo>
                  <a:pt x="667039" y="0"/>
                </a:lnTo>
                <a:cubicBezTo>
                  <a:pt x="687506" y="0"/>
                  <a:pt x="704097" y="16592"/>
                  <a:pt x="704097" y="37058"/>
                </a:cubicBezTo>
                <a:lnTo>
                  <a:pt x="704097" y="185288"/>
                </a:lnTo>
                <a:cubicBezTo>
                  <a:pt x="704097" y="205755"/>
                  <a:pt x="687506" y="222347"/>
                  <a:pt x="667039" y="222347"/>
                </a:cubicBezTo>
                <a:lnTo>
                  <a:pt x="37058" y="222347"/>
                </a:lnTo>
                <a:cubicBezTo>
                  <a:pt x="16605" y="222347"/>
                  <a:pt x="0" y="205741"/>
                  <a:pt x="0" y="185288"/>
                </a:cubicBezTo>
                <a:lnTo>
                  <a:pt x="0" y="37058"/>
                </a:lnTo>
                <a:cubicBezTo>
                  <a:pt x="0" y="16605"/>
                  <a:pt x="16605" y="0"/>
                  <a:pt x="37058" y="0"/>
                </a:cubicBez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55" name="Text 53"/>
          <p:cNvSpPr/>
          <p:nvPr/>
        </p:nvSpPr>
        <p:spPr>
          <a:xfrm>
            <a:off x="10816695" y="4261641"/>
            <a:ext cx="759684" cy="222347"/>
          </a:xfrm>
          <a:prstGeom prst="rect">
            <a:avLst/>
          </a:prstGeom>
          <a:noFill/>
          <a:ln/>
        </p:spPr>
        <p:txBody>
          <a:bodyPr wrap="square" lIns="74116" tIns="37058" rIns="74116" bIns="37058" rtlCol="0" anchor="ctr"/>
          <a:lstStyle/>
          <a:p>
            <a:pPr>
              <a:lnSpc>
                <a:spcPct val="110000"/>
              </a:lnSpc>
            </a:pPr>
            <a:r>
              <a:rPr lang="en-US" sz="875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PostgreSQL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6501551" y="4558103"/>
            <a:ext cx="5086176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SQLAlchemy, Alembic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205089" y="5188085"/>
            <a:ext cx="5614249" cy="1371137"/>
          </a:xfrm>
          <a:custGeom>
            <a:avLst/>
            <a:gdLst/>
            <a:ahLst/>
            <a:cxnLst/>
            <a:rect l="l" t="t" r="r" b="b"/>
            <a:pathLst>
              <a:path w="5614249" h="1371137">
                <a:moveTo>
                  <a:pt x="74110" y="0"/>
                </a:moveTo>
                <a:lnTo>
                  <a:pt x="5540139" y="0"/>
                </a:lnTo>
                <a:cubicBezTo>
                  <a:pt x="5581069" y="0"/>
                  <a:pt x="5614249" y="33180"/>
                  <a:pt x="5614249" y="74110"/>
                </a:cubicBezTo>
                <a:lnTo>
                  <a:pt x="5614249" y="1297027"/>
                </a:lnTo>
                <a:cubicBezTo>
                  <a:pt x="5614249" y="1337957"/>
                  <a:pt x="5581069" y="1371137"/>
                  <a:pt x="5540139" y="1371137"/>
                </a:cubicBezTo>
                <a:lnTo>
                  <a:pt x="74110" y="1371137"/>
                </a:lnTo>
                <a:cubicBezTo>
                  <a:pt x="33180" y="1371137"/>
                  <a:pt x="0" y="1337957"/>
                  <a:pt x="0" y="1297027"/>
                </a:cubicBezTo>
                <a:lnTo>
                  <a:pt x="0" y="74110"/>
                </a:lnTo>
                <a:cubicBezTo>
                  <a:pt x="0" y="33180"/>
                  <a:pt x="33180" y="0"/>
                  <a:pt x="74110" y="0"/>
                </a:cubicBezTo>
                <a:close/>
              </a:path>
            </a:pathLst>
          </a:custGeom>
          <a:solidFill>
            <a:srgbClr val="1E3A5F"/>
          </a:solidFill>
          <a:ln>
            <a:solidFill>
              <a:schemeClr val="tx1"/>
            </a:solidFill>
          </a:ln>
          <a:effectLst>
            <a:glow rad="101600">
              <a:schemeClr val="accent5">
                <a:satMod val="175000"/>
                <a:alpha val="40000"/>
              </a:schemeClr>
            </a:glow>
          </a:effectLst>
        </p:spPr>
      </p:sp>
      <p:sp>
        <p:nvSpPr>
          <p:cNvPr id="58" name="Text 56"/>
          <p:cNvSpPr/>
          <p:nvPr/>
        </p:nvSpPr>
        <p:spPr>
          <a:xfrm>
            <a:off x="6353320" y="5336316"/>
            <a:ext cx="5401167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3" b="1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Python Libraries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371849" y="5734687"/>
            <a:ext cx="129702" cy="129702"/>
          </a:xfrm>
          <a:custGeom>
            <a:avLst/>
            <a:gdLst/>
            <a:ahLst/>
            <a:cxnLst/>
            <a:rect l="l" t="t" r="r" b="b"/>
            <a:pathLst>
              <a:path w="129702" h="129702">
                <a:moveTo>
                  <a:pt x="64851" y="129702"/>
                </a:moveTo>
                <a:cubicBezTo>
                  <a:pt x="100643" y="129702"/>
                  <a:pt x="129702" y="100643"/>
                  <a:pt x="129702" y="64851"/>
                </a:cubicBezTo>
                <a:cubicBezTo>
                  <a:pt x="129702" y="29059"/>
                  <a:pt x="100643" y="0"/>
                  <a:pt x="64851" y="0"/>
                </a:cubicBezTo>
                <a:cubicBezTo>
                  <a:pt x="29059" y="0"/>
                  <a:pt x="0" y="29059"/>
                  <a:pt x="0" y="64851"/>
                </a:cubicBezTo>
                <a:cubicBezTo>
                  <a:pt x="0" y="100643"/>
                  <a:pt x="29059" y="129702"/>
                  <a:pt x="64851" y="129702"/>
                </a:cubicBezTo>
                <a:close/>
                <a:moveTo>
                  <a:pt x="86232" y="53882"/>
                </a:moveTo>
                <a:lnTo>
                  <a:pt x="65966" y="86308"/>
                </a:lnTo>
                <a:cubicBezTo>
                  <a:pt x="64902" y="88005"/>
                  <a:pt x="63078" y="89069"/>
                  <a:pt x="61077" y="89170"/>
                </a:cubicBezTo>
                <a:cubicBezTo>
                  <a:pt x="59075" y="89272"/>
                  <a:pt x="57150" y="88360"/>
                  <a:pt x="55959" y="86738"/>
                </a:cubicBezTo>
                <a:lnTo>
                  <a:pt x="43800" y="70526"/>
                </a:lnTo>
                <a:cubicBezTo>
                  <a:pt x="41773" y="67840"/>
                  <a:pt x="42331" y="64040"/>
                  <a:pt x="45016" y="62014"/>
                </a:cubicBezTo>
                <a:cubicBezTo>
                  <a:pt x="47701" y="59987"/>
                  <a:pt x="51501" y="60545"/>
                  <a:pt x="53527" y="63230"/>
                </a:cubicBezTo>
                <a:lnTo>
                  <a:pt x="60367" y="72349"/>
                </a:lnTo>
                <a:lnTo>
                  <a:pt x="75921" y="47448"/>
                </a:lnTo>
                <a:cubicBezTo>
                  <a:pt x="77695" y="44610"/>
                  <a:pt x="81444" y="43724"/>
                  <a:pt x="84306" y="45522"/>
                </a:cubicBezTo>
                <a:cubicBezTo>
                  <a:pt x="87169" y="47321"/>
                  <a:pt x="88030" y="51045"/>
                  <a:pt x="86232" y="53907"/>
                </a:cubicBez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60" name="Text 58"/>
          <p:cNvSpPr/>
          <p:nvPr/>
        </p:nvSpPr>
        <p:spPr>
          <a:xfrm>
            <a:off x="6589563" y="5706894"/>
            <a:ext cx="787477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NumPy 1.24+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9066758" y="5734687"/>
            <a:ext cx="129702" cy="129702"/>
          </a:xfrm>
          <a:custGeom>
            <a:avLst/>
            <a:gdLst/>
            <a:ahLst/>
            <a:cxnLst/>
            <a:rect l="l" t="t" r="r" b="b"/>
            <a:pathLst>
              <a:path w="129702" h="129702">
                <a:moveTo>
                  <a:pt x="64851" y="129702"/>
                </a:moveTo>
                <a:cubicBezTo>
                  <a:pt x="100643" y="129702"/>
                  <a:pt x="129702" y="100643"/>
                  <a:pt x="129702" y="64851"/>
                </a:cubicBezTo>
                <a:cubicBezTo>
                  <a:pt x="129702" y="29059"/>
                  <a:pt x="100643" y="0"/>
                  <a:pt x="64851" y="0"/>
                </a:cubicBezTo>
                <a:cubicBezTo>
                  <a:pt x="29059" y="0"/>
                  <a:pt x="0" y="29059"/>
                  <a:pt x="0" y="64851"/>
                </a:cubicBezTo>
                <a:cubicBezTo>
                  <a:pt x="0" y="100643"/>
                  <a:pt x="29059" y="129702"/>
                  <a:pt x="64851" y="129702"/>
                </a:cubicBezTo>
                <a:close/>
                <a:moveTo>
                  <a:pt x="86232" y="53882"/>
                </a:moveTo>
                <a:lnTo>
                  <a:pt x="65966" y="86308"/>
                </a:lnTo>
                <a:cubicBezTo>
                  <a:pt x="64902" y="88005"/>
                  <a:pt x="63078" y="89069"/>
                  <a:pt x="61077" y="89170"/>
                </a:cubicBezTo>
                <a:cubicBezTo>
                  <a:pt x="59075" y="89272"/>
                  <a:pt x="57150" y="88360"/>
                  <a:pt x="55959" y="86738"/>
                </a:cubicBezTo>
                <a:lnTo>
                  <a:pt x="43800" y="70526"/>
                </a:lnTo>
                <a:cubicBezTo>
                  <a:pt x="41773" y="67840"/>
                  <a:pt x="42331" y="64040"/>
                  <a:pt x="45016" y="62014"/>
                </a:cubicBezTo>
                <a:cubicBezTo>
                  <a:pt x="47701" y="59987"/>
                  <a:pt x="51501" y="60545"/>
                  <a:pt x="53527" y="63230"/>
                </a:cubicBezTo>
                <a:lnTo>
                  <a:pt x="60367" y="72349"/>
                </a:lnTo>
                <a:lnTo>
                  <a:pt x="75921" y="47448"/>
                </a:lnTo>
                <a:cubicBezTo>
                  <a:pt x="77695" y="44610"/>
                  <a:pt x="81444" y="43724"/>
                  <a:pt x="84306" y="45522"/>
                </a:cubicBezTo>
                <a:cubicBezTo>
                  <a:pt x="87169" y="47321"/>
                  <a:pt x="88030" y="51045"/>
                  <a:pt x="86232" y="53907"/>
                </a:cubicBez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62" name="Text 60"/>
          <p:cNvSpPr/>
          <p:nvPr/>
        </p:nvSpPr>
        <p:spPr>
          <a:xfrm>
            <a:off x="9284472" y="5706894"/>
            <a:ext cx="759684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Pandas 2.0+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6371849" y="5994091"/>
            <a:ext cx="129702" cy="129702"/>
          </a:xfrm>
          <a:custGeom>
            <a:avLst/>
            <a:gdLst/>
            <a:ahLst/>
            <a:cxnLst/>
            <a:rect l="l" t="t" r="r" b="b"/>
            <a:pathLst>
              <a:path w="129702" h="129702">
                <a:moveTo>
                  <a:pt x="64851" y="129702"/>
                </a:moveTo>
                <a:cubicBezTo>
                  <a:pt x="100643" y="129702"/>
                  <a:pt x="129702" y="100643"/>
                  <a:pt x="129702" y="64851"/>
                </a:cubicBezTo>
                <a:cubicBezTo>
                  <a:pt x="129702" y="29059"/>
                  <a:pt x="100643" y="0"/>
                  <a:pt x="64851" y="0"/>
                </a:cubicBezTo>
                <a:cubicBezTo>
                  <a:pt x="29059" y="0"/>
                  <a:pt x="0" y="29059"/>
                  <a:pt x="0" y="64851"/>
                </a:cubicBezTo>
                <a:cubicBezTo>
                  <a:pt x="0" y="100643"/>
                  <a:pt x="29059" y="129702"/>
                  <a:pt x="64851" y="129702"/>
                </a:cubicBezTo>
                <a:close/>
                <a:moveTo>
                  <a:pt x="86232" y="53882"/>
                </a:moveTo>
                <a:lnTo>
                  <a:pt x="65966" y="86308"/>
                </a:lnTo>
                <a:cubicBezTo>
                  <a:pt x="64902" y="88005"/>
                  <a:pt x="63078" y="89069"/>
                  <a:pt x="61077" y="89170"/>
                </a:cubicBezTo>
                <a:cubicBezTo>
                  <a:pt x="59075" y="89272"/>
                  <a:pt x="57150" y="88360"/>
                  <a:pt x="55959" y="86738"/>
                </a:cubicBezTo>
                <a:lnTo>
                  <a:pt x="43800" y="70526"/>
                </a:lnTo>
                <a:cubicBezTo>
                  <a:pt x="41773" y="67840"/>
                  <a:pt x="42331" y="64040"/>
                  <a:pt x="45016" y="62014"/>
                </a:cubicBezTo>
                <a:cubicBezTo>
                  <a:pt x="47701" y="59987"/>
                  <a:pt x="51501" y="60545"/>
                  <a:pt x="53527" y="63230"/>
                </a:cubicBezTo>
                <a:lnTo>
                  <a:pt x="60367" y="72349"/>
                </a:lnTo>
                <a:lnTo>
                  <a:pt x="75921" y="47448"/>
                </a:lnTo>
                <a:cubicBezTo>
                  <a:pt x="77695" y="44610"/>
                  <a:pt x="81444" y="43724"/>
                  <a:pt x="84306" y="45522"/>
                </a:cubicBezTo>
                <a:cubicBezTo>
                  <a:pt x="87169" y="47321"/>
                  <a:pt x="88030" y="51045"/>
                  <a:pt x="86232" y="53907"/>
                </a:cubicBez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64" name="Text 62"/>
          <p:cNvSpPr/>
          <p:nvPr/>
        </p:nvSpPr>
        <p:spPr>
          <a:xfrm>
            <a:off x="6589563" y="5966298"/>
            <a:ext cx="898650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Matplotlib 3.7+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9066758" y="5994091"/>
            <a:ext cx="129702" cy="129702"/>
          </a:xfrm>
          <a:custGeom>
            <a:avLst/>
            <a:gdLst/>
            <a:ahLst/>
            <a:cxnLst/>
            <a:rect l="l" t="t" r="r" b="b"/>
            <a:pathLst>
              <a:path w="129702" h="129702">
                <a:moveTo>
                  <a:pt x="64851" y="129702"/>
                </a:moveTo>
                <a:cubicBezTo>
                  <a:pt x="100643" y="129702"/>
                  <a:pt x="129702" y="100643"/>
                  <a:pt x="129702" y="64851"/>
                </a:cubicBezTo>
                <a:cubicBezTo>
                  <a:pt x="129702" y="29059"/>
                  <a:pt x="100643" y="0"/>
                  <a:pt x="64851" y="0"/>
                </a:cubicBezTo>
                <a:cubicBezTo>
                  <a:pt x="29059" y="0"/>
                  <a:pt x="0" y="29059"/>
                  <a:pt x="0" y="64851"/>
                </a:cubicBezTo>
                <a:cubicBezTo>
                  <a:pt x="0" y="100643"/>
                  <a:pt x="29059" y="129702"/>
                  <a:pt x="64851" y="129702"/>
                </a:cubicBezTo>
                <a:close/>
                <a:moveTo>
                  <a:pt x="86232" y="53882"/>
                </a:moveTo>
                <a:lnTo>
                  <a:pt x="65966" y="86308"/>
                </a:lnTo>
                <a:cubicBezTo>
                  <a:pt x="64902" y="88005"/>
                  <a:pt x="63078" y="89069"/>
                  <a:pt x="61077" y="89170"/>
                </a:cubicBezTo>
                <a:cubicBezTo>
                  <a:pt x="59075" y="89272"/>
                  <a:pt x="57150" y="88360"/>
                  <a:pt x="55959" y="86738"/>
                </a:cubicBezTo>
                <a:lnTo>
                  <a:pt x="43800" y="70526"/>
                </a:lnTo>
                <a:cubicBezTo>
                  <a:pt x="41773" y="67840"/>
                  <a:pt x="42331" y="64040"/>
                  <a:pt x="45016" y="62014"/>
                </a:cubicBezTo>
                <a:cubicBezTo>
                  <a:pt x="47701" y="59987"/>
                  <a:pt x="51501" y="60545"/>
                  <a:pt x="53527" y="63230"/>
                </a:cubicBezTo>
                <a:lnTo>
                  <a:pt x="60367" y="72349"/>
                </a:lnTo>
                <a:lnTo>
                  <a:pt x="75921" y="47448"/>
                </a:lnTo>
                <a:cubicBezTo>
                  <a:pt x="77695" y="44610"/>
                  <a:pt x="81444" y="43724"/>
                  <a:pt x="84306" y="45522"/>
                </a:cubicBezTo>
                <a:cubicBezTo>
                  <a:pt x="87169" y="47321"/>
                  <a:pt x="88030" y="51045"/>
                  <a:pt x="86232" y="53907"/>
                </a:cubicBez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66" name="Text 64"/>
          <p:cNvSpPr/>
          <p:nvPr/>
        </p:nvSpPr>
        <p:spPr>
          <a:xfrm>
            <a:off x="9284472" y="5966298"/>
            <a:ext cx="824535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yfinance 0.2+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6371849" y="6253495"/>
            <a:ext cx="129702" cy="129702"/>
          </a:xfrm>
          <a:custGeom>
            <a:avLst/>
            <a:gdLst/>
            <a:ahLst/>
            <a:cxnLst/>
            <a:rect l="l" t="t" r="r" b="b"/>
            <a:pathLst>
              <a:path w="129702" h="129702">
                <a:moveTo>
                  <a:pt x="64851" y="129702"/>
                </a:moveTo>
                <a:cubicBezTo>
                  <a:pt x="100643" y="129702"/>
                  <a:pt x="129702" y="100643"/>
                  <a:pt x="129702" y="64851"/>
                </a:cubicBezTo>
                <a:cubicBezTo>
                  <a:pt x="129702" y="29059"/>
                  <a:pt x="100643" y="0"/>
                  <a:pt x="64851" y="0"/>
                </a:cubicBezTo>
                <a:cubicBezTo>
                  <a:pt x="29059" y="0"/>
                  <a:pt x="0" y="29059"/>
                  <a:pt x="0" y="64851"/>
                </a:cubicBezTo>
                <a:cubicBezTo>
                  <a:pt x="0" y="100643"/>
                  <a:pt x="29059" y="129702"/>
                  <a:pt x="64851" y="129702"/>
                </a:cubicBezTo>
                <a:close/>
                <a:moveTo>
                  <a:pt x="86232" y="53882"/>
                </a:moveTo>
                <a:lnTo>
                  <a:pt x="65966" y="86308"/>
                </a:lnTo>
                <a:cubicBezTo>
                  <a:pt x="64902" y="88005"/>
                  <a:pt x="63078" y="89069"/>
                  <a:pt x="61077" y="89170"/>
                </a:cubicBezTo>
                <a:cubicBezTo>
                  <a:pt x="59075" y="89272"/>
                  <a:pt x="57150" y="88360"/>
                  <a:pt x="55959" y="86738"/>
                </a:cubicBezTo>
                <a:lnTo>
                  <a:pt x="43800" y="70526"/>
                </a:lnTo>
                <a:cubicBezTo>
                  <a:pt x="41773" y="67840"/>
                  <a:pt x="42331" y="64040"/>
                  <a:pt x="45016" y="62014"/>
                </a:cubicBezTo>
                <a:cubicBezTo>
                  <a:pt x="47701" y="59987"/>
                  <a:pt x="51501" y="60545"/>
                  <a:pt x="53527" y="63230"/>
                </a:cubicBezTo>
                <a:lnTo>
                  <a:pt x="60367" y="72349"/>
                </a:lnTo>
                <a:lnTo>
                  <a:pt x="75921" y="47448"/>
                </a:lnTo>
                <a:cubicBezTo>
                  <a:pt x="77695" y="44610"/>
                  <a:pt x="81444" y="43724"/>
                  <a:pt x="84306" y="45522"/>
                </a:cubicBezTo>
                <a:cubicBezTo>
                  <a:pt x="87169" y="47321"/>
                  <a:pt x="88030" y="51045"/>
                  <a:pt x="86232" y="53907"/>
                </a:cubicBez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68" name="Text 66"/>
          <p:cNvSpPr/>
          <p:nvPr/>
        </p:nvSpPr>
        <p:spPr>
          <a:xfrm>
            <a:off x="6589563" y="6225702"/>
            <a:ext cx="935708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FastAPI 0.100+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9066758" y="6253495"/>
            <a:ext cx="129702" cy="129702"/>
          </a:xfrm>
          <a:custGeom>
            <a:avLst/>
            <a:gdLst/>
            <a:ahLst/>
            <a:cxnLst/>
            <a:rect l="l" t="t" r="r" b="b"/>
            <a:pathLst>
              <a:path w="129702" h="129702">
                <a:moveTo>
                  <a:pt x="64851" y="129702"/>
                </a:moveTo>
                <a:cubicBezTo>
                  <a:pt x="100643" y="129702"/>
                  <a:pt x="129702" y="100643"/>
                  <a:pt x="129702" y="64851"/>
                </a:cubicBezTo>
                <a:cubicBezTo>
                  <a:pt x="129702" y="29059"/>
                  <a:pt x="100643" y="0"/>
                  <a:pt x="64851" y="0"/>
                </a:cubicBezTo>
                <a:cubicBezTo>
                  <a:pt x="29059" y="0"/>
                  <a:pt x="0" y="29059"/>
                  <a:pt x="0" y="64851"/>
                </a:cubicBezTo>
                <a:cubicBezTo>
                  <a:pt x="0" y="100643"/>
                  <a:pt x="29059" y="129702"/>
                  <a:pt x="64851" y="129702"/>
                </a:cubicBezTo>
                <a:close/>
                <a:moveTo>
                  <a:pt x="86232" y="53882"/>
                </a:moveTo>
                <a:lnTo>
                  <a:pt x="65966" y="86308"/>
                </a:lnTo>
                <a:cubicBezTo>
                  <a:pt x="64902" y="88005"/>
                  <a:pt x="63078" y="89069"/>
                  <a:pt x="61077" y="89170"/>
                </a:cubicBezTo>
                <a:cubicBezTo>
                  <a:pt x="59075" y="89272"/>
                  <a:pt x="57150" y="88360"/>
                  <a:pt x="55959" y="86738"/>
                </a:cubicBezTo>
                <a:lnTo>
                  <a:pt x="43800" y="70526"/>
                </a:lnTo>
                <a:cubicBezTo>
                  <a:pt x="41773" y="67840"/>
                  <a:pt x="42331" y="64040"/>
                  <a:pt x="45016" y="62014"/>
                </a:cubicBezTo>
                <a:cubicBezTo>
                  <a:pt x="47701" y="59987"/>
                  <a:pt x="51501" y="60545"/>
                  <a:pt x="53527" y="63230"/>
                </a:cubicBezTo>
                <a:lnTo>
                  <a:pt x="60367" y="72349"/>
                </a:lnTo>
                <a:lnTo>
                  <a:pt x="75921" y="47448"/>
                </a:lnTo>
                <a:cubicBezTo>
                  <a:pt x="77695" y="44610"/>
                  <a:pt x="81444" y="43724"/>
                  <a:pt x="84306" y="45522"/>
                </a:cubicBezTo>
                <a:cubicBezTo>
                  <a:pt x="87169" y="47321"/>
                  <a:pt x="88030" y="51045"/>
                  <a:pt x="86232" y="53907"/>
                </a:cubicBez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70" name="Text 68"/>
          <p:cNvSpPr/>
          <p:nvPr/>
        </p:nvSpPr>
        <p:spPr>
          <a:xfrm>
            <a:off x="9284472" y="6225702"/>
            <a:ext cx="1093204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SQLAlchemy 2.0+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76200" y="0"/>
                </a:moveTo>
                <a:lnTo>
                  <a:pt x="533400" y="0"/>
                </a:lnTo>
                <a:cubicBezTo>
                  <a:pt x="575456" y="0"/>
                  <a:pt x="609600" y="34144"/>
                  <a:pt x="609600" y="76200"/>
                </a:cubicBezTo>
                <a:lnTo>
                  <a:pt x="609600" y="533400"/>
                </a:lnTo>
                <a:cubicBezTo>
                  <a:pt x="609600" y="575456"/>
                  <a:pt x="575456" y="609600"/>
                  <a:pt x="53340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0000"/>
          </a:solidFill>
          <a:ln>
            <a:solidFill>
              <a:schemeClr val="tx1"/>
            </a:solidFill>
          </a:ln>
        </p:spPr>
      </p:sp>
      <p:sp>
        <p:nvSpPr>
          <p:cNvPr id="3" name="Text 1"/>
          <p:cNvSpPr/>
          <p:nvPr/>
        </p:nvSpPr>
        <p:spPr>
          <a:xfrm>
            <a:off x="541020" y="514350"/>
            <a:ext cx="4286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43000" y="400050"/>
            <a:ext cx="3238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C75B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EXPERIMENTAL RESULTS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590550"/>
            <a:ext cx="33432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 Metrics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1000" y="1162050"/>
            <a:ext cx="2743200" cy="1562100"/>
          </a:xfrm>
          <a:custGeom>
            <a:avLst/>
            <a:gdLst/>
            <a:ahLst/>
            <a:cxnLst/>
            <a:rect l="l" t="t" r="r" b="b"/>
            <a:pathLst>
              <a:path w="2743200" h="156210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1485901"/>
                </a:lnTo>
                <a:cubicBezTo>
                  <a:pt x="2743200" y="1527984"/>
                  <a:pt x="2709084" y="1562100"/>
                  <a:pt x="2667001" y="1562100"/>
                </a:cubicBezTo>
                <a:lnTo>
                  <a:pt x="76199" y="1562100"/>
                </a:lnTo>
                <a:cubicBezTo>
                  <a:pt x="34116" y="1562100"/>
                  <a:pt x="0" y="1527984"/>
                  <a:pt x="0" y="1485901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>
            <a:solidFill>
              <a:schemeClr val="tx1"/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1000" y="1162050"/>
            <a:ext cx="2743200" cy="38100"/>
          </a:xfrm>
          <a:custGeom>
            <a:avLst/>
            <a:gdLst/>
            <a:ahLst/>
            <a:cxnLst/>
            <a:rect l="l" t="t" r="r" b="b"/>
            <a:pathLst>
              <a:path w="2743200" h="3810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8" name="Shape 6"/>
          <p:cNvSpPr/>
          <p:nvPr/>
        </p:nvSpPr>
        <p:spPr>
          <a:xfrm>
            <a:off x="1612106" y="137160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50031" y="142875"/>
                </a:moveTo>
                <a:cubicBezTo>
                  <a:pt x="250031" y="83734"/>
                  <a:pt x="202016" y="35719"/>
                  <a:pt x="142875" y="35719"/>
                </a:cubicBezTo>
                <a:cubicBezTo>
                  <a:pt x="83734" y="35719"/>
                  <a:pt x="35719" y="83734"/>
                  <a:pt x="35719" y="142875"/>
                </a:cubicBezTo>
                <a:cubicBezTo>
                  <a:pt x="35719" y="202016"/>
                  <a:pt x="83734" y="250031"/>
                  <a:pt x="142875" y="250031"/>
                </a:cubicBezTo>
                <a:cubicBezTo>
                  <a:pt x="202016" y="250031"/>
                  <a:pt x="250031" y="202016"/>
                  <a:pt x="250031" y="142875"/>
                </a:cubicBezTo>
                <a:close/>
                <a:moveTo>
                  <a:pt x="0" y="142875"/>
                </a:moveTo>
                <a:cubicBezTo>
                  <a:pt x="0" y="64020"/>
                  <a:pt x="64020" y="0"/>
                  <a:pt x="142875" y="0"/>
                </a:cubicBezTo>
                <a:cubicBezTo>
                  <a:pt x="221730" y="0"/>
                  <a:pt x="285750" y="64020"/>
                  <a:pt x="285750" y="142875"/>
                </a:cubicBezTo>
                <a:cubicBezTo>
                  <a:pt x="285750" y="221730"/>
                  <a:pt x="221730" y="285750"/>
                  <a:pt x="142875" y="285750"/>
                </a:cubicBezTo>
                <a:cubicBezTo>
                  <a:pt x="64020" y="285750"/>
                  <a:pt x="0" y="221730"/>
                  <a:pt x="0" y="142875"/>
                </a:cubicBezTo>
                <a:close/>
                <a:moveTo>
                  <a:pt x="142875" y="187523"/>
                </a:moveTo>
                <a:cubicBezTo>
                  <a:pt x="167517" y="187523"/>
                  <a:pt x="187523" y="167517"/>
                  <a:pt x="187523" y="142875"/>
                </a:cubicBezTo>
                <a:cubicBezTo>
                  <a:pt x="187523" y="118233"/>
                  <a:pt x="167517" y="98227"/>
                  <a:pt x="142875" y="98227"/>
                </a:cubicBezTo>
                <a:cubicBezTo>
                  <a:pt x="118233" y="98227"/>
                  <a:pt x="98227" y="118233"/>
                  <a:pt x="98227" y="142875"/>
                </a:cubicBezTo>
                <a:cubicBezTo>
                  <a:pt x="98227" y="167517"/>
                  <a:pt x="118233" y="187523"/>
                  <a:pt x="142875" y="187523"/>
                </a:cubicBezTo>
                <a:close/>
                <a:moveTo>
                  <a:pt x="142875" y="62508"/>
                </a:moveTo>
                <a:cubicBezTo>
                  <a:pt x="187231" y="62508"/>
                  <a:pt x="223242" y="98519"/>
                  <a:pt x="223242" y="142875"/>
                </a:cubicBezTo>
                <a:cubicBezTo>
                  <a:pt x="223242" y="187231"/>
                  <a:pt x="187231" y="223242"/>
                  <a:pt x="142875" y="223242"/>
                </a:cubicBezTo>
                <a:cubicBezTo>
                  <a:pt x="98519" y="223242"/>
                  <a:pt x="62508" y="187231"/>
                  <a:pt x="62508" y="142875"/>
                </a:cubicBezTo>
                <a:cubicBezTo>
                  <a:pt x="62508" y="98519"/>
                  <a:pt x="98519" y="62508"/>
                  <a:pt x="142875" y="62508"/>
                </a:cubicBezTo>
                <a:close/>
                <a:moveTo>
                  <a:pt x="125016" y="142875"/>
                </a:moveTo>
                <a:cubicBezTo>
                  <a:pt x="125016" y="133018"/>
                  <a:pt x="133018" y="125016"/>
                  <a:pt x="142875" y="125016"/>
                </a:cubicBezTo>
                <a:cubicBezTo>
                  <a:pt x="152732" y="125016"/>
                  <a:pt x="160734" y="133018"/>
                  <a:pt x="160734" y="142875"/>
                </a:cubicBezTo>
                <a:cubicBezTo>
                  <a:pt x="160734" y="152732"/>
                  <a:pt x="152732" y="160734"/>
                  <a:pt x="142875" y="160734"/>
                </a:cubicBezTo>
                <a:cubicBezTo>
                  <a:pt x="133018" y="160734"/>
                  <a:pt x="125016" y="152732"/>
                  <a:pt x="125016" y="142875"/>
                </a:cubicBez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9" name="Text 7"/>
          <p:cNvSpPr/>
          <p:nvPr/>
        </p:nvSpPr>
        <p:spPr>
          <a:xfrm>
            <a:off x="538163" y="1733550"/>
            <a:ext cx="2428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Trend Classification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5775" y="1962150"/>
            <a:ext cx="2533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C75B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94.2%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2925" y="2381250"/>
            <a:ext cx="24193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4A90A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Accuracy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276600" y="1162050"/>
            <a:ext cx="2743200" cy="1562100"/>
          </a:xfrm>
          <a:custGeom>
            <a:avLst/>
            <a:gdLst/>
            <a:ahLst/>
            <a:cxnLst/>
            <a:rect l="l" t="t" r="r" b="b"/>
            <a:pathLst>
              <a:path w="2743200" h="156210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1485901"/>
                </a:lnTo>
                <a:cubicBezTo>
                  <a:pt x="2743200" y="1527984"/>
                  <a:pt x="2709084" y="1562100"/>
                  <a:pt x="2667001" y="1562100"/>
                </a:cubicBezTo>
                <a:lnTo>
                  <a:pt x="76199" y="1562100"/>
                </a:lnTo>
                <a:cubicBezTo>
                  <a:pt x="34116" y="1562100"/>
                  <a:pt x="0" y="1527984"/>
                  <a:pt x="0" y="1485901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>
            <a:solidFill>
              <a:schemeClr val="tx1"/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76600" y="1162050"/>
            <a:ext cx="2743200" cy="38100"/>
          </a:xfrm>
          <a:custGeom>
            <a:avLst/>
            <a:gdLst/>
            <a:ahLst/>
            <a:cxnLst/>
            <a:rect l="l" t="t" r="r" b="b"/>
            <a:pathLst>
              <a:path w="2743200" h="3810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90A4"/>
          </a:solidFill>
          <a:ln/>
        </p:spPr>
      </p:sp>
      <p:sp>
        <p:nvSpPr>
          <p:cNvPr id="14" name="Shape 12"/>
          <p:cNvSpPr/>
          <p:nvPr/>
        </p:nvSpPr>
        <p:spPr>
          <a:xfrm>
            <a:off x="4507706" y="137160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80535" y="0"/>
                </a:moveTo>
                <a:lnTo>
                  <a:pt x="205550" y="0"/>
                </a:lnTo>
                <a:cubicBezTo>
                  <a:pt x="220340" y="0"/>
                  <a:pt x="232395" y="12167"/>
                  <a:pt x="231837" y="26901"/>
                </a:cubicBezTo>
                <a:cubicBezTo>
                  <a:pt x="231725" y="29859"/>
                  <a:pt x="231614" y="32817"/>
                  <a:pt x="231446" y="35719"/>
                </a:cubicBezTo>
                <a:lnTo>
                  <a:pt x="259128" y="35719"/>
                </a:lnTo>
                <a:cubicBezTo>
                  <a:pt x="273695" y="35719"/>
                  <a:pt x="286531" y="47774"/>
                  <a:pt x="285415" y="63512"/>
                </a:cubicBezTo>
                <a:cubicBezTo>
                  <a:pt x="281229" y="121388"/>
                  <a:pt x="251650" y="153200"/>
                  <a:pt x="219559" y="169831"/>
                </a:cubicBezTo>
                <a:cubicBezTo>
                  <a:pt x="210741" y="174408"/>
                  <a:pt x="201755" y="177812"/>
                  <a:pt x="193216" y="180324"/>
                </a:cubicBezTo>
                <a:cubicBezTo>
                  <a:pt x="181942" y="196286"/>
                  <a:pt x="170222" y="204713"/>
                  <a:pt x="160902" y="209234"/>
                </a:cubicBezTo>
                <a:lnTo>
                  <a:pt x="160902" y="250031"/>
                </a:lnTo>
                <a:lnTo>
                  <a:pt x="196621" y="250031"/>
                </a:lnTo>
                <a:cubicBezTo>
                  <a:pt x="206499" y="250031"/>
                  <a:pt x="214480" y="258012"/>
                  <a:pt x="214480" y="267891"/>
                </a:cubicBezTo>
                <a:cubicBezTo>
                  <a:pt x="214480" y="277769"/>
                  <a:pt x="206499" y="285750"/>
                  <a:pt x="196621" y="285750"/>
                </a:cubicBezTo>
                <a:lnTo>
                  <a:pt x="89464" y="285750"/>
                </a:lnTo>
                <a:cubicBezTo>
                  <a:pt x="79586" y="285750"/>
                  <a:pt x="71605" y="277769"/>
                  <a:pt x="71605" y="267891"/>
                </a:cubicBezTo>
                <a:cubicBezTo>
                  <a:pt x="71605" y="258012"/>
                  <a:pt x="79586" y="250031"/>
                  <a:pt x="89464" y="250031"/>
                </a:cubicBezTo>
                <a:lnTo>
                  <a:pt x="125183" y="250031"/>
                </a:lnTo>
                <a:lnTo>
                  <a:pt x="125183" y="209234"/>
                </a:lnTo>
                <a:cubicBezTo>
                  <a:pt x="116253" y="204936"/>
                  <a:pt x="105147" y="196955"/>
                  <a:pt x="94320" y="182277"/>
                </a:cubicBezTo>
                <a:cubicBezTo>
                  <a:pt x="84051" y="179598"/>
                  <a:pt x="72889" y="175524"/>
                  <a:pt x="62006" y="169385"/>
                </a:cubicBezTo>
                <a:cubicBezTo>
                  <a:pt x="31812" y="152474"/>
                  <a:pt x="4576" y="120607"/>
                  <a:pt x="670" y="63401"/>
                </a:cubicBezTo>
                <a:cubicBezTo>
                  <a:pt x="-391" y="47718"/>
                  <a:pt x="12390" y="35663"/>
                  <a:pt x="26956" y="35663"/>
                </a:cubicBezTo>
                <a:lnTo>
                  <a:pt x="54639" y="35663"/>
                </a:lnTo>
                <a:cubicBezTo>
                  <a:pt x="54471" y="32761"/>
                  <a:pt x="54359" y="29859"/>
                  <a:pt x="54248" y="26845"/>
                </a:cubicBezTo>
                <a:cubicBezTo>
                  <a:pt x="53690" y="12055"/>
                  <a:pt x="65745" y="-56"/>
                  <a:pt x="80535" y="-56"/>
                </a:cubicBezTo>
                <a:close/>
                <a:moveTo>
                  <a:pt x="56648" y="62508"/>
                </a:moveTo>
                <a:lnTo>
                  <a:pt x="27403" y="62508"/>
                </a:lnTo>
                <a:cubicBezTo>
                  <a:pt x="30863" y="109779"/>
                  <a:pt x="52574" y="133443"/>
                  <a:pt x="74954" y="146000"/>
                </a:cubicBezTo>
                <a:cubicBezTo>
                  <a:pt x="66917" y="125183"/>
                  <a:pt x="60275" y="98003"/>
                  <a:pt x="56648" y="62508"/>
                </a:cubicBezTo>
                <a:close/>
                <a:moveTo>
                  <a:pt x="212080" y="143321"/>
                </a:moveTo>
                <a:cubicBezTo>
                  <a:pt x="234683" y="130039"/>
                  <a:pt x="255110" y="106431"/>
                  <a:pt x="258570" y="62508"/>
                </a:cubicBezTo>
                <a:lnTo>
                  <a:pt x="229381" y="62508"/>
                </a:lnTo>
                <a:cubicBezTo>
                  <a:pt x="225921" y="96496"/>
                  <a:pt x="219670" y="122895"/>
                  <a:pt x="212080" y="143321"/>
                </a:cubicBezTo>
                <a:close/>
              </a:path>
            </a:pathLst>
          </a:custGeom>
          <a:solidFill>
            <a:srgbClr val="4A90A4"/>
          </a:solidFill>
          <a:ln/>
        </p:spPr>
      </p:sp>
      <p:sp>
        <p:nvSpPr>
          <p:cNvPr id="15" name="Text 13"/>
          <p:cNvSpPr/>
          <p:nvPr/>
        </p:nvSpPr>
        <p:spPr>
          <a:xfrm>
            <a:off x="3433763" y="1733550"/>
            <a:ext cx="2428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Success Ratio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381375" y="1962150"/>
            <a:ext cx="2533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4A90A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82%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438525" y="2381250"/>
            <a:ext cx="24193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4A90A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Win Rate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172200" y="1162050"/>
            <a:ext cx="2743200" cy="1562100"/>
          </a:xfrm>
          <a:custGeom>
            <a:avLst/>
            <a:gdLst/>
            <a:ahLst/>
            <a:cxnLst/>
            <a:rect l="l" t="t" r="r" b="b"/>
            <a:pathLst>
              <a:path w="2743200" h="156210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1485901"/>
                </a:lnTo>
                <a:cubicBezTo>
                  <a:pt x="2743200" y="1527984"/>
                  <a:pt x="2709084" y="1562100"/>
                  <a:pt x="2667001" y="1562100"/>
                </a:cubicBezTo>
                <a:lnTo>
                  <a:pt x="76199" y="1562100"/>
                </a:lnTo>
                <a:cubicBezTo>
                  <a:pt x="34116" y="1562100"/>
                  <a:pt x="0" y="1527984"/>
                  <a:pt x="0" y="1485901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glow rad="63500">
              <a:schemeClr val="accent1">
                <a:satMod val="175000"/>
                <a:alpha val="40000"/>
              </a:schemeClr>
            </a:glow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72200" y="1162050"/>
            <a:ext cx="2743200" cy="38100"/>
          </a:xfrm>
          <a:custGeom>
            <a:avLst/>
            <a:gdLst/>
            <a:ahLst/>
            <a:cxnLst/>
            <a:rect l="l" t="t" r="r" b="b"/>
            <a:pathLst>
              <a:path w="2743200" h="3810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E3A5F"/>
          </a:solidFill>
          <a:ln/>
        </p:spPr>
      </p:sp>
      <p:sp>
        <p:nvSpPr>
          <p:cNvPr id="20" name="Shape 18"/>
          <p:cNvSpPr/>
          <p:nvPr/>
        </p:nvSpPr>
        <p:spPr>
          <a:xfrm>
            <a:off x="7403306" y="137160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35719" y="35719"/>
                </a:moveTo>
                <a:cubicBezTo>
                  <a:pt x="35719" y="25840"/>
                  <a:pt x="27738" y="17859"/>
                  <a:pt x="17859" y="17859"/>
                </a:cubicBezTo>
                <a:cubicBezTo>
                  <a:pt x="7981" y="17859"/>
                  <a:pt x="0" y="25840"/>
                  <a:pt x="0" y="35719"/>
                </a:cubicBezTo>
                <a:lnTo>
                  <a:pt x="0" y="223242"/>
                </a:lnTo>
                <a:cubicBezTo>
                  <a:pt x="0" y="247910"/>
                  <a:pt x="19980" y="267891"/>
                  <a:pt x="44648" y="267891"/>
                </a:cubicBezTo>
                <a:lnTo>
                  <a:pt x="267891" y="267891"/>
                </a:lnTo>
                <a:cubicBezTo>
                  <a:pt x="277769" y="267891"/>
                  <a:pt x="285750" y="259910"/>
                  <a:pt x="285750" y="250031"/>
                </a:cubicBezTo>
                <a:cubicBezTo>
                  <a:pt x="285750" y="240153"/>
                  <a:pt x="277769" y="232172"/>
                  <a:pt x="267891" y="232172"/>
                </a:cubicBezTo>
                <a:lnTo>
                  <a:pt x="44648" y="232172"/>
                </a:lnTo>
                <a:cubicBezTo>
                  <a:pt x="39737" y="232172"/>
                  <a:pt x="35719" y="228154"/>
                  <a:pt x="35719" y="223242"/>
                </a:cubicBezTo>
                <a:lnTo>
                  <a:pt x="35719" y="35719"/>
                </a:lnTo>
                <a:close/>
                <a:moveTo>
                  <a:pt x="262644" y="84051"/>
                </a:moveTo>
                <a:cubicBezTo>
                  <a:pt x="269621" y="77074"/>
                  <a:pt x="269621" y="65745"/>
                  <a:pt x="262644" y="58769"/>
                </a:cubicBezTo>
                <a:cubicBezTo>
                  <a:pt x="255668" y="51792"/>
                  <a:pt x="244339" y="51792"/>
                  <a:pt x="237362" y="58769"/>
                </a:cubicBezTo>
                <a:lnTo>
                  <a:pt x="178594" y="117593"/>
                </a:lnTo>
                <a:lnTo>
                  <a:pt x="146558" y="85613"/>
                </a:lnTo>
                <a:cubicBezTo>
                  <a:pt x="139582" y="78637"/>
                  <a:pt x="128253" y="78637"/>
                  <a:pt x="121276" y="85613"/>
                </a:cubicBezTo>
                <a:lnTo>
                  <a:pt x="67698" y="139192"/>
                </a:lnTo>
                <a:cubicBezTo>
                  <a:pt x="60722" y="146168"/>
                  <a:pt x="60722" y="157497"/>
                  <a:pt x="67698" y="164474"/>
                </a:cubicBezTo>
                <a:cubicBezTo>
                  <a:pt x="74675" y="171450"/>
                  <a:pt x="86004" y="171450"/>
                  <a:pt x="92980" y="164474"/>
                </a:cubicBezTo>
                <a:lnTo>
                  <a:pt x="133945" y="123509"/>
                </a:lnTo>
                <a:lnTo>
                  <a:pt x="165981" y="155544"/>
                </a:lnTo>
                <a:cubicBezTo>
                  <a:pt x="172957" y="162520"/>
                  <a:pt x="184286" y="162520"/>
                  <a:pt x="191263" y="155544"/>
                </a:cubicBezTo>
                <a:lnTo>
                  <a:pt x="262700" y="84106"/>
                </a:lnTo>
                <a:close/>
              </a:path>
            </a:pathLst>
          </a:custGeom>
          <a:solidFill>
            <a:srgbClr val="1E3A5F"/>
          </a:solidFill>
          <a:ln/>
        </p:spPr>
      </p:sp>
      <p:sp>
        <p:nvSpPr>
          <p:cNvPr id="21" name="Text 19"/>
          <p:cNvSpPr/>
          <p:nvPr/>
        </p:nvSpPr>
        <p:spPr>
          <a:xfrm>
            <a:off x="6329363" y="1733550"/>
            <a:ext cx="2428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ROI (30 Days)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276975" y="1962150"/>
            <a:ext cx="2533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5.4%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334125" y="2381250"/>
            <a:ext cx="24193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4A90A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Return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067800" y="1162050"/>
            <a:ext cx="2743200" cy="1562100"/>
          </a:xfrm>
          <a:custGeom>
            <a:avLst/>
            <a:gdLst/>
            <a:ahLst/>
            <a:cxnLst/>
            <a:rect l="l" t="t" r="r" b="b"/>
            <a:pathLst>
              <a:path w="2743200" h="156210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1485901"/>
                </a:lnTo>
                <a:cubicBezTo>
                  <a:pt x="2743200" y="1527984"/>
                  <a:pt x="2709084" y="1562100"/>
                  <a:pt x="2667001" y="1562100"/>
                </a:cubicBezTo>
                <a:lnTo>
                  <a:pt x="76199" y="1562100"/>
                </a:lnTo>
                <a:cubicBezTo>
                  <a:pt x="34116" y="1562100"/>
                  <a:pt x="0" y="1527984"/>
                  <a:pt x="0" y="1485901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>
            <a:solidFill>
              <a:schemeClr val="tx1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067800" y="1162050"/>
            <a:ext cx="2743200" cy="38100"/>
          </a:xfrm>
          <a:custGeom>
            <a:avLst/>
            <a:gdLst/>
            <a:ahLst/>
            <a:cxnLst/>
            <a:rect l="l" t="t" r="r" b="b"/>
            <a:pathLst>
              <a:path w="2743200" h="3810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26" name="Shape 24"/>
          <p:cNvSpPr/>
          <p:nvPr/>
        </p:nvSpPr>
        <p:spPr>
          <a:xfrm>
            <a:off x="10298906" y="137160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0"/>
                </a:moveTo>
                <a:cubicBezTo>
                  <a:pt x="145442" y="0"/>
                  <a:pt x="148010" y="558"/>
                  <a:pt x="150354" y="1619"/>
                </a:cubicBezTo>
                <a:lnTo>
                  <a:pt x="255501" y="46211"/>
                </a:lnTo>
                <a:cubicBezTo>
                  <a:pt x="267779" y="51402"/>
                  <a:pt x="276932" y="63512"/>
                  <a:pt x="276876" y="78135"/>
                </a:cubicBezTo>
                <a:cubicBezTo>
                  <a:pt x="276597" y="133499"/>
                  <a:pt x="253826" y="234795"/>
                  <a:pt x="157665" y="280839"/>
                </a:cubicBezTo>
                <a:cubicBezTo>
                  <a:pt x="148344" y="285304"/>
                  <a:pt x="137517" y="285304"/>
                  <a:pt x="128197" y="280839"/>
                </a:cubicBezTo>
                <a:cubicBezTo>
                  <a:pt x="31979" y="234795"/>
                  <a:pt x="9265" y="133499"/>
                  <a:pt x="8985" y="78135"/>
                </a:cubicBezTo>
                <a:cubicBezTo>
                  <a:pt x="8930" y="63512"/>
                  <a:pt x="18083" y="51402"/>
                  <a:pt x="30361" y="46211"/>
                </a:cubicBezTo>
                <a:lnTo>
                  <a:pt x="135452" y="1619"/>
                </a:lnTo>
                <a:cubicBezTo>
                  <a:pt x="137796" y="558"/>
                  <a:pt x="140308" y="0"/>
                  <a:pt x="142875" y="0"/>
                </a:cubicBezTo>
                <a:close/>
                <a:moveTo>
                  <a:pt x="142875" y="37281"/>
                </a:moveTo>
                <a:lnTo>
                  <a:pt x="142875" y="248301"/>
                </a:lnTo>
                <a:cubicBezTo>
                  <a:pt x="219894" y="211020"/>
                  <a:pt x="240599" y="128420"/>
                  <a:pt x="241102" y="78972"/>
                </a:cubicBezTo>
                <a:lnTo>
                  <a:pt x="142875" y="37337"/>
                </a:lnTo>
                <a:lnTo>
                  <a:pt x="142875" y="37337"/>
                </a:ln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27" name="Text 25"/>
          <p:cNvSpPr/>
          <p:nvPr/>
        </p:nvSpPr>
        <p:spPr>
          <a:xfrm>
            <a:off x="9224963" y="1733550"/>
            <a:ext cx="2428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Portfolio Safety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172575" y="1962150"/>
            <a:ext cx="2533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00A6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88%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229725" y="2381250"/>
            <a:ext cx="24193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4A90A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Safety Score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81000" y="2876429"/>
            <a:ext cx="5600700" cy="3733800"/>
          </a:xfrm>
          <a:custGeom>
            <a:avLst/>
            <a:gdLst/>
            <a:ahLst/>
            <a:cxnLst/>
            <a:rect l="l" t="t" r="r" b="b"/>
            <a:pathLst>
              <a:path w="5600700" h="3733800">
                <a:moveTo>
                  <a:pt x="76207" y="0"/>
                </a:moveTo>
                <a:lnTo>
                  <a:pt x="5524493" y="0"/>
                </a:lnTo>
                <a:cubicBezTo>
                  <a:pt x="5566581" y="0"/>
                  <a:pt x="5600700" y="34119"/>
                  <a:pt x="5600700" y="76207"/>
                </a:cubicBezTo>
                <a:lnTo>
                  <a:pt x="5600700" y="3657593"/>
                </a:lnTo>
                <a:cubicBezTo>
                  <a:pt x="5600700" y="3699681"/>
                  <a:pt x="5566581" y="3733800"/>
                  <a:pt x="5524493" y="3733800"/>
                </a:cubicBezTo>
                <a:lnTo>
                  <a:pt x="76207" y="3733800"/>
                </a:lnTo>
                <a:cubicBezTo>
                  <a:pt x="34119" y="3733800"/>
                  <a:pt x="0" y="3699681"/>
                  <a:pt x="0" y="3657593"/>
                </a:cubicBezTo>
                <a:lnTo>
                  <a:pt x="0" y="76207"/>
                </a:lnTo>
                <a:cubicBezTo>
                  <a:pt x="0" y="34147"/>
                  <a:pt x="34147" y="0"/>
                  <a:pt x="76207" y="0"/>
                </a:cubicBezTo>
                <a:close/>
              </a:path>
            </a:pathLst>
          </a:custGeom>
          <a:solidFill>
            <a:srgbClr val="FFFFFF"/>
          </a:solidFill>
          <a:ln>
            <a:solidFill>
              <a:schemeClr val="tx1"/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71500" y="3066929"/>
            <a:ext cx="5314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Additional Metrics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71500" y="3486029"/>
            <a:ext cx="5219700" cy="495300"/>
          </a:xfrm>
          <a:custGeom>
            <a:avLst/>
            <a:gdLst/>
            <a:ahLst/>
            <a:cxnLst/>
            <a:rect l="l" t="t" r="r" b="b"/>
            <a:pathLst>
              <a:path w="5219700" h="495300">
                <a:moveTo>
                  <a:pt x="38098" y="0"/>
                </a:moveTo>
                <a:lnTo>
                  <a:pt x="5181602" y="0"/>
                </a:lnTo>
                <a:cubicBezTo>
                  <a:pt x="5202643" y="0"/>
                  <a:pt x="5219700" y="17057"/>
                  <a:pt x="5219700" y="38098"/>
                </a:cubicBezTo>
                <a:lnTo>
                  <a:pt x="5219700" y="457202"/>
                </a:lnTo>
                <a:cubicBezTo>
                  <a:pt x="5219700" y="478243"/>
                  <a:pt x="5202643" y="495300"/>
                  <a:pt x="5181602" y="495300"/>
                </a:cubicBezTo>
                <a:lnTo>
                  <a:pt x="38098" y="495300"/>
                </a:lnTo>
                <a:cubicBezTo>
                  <a:pt x="17057" y="495300"/>
                  <a:pt x="0" y="478243"/>
                  <a:pt x="0" y="4572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1E3A5F">
              <a:alpha val="5098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685800" y="3619379"/>
            <a:ext cx="1533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Trades Executed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410200" y="3600329"/>
            <a:ext cx="361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128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571500" y="4095629"/>
            <a:ext cx="5219700" cy="495300"/>
          </a:xfrm>
          <a:custGeom>
            <a:avLst/>
            <a:gdLst/>
            <a:ahLst/>
            <a:cxnLst/>
            <a:rect l="l" t="t" r="r" b="b"/>
            <a:pathLst>
              <a:path w="5219700" h="495300">
                <a:moveTo>
                  <a:pt x="38098" y="0"/>
                </a:moveTo>
                <a:lnTo>
                  <a:pt x="5181602" y="0"/>
                </a:lnTo>
                <a:cubicBezTo>
                  <a:pt x="5202643" y="0"/>
                  <a:pt x="5219700" y="17057"/>
                  <a:pt x="5219700" y="38098"/>
                </a:cubicBezTo>
                <a:lnTo>
                  <a:pt x="5219700" y="457202"/>
                </a:lnTo>
                <a:cubicBezTo>
                  <a:pt x="5219700" y="478243"/>
                  <a:pt x="5202643" y="495300"/>
                  <a:pt x="5181602" y="495300"/>
                </a:cubicBezTo>
                <a:lnTo>
                  <a:pt x="38098" y="495300"/>
                </a:lnTo>
                <a:cubicBezTo>
                  <a:pt x="17057" y="495300"/>
                  <a:pt x="0" y="478243"/>
                  <a:pt x="0" y="4572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C75B4A">
              <a:alpha val="5098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685800" y="4228979"/>
            <a:ext cx="1190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Profitable Trades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394960" y="4209929"/>
            <a:ext cx="381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C75B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105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571500" y="4705229"/>
            <a:ext cx="5219700" cy="495300"/>
          </a:xfrm>
          <a:custGeom>
            <a:avLst/>
            <a:gdLst/>
            <a:ahLst/>
            <a:cxnLst/>
            <a:rect l="l" t="t" r="r" b="b"/>
            <a:pathLst>
              <a:path w="5219700" h="495300">
                <a:moveTo>
                  <a:pt x="38098" y="0"/>
                </a:moveTo>
                <a:lnTo>
                  <a:pt x="5181602" y="0"/>
                </a:lnTo>
                <a:cubicBezTo>
                  <a:pt x="5202643" y="0"/>
                  <a:pt x="5219700" y="17057"/>
                  <a:pt x="5219700" y="38098"/>
                </a:cubicBezTo>
                <a:lnTo>
                  <a:pt x="5219700" y="457202"/>
                </a:lnTo>
                <a:cubicBezTo>
                  <a:pt x="5219700" y="478243"/>
                  <a:pt x="5202643" y="495300"/>
                  <a:pt x="5181602" y="495300"/>
                </a:cubicBezTo>
                <a:lnTo>
                  <a:pt x="38098" y="495300"/>
                </a:lnTo>
                <a:cubicBezTo>
                  <a:pt x="17057" y="495300"/>
                  <a:pt x="0" y="478243"/>
                  <a:pt x="0" y="4572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4A90A4">
              <a:alpha val="5098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685800" y="4838579"/>
            <a:ext cx="857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Loss Trades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478780" y="4819529"/>
            <a:ext cx="295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4A90A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23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571500" y="5314829"/>
            <a:ext cx="5219700" cy="495300"/>
          </a:xfrm>
          <a:custGeom>
            <a:avLst/>
            <a:gdLst/>
            <a:ahLst/>
            <a:cxnLst/>
            <a:rect l="l" t="t" r="r" b="b"/>
            <a:pathLst>
              <a:path w="5219700" h="495300">
                <a:moveTo>
                  <a:pt x="38098" y="0"/>
                </a:moveTo>
                <a:lnTo>
                  <a:pt x="5181602" y="0"/>
                </a:lnTo>
                <a:cubicBezTo>
                  <a:pt x="5202643" y="0"/>
                  <a:pt x="5219700" y="17057"/>
                  <a:pt x="5219700" y="38098"/>
                </a:cubicBezTo>
                <a:lnTo>
                  <a:pt x="5219700" y="457202"/>
                </a:lnTo>
                <a:cubicBezTo>
                  <a:pt x="5219700" y="478243"/>
                  <a:pt x="5202643" y="495300"/>
                  <a:pt x="5181602" y="495300"/>
                </a:cubicBezTo>
                <a:lnTo>
                  <a:pt x="38098" y="495300"/>
                </a:lnTo>
                <a:cubicBezTo>
                  <a:pt x="17057" y="495300"/>
                  <a:pt x="0" y="478243"/>
                  <a:pt x="0" y="4572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1E3A5F">
              <a:alpha val="5098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685800" y="5448179"/>
            <a:ext cx="1514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Maximum Drawdown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5280660" y="5429129"/>
            <a:ext cx="495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4.2%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571500" y="5924429"/>
            <a:ext cx="5219700" cy="495300"/>
          </a:xfrm>
          <a:custGeom>
            <a:avLst/>
            <a:gdLst/>
            <a:ahLst/>
            <a:cxnLst/>
            <a:rect l="l" t="t" r="r" b="b"/>
            <a:pathLst>
              <a:path w="5219700" h="495300">
                <a:moveTo>
                  <a:pt x="38098" y="0"/>
                </a:moveTo>
                <a:lnTo>
                  <a:pt x="5181602" y="0"/>
                </a:lnTo>
                <a:cubicBezTo>
                  <a:pt x="5202643" y="0"/>
                  <a:pt x="5219700" y="17057"/>
                  <a:pt x="5219700" y="38098"/>
                </a:cubicBezTo>
                <a:lnTo>
                  <a:pt x="5219700" y="457202"/>
                </a:lnTo>
                <a:cubicBezTo>
                  <a:pt x="5219700" y="478243"/>
                  <a:pt x="5202643" y="495300"/>
                  <a:pt x="5181602" y="495300"/>
                </a:cubicBezTo>
                <a:lnTo>
                  <a:pt x="38098" y="495300"/>
                </a:lnTo>
                <a:cubicBezTo>
                  <a:pt x="17057" y="495300"/>
                  <a:pt x="0" y="478243"/>
                  <a:pt x="0" y="4572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C75B4A">
              <a:alpha val="5098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685800" y="6057779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Sharpe Ratio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5364480" y="6038729"/>
            <a:ext cx="409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C75B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1.85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210300" y="2876429"/>
            <a:ext cx="5600700" cy="3733800"/>
          </a:xfrm>
          <a:custGeom>
            <a:avLst/>
            <a:gdLst/>
            <a:ahLst/>
            <a:cxnLst/>
            <a:rect l="l" t="t" r="r" b="b"/>
            <a:pathLst>
              <a:path w="5600700" h="3733800">
                <a:moveTo>
                  <a:pt x="76207" y="0"/>
                </a:moveTo>
                <a:lnTo>
                  <a:pt x="5524493" y="0"/>
                </a:lnTo>
                <a:cubicBezTo>
                  <a:pt x="5566581" y="0"/>
                  <a:pt x="5600700" y="34119"/>
                  <a:pt x="5600700" y="76207"/>
                </a:cubicBezTo>
                <a:lnTo>
                  <a:pt x="5600700" y="3657593"/>
                </a:lnTo>
                <a:cubicBezTo>
                  <a:pt x="5600700" y="3699681"/>
                  <a:pt x="5566581" y="3733800"/>
                  <a:pt x="5524493" y="3733800"/>
                </a:cubicBezTo>
                <a:lnTo>
                  <a:pt x="76207" y="3733800"/>
                </a:lnTo>
                <a:cubicBezTo>
                  <a:pt x="34119" y="3733800"/>
                  <a:pt x="0" y="3699681"/>
                  <a:pt x="0" y="3657593"/>
                </a:cubicBezTo>
                <a:lnTo>
                  <a:pt x="0" y="76207"/>
                </a:lnTo>
                <a:cubicBezTo>
                  <a:pt x="0" y="34147"/>
                  <a:pt x="34147" y="0"/>
                  <a:pt x="76207" y="0"/>
                </a:cubicBezTo>
                <a:close/>
              </a:path>
            </a:pathLst>
          </a:custGeom>
          <a:solidFill>
            <a:srgbClr val="FFFFFF"/>
          </a:solidFill>
          <a:ln>
            <a:solidFill>
              <a:schemeClr val="tx1"/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6400800" y="3066929"/>
            <a:ext cx="5314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Benchmark Comparison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400800" y="3486029"/>
            <a:ext cx="5219700" cy="647700"/>
          </a:xfrm>
          <a:custGeom>
            <a:avLst/>
            <a:gdLst/>
            <a:ahLst/>
            <a:cxnLst/>
            <a:rect l="l" t="t" r="r" b="b"/>
            <a:pathLst>
              <a:path w="5219700" h="647700">
                <a:moveTo>
                  <a:pt x="76202" y="0"/>
                </a:moveTo>
                <a:lnTo>
                  <a:pt x="5143498" y="0"/>
                </a:lnTo>
                <a:cubicBezTo>
                  <a:pt x="5185583" y="0"/>
                  <a:pt x="5219700" y="34117"/>
                  <a:pt x="5219700" y="76202"/>
                </a:cubicBezTo>
                <a:lnTo>
                  <a:pt x="5219700" y="571498"/>
                </a:lnTo>
                <a:cubicBezTo>
                  <a:pt x="5219700" y="613583"/>
                  <a:pt x="5185583" y="647700"/>
                  <a:pt x="5143498" y="647700"/>
                </a:cubicBezTo>
                <a:lnTo>
                  <a:pt x="76202" y="647700"/>
                </a:lnTo>
                <a:cubicBezTo>
                  <a:pt x="34117" y="647700"/>
                  <a:pt x="0" y="613583"/>
                  <a:pt x="0" y="5714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F3F4F6"/>
          </a:solidFill>
          <a:ln/>
        </p:spPr>
      </p:sp>
      <p:sp>
        <p:nvSpPr>
          <p:cNvPr id="50" name="Text 48"/>
          <p:cNvSpPr/>
          <p:nvPr/>
        </p:nvSpPr>
        <p:spPr>
          <a:xfrm>
            <a:off x="6515100" y="3600329"/>
            <a:ext cx="1390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Buy &amp; Hold Strategy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10942320" y="3600329"/>
            <a:ext cx="638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55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2.1% ROI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515100" y="3905129"/>
            <a:ext cx="4991100" cy="114300"/>
          </a:xfrm>
          <a:custGeom>
            <a:avLst/>
            <a:gdLst/>
            <a:ahLst/>
            <a:cxnLst/>
            <a:rect l="l" t="t" r="r" b="b"/>
            <a:pathLst>
              <a:path w="4991100" h="114300">
                <a:moveTo>
                  <a:pt x="57150" y="0"/>
                </a:moveTo>
                <a:lnTo>
                  <a:pt x="4933950" y="0"/>
                </a:lnTo>
                <a:cubicBezTo>
                  <a:pt x="4965492" y="0"/>
                  <a:pt x="4991100" y="25608"/>
                  <a:pt x="4991100" y="57150"/>
                </a:cubicBezTo>
                <a:lnTo>
                  <a:pt x="4991100" y="57150"/>
                </a:lnTo>
                <a:cubicBezTo>
                  <a:pt x="4991100" y="88692"/>
                  <a:pt x="4965492" y="114300"/>
                  <a:pt x="49339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D1D5DC"/>
          </a:solidFill>
          <a:ln/>
        </p:spPr>
      </p:sp>
      <p:sp>
        <p:nvSpPr>
          <p:cNvPr id="53" name="Shape 51"/>
          <p:cNvSpPr/>
          <p:nvPr/>
        </p:nvSpPr>
        <p:spPr>
          <a:xfrm>
            <a:off x="6515100" y="3905129"/>
            <a:ext cx="1943100" cy="114300"/>
          </a:xfrm>
          <a:custGeom>
            <a:avLst/>
            <a:gdLst/>
            <a:ahLst/>
            <a:cxnLst/>
            <a:rect l="l" t="t" r="r" b="b"/>
            <a:pathLst>
              <a:path w="1943100" h="114300">
                <a:moveTo>
                  <a:pt x="57150" y="0"/>
                </a:moveTo>
                <a:lnTo>
                  <a:pt x="1885950" y="0"/>
                </a:lnTo>
                <a:cubicBezTo>
                  <a:pt x="1917492" y="0"/>
                  <a:pt x="1943100" y="25608"/>
                  <a:pt x="1943100" y="57150"/>
                </a:cubicBezTo>
                <a:lnTo>
                  <a:pt x="1943100" y="57150"/>
                </a:lnTo>
                <a:cubicBezTo>
                  <a:pt x="1943100" y="88692"/>
                  <a:pt x="1917492" y="114300"/>
                  <a:pt x="18859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6A7282"/>
          </a:solidFill>
          <a:ln/>
        </p:spPr>
      </p:sp>
      <p:sp>
        <p:nvSpPr>
          <p:cNvPr id="54" name="Shape 52"/>
          <p:cNvSpPr/>
          <p:nvPr/>
        </p:nvSpPr>
        <p:spPr>
          <a:xfrm>
            <a:off x="6400800" y="4248029"/>
            <a:ext cx="5219700" cy="647700"/>
          </a:xfrm>
          <a:custGeom>
            <a:avLst/>
            <a:gdLst/>
            <a:ahLst/>
            <a:cxnLst/>
            <a:rect l="l" t="t" r="r" b="b"/>
            <a:pathLst>
              <a:path w="5219700" h="647700">
                <a:moveTo>
                  <a:pt x="76202" y="0"/>
                </a:moveTo>
                <a:lnTo>
                  <a:pt x="5143498" y="0"/>
                </a:lnTo>
                <a:cubicBezTo>
                  <a:pt x="5185583" y="0"/>
                  <a:pt x="5219700" y="34117"/>
                  <a:pt x="5219700" y="76202"/>
                </a:cubicBezTo>
                <a:lnTo>
                  <a:pt x="5219700" y="571498"/>
                </a:lnTo>
                <a:cubicBezTo>
                  <a:pt x="5219700" y="613583"/>
                  <a:pt x="5185583" y="647700"/>
                  <a:pt x="5143498" y="647700"/>
                </a:cubicBezTo>
                <a:lnTo>
                  <a:pt x="76202" y="647700"/>
                </a:lnTo>
                <a:cubicBezTo>
                  <a:pt x="34117" y="647700"/>
                  <a:pt x="0" y="613583"/>
                  <a:pt x="0" y="5714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4A90A4">
              <a:alpha val="10196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6515100" y="4362329"/>
            <a:ext cx="1838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Moving Average Crossover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10904220" y="4362329"/>
            <a:ext cx="676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90A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3.2% ROI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515100" y="4667129"/>
            <a:ext cx="4991100" cy="114300"/>
          </a:xfrm>
          <a:custGeom>
            <a:avLst/>
            <a:gdLst/>
            <a:ahLst/>
            <a:cxnLst/>
            <a:rect l="l" t="t" r="r" b="b"/>
            <a:pathLst>
              <a:path w="4991100" h="114300">
                <a:moveTo>
                  <a:pt x="57150" y="0"/>
                </a:moveTo>
                <a:lnTo>
                  <a:pt x="4933950" y="0"/>
                </a:lnTo>
                <a:cubicBezTo>
                  <a:pt x="4965492" y="0"/>
                  <a:pt x="4991100" y="25608"/>
                  <a:pt x="4991100" y="57150"/>
                </a:cubicBezTo>
                <a:lnTo>
                  <a:pt x="4991100" y="57150"/>
                </a:lnTo>
                <a:cubicBezTo>
                  <a:pt x="4991100" y="88692"/>
                  <a:pt x="4965492" y="114300"/>
                  <a:pt x="49339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D1D5DC"/>
          </a:solidFill>
          <a:ln/>
        </p:spPr>
      </p:sp>
      <p:sp>
        <p:nvSpPr>
          <p:cNvPr id="58" name="Shape 56"/>
          <p:cNvSpPr/>
          <p:nvPr/>
        </p:nvSpPr>
        <p:spPr>
          <a:xfrm>
            <a:off x="6515100" y="4667129"/>
            <a:ext cx="2943225" cy="114300"/>
          </a:xfrm>
          <a:custGeom>
            <a:avLst/>
            <a:gdLst/>
            <a:ahLst/>
            <a:cxnLst/>
            <a:rect l="l" t="t" r="r" b="b"/>
            <a:pathLst>
              <a:path w="2943225" h="114300">
                <a:moveTo>
                  <a:pt x="57150" y="0"/>
                </a:moveTo>
                <a:lnTo>
                  <a:pt x="2886075" y="0"/>
                </a:lnTo>
                <a:cubicBezTo>
                  <a:pt x="2917617" y="0"/>
                  <a:pt x="2943225" y="25608"/>
                  <a:pt x="2943225" y="57150"/>
                </a:cubicBezTo>
                <a:lnTo>
                  <a:pt x="2943225" y="57150"/>
                </a:lnTo>
                <a:cubicBezTo>
                  <a:pt x="2943225" y="88692"/>
                  <a:pt x="2917617" y="114300"/>
                  <a:pt x="2886075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4A90A4"/>
          </a:solidFill>
          <a:ln/>
        </p:spPr>
      </p:sp>
      <p:sp>
        <p:nvSpPr>
          <p:cNvPr id="59" name="Shape 57"/>
          <p:cNvSpPr/>
          <p:nvPr/>
        </p:nvSpPr>
        <p:spPr>
          <a:xfrm>
            <a:off x="6400800" y="5010029"/>
            <a:ext cx="5219700" cy="647700"/>
          </a:xfrm>
          <a:custGeom>
            <a:avLst/>
            <a:gdLst/>
            <a:ahLst/>
            <a:cxnLst/>
            <a:rect l="l" t="t" r="r" b="b"/>
            <a:pathLst>
              <a:path w="5219700" h="647700">
                <a:moveTo>
                  <a:pt x="76202" y="0"/>
                </a:moveTo>
                <a:lnTo>
                  <a:pt x="5143498" y="0"/>
                </a:lnTo>
                <a:cubicBezTo>
                  <a:pt x="5185583" y="0"/>
                  <a:pt x="5219700" y="34117"/>
                  <a:pt x="5219700" y="76202"/>
                </a:cubicBezTo>
                <a:lnTo>
                  <a:pt x="5219700" y="571498"/>
                </a:lnTo>
                <a:cubicBezTo>
                  <a:pt x="5219700" y="613583"/>
                  <a:pt x="5185583" y="647700"/>
                  <a:pt x="5143498" y="647700"/>
                </a:cubicBezTo>
                <a:lnTo>
                  <a:pt x="76202" y="647700"/>
                </a:lnTo>
                <a:cubicBezTo>
                  <a:pt x="34117" y="647700"/>
                  <a:pt x="0" y="613583"/>
                  <a:pt x="0" y="5714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C75B4A">
              <a:alpha val="10196"/>
            </a:srgbClr>
          </a:solidFill>
          <a:ln/>
        </p:spPr>
      </p:sp>
      <p:sp>
        <p:nvSpPr>
          <p:cNvPr id="60" name="Text 58"/>
          <p:cNvSpPr/>
          <p:nvPr/>
        </p:nvSpPr>
        <p:spPr>
          <a:xfrm>
            <a:off x="6515100" y="5124329"/>
            <a:ext cx="1657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QuantShield (Proposed)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10904220" y="5124329"/>
            <a:ext cx="676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C75B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5.4% ROI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6515100" y="5429129"/>
            <a:ext cx="4991100" cy="114300"/>
          </a:xfrm>
          <a:custGeom>
            <a:avLst/>
            <a:gdLst/>
            <a:ahLst/>
            <a:cxnLst/>
            <a:rect l="l" t="t" r="r" b="b"/>
            <a:pathLst>
              <a:path w="4991100" h="114300">
                <a:moveTo>
                  <a:pt x="57150" y="0"/>
                </a:moveTo>
                <a:lnTo>
                  <a:pt x="4933950" y="0"/>
                </a:lnTo>
                <a:cubicBezTo>
                  <a:pt x="4965492" y="0"/>
                  <a:pt x="4991100" y="25608"/>
                  <a:pt x="4991100" y="57150"/>
                </a:cubicBezTo>
                <a:lnTo>
                  <a:pt x="4991100" y="57150"/>
                </a:lnTo>
                <a:cubicBezTo>
                  <a:pt x="4991100" y="88692"/>
                  <a:pt x="4965492" y="114300"/>
                  <a:pt x="49339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D1D5DC"/>
          </a:solidFill>
          <a:ln/>
        </p:spPr>
      </p:sp>
      <p:sp>
        <p:nvSpPr>
          <p:cNvPr id="63" name="Shape 61"/>
          <p:cNvSpPr/>
          <p:nvPr/>
        </p:nvSpPr>
        <p:spPr>
          <a:xfrm>
            <a:off x="6515100" y="5429129"/>
            <a:ext cx="4991100" cy="114300"/>
          </a:xfrm>
          <a:custGeom>
            <a:avLst/>
            <a:gdLst/>
            <a:ahLst/>
            <a:cxnLst/>
            <a:rect l="l" t="t" r="r" b="b"/>
            <a:pathLst>
              <a:path w="4991100" h="114300">
                <a:moveTo>
                  <a:pt x="57150" y="0"/>
                </a:moveTo>
                <a:lnTo>
                  <a:pt x="4933950" y="0"/>
                </a:lnTo>
                <a:cubicBezTo>
                  <a:pt x="4965492" y="0"/>
                  <a:pt x="4991100" y="25608"/>
                  <a:pt x="4991100" y="57150"/>
                </a:cubicBezTo>
                <a:lnTo>
                  <a:pt x="4991100" y="57150"/>
                </a:lnTo>
                <a:cubicBezTo>
                  <a:pt x="4991100" y="88692"/>
                  <a:pt x="4965492" y="114300"/>
                  <a:pt x="49339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64" name="Shape 62"/>
          <p:cNvSpPr/>
          <p:nvPr/>
        </p:nvSpPr>
        <p:spPr>
          <a:xfrm>
            <a:off x="6404610" y="5813939"/>
            <a:ext cx="5208270" cy="464820"/>
          </a:xfrm>
          <a:custGeom>
            <a:avLst/>
            <a:gdLst/>
            <a:ahLst/>
            <a:cxnLst/>
            <a:rect l="l" t="t" r="r" b="b"/>
            <a:pathLst>
              <a:path w="5208270" h="464820">
                <a:moveTo>
                  <a:pt x="76198" y="0"/>
                </a:moveTo>
                <a:lnTo>
                  <a:pt x="5132072" y="0"/>
                </a:lnTo>
                <a:cubicBezTo>
                  <a:pt x="5174155" y="0"/>
                  <a:pt x="5208270" y="34115"/>
                  <a:pt x="5208270" y="76198"/>
                </a:cubicBezTo>
                <a:lnTo>
                  <a:pt x="5208270" y="388622"/>
                </a:lnTo>
                <a:cubicBezTo>
                  <a:pt x="5208270" y="430705"/>
                  <a:pt x="5174155" y="464820"/>
                  <a:pt x="5132072" y="464820"/>
                </a:cubicBezTo>
                <a:lnTo>
                  <a:pt x="76198" y="464820"/>
                </a:lnTo>
                <a:cubicBezTo>
                  <a:pt x="34115" y="464820"/>
                  <a:pt x="0" y="430705"/>
                  <a:pt x="0" y="38862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F0FDF4"/>
          </a:solidFill>
          <a:ln w="10160">
            <a:solidFill>
              <a:srgbClr val="05DF7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84620" y="5932057"/>
            <a:ext cx="5048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0082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QuantShield outperforms benchmarks by 69-157%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303" y="365303"/>
            <a:ext cx="584485" cy="584485"/>
          </a:xfrm>
          <a:custGeom>
            <a:avLst/>
            <a:gdLst/>
            <a:ahLst/>
            <a:cxnLst/>
            <a:rect l="l" t="t" r="r" b="b"/>
            <a:pathLst>
              <a:path w="584485" h="584485">
                <a:moveTo>
                  <a:pt x="73061" y="0"/>
                </a:moveTo>
                <a:lnTo>
                  <a:pt x="511425" y="0"/>
                </a:lnTo>
                <a:cubicBezTo>
                  <a:pt x="551748" y="0"/>
                  <a:pt x="584485" y="32737"/>
                  <a:pt x="584485" y="73061"/>
                </a:cubicBezTo>
                <a:lnTo>
                  <a:pt x="584485" y="511425"/>
                </a:lnTo>
                <a:cubicBezTo>
                  <a:pt x="584485" y="551748"/>
                  <a:pt x="551748" y="584485"/>
                  <a:pt x="511425" y="584485"/>
                </a:cubicBezTo>
                <a:lnTo>
                  <a:pt x="73061" y="584485"/>
                </a:lnTo>
                <a:cubicBezTo>
                  <a:pt x="32737" y="584485"/>
                  <a:pt x="0" y="551748"/>
                  <a:pt x="0" y="511425"/>
                </a:cubicBezTo>
                <a:lnTo>
                  <a:pt x="0" y="73061"/>
                </a:lnTo>
                <a:cubicBezTo>
                  <a:pt x="0" y="32737"/>
                  <a:pt x="32737" y="0"/>
                  <a:pt x="73061" y="0"/>
                </a:cubicBez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3" name="Text 1"/>
          <p:cNvSpPr/>
          <p:nvPr/>
        </p:nvSpPr>
        <p:spPr>
          <a:xfrm>
            <a:off x="518731" y="493160"/>
            <a:ext cx="410966" cy="328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57" b="1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95910" y="383569"/>
            <a:ext cx="2575389" cy="182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7" b="1" kern="0" spc="50" dirty="0">
                <a:solidFill>
                  <a:srgbClr val="C75B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EXPERIMENTAL RESULTS (CONTINUED)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5910" y="566220"/>
            <a:ext cx="2675847" cy="3653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89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Detailed Analysis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303" y="1095910"/>
            <a:ext cx="11461393" cy="2767173"/>
          </a:xfrm>
          <a:custGeom>
            <a:avLst/>
            <a:gdLst/>
            <a:ahLst/>
            <a:cxnLst/>
            <a:rect l="l" t="t" r="r" b="b"/>
            <a:pathLst>
              <a:path w="11461393" h="2767173">
                <a:moveTo>
                  <a:pt x="73053" y="0"/>
                </a:moveTo>
                <a:lnTo>
                  <a:pt x="11388340" y="0"/>
                </a:lnTo>
                <a:cubicBezTo>
                  <a:pt x="11428686" y="0"/>
                  <a:pt x="11461393" y="32707"/>
                  <a:pt x="11461393" y="73053"/>
                </a:cubicBezTo>
                <a:lnTo>
                  <a:pt x="11461393" y="2694120"/>
                </a:lnTo>
                <a:cubicBezTo>
                  <a:pt x="11461393" y="2734466"/>
                  <a:pt x="11428686" y="2767173"/>
                  <a:pt x="11388340" y="2767173"/>
                </a:cubicBezTo>
                <a:lnTo>
                  <a:pt x="73053" y="2767173"/>
                </a:lnTo>
                <a:cubicBezTo>
                  <a:pt x="32707" y="2767173"/>
                  <a:pt x="0" y="2734466"/>
                  <a:pt x="0" y="2694120"/>
                </a:cubicBezTo>
                <a:lnTo>
                  <a:pt x="0" y="73053"/>
                </a:lnTo>
                <a:cubicBezTo>
                  <a:pt x="0" y="32707"/>
                  <a:pt x="32707" y="0"/>
                  <a:pt x="73053" y="0"/>
                </a:cubicBezTo>
                <a:close/>
              </a:path>
            </a:pathLst>
          </a:custGeom>
          <a:solidFill>
            <a:srgbClr val="FFFFFF"/>
          </a:solidFill>
          <a:ln>
            <a:solidFill>
              <a:schemeClr val="tx1"/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4796" dist="3653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7955" y="1278562"/>
            <a:ext cx="11187416" cy="25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8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Multi-Asset Comparison Matrix</a:t>
            </a:r>
            <a:endParaRPr lang="en-US" sz="16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7955" y="1680396"/>
          <a:ext cx="11096091" cy="2000034"/>
        </p:xfrm>
        <a:graphic>
          <a:graphicData uri="http://schemas.openxmlformats.org/drawingml/2006/table">
            <a:tbl>
              <a:tblPr/>
              <a:tblGrid>
                <a:gridCol w="18920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12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81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651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226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269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33339">
                <a:tc>
                  <a:txBody>
                    <a:bodyPr/>
                    <a:lstStyle/>
                    <a:p>
                      <a:pPr algn="l"/>
                      <a:r>
                        <a:rPr lang="en-US" sz="1000" b="1" u="none" dirty="0">
                          <a:solidFill>
                            <a:srgbClr val="F5F1E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Stock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591" marR="109591" marT="73061" marB="7306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F5F1E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BSI Score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591" marR="109591" marT="73061" marB="7306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F5F1E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Volatility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591" marR="109591" marT="73061" marB="7306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F5F1E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Sharpe Ratio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591" marR="109591" marT="73061" marB="7306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F5F1E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Quantum Verdict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591" marR="109591" marT="73061" marB="7306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F5F1E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Risk Level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591" marR="109591" marT="73061" marB="7306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339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HDFCBANK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591" marR="109591" marT="73061" marB="7306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72.5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591" marR="109591" marT="73061" marB="7306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18.2%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591" marR="109591" marT="73061" marB="7306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2.10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591" marR="109591" marT="73061" marB="7306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BUY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591" marR="109591" marT="73061" marB="7306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LOW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591" marR="109591" marT="73061" marB="7306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339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SBIN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591" marR="109591" marT="73061" marB="7306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68.3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591" marR="109591" marT="73061" marB="7306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24.5%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591" marR="109591" marT="73061" marB="7306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1.65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591" marR="109591" marT="73061" marB="7306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BUY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591" marR="109591" marT="73061" marB="7306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MED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591" marR="109591" marT="73061" marB="7306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339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ICICIBANK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591" marR="109591" marT="73061" marB="7306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58.7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591" marR="109591" marT="73061" marB="7306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21.8%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591" marR="109591" marT="73061" marB="7306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1.45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591" marR="109591" marT="73061" marB="7306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HOLD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591" marR="109591" marT="73061" marB="7306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MED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591" marR="109591" marT="73061" marB="7306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3339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RELIANCE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591" marR="109591" marT="73061" marB="7306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42.1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591" marR="109591" marT="73061" marB="7306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28.3%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591" marR="109591" marT="73061" marB="7306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0.95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591" marR="109591" marT="73061" marB="7306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HOLD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591" marR="109591" marT="73061" marB="7306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HIGH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591" marR="109591" marT="73061" marB="7306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3339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TCS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591" marR="109591" marT="73061" marB="7306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35.8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591" marR="109591" marT="73061" marB="7306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19.7%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591" marR="109591" marT="73061" marB="7306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1.15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591" marR="109591" marT="73061" marB="7306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SELL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591" marR="109591" marT="73061" marB="7306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MED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591" marR="109591" marT="73061" marB="7306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365303" y="4011033"/>
            <a:ext cx="5625672" cy="2767173"/>
          </a:xfrm>
          <a:custGeom>
            <a:avLst/>
            <a:gdLst/>
            <a:ahLst/>
            <a:cxnLst/>
            <a:rect l="l" t="t" r="r" b="b"/>
            <a:pathLst>
              <a:path w="5625672" h="2849366">
                <a:moveTo>
                  <a:pt x="73058" y="0"/>
                </a:moveTo>
                <a:lnTo>
                  <a:pt x="5552614" y="0"/>
                </a:lnTo>
                <a:cubicBezTo>
                  <a:pt x="5592963" y="0"/>
                  <a:pt x="5625672" y="32709"/>
                  <a:pt x="5625672" y="73058"/>
                </a:cubicBezTo>
                <a:lnTo>
                  <a:pt x="5625672" y="2776309"/>
                </a:lnTo>
                <a:cubicBezTo>
                  <a:pt x="5625672" y="2816657"/>
                  <a:pt x="5592963" y="2849366"/>
                  <a:pt x="5552614" y="2849366"/>
                </a:cubicBezTo>
                <a:lnTo>
                  <a:pt x="73058" y="2849366"/>
                </a:lnTo>
                <a:cubicBezTo>
                  <a:pt x="32709" y="2849366"/>
                  <a:pt x="0" y="2816657"/>
                  <a:pt x="0" y="2776309"/>
                </a:cubicBezTo>
                <a:lnTo>
                  <a:pt x="0" y="73058"/>
                </a:lnTo>
                <a:cubicBezTo>
                  <a:pt x="0" y="32736"/>
                  <a:pt x="32736" y="0"/>
                  <a:pt x="73058" y="0"/>
                </a:cubicBezTo>
                <a:close/>
              </a:path>
            </a:pathLst>
          </a:custGeom>
          <a:solidFill>
            <a:srgbClr val="FFFFFF"/>
          </a:solidFill>
          <a:ln>
            <a:solidFill>
              <a:schemeClr val="tx1"/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4796" dist="3653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47955" y="4193684"/>
            <a:ext cx="5342562" cy="25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4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Cumulative Portfolio Performance</a:t>
            </a:r>
            <a:endParaRPr lang="en-US" sz="1600" dirty="0"/>
          </a:p>
        </p:txBody>
      </p:sp>
      <p:pic>
        <p:nvPicPr>
          <p:cNvPr id="11" name="Image 0" descr="https://kimi-img.moonshot.cn/pub/slides/26-03-22-21:12:50-d6vulkjodd0rao6hg1tg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7955" y="4558988"/>
            <a:ext cx="5004656" cy="1826517"/>
          </a:xfrm>
          <a:prstGeom prst="roundRect">
            <a:avLst>
              <a:gd name="adj" fmla="val 0"/>
            </a:avLst>
          </a:prstGeom>
        </p:spPr>
      </p:pic>
      <p:sp>
        <p:nvSpPr>
          <p:cNvPr id="12" name="Shape 8"/>
          <p:cNvSpPr/>
          <p:nvPr/>
        </p:nvSpPr>
        <p:spPr>
          <a:xfrm>
            <a:off x="6206048" y="4011033"/>
            <a:ext cx="5625672" cy="2767173"/>
          </a:xfrm>
          <a:custGeom>
            <a:avLst/>
            <a:gdLst/>
            <a:ahLst/>
            <a:cxnLst/>
            <a:rect l="l" t="t" r="r" b="b"/>
            <a:pathLst>
              <a:path w="5625672" h="2849366">
                <a:moveTo>
                  <a:pt x="73058" y="0"/>
                </a:moveTo>
                <a:lnTo>
                  <a:pt x="5552614" y="0"/>
                </a:lnTo>
                <a:cubicBezTo>
                  <a:pt x="5592963" y="0"/>
                  <a:pt x="5625672" y="32709"/>
                  <a:pt x="5625672" y="73058"/>
                </a:cubicBezTo>
                <a:lnTo>
                  <a:pt x="5625672" y="2776309"/>
                </a:lnTo>
                <a:cubicBezTo>
                  <a:pt x="5625672" y="2816657"/>
                  <a:pt x="5592963" y="2849366"/>
                  <a:pt x="5552614" y="2849366"/>
                </a:cubicBezTo>
                <a:lnTo>
                  <a:pt x="73058" y="2849366"/>
                </a:lnTo>
                <a:cubicBezTo>
                  <a:pt x="32709" y="2849366"/>
                  <a:pt x="0" y="2816657"/>
                  <a:pt x="0" y="2776309"/>
                </a:cubicBezTo>
                <a:lnTo>
                  <a:pt x="0" y="73058"/>
                </a:lnTo>
                <a:cubicBezTo>
                  <a:pt x="0" y="32736"/>
                  <a:pt x="32736" y="0"/>
                  <a:pt x="73058" y="0"/>
                </a:cubicBezTo>
                <a:close/>
              </a:path>
            </a:pathLst>
          </a:custGeom>
          <a:solidFill>
            <a:srgbClr val="FFFFFF"/>
          </a:solidFill>
          <a:ln>
            <a:solidFill>
              <a:schemeClr val="tx1"/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4796" dist="3653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6388699" y="4193684"/>
            <a:ext cx="5342562" cy="25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4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Backtesting Execution History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6406964" y="4558988"/>
            <a:ext cx="5242103" cy="474894"/>
          </a:xfrm>
          <a:custGeom>
            <a:avLst/>
            <a:gdLst/>
            <a:ahLst/>
            <a:cxnLst/>
            <a:rect l="l" t="t" r="r" b="b"/>
            <a:pathLst>
              <a:path w="5242103" h="474894">
                <a:moveTo>
                  <a:pt x="36529" y="0"/>
                </a:moveTo>
                <a:lnTo>
                  <a:pt x="5205574" y="0"/>
                </a:lnTo>
                <a:cubicBezTo>
                  <a:pt x="5225749" y="0"/>
                  <a:pt x="5242103" y="16355"/>
                  <a:pt x="5242103" y="36529"/>
                </a:cubicBezTo>
                <a:lnTo>
                  <a:pt x="5242103" y="438366"/>
                </a:lnTo>
                <a:cubicBezTo>
                  <a:pt x="5242103" y="458540"/>
                  <a:pt x="5225749" y="474894"/>
                  <a:pt x="5205574" y="474894"/>
                </a:cubicBezTo>
                <a:lnTo>
                  <a:pt x="36529" y="474894"/>
                </a:lnTo>
                <a:cubicBezTo>
                  <a:pt x="16355" y="474894"/>
                  <a:pt x="0" y="458540"/>
                  <a:pt x="0" y="438366"/>
                </a:cubicBezTo>
                <a:lnTo>
                  <a:pt x="0" y="36529"/>
                </a:lnTo>
                <a:cubicBezTo>
                  <a:pt x="0" y="16368"/>
                  <a:pt x="16368" y="0"/>
                  <a:pt x="36529" y="0"/>
                </a:cubicBezTo>
                <a:close/>
              </a:path>
            </a:pathLst>
          </a:custGeom>
          <a:solidFill>
            <a:srgbClr val="F0FDF4"/>
          </a:solidFill>
          <a:ln/>
        </p:spPr>
      </p:sp>
      <p:sp>
        <p:nvSpPr>
          <p:cNvPr id="15" name="Shape 11"/>
          <p:cNvSpPr/>
          <p:nvPr/>
        </p:nvSpPr>
        <p:spPr>
          <a:xfrm>
            <a:off x="6406964" y="4558988"/>
            <a:ext cx="36530" cy="474894"/>
          </a:xfrm>
          <a:custGeom>
            <a:avLst/>
            <a:gdLst/>
            <a:ahLst/>
            <a:cxnLst/>
            <a:rect l="l" t="t" r="r" b="b"/>
            <a:pathLst>
              <a:path w="36530" h="474894">
                <a:moveTo>
                  <a:pt x="36530" y="0"/>
                </a:moveTo>
                <a:lnTo>
                  <a:pt x="36530" y="0"/>
                </a:lnTo>
                <a:lnTo>
                  <a:pt x="36530" y="474894"/>
                </a:lnTo>
                <a:lnTo>
                  <a:pt x="36530" y="474894"/>
                </a:lnTo>
                <a:cubicBezTo>
                  <a:pt x="16369" y="474894"/>
                  <a:pt x="0" y="458526"/>
                  <a:pt x="0" y="438364"/>
                </a:cubicBezTo>
                <a:lnTo>
                  <a:pt x="0" y="36530"/>
                </a:lnTo>
                <a:cubicBezTo>
                  <a:pt x="0" y="16369"/>
                  <a:pt x="16369" y="0"/>
                  <a:pt x="36530" y="0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16" name="Text 12"/>
          <p:cNvSpPr/>
          <p:nvPr/>
        </p:nvSpPr>
        <p:spPr>
          <a:xfrm>
            <a:off x="6498290" y="4632049"/>
            <a:ext cx="1013717" cy="182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7" b="1" dirty="0">
                <a:solidFill>
                  <a:srgbClr val="0082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17 Mar, 10:30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6498290" y="4814700"/>
            <a:ext cx="1004584" cy="1461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63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TCS - BUY @ ₹3,245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11111616" y="4704993"/>
            <a:ext cx="520557" cy="182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7" b="1" dirty="0">
                <a:solidFill>
                  <a:srgbClr val="00A6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+₹2,450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6406964" y="5106827"/>
            <a:ext cx="5242103" cy="474894"/>
          </a:xfrm>
          <a:custGeom>
            <a:avLst/>
            <a:gdLst/>
            <a:ahLst/>
            <a:cxnLst/>
            <a:rect l="l" t="t" r="r" b="b"/>
            <a:pathLst>
              <a:path w="5242103" h="474894">
                <a:moveTo>
                  <a:pt x="36529" y="0"/>
                </a:moveTo>
                <a:lnTo>
                  <a:pt x="5205574" y="0"/>
                </a:lnTo>
                <a:cubicBezTo>
                  <a:pt x="5225749" y="0"/>
                  <a:pt x="5242103" y="16355"/>
                  <a:pt x="5242103" y="36529"/>
                </a:cubicBezTo>
                <a:lnTo>
                  <a:pt x="5242103" y="438366"/>
                </a:lnTo>
                <a:cubicBezTo>
                  <a:pt x="5242103" y="458540"/>
                  <a:pt x="5225749" y="474894"/>
                  <a:pt x="5205574" y="474894"/>
                </a:cubicBezTo>
                <a:lnTo>
                  <a:pt x="36529" y="474894"/>
                </a:lnTo>
                <a:cubicBezTo>
                  <a:pt x="16355" y="474894"/>
                  <a:pt x="0" y="458540"/>
                  <a:pt x="0" y="438366"/>
                </a:cubicBezTo>
                <a:lnTo>
                  <a:pt x="0" y="36529"/>
                </a:lnTo>
                <a:cubicBezTo>
                  <a:pt x="0" y="16368"/>
                  <a:pt x="16368" y="0"/>
                  <a:pt x="36529" y="0"/>
                </a:cubicBezTo>
                <a:close/>
              </a:path>
            </a:pathLst>
          </a:custGeom>
          <a:solidFill>
            <a:srgbClr val="FEF2F2"/>
          </a:solidFill>
          <a:ln/>
        </p:spPr>
      </p:sp>
      <p:sp>
        <p:nvSpPr>
          <p:cNvPr id="20" name="Shape 16"/>
          <p:cNvSpPr/>
          <p:nvPr/>
        </p:nvSpPr>
        <p:spPr>
          <a:xfrm>
            <a:off x="6406964" y="5106827"/>
            <a:ext cx="36530" cy="474894"/>
          </a:xfrm>
          <a:custGeom>
            <a:avLst/>
            <a:gdLst/>
            <a:ahLst/>
            <a:cxnLst/>
            <a:rect l="l" t="t" r="r" b="b"/>
            <a:pathLst>
              <a:path w="36530" h="474894">
                <a:moveTo>
                  <a:pt x="36530" y="0"/>
                </a:moveTo>
                <a:lnTo>
                  <a:pt x="36530" y="0"/>
                </a:lnTo>
                <a:lnTo>
                  <a:pt x="36530" y="474894"/>
                </a:lnTo>
                <a:lnTo>
                  <a:pt x="36530" y="474894"/>
                </a:lnTo>
                <a:cubicBezTo>
                  <a:pt x="16369" y="474894"/>
                  <a:pt x="0" y="458526"/>
                  <a:pt x="0" y="438364"/>
                </a:cubicBezTo>
                <a:lnTo>
                  <a:pt x="0" y="36530"/>
                </a:lnTo>
                <a:cubicBezTo>
                  <a:pt x="0" y="16369"/>
                  <a:pt x="16369" y="0"/>
                  <a:pt x="36530" y="0"/>
                </a:cubicBez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21" name="Text 17"/>
          <p:cNvSpPr/>
          <p:nvPr/>
        </p:nvSpPr>
        <p:spPr>
          <a:xfrm>
            <a:off x="6498290" y="5179888"/>
            <a:ext cx="1360755" cy="182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7" b="1" dirty="0">
                <a:solidFill>
                  <a:srgbClr val="C1000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15 Mar, 14:15</a:t>
            </a:r>
            <a:endParaRPr lang="en-US" sz="1600" dirty="0"/>
          </a:p>
        </p:txBody>
      </p:sp>
      <p:sp>
        <p:nvSpPr>
          <p:cNvPr id="8" name="Text 18"/>
          <p:cNvSpPr/>
          <p:nvPr/>
        </p:nvSpPr>
        <p:spPr>
          <a:xfrm>
            <a:off x="6498290" y="5362539"/>
            <a:ext cx="1351622" cy="1461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63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RELIANCE - SELL @ ₹2,890</a:t>
            </a:r>
            <a:endParaRPr lang="en-US" sz="1600" dirty="0"/>
          </a:p>
        </p:txBody>
      </p:sp>
      <p:sp>
        <p:nvSpPr>
          <p:cNvPr id="23" name="Text 19"/>
          <p:cNvSpPr/>
          <p:nvPr/>
        </p:nvSpPr>
        <p:spPr>
          <a:xfrm>
            <a:off x="11199289" y="5252841"/>
            <a:ext cx="438364" cy="182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7" b="1" dirty="0">
                <a:solidFill>
                  <a:srgbClr val="E700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-₹890</a:t>
            </a:r>
            <a:endParaRPr lang="en-US" sz="1600" dirty="0"/>
          </a:p>
        </p:txBody>
      </p:sp>
      <p:sp>
        <p:nvSpPr>
          <p:cNvPr id="24" name="Shape 20"/>
          <p:cNvSpPr/>
          <p:nvPr/>
        </p:nvSpPr>
        <p:spPr>
          <a:xfrm>
            <a:off x="6406964" y="5654675"/>
            <a:ext cx="5242103" cy="474894"/>
          </a:xfrm>
          <a:custGeom>
            <a:avLst/>
            <a:gdLst/>
            <a:ahLst/>
            <a:cxnLst/>
            <a:rect l="l" t="t" r="r" b="b"/>
            <a:pathLst>
              <a:path w="5242103" h="474894">
                <a:moveTo>
                  <a:pt x="36529" y="0"/>
                </a:moveTo>
                <a:lnTo>
                  <a:pt x="5205574" y="0"/>
                </a:lnTo>
                <a:cubicBezTo>
                  <a:pt x="5225749" y="0"/>
                  <a:pt x="5242103" y="16355"/>
                  <a:pt x="5242103" y="36529"/>
                </a:cubicBezTo>
                <a:lnTo>
                  <a:pt x="5242103" y="438366"/>
                </a:lnTo>
                <a:cubicBezTo>
                  <a:pt x="5242103" y="458540"/>
                  <a:pt x="5225749" y="474894"/>
                  <a:pt x="5205574" y="474894"/>
                </a:cubicBezTo>
                <a:lnTo>
                  <a:pt x="36529" y="474894"/>
                </a:lnTo>
                <a:cubicBezTo>
                  <a:pt x="16355" y="474894"/>
                  <a:pt x="0" y="458540"/>
                  <a:pt x="0" y="438366"/>
                </a:cubicBezTo>
                <a:lnTo>
                  <a:pt x="0" y="36529"/>
                </a:lnTo>
                <a:cubicBezTo>
                  <a:pt x="0" y="16368"/>
                  <a:pt x="16368" y="0"/>
                  <a:pt x="36529" y="0"/>
                </a:cubicBezTo>
                <a:close/>
              </a:path>
            </a:pathLst>
          </a:custGeom>
          <a:solidFill>
            <a:srgbClr val="F0FDF4"/>
          </a:solidFill>
          <a:ln/>
        </p:spPr>
      </p:sp>
      <p:sp>
        <p:nvSpPr>
          <p:cNvPr id="25" name="Shape 21"/>
          <p:cNvSpPr/>
          <p:nvPr/>
        </p:nvSpPr>
        <p:spPr>
          <a:xfrm>
            <a:off x="6406964" y="5654675"/>
            <a:ext cx="36530" cy="474894"/>
          </a:xfrm>
          <a:custGeom>
            <a:avLst/>
            <a:gdLst/>
            <a:ahLst/>
            <a:cxnLst/>
            <a:rect l="l" t="t" r="r" b="b"/>
            <a:pathLst>
              <a:path w="36530" h="474894">
                <a:moveTo>
                  <a:pt x="36530" y="0"/>
                </a:moveTo>
                <a:lnTo>
                  <a:pt x="36530" y="0"/>
                </a:lnTo>
                <a:lnTo>
                  <a:pt x="36530" y="474894"/>
                </a:lnTo>
                <a:lnTo>
                  <a:pt x="36530" y="474894"/>
                </a:lnTo>
                <a:cubicBezTo>
                  <a:pt x="16369" y="474894"/>
                  <a:pt x="0" y="458526"/>
                  <a:pt x="0" y="438364"/>
                </a:cubicBezTo>
                <a:lnTo>
                  <a:pt x="0" y="36530"/>
                </a:lnTo>
                <a:cubicBezTo>
                  <a:pt x="0" y="16369"/>
                  <a:pt x="16369" y="0"/>
                  <a:pt x="36530" y="0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26" name="Text 22"/>
          <p:cNvSpPr/>
          <p:nvPr/>
        </p:nvSpPr>
        <p:spPr>
          <a:xfrm>
            <a:off x="6498290" y="5727736"/>
            <a:ext cx="1379020" cy="182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7" b="1" dirty="0">
                <a:solidFill>
                  <a:srgbClr val="0082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 Mar, 09:45</a:t>
            </a:r>
            <a:endParaRPr lang="en-US" sz="1600" dirty="0"/>
          </a:p>
        </p:txBody>
      </p:sp>
      <p:sp>
        <p:nvSpPr>
          <p:cNvPr id="27" name="Text 23"/>
          <p:cNvSpPr/>
          <p:nvPr/>
        </p:nvSpPr>
        <p:spPr>
          <a:xfrm>
            <a:off x="6498290" y="5910387"/>
            <a:ext cx="1369888" cy="1461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63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HDFCBANK - BUY @ ₹1,650</a:t>
            </a:r>
            <a:endParaRPr lang="en-US" sz="1600" dirty="0"/>
          </a:p>
        </p:txBody>
      </p:sp>
      <p:sp>
        <p:nvSpPr>
          <p:cNvPr id="28" name="Text 24"/>
          <p:cNvSpPr/>
          <p:nvPr/>
        </p:nvSpPr>
        <p:spPr>
          <a:xfrm>
            <a:off x="11089698" y="5800671"/>
            <a:ext cx="547955" cy="182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7" b="1" dirty="0">
                <a:solidFill>
                  <a:srgbClr val="00A6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+₹3,200</a:t>
            </a:r>
            <a:endParaRPr lang="en-US" sz="1600" dirty="0"/>
          </a:p>
        </p:txBody>
      </p:sp>
      <p:sp>
        <p:nvSpPr>
          <p:cNvPr id="29" name="Shape 25"/>
          <p:cNvSpPr/>
          <p:nvPr/>
        </p:nvSpPr>
        <p:spPr>
          <a:xfrm>
            <a:off x="6406964" y="6202505"/>
            <a:ext cx="5242103" cy="474894"/>
          </a:xfrm>
          <a:custGeom>
            <a:avLst/>
            <a:gdLst/>
            <a:ahLst/>
            <a:cxnLst/>
            <a:rect l="l" t="t" r="r" b="b"/>
            <a:pathLst>
              <a:path w="5242103" h="474894">
                <a:moveTo>
                  <a:pt x="36529" y="0"/>
                </a:moveTo>
                <a:lnTo>
                  <a:pt x="5205574" y="0"/>
                </a:lnTo>
                <a:cubicBezTo>
                  <a:pt x="5225749" y="0"/>
                  <a:pt x="5242103" y="16355"/>
                  <a:pt x="5242103" y="36529"/>
                </a:cubicBezTo>
                <a:lnTo>
                  <a:pt x="5242103" y="438366"/>
                </a:lnTo>
                <a:cubicBezTo>
                  <a:pt x="5242103" y="458540"/>
                  <a:pt x="5225749" y="474894"/>
                  <a:pt x="5205574" y="474894"/>
                </a:cubicBezTo>
                <a:lnTo>
                  <a:pt x="36529" y="474894"/>
                </a:lnTo>
                <a:cubicBezTo>
                  <a:pt x="16355" y="474894"/>
                  <a:pt x="0" y="458540"/>
                  <a:pt x="0" y="438366"/>
                </a:cubicBezTo>
                <a:lnTo>
                  <a:pt x="0" y="36529"/>
                </a:lnTo>
                <a:cubicBezTo>
                  <a:pt x="0" y="16368"/>
                  <a:pt x="16368" y="0"/>
                  <a:pt x="36529" y="0"/>
                </a:cubicBezTo>
                <a:close/>
              </a:path>
            </a:pathLst>
          </a:custGeom>
          <a:solidFill>
            <a:srgbClr val="F0FDF4"/>
          </a:solidFill>
          <a:ln/>
        </p:spPr>
      </p:sp>
      <p:sp>
        <p:nvSpPr>
          <p:cNvPr id="30" name="Shape 26"/>
          <p:cNvSpPr/>
          <p:nvPr/>
        </p:nvSpPr>
        <p:spPr>
          <a:xfrm>
            <a:off x="6406964" y="6202505"/>
            <a:ext cx="36530" cy="474894"/>
          </a:xfrm>
          <a:custGeom>
            <a:avLst/>
            <a:gdLst/>
            <a:ahLst/>
            <a:cxnLst/>
            <a:rect l="l" t="t" r="r" b="b"/>
            <a:pathLst>
              <a:path w="36530" h="474894">
                <a:moveTo>
                  <a:pt x="36530" y="0"/>
                </a:moveTo>
                <a:lnTo>
                  <a:pt x="36530" y="0"/>
                </a:lnTo>
                <a:lnTo>
                  <a:pt x="36530" y="474894"/>
                </a:lnTo>
                <a:lnTo>
                  <a:pt x="36530" y="474894"/>
                </a:lnTo>
                <a:cubicBezTo>
                  <a:pt x="16369" y="474894"/>
                  <a:pt x="0" y="458526"/>
                  <a:pt x="0" y="438364"/>
                </a:cubicBezTo>
                <a:lnTo>
                  <a:pt x="0" y="36530"/>
                </a:lnTo>
                <a:cubicBezTo>
                  <a:pt x="0" y="16369"/>
                  <a:pt x="16369" y="0"/>
                  <a:pt x="36530" y="0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31" name="Text 27"/>
          <p:cNvSpPr/>
          <p:nvPr/>
        </p:nvSpPr>
        <p:spPr>
          <a:xfrm>
            <a:off x="6498290" y="6275566"/>
            <a:ext cx="968054" cy="182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7" b="1" dirty="0">
                <a:solidFill>
                  <a:srgbClr val="0082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 Mar, 11:20</a:t>
            </a:r>
            <a:endParaRPr lang="en-US" sz="1600" dirty="0"/>
          </a:p>
        </p:txBody>
      </p:sp>
      <p:sp>
        <p:nvSpPr>
          <p:cNvPr id="32" name="Text 28"/>
          <p:cNvSpPr/>
          <p:nvPr/>
        </p:nvSpPr>
        <p:spPr>
          <a:xfrm>
            <a:off x="6498290" y="6458218"/>
            <a:ext cx="958921" cy="1461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63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SBIN - BUY @ ₹720</a:t>
            </a:r>
            <a:endParaRPr lang="en-US" sz="1600" dirty="0"/>
          </a:p>
        </p:txBody>
      </p:sp>
      <p:sp>
        <p:nvSpPr>
          <p:cNvPr id="33" name="Text 29"/>
          <p:cNvSpPr/>
          <p:nvPr/>
        </p:nvSpPr>
        <p:spPr>
          <a:xfrm>
            <a:off x="11126228" y="6348520"/>
            <a:ext cx="511425" cy="182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7" b="1" dirty="0">
                <a:solidFill>
                  <a:srgbClr val="00A6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+₹1,850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76200" y="0"/>
                </a:moveTo>
                <a:lnTo>
                  <a:pt x="533400" y="0"/>
                </a:lnTo>
                <a:cubicBezTo>
                  <a:pt x="575456" y="0"/>
                  <a:pt x="609600" y="34144"/>
                  <a:pt x="609600" y="76200"/>
                </a:cubicBezTo>
                <a:lnTo>
                  <a:pt x="609600" y="533400"/>
                </a:lnTo>
                <a:cubicBezTo>
                  <a:pt x="609600" y="575456"/>
                  <a:pt x="575456" y="609600"/>
                  <a:pt x="53340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556260" y="514350"/>
            <a:ext cx="4000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17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43000" y="400050"/>
            <a:ext cx="3362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C75B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SCREENSHOTS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590550"/>
            <a:ext cx="3467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QuantShield Interface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1000" y="1143000"/>
            <a:ext cx="3705225" cy="3200400"/>
          </a:xfrm>
          <a:custGeom>
            <a:avLst/>
            <a:gdLst/>
            <a:ahLst/>
            <a:cxnLst/>
            <a:rect l="l" t="t" r="r" b="b"/>
            <a:pathLst>
              <a:path w="3705225" h="3200400">
                <a:moveTo>
                  <a:pt x="76202" y="0"/>
                </a:moveTo>
                <a:lnTo>
                  <a:pt x="3629023" y="0"/>
                </a:lnTo>
                <a:cubicBezTo>
                  <a:pt x="3671108" y="0"/>
                  <a:pt x="3705225" y="34117"/>
                  <a:pt x="3705225" y="76202"/>
                </a:cubicBezTo>
                <a:lnTo>
                  <a:pt x="3705225" y="3124198"/>
                </a:lnTo>
                <a:cubicBezTo>
                  <a:pt x="3705225" y="3166283"/>
                  <a:pt x="3671108" y="3200400"/>
                  <a:pt x="3629023" y="3200400"/>
                </a:cubicBezTo>
                <a:lnTo>
                  <a:pt x="76202" y="3200400"/>
                </a:lnTo>
                <a:cubicBezTo>
                  <a:pt x="34117" y="3200400"/>
                  <a:pt x="0" y="3166283"/>
                  <a:pt x="0" y="3124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glow rad="63500">
              <a:schemeClr val="accent5">
                <a:satMod val="175000"/>
                <a:alpha val="40000"/>
              </a:schemeClr>
            </a:glow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90538" y="1295400"/>
            <a:ext cx="3486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Dashboard Overview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33400" y="1638300"/>
            <a:ext cx="3400425" cy="2552700"/>
          </a:xfrm>
          <a:custGeom>
            <a:avLst/>
            <a:gdLst/>
            <a:ahLst/>
            <a:cxnLst/>
            <a:rect l="l" t="t" r="r" b="b"/>
            <a:pathLst>
              <a:path w="3400425" h="2552700">
                <a:moveTo>
                  <a:pt x="76198" y="0"/>
                </a:moveTo>
                <a:lnTo>
                  <a:pt x="3324227" y="0"/>
                </a:lnTo>
                <a:cubicBezTo>
                  <a:pt x="3366310" y="0"/>
                  <a:pt x="3400425" y="34115"/>
                  <a:pt x="3400425" y="76198"/>
                </a:cubicBezTo>
                <a:lnTo>
                  <a:pt x="3400425" y="2476502"/>
                </a:lnTo>
                <a:cubicBezTo>
                  <a:pt x="3400425" y="2518585"/>
                  <a:pt x="3366310" y="2552700"/>
                  <a:pt x="3324227" y="2552700"/>
                </a:cubicBezTo>
                <a:lnTo>
                  <a:pt x="76198" y="2552700"/>
                </a:lnTo>
                <a:cubicBezTo>
                  <a:pt x="34115" y="2552700"/>
                  <a:pt x="0" y="2518585"/>
                  <a:pt x="0" y="24765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1E3A5F"/>
          </a:solidFill>
          <a:ln/>
        </p:spPr>
      </p:sp>
      <p:sp>
        <p:nvSpPr>
          <p:cNvPr id="9" name="Shape 7"/>
          <p:cNvSpPr/>
          <p:nvPr/>
        </p:nvSpPr>
        <p:spPr>
          <a:xfrm>
            <a:off x="647700" y="1752600"/>
            <a:ext cx="1552575" cy="571500"/>
          </a:xfrm>
          <a:custGeom>
            <a:avLst/>
            <a:gdLst/>
            <a:ahLst/>
            <a:cxnLst/>
            <a:rect l="l" t="t" r="r" b="b"/>
            <a:pathLst>
              <a:path w="1552575" h="571500">
                <a:moveTo>
                  <a:pt x="38102" y="0"/>
                </a:moveTo>
                <a:lnTo>
                  <a:pt x="1514473" y="0"/>
                </a:lnTo>
                <a:cubicBezTo>
                  <a:pt x="1535516" y="0"/>
                  <a:pt x="1552575" y="17059"/>
                  <a:pt x="1552575" y="38102"/>
                </a:cubicBezTo>
                <a:lnTo>
                  <a:pt x="1552575" y="533398"/>
                </a:lnTo>
                <a:cubicBezTo>
                  <a:pt x="1552575" y="554441"/>
                  <a:pt x="1535516" y="571500"/>
                  <a:pt x="1514473" y="571500"/>
                </a:cubicBezTo>
                <a:lnTo>
                  <a:pt x="38102" y="571500"/>
                </a:lnTo>
                <a:cubicBezTo>
                  <a:pt x="17059" y="571500"/>
                  <a:pt x="0" y="554441"/>
                  <a:pt x="0" y="53339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F5F1EB">
              <a:alpha val="10196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95325" y="1828800"/>
            <a:ext cx="14573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F5F1E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Unrealized P&amp;L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1038" y="1981088"/>
            <a:ext cx="1485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₹5,400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273260" y="1752600"/>
            <a:ext cx="1552575" cy="571500"/>
          </a:xfrm>
          <a:custGeom>
            <a:avLst/>
            <a:gdLst/>
            <a:ahLst/>
            <a:cxnLst/>
            <a:rect l="l" t="t" r="r" b="b"/>
            <a:pathLst>
              <a:path w="1552575" h="571500">
                <a:moveTo>
                  <a:pt x="38102" y="0"/>
                </a:moveTo>
                <a:lnTo>
                  <a:pt x="1514473" y="0"/>
                </a:lnTo>
                <a:cubicBezTo>
                  <a:pt x="1535516" y="0"/>
                  <a:pt x="1552575" y="17059"/>
                  <a:pt x="1552575" y="38102"/>
                </a:cubicBezTo>
                <a:lnTo>
                  <a:pt x="1552575" y="533398"/>
                </a:lnTo>
                <a:cubicBezTo>
                  <a:pt x="1552575" y="554441"/>
                  <a:pt x="1535516" y="571500"/>
                  <a:pt x="1514473" y="571500"/>
                </a:cubicBezTo>
                <a:lnTo>
                  <a:pt x="38102" y="571500"/>
                </a:lnTo>
                <a:cubicBezTo>
                  <a:pt x="17059" y="571500"/>
                  <a:pt x="0" y="554441"/>
                  <a:pt x="0" y="53339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F5F1EB">
              <a:alpha val="10196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2320885" y="1828800"/>
            <a:ext cx="14573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F5F1E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Market Price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306598" y="1981088"/>
            <a:ext cx="1485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₹1,037.46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7700" y="2400188"/>
            <a:ext cx="3171825" cy="571500"/>
          </a:xfrm>
          <a:custGeom>
            <a:avLst/>
            <a:gdLst/>
            <a:ahLst/>
            <a:cxnLst/>
            <a:rect l="l" t="t" r="r" b="b"/>
            <a:pathLst>
              <a:path w="3171825" h="571500">
                <a:moveTo>
                  <a:pt x="38102" y="0"/>
                </a:moveTo>
                <a:lnTo>
                  <a:pt x="3133723" y="0"/>
                </a:lnTo>
                <a:cubicBezTo>
                  <a:pt x="3154766" y="0"/>
                  <a:pt x="3171825" y="17059"/>
                  <a:pt x="3171825" y="38102"/>
                </a:cubicBezTo>
                <a:lnTo>
                  <a:pt x="3171825" y="533398"/>
                </a:lnTo>
                <a:cubicBezTo>
                  <a:pt x="3171825" y="554441"/>
                  <a:pt x="3154766" y="571500"/>
                  <a:pt x="3133723" y="571500"/>
                </a:cubicBezTo>
                <a:lnTo>
                  <a:pt x="38102" y="571500"/>
                </a:lnTo>
                <a:cubicBezTo>
                  <a:pt x="17059" y="571500"/>
                  <a:pt x="0" y="554441"/>
                  <a:pt x="0" y="53339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FB2C36">
              <a:alpha val="2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95325" y="2476388"/>
            <a:ext cx="30765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F5F1E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Quantum Verdict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76275" y="2628658"/>
            <a:ext cx="3114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646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SELL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47700" y="3047758"/>
            <a:ext cx="3171825" cy="609600"/>
          </a:xfrm>
          <a:custGeom>
            <a:avLst/>
            <a:gdLst/>
            <a:ahLst/>
            <a:cxnLst/>
            <a:rect l="l" t="t" r="r" b="b"/>
            <a:pathLst>
              <a:path w="3171825" h="609600">
                <a:moveTo>
                  <a:pt x="38100" y="0"/>
                </a:moveTo>
                <a:lnTo>
                  <a:pt x="3133725" y="0"/>
                </a:lnTo>
                <a:cubicBezTo>
                  <a:pt x="3154753" y="0"/>
                  <a:pt x="3171825" y="17072"/>
                  <a:pt x="3171825" y="38100"/>
                </a:cubicBezTo>
                <a:lnTo>
                  <a:pt x="3171825" y="571500"/>
                </a:lnTo>
                <a:cubicBezTo>
                  <a:pt x="3171825" y="592528"/>
                  <a:pt x="3154753" y="609600"/>
                  <a:pt x="3133725" y="609600"/>
                </a:cubicBez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5F1EB">
              <a:alpha val="10196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723900" y="3123958"/>
            <a:ext cx="30765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5F1E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BSI Score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23900" y="3314347"/>
            <a:ext cx="3019425" cy="76200"/>
          </a:xfrm>
          <a:custGeom>
            <a:avLst/>
            <a:gdLst/>
            <a:ahLst/>
            <a:cxnLst/>
            <a:rect l="l" t="t" r="r" b="b"/>
            <a:pathLst>
              <a:path w="3019425" h="76200">
                <a:moveTo>
                  <a:pt x="38100" y="0"/>
                </a:moveTo>
                <a:lnTo>
                  <a:pt x="2981325" y="0"/>
                </a:lnTo>
                <a:cubicBezTo>
                  <a:pt x="3002353" y="0"/>
                  <a:pt x="3019425" y="17072"/>
                  <a:pt x="3019425" y="38100"/>
                </a:cubicBezTo>
                <a:lnTo>
                  <a:pt x="3019425" y="38100"/>
                </a:lnTo>
                <a:cubicBezTo>
                  <a:pt x="3019425" y="59128"/>
                  <a:pt x="3002353" y="76200"/>
                  <a:pt x="2981325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565"/>
          </a:solidFill>
          <a:ln/>
        </p:spPr>
      </p:sp>
      <p:sp>
        <p:nvSpPr>
          <p:cNvPr id="21" name="Shape 19"/>
          <p:cNvSpPr/>
          <p:nvPr/>
        </p:nvSpPr>
        <p:spPr>
          <a:xfrm>
            <a:off x="723900" y="3314347"/>
            <a:ext cx="952500" cy="76200"/>
          </a:xfrm>
          <a:custGeom>
            <a:avLst/>
            <a:gdLst/>
            <a:ahLst/>
            <a:cxnLst/>
            <a:rect l="l" t="t" r="r" b="b"/>
            <a:pathLst>
              <a:path w="952500" h="76200">
                <a:moveTo>
                  <a:pt x="38100" y="0"/>
                </a:moveTo>
                <a:lnTo>
                  <a:pt x="914400" y="0"/>
                </a:lnTo>
                <a:cubicBezTo>
                  <a:pt x="935428" y="0"/>
                  <a:pt x="952500" y="17072"/>
                  <a:pt x="952500" y="38100"/>
                </a:cubicBezTo>
                <a:lnTo>
                  <a:pt x="952500" y="38100"/>
                </a:lnTo>
                <a:cubicBezTo>
                  <a:pt x="952500" y="59128"/>
                  <a:pt x="935428" y="76200"/>
                  <a:pt x="9144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22" name="Text 20"/>
          <p:cNvSpPr/>
          <p:nvPr/>
        </p:nvSpPr>
        <p:spPr>
          <a:xfrm>
            <a:off x="666750" y="3428647"/>
            <a:ext cx="30765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9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31.6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47700" y="3733335"/>
            <a:ext cx="1552575" cy="342900"/>
          </a:xfrm>
          <a:custGeom>
            <a:avLst/>
            <a:gdLst/>
            <a:ahLst/>
            <a:cxnLst/>
            <a:rect l="l" t="t" r="r" b="b"/>
            <a:pathLst>
              <a:path w="1552575" h="342900">
                <a:moveTo>
                  <a:pt x="38100" y="0"/>
                </a:moveTo>
                <a:lnTo>
                  <a:pt x="1514475" y="0"/>
                </a:lnTo>
                <a:cubicBezTo>
                  <a:pt x="1535517" y="0"/>
                  <a:pt x="1552575" y="17058"/>
                  <a:pt x="1552575" y="38100"/>
                </a:cubicBezTo>
                <a:lnTo>
                  <a:pt x="1552575" y="304800"/>
                </a:lnTo>
                <a:cubicBezTo>
                  <a:pt x="1552575" y="325842"/>
                  <a:pt x="1535517" y="342900"/>
                  <a:pt x="1514475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24" name="Text 22"/>
          <p:cNvSpPr/>
          <p:nvPr/>
        </p:nvSpPr>
        <p:spPr>
          <a:xfrm>
            <a:off x="614363" y="3733335"/>
            <a:ext cx="1619250" cy="3429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BUY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2273260" y="3733335"/>
            <a:ext cx="1552575" cy="342900"/>
          </a:xfrm>
          <a:custGeom>
            <a:avLst/>
            <a:gdLst/>
            <a:ahLst/>
            <a:cxnLst/>
            <a:rect l="l" t="t" r="r" b="b"/>
            <a:pathLst>
              <a:path w="1552575" h="342900">
                <a:moveTo>
                  <a:pt x="38100" y="0"/>
                </a:moveTo>
                <a:lnTo>
                  <a:pt x="1514475" y="0"/>
                </a:lnTo>
                <a:cubicBezTo>
                  <a:pt x="1535517" y="0"/>
                  <a:pt x="1552575" y="17058"/>
                  <a:pt x="1552575" y="38100"/>
                </a:cubicBezTo>
                <a:lnTo>
                  <a:pt x="1552575" y="304800"/>
                </a:lnTo>
                <a:cubicBezTo>
                  <a:pt x="1552575" y="325842"/>
                  <a:pt x="1535517" y="342900"/>
                  <a:pt x="1514475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26" name="Text 24"/>
          <p:cNvSpPr/>
          <p:nvPr/>
        </p:nvSpPr>
        <p:spPr>
          <a:xfrm>
            <a:off x="2239923" y="3733335"/>
            <a:ext cx="1619250" cy="3429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SELL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81000" y="4457235"/>
            <a:ext cx="3705225" cy="2324100"/>
          </a:xfrm>
          <a:custGeom>
            <a:avLst/>
            <a:gdLst/>
            <a:ahLst/>
            <a:cxnLst/>
            <a:rect l="l" t="t" r="r" b="b"/>
            <a:pathLst>
              <a:path w="3705225" h="2324100">
                <a:moveTo>
                  <a:pt x="76207" y="0"/>
                </a:moveTo>
                <a:lnTo>
                  <a:pt x="3629018" y="0"/>
                </a:lnTo>
                <a:cubicBezTo>
                  <a:pt x="3671106" y="0"/>
                  <a:pt x="3705225" y="34119"/>
                  <a:pt x="3705225" y="76207"/>
                </a:cubicBezTo>
                <a:lnTo>
                  <a:pt x="3705225" y="2247893"/>
                </a:lnTo>
                <a:cubicBezTo>
                  <a:pt x="3705225" y="2289981"/>
                  <a:pt x="3671106" y="2324100"/>
                  <a:pt x="3629018" y="2324100"/>
                </a:cubicBezTo>
                <a:lnTo>
                  <a:pt x="76207" y="2324100"/>
                </a:lnTo>
                <a:cubicBezTo>
                  <a:pt x="34119" y="2324100"/>
                  <a:pt x="0" y="2289981"/>
                  <a:pt x="0" y="2247893"/>
                </a:cubicBezTo>
                <a:lnTo>
                  <a:pt x="0" y="76207"/>
                </a:lnTo>
                <a:cubicBezTo>
                  <a:pt x="0" y="34119"/>
                  <a:pt x="34119" y="0"/>
                  <a:pt x="76207" y="0"/>
                </a:cubicBezTo>
                <a:close/>
              </a:path>
            </a:pathLst>
          </a:custGeom>
          <a:solidFill>
            <a:srgbClr val="FFFFFF"/>
          </a:solidFill>
          <a:ln>
            <a:solidFill>
              <a:schemeClr val="tx1"/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90538" y="4609635"/>
            <a:ext cx="3486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Stocks Overview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33400" y="4952535"/>
            <a:ext cx="3400425" cy="1676400"/>
          </a:xfrm>
          <a:custGeom>
            <a:avLst/>
            <a:gdLst/>
            <a:ahLst/>
            <a:cxnLst/>
            <a:rect l="l" t="t" r="r" b="b"/>
            <a:pathLst>
              <a:path w="3400425" h="1676400">
                <a:moveTo>
                  <a:pt x="76192" y="0"/>
                </a:moveTo>
                <a:lnTo>
                  <a:pt x="3324233" y="0"/>
                </a:lnTo>
                <a:cubicBezTo>
                  <a:pt x="3366313" y="0"/>
                  <a:pt x="3400425" y="34112"/>
                  <a:pt x="3400425" y="76192"/>
                </a:cubicBezTo>
                <a:lnTo>
                  <a:pt x="3400425" y="1600208"/>
                </a:lnTo>
                <a:cubicBezTo>
                  <a:pt x="3400425" y="1642288"/>
                  <a:pt x="3366313" y="1676400"/>
                  <a:pt x="3324233" y="1676400"/>
                </a:cubicBezTo>
                <a:lnTo>
                  <a:pt x="76192" y="1676400"/>
                </a:lnTo>
                <a:cubicBezTo>
                  <a:pt x="34112" y="1676400"/>
                  <a:pt x="0" y="1642288"/>
                  <a:pt x="0" y="1600208"/>
                </a:cubicBezTo>
                <a:lnTo>
                  <a:pt x="0" y="76192"/>
                </a:lnTo>
                <a:cubicBezTo>
                  <a:pt x="0" y="34141"/>
                  <a:pt x="34141" y="0"/>
                  <a:pt x="76192" y="0"/>
                </a:cubicBezTo>
                <a:close/>
              </a:path>
            </a:pathLst>
          </a:custGeom>
          <a:solidFill>
            <a:srgbClr val="1E3A5F"/>
          </a:solidFill>
          <a:ln/>
        </p:spPr>
      </p:sp>
      <p:sp>
        <p:nvSpPr>
          <p:cNvPr id="30" name="Shape 28"/>
          <p:cNvSpPr/>
          <p:nvPr/>
        </p:nvSpPr>
        <p:spPr>
          <a:xfrm>
            <a:off x="647700" y="5066835"/>
            <a:ext cx="3171825" cy="304800"/>
          </a:xfrm>
          <a:custGeom>
            <a:avLst/>
            <a:gdLst/>
            <a:ahLst/>
            <a:cxnLst/>
            <a:rect l="l" t="t" r="r" b="b"/>
            <a:pathLst>
              <a:path w="3171825" h="304800">
                <a:moveTo>
                  <a:pt x="38100" y="0"/>
                </a:moveTo>
                <a:lnTo>
                  <a:pt x="3133725" y="0"/>
                </a:lnTo>
                <a:cubicBezTo>
                  <a:pt x="3154753" y="0"/>
                  <a:pt x="3171825" y="17072"/>
                  <a:pt x="3171825" y="38100"/>
                </a:cubicBezTo>
                <a:lnTo>
                  <a:pt x="3171825" y="266700"/>
                </a:lnTo>
                <a:cubicBezTo>
                  <a:pt x="3171825" y="287728"/>
                  <a:pt x="3154753" y="304800"/>
                  <a:pt x="3133725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5F1EB">
              <a:alpha val="10196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723900" y="5143035"/>
            <a:ext cx="6477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HDFCBANK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3472101" y="5143035"/>
            <a:ext cx="3333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05DF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+1.2%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47700" y="5447705"/>
            <a:ext cx="3171825" cy="304800"/>
          </a:xfrm>
          <a:custGeom>
            <a:avLst/>
            <a:gdLst/>
            <a:ahLst/>
            <a:cxnLst/>
            <a:rect l="l" t="t" r="r" b="b"/>
            <a:pathLst>
              <a:path w="3171825" h="304800">
                <a:moveTo>
                  <a:pt x="38100" y="0"/>
                </a:moveTo>
                <a:lnTo>
                  <a:pt x="3133725" y="0"/>
                </a:lnTo>
                <a:cubicBezTo>
                  <a:pt x="3154753" y="0"/>
                  <a:pt x="3171825" y="17072"/>
                  <a:pt x="3171825" y="38100"/>
                </a:cubicBezTo>
                <a:lnTo>
                  <a:pt x="3171825" y="266700"/>
                </a:lnTo>
                <a:cubicBezTo>
                  <a:pt x="3171825" y="287728"/>
                  <a:pt x="3154753" y="304800"/>
                  <a:pt x="3133725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5F1EB">
              <a:alpha val="10196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723900" y="5523905"/>
            <a:ext cx="2952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SBIN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3434001" y="5523905"/>
            <a:ext cx="3714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05DF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+0.8%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47700" y="5828593"/>
            <a:ext cx="3171825" cy="304800"/>
          </a:xfrm>
          <a:custGeom>
            <a:avLst/>
            <a:gdLst/>
            <a:ahLst/>
            <a:cxnLst/>
            <a:rect l="l" t="t" r="r" b="b"/>
            <a:pathLst>
              <a:path w="3171825" h="304800">
                <a:moveTo>
                  <a:pt x="38100" y="0"/>
                </a:moveTo>
                <a:lnTo>
                  <a:pt x="3133725" y="0"/>
                </a:lnTo>
                <a:cubicBezTo>
                  <a:pt x="3154753" y="0"/>
                  <a:pt x="3171825" y="17072"/>
                  <a:pt x="3171825" y="38100"/>
                </a:cubicBezTo>
                <a:lnTo>
                  <a:pt x="3171825" y="266700"/>
                </a:lnTo>
                <a:cubicBezTo>
                  <a:pt x="3171825" y="287728"/>
                  <a:pt x="3154753" y="304800"/>
                  <a:pt x="3133725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5F1EB">
              <a:alpha val="10196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723900" y="5904793"/>
            <a:ext cx="5905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ICICIBANK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3434001" y="5904793"/>
            <a:ext cx="3714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F646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-0.5%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47700" y="6209463"/>
            <a:ext cx="3171825" cy="304800"/>
          </a:xfrm>
          <a:custGeom>
            <a:avLst/>
            <a:gdLst/>
            <a:ahLst/>
            <a:cxnLst/>
            <a:rect l="l" t="t" r="r" b="b"/>
            <a:pathLst>
              <a:path w="3171825" h="304800">
                <a:moveTo>
                  <a:pt x="38100" y="0"/>
                </a:moveTo>
                <a:lnTo>
                  <a:pt x="3133725" y="0"/>
                </a:lnTo>
                <a:cubicBezTo>
                  <a:pt x="3154753" y="0"/>
                  <a:pt x="3171825" y="17072"/>
                  <a:pt x="3171825" y="38100"/>
                </a:cubicBezTo>
                <a:lnTo>
                  <a:pt x="3171825" y="266700"/>
                </a:lnTo>
                <a:cubicBezTo>
                  <a:pt x="3171825" y="287728"/>
                  <a:pt x="3154753" y="304800"/>
                  <a:pt x="3133725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5F1EB">
              <a:alpha val="10196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723900" y="6285663"/>
            <a:ext cx="571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RELIANCE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3472101" y="6285663"/>
            <a:ext cx="3333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F646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-1.2%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4241721" y="1143000"/>
            <a:ext cx="3705225" cy="2667000"/>
          </a:xfrm>
          <a:custGeom>
            <a:avLst/>
            <a:gdLst/>
            <a:ahLst/>
            <a:cxnLst/>
            <a:rect l="l" t="t" r="r" b="b"/>
            <a:pathLst>
              <a:path w="3705225" h="2667000">
                <a:moveTo>
                  <a:pt x="76196" y="0"/>
                </a:moveTo>
                <a:lnTo>
                  <a:pt x="3629029" y="0"/>
                </a:lnTo>
                <a:cubicBezTo>
                  <a:pt x="3671111" y="0"/>
                  <a:pt x="3705225" y="34114"/>
                  <a:pt x="3705225" y="76196"/>
                </a:cubicBezTo>
                <a:lnTo>
                  <a:pt x="3705225" y="2590804"/>
                </a:lnTo>
                <a:cubicBezTo>
                  <a:pt x="3705225" y="2632886"/>
                  <a:pt x="3671111" y="2667000"/>
                  <a:pt x="3629029" y="2667000"/>
                </a:cubicBezTo>
                <a:lnTo>
                  <a:pt x="76196" y="2667000"/>
                </a:lnTo>
                <a:cubicBezTo>
                  <a:pt x="34114" y="2667000"/>
                  <a:pt x="0" y="2632886"/>
                  <a:pt x="0" y="2590804"/>
                </a:cubicBezTo>
                <a:lnTo>
                  <a:pt x="0" y="76196"/>
                </a:lnTo>
                <a:cubicBezTo>
                  <a:pt x="0" y="34142"/>
                  <a:pt x="34142" y="0"/>
                  <a:pt x="7619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glow rad="63500">
              <a:schemeClr val="accent5">
                <a:satMod val="175000"/>
                <a:alpha val="40000"/>
              </a:schemeClr>
            </a:glow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4351258" y="1295400"/>
            <a:ext cx="3486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Monte Carlo Overview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4394121" y="1638300"/>
            <a:ext cx="3400425" cy="2019300"/>
          </a:xfrm>
          <a:custGeom>
            <a:avLst/>
            <a:gdLst/>
            <a:ahLst/>
            <a:cxnLst/>
            <a:rect l="l" t="t" r="r" b="b"/>
            <a:pathLst>
              <a:path w="3400425" h="2019300">
                <a:moveTo>
                  <a:pt x="76208" y="0"/>
                </a:moveTo>
                <a:lnTo>
                  <a:pt x="3324217" y="0"/>
                </a:lnTo>
                <a:cubicBezTo>
                  <a:pt x="3366305" y="0"/>
                  <a:pt x="3400425" y="34120"/>
                  <a:pt x="3400425" y="76208"/>
                </a:cubicBezTo>
                <a:lnTo>
                  <a:pt x="3400425" y="1943092"/>
                </a:lnTo>
                <a:cubicBezTo>
                  <a:pt x="3400425" y="1985180"/>
                  <a:pt x="3366305" y="2019300"/>
                  <a:pt x="3324217" y="2019300"/>
                </a:cubicBezTo>
                <a:lnTo>
                  <a:pt x="76208" y="2019300"/>
                </a:lnTo>
                <a:cubicBezTo>
                  <a:pt x="34120" y="2019300"/>
                  <a:pt x="0" y="1985180"/>
                  <a:pt x="0" y="1943092"/>
                </a:cubicBezTo>
                <a:lnTo>
                  <a:pt x="0" y="76208"/>
                </a:lnTo>
                <a:cubicBezTo>
                  <a:pt x="0" y="34148"/>
                  <a:pt x="34148" y="0"/>
                  <a:pt x="76208" y="0"/>
                </a:cubicBezTo>
                <a:close/>
              </a:path>
            </a:pathLst>
          </a:custGeom>
          <a:solidFill>
            <a:srgbClr val="1E3A5F"/>
          </a:solidFill>
          <a:ln/>
        </p:spPr>
      </p:sp>
      <p:sp>
        <p:nvSpPr>
          <p:cNvPr id="45" name="Shape 43"/>
          <p:cNvSpPr/>
          <p:nvPr/>
        </p:nvSpPr>
        <p:spPr>
          <a:xfrm>
            <a:off x="4508421" y="1752600"/>
            <a:ext cx="3171825" cy="495300"/>
          </a:xfrm>
          <a:custGeom>
            <a:avLst/>
            <a:gdLst/>
            <a:ahLst/>
            <a:cxnLst/>
            <a:rect l="l" t="t" r="r" b="b"/>
            <a:pathLst>
              <a:path w="3171825" h="495300">
                <a:moveTo>
                  <a:pt x="38098" y="0"/>
                </a:moveTo>
                <a:lnTo>
                  <a:pt x="3133727" y="0"/>
                </a:lnTo>
                <a:cubicBezTo>
                  <a:pt x="3154768" y="0"/>
                  <a:pt x="3171825" y="17057"/>
                  <a:pt x="3171825" y="38098"/>
                </a:cubicBezTo>
                <a:lnTo>
                  <a:pt x="3171825" y="457202"/>
                </a:lnTo>
                <a:cubicBezTo>
                  <a:pt x="3171825" y="478243"/>
                  <a:pt x="3154768" y="495300"/>
                  <a:pt x="3133727" y="495300"/>
                </a:cubicBezTo>
                <a:lnTo>
                  <a:pt x="38098" y="495300"/>
                </a:lnTo>
                <a:cubicBezTo>
                  <a:pt x="17057" y="495300"/>
                  <a:pt x="0" y="478243"/>
                  <a:pt x="0" y="4572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F5F1EB">
              <a:alpha val="10196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4584621" y="1828800"/>
            <a:ext cx="30765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5F1E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Predictive Engine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4584621" y="1981088"/>
            <a:ext cx="3086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Simulating 1000 price paths...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4508421" y="2323988"/>
            <a:ext cx="3171825" cy="609600"/>
          </a:xfrm>
          <a:custGeom>
            <a:avLst/>
            <a:gdLst/>
            <a:ahLst/>
            <a:cxnLst/>
            <a:rect l="l" t="t" r="r" b="b"/>
            <a:pathLst>
              <a:path w="3171825" h="609600">
                <a:moveTo>
                  <a:pt x="38100" y="0"/>
                </a:moveTo>
                <a:lnTo>
                  <a:pt x="3133725" y="0"/>
                </a:lnTo>
                <a:cubicBezTo>
                  <a:pt x="3154753" y="0"/>
                  <a:pt x="3171825" y="17072"/>
                  <a:pt x="3171825" y="38100"/>
                </a:cubicBezTo>
                <a:lnTo>
                  <a:pt x="3171825" y="571500"/>
                </a:lnTo>
                <a:cubicBezTo>
                  <a:pt x="3171825" y="592528"/>
                  <a:pt x="3154753" y="609600"/>
                  <a:pt x="3133725" y="609600"/>
                </a:cubicBez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5F1EB">
              <a:alpha val="10196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4556046" y="2400188"/>
            <a:ext cx="30765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F5F1E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Win Probability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4527471" y="2552458"/>
            <a:ext cx="31337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C75B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43.1%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4508421" y="3028485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38100" y="0"/>
                </a:moveTo>
                <a:lnTo>
                  <a:pt x="76200" y="0"/>
                </a:lnTo>
                <a:cubicBezTo>
                  <a:pt x="97228" y="0"/>
                  <a:pt x="114300" y="17072"/>
                  <a:pt x="114300" y="38100"/>
                </a:cubicBezTo>
                <a:lnTo>
                  <a:pt x="114300" y="76200"/>
                </a:lnTo>
                <a:cubicBezTo>
                  <a:pt x="114300" y="97228"/>
                  <a:pt x="97228" y="114300"/>
                  <a:pt x="76200" y="114300"/>
                </a:cubicBezTo>
                <a:lnTo>
                  <a:pt x="38100" y="114300"/>
                </a:lnTo>
                <a:cubicBezTo>
                  <a:pt x="17072" y="114300"/>
                  <a:pt x="0" y="97228"/>
                  <a:pt x="0" y="76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52" name="Text 50"/>
          <p:cNvSpPr/>
          <p:nvPr/>
        </p:nvSpPr>
        <p:spPr>
          <a:xfrm>
            <a:off x="4698921" y="3009547"/>
            <a:ext cx="6762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Bullish Paths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4508421" y="3218855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38100" y="0"/>
                </a:moveTo>
                <a:lnTo>
                  <a:pt x="76200" y="0"/>
                </a:lnTo>
                <a:cubicBezTo>
                  <a:pt x="97228" y="0"/>
                  <a:pt x="114300" y="17072"/>
                  <a:pt x="114300" y="38100"/>
                </a:cubicBezTo>
                <a:lnTo>
                  <a:pt x="114300" y="76200"/>
                </a:lnTo>
                <a:cubicBezTo>
                  <a:pt x="114300" y="97228"/>
                  <a:pt x="97228" y="114300"/>
                  <a:pt x="76200" y="114300"/>
                </a:cubicBezTo>
                <a:lnTo>
                  <a:pt x="38100" y="114300"/>
                </a:lnTo>
                <a:cubicBezTo>
                  <a:pt x="17072" y="114300"/>
                  <a:pt x="0" y="97228"/>
                  <a:pt x="0" y="76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1A2FF"/>
          </a:solidFill>
          <a:ln/>
        </p:spPr>
      </p:sp>
      <p:sp>
        <p:nvSpPr>
          <p:cNvPr id="54" name="Text 52"/>
          <p:cNvSpPr/>
          <p:nvPr/>
        </p:nvSpPr>
        <p:spPr>
          <a:xfrm>
            <a:off x="4698921" y="3199935"/>
            <a:ext cx="6667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Median Path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4508421" y="3409243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38100" y="0"/>
                </a:moveTo>
                <a:lnTo>
                  <a:pt x="76200" y="0"/>
                </a:lnTo>
                <a:cubicBezTo>
                  <a:pt x="97228" y="0"/>
                  <a:pt x="114300" y="17072"/>
                  <a:pt x="114300" y="38100"/>
                </a:cubicBezTo>
                <a:lnTo>
                  <a:pt x="114300" y="76200"/>
                </a:lnTo>
                <a:cubicBezTo>
                  <a:pt x="114300" y="97228"/>
                  <a:pt x="97228" y="114300"/>
                  <a:pt x="76200" y="114300"/>
                </a:cubicBezTo>
                <a:lnTo>
                  <a:pt x="38100" y="114300"/>
                </a:lnTo>
                <a:cubicBezTo>
                  <a:pt x="17072" y="114300"/>
                  <a:pt x="0" y="97228"/>
                  <a:pt x="0" y="76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56" name="Text 54"/>
          <p:cNvSpPr/>
          <p:nvPr/>
        </p:nvSpPr>
        <p:spPr>
          <a:xfrm>
            <a:off x="4698921" y="3390305"/>
            <a:ext cx="7048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Bearish Paths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4241721" y="3923593"/>
            <a:ext cx="3705225" cy="2133600"/>
          </a:xfrm>
          <a:custGeom>
            <a:avLst/>
            <a:gdLst/>
            <a:ahLst/>
            <a:cxnLst/>
            <a:rect l="l" t="t" r="r" b="b"/>
            <a:pathLst>
              <a:path w="3705225" h="2133600">
                <a:moveTo>
                  <a:pt x="76191" y="0"/>
                </a:moveTo>
                <a:lnTo>
                  <a:pt x="3629034" y="0"/>
                </a:lnTo>
                <a:cubicBezTo>
                  <a:pt x="3671085" y="0"/>
                  <a:pt x="3705225" y="34140"/>
                  <a:pt x="3705225" y="76191"/>
                </a:cubicBezTo>
                <a:lnTo>
                  <a:pt x="3705225" y="2057409"/>
                </a:lnTo>
                <a:cubicBezTo>
                  <a:pt x="3705225" y="2099460"/>
                  <a:pt x="3671085" y="2133600"/>
                  <a:pt x="3629034" y="2133600"/>
                </a:cubicBezTo>
                <a:lnTo>
                  <a:pt x="76191" y="2133600"/>
                </a:lnTo>
                <a:cubicBezTo>
                  <a:pt x="34140" y="2133600"/>
                  <a:pt x="0" y="2099460"/>
                  <a:pt x="0" y="2057409"/>
                </a:cubicBezTo>
                <a:lnTo>
                  <a:pt x="0" y="76191"/>
                </a:lnTo>
                <a:cubicBezTo>
                  <a:pt x="0" y="34140"/>
                  <a:pt x="34140" y="0"/>
                  <a:pt x="76191" y="0"/>
                </a:cubicBezTo>
                <a:close/>
              </a:path>
            </a:pathLst>
          </a:custGeom>
          <a:solidFill>
            <a:srgbClr val="FFFFFF"/>
          </a:solidFill>
          <a:ln>
            <a:solidFill>
              <a:schemeClr val="tx1"/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4351258" y="4075993"/>
            <a:ext cx="3486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Analytics Overview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4394121" y="4418893"/>
            <a:ext cx="3400425" cy="1485900"/>
          </a:xfrm>
          <a:custGeom>
            <a:avLst/>
            <a:gdLst/>
            <a:ahLst/>
            <a:cxnLst/>
            <a:rect l="l" t="t" r="r" b="b"/>
            <a:pathLst>
              <a:path w="3400425" h="1485900">
                <a:moveTo>
                  <a:pt x="76197" y="0"/>
                </a:moveTo>
                <a:lnTo>
                  <a:pt x="3324228" y="0"/>
                </a:lnTo>
                <a:cubicBezTo>
                  <a:pt x="3366310" y="0"/>
                  <a:pt x="3400425" y="34115"/>
                  <a:pt x="3400425" y="76197"/>
                </a:cubicBezTo>
                <a:lnTo>
                  <a:pt x="3400425" y="1409703"/>
                </a:lnTo>
                <a:cubicBezTo>
                  <a:pt x="3400425" y="1451785"/>
                  <a:pt x="3366310" y="1485900"/>
                  <a:pt x="3324228" y="1485900"/>
                </a:cubicBezTo>
                <a:lnTo>
                  <a:pt x="76197" y="1485900"/>
                </a:lnTo>
                <a:cubicBezTo>
                  <a:pt x="34115" y="1485900"/>
                  <a:pt x="0" y="1451785"/>
                  <a:pt x="0" y="14097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1E3A5F"/>
          </a:solidFill>
          <a:ln/>
        </p:spPr>
      </p:sp>
      <p:sp>
        <p:nvSpPr>
          <p:cNvPr id="60" name="Shape 58"/>
          <p:cNvSpPr/>
          <p:nvPr/>
        </p:nvSpPr>
        <p:spPr>
          <a:xfrm>
            <a:off x="4508421" y="4533193"/>
            <a:ext cx="1009650" cy="571500"/>
          </a:xfrm>
          <a:custGeom>
            <a:avLst/>
            <a:gdLst/>
            <a:ahLst/>
            <a:cxnLst/>
            <a:rect l="l" t="t" r="r" b="b"/>
            <a:pathLst>
              <a:path w="1009650" h="571500">
                <a:moveTo>
                  <a:pt x="38102" y="0"/>
                </a:moveTo>
                <a:lnTo>
                  <a:pt x="971548" y="0"/>
                </a:lnTo>
                <a:cubicBezTo>
                  <a:pt x="992591" y="0"/>
                  <a:pt x="1009650" y="17059"/>
                  <a:pt x="1009650" y="38102"/>
                </a:cubicBezTo>
                <a:lnTo>
                  <a:pt x="1009650" y="533398"/>
                </a:lnTo>
                <a:cubicBezTo>
                  <a:pt x="1009650" y="554441"/>
                  <a:pt x="992591" y="571500"/>
                  <a:pt x="971548" y="571500"/>
                </a:cubicBezTo>
                <a:lnTo>
                  <a:pt x="38102" y="571500"/>
                </a:lnTo>
                <a:cubicBezTo>
                  <a:pt x="17059" y="571500"/>
                  <a:pt x="0" y="554441"/>
                  <a:pt x="0" y="53339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F5F1EB">
              <a:alpha val="10196"/>
            </a:srgbClr>
          </a:solidFill>
          <a:ln/>
        </p:spPr>
      </p:sp>
      <p:sp>
        <p:nvSpPr>
          <p:cNvPr id="61" name="Text 59"/>
          <p:cNvSpPr/>
          <p:nvPr/>
        </p:nvSpPr>
        <p:spPr>
          <a:xfrm>
            <a:off x="4556046" y="4609393"/>
            <a:ext cx="914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F5F1E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Accuracy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4541758" y="4761663"/>
            <a:ext cx="942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05DF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94.2%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5592128" y="4533193"/>
            <a:ext cx="1009650" cy="571500"/>
          </a:xfrm>
          <a:custGeom>
            <a:avLst/>
            <a:gdLst/>
            <a:ahLst/>
            <a:cxnLst/>
            <a:rect l="l" t="t" r="r" b="b"/>
            <a:pathLst>
              <a:path w="1009650" h="571500">
                <a:moveTo>
                  <a:pt x="38102" y="0"/>
                </a:moveTo>
                <a:lnTo>
                  <a:pt x="971548" y="0"/>
                </a:lnTo>
                <a:cubicBezTo>
                  <a:pt x="992591" y="0"/>
                  <a:pt x="1009650" y="17059"/>
                  <a:pt x="1009650" y="38102"/>
                </a:cubicBezTo>
                <a:lnTo>
                  <a:pt x="1009650" y="533398"/>
                </a:lnTo>
                <a:cubicBezTo>
                  <a:pt x="1009650" y="554441"/>
                  <a:pt x="992591" y="571500"/>
                  <a:pt x="971548" y="571500"/>
                </a:cubicBezTo>
                <a:lnTo>
                  <a:pt x="38102" y="571500"/>
                </a:lnTo>
                <a:cubicBezTo>
                  <a:pt x="17059" y="571500"/>
                  <a:pt x="0" y="554441"/>
                  <a:pt x="0" y="53339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F5F1EB">
              <a:alpha val="10196"/>
            </a:srgbClr>
          </a:solidFill>
          <a:ln/>
        </p:spPr>
      </p:sp>
      <p:sp>
        <p:nvSpPr>
          <p:cNvPr id="64" name="Text 62"/>
          <p:cNvSpPr/>
          <p:nvPr/>
        </p:nvSpPr>
        <p:spPr>
          <a:xfrm>
            <a:off x="5639753" y="4609393"/>
            <a:ext cx="914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F5F1E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Trades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5625465" y="4761663"/>
            <a:ext cx="942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128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6675834" y="4533193"/>
            <a:ext cx="1009650" cy="571500"/>
          </a:xfrm>
          <a:custGeom>
            <a:avLst/>
            <a:gdLst/>
            <a:ahLst/>
            <a:cxnLst/>
            <a:rect l="l" t="t" r="r" b="b"/>
            <a:pathLst>
              <a:path w="1009650" h="571500">
                <a:moveTo>
                  <a:pt x="38102" y="0"/>
                </a:moveTo>
                <a:lnTo>
                  <a:pt x="971548" y="0"/>
                </a:lnTo>
                <a:cubicBezTo>
                  <a:pt x="992591" y="0"/>
                  <a:pt x="1009650" y="17059"/>
                  <a:pt x="1009650" y="38102"/>
                </a:cubicBezTo>
                <a:lnTo>
                  <a:pt x="1009650" y="533398"/>
                </a:lnTo>
                <a:cubicBezTo>
                  <a:pt x="1009650" y="554441"/>
                  <a:pt x="992591" y="571500"/>
                  <a:pt x="971548" y="571500"/>
                </a:cubicBezTo>
                <a:lnTo>
                  <a:pt x="38102" y="571500"/>
                </a:lnTo>
                <a:cubicBezTo>
                  <a:pt x="17059" y="571500"/>
                  <a:pt x="0" y="554441"/>
                  <a:pt x="0" y="53339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F5F1EB">
              <a:alpha val="10196"/>
            </a:srgbClr>
          </a:solidFill>
          <a:ln/>
        </p:spPr>
      </p:sp>
      <p:sp>
        <p:nvSpPr>
          <p:cNvPr id="67" name="Text 65"/>
          <p:cNvSpPr/>
          <p:nvPr/>
        </p:nvSpPr>
        <p:spPr>
          <a:xfrm>
            <a:off x="6723459" y="4609393"/>
            <a:ext cx="914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F5F1E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Success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6709172" y="4761663"/>
            <a:ext cx="942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05DF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82%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4508421" y="5180763"/>
            <a:ext cx="3171825" cy="609600"/>
          </a:xfrm>
          <a:custGeom>
            <a:avLst/>
            <a:gdLst/>
            <a:ahLst/>
            <a:cxnLst/>
            <a:rect l="l" t="t" r="r" b="b"/>
            <a:pathLst>
              <a:path w="3171825" h="609600">
                <a:moveTo>
                  <a:pt x="38100" y="0"/>
                </a:moveTo>
                <a:lnTo>
                  <a:pt x="3133725" y="0"/>
                </a:lnTo>
                <a:cubicBezTo>
                  <a:pt x="3154753" y="0"/>
                  <a:pt x="3171825" y="17072"/>
                  <a:pt x="3171825" y="38100"/>
                </a:cubicBezTo>
                <a:lnTo>
                  <a:pt x="3171825" y="571500"/>
                </a:lnTo>
                <a:cubicBezTo>
                  <a:pt x="3171825" y="592528"/>
                  <a:pt x="3154753" y="609600"/>
                  <a:pt x="3133725" y="609600"/>
                </a:cubicBez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5F1EB">
              <a:alpha val="10196"/>
            </a:srgbClr>
          </a:solidFill>
          <a:ln/>
        </p:spPr>
      </p:sp>
      <p:sp>
        <p:nvSpPr>
          <p:cNvPr id="70" name="Text 68"/>
          <p:cNvSpPr/>
          <p:nvPr/>
        </p:nvSpPr>
        <p:spPr>
          <a:xfrm>
            <a:off x="4584621" y="5256963"/>
            <a:ext cx="30765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5F1E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Portfolio Safety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4584621" y="5447351"/>
            <a:ext cx="3019425" cy="76200"/>
          </a:xfrm>
          <a:custGeom>
            <a:avLst/>
            <a:gdLst/>
            <a:ahLst/>
            <a:cxnLst/>
            <a:rect l="l" t="t" r="r" b="b"/>
            <a:pathLst>
              <a:path w="3019425" h="76200">
                <a:moveTo>
                  <a:pt x="38100" y="0"/>
                </a:moveTo>
                <a:lnTo>
                  <a:pt x="2981325" y="0"/>
                </a:lnTo>
                <a:cubicBezTo>
                  <a:pt x="3002353" y="0"/>
                  <a:pt x="3019425" y="17072"/>
                  <a:pt x="3019425" y="38100"/>
                </a:cubicBezTo>
                <a:lnTo>
                  <a:pt x="3019425" y="38100"/>
                </a:lnTo>
                <a:cubicBezTo>
                  <a:pt x="3019425" y="59128"/>
                  <a:pt x="3002353" y="76200"/>
                  <a:pt x="2981325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565"/>
          </a:solidFill>
          <a:ln/>
        </p:spPr>
      </p:sp>
      <p:sp>
        <p:nvSpPr>
          <p:cNvPr id="72" name="Shape 70"/>
          <p:cNvSpPr/>
          <p:nvPr/>
        </p:nvSpPr>
        <p:spPr>
          <a:xfrm>
            <a:off x="4584621" y="5447351"/>
            <a:ext cx="2657475" cy="76200"/>
          </a:xfrm>
          <a:custGeom>
            <a:avLst/>
            <a:gdLst/>
            <a:ahLst/>
            <a:cxnLst/>
            <a:rect l="l" t="t" r="r" b="b"/>
            <a:pathLst>
              <a:path w="2657475" h="76200">
                <a:moveTo>
                  <a:pt x="38100" y="0"/>
                </a:moveTo>
                <a:lnTo>
                  <a:pt x="2619375" y="0"/>
                </a:lnTo>
                <a:cubicBezTo>
                  <a:pt x="2640403" y="0"/>
                  <a:pt x="2657475" y="17072"/>
                  <a:pt x="2657475" y="38100"/>
                </a:cubicBezTo>
                <a:lnTo>
                  <a:pt x="2657475" y="38100"/>
                </a:lnTo>
                <a:cubicBezTo>
                  <a:pt x="2657475" y="59128"/>
                  <a:pt x="2640403" y="76200"/>
                  <a:pt x="2619375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73" name="Text 71"/>
          <p:cNvSpPr/>
          <p:nvPr/>
        </p:nvSpPr>
        <p:spPr>
          <a:xfrm>
            <a:off x="4527471" y="5561651"/>
            <a:ext cx="30765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9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88% - GHOST HEDGE ACTIVE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8102561" y="1143000"/>
            <a:ext cx="3705225" cy="3619500"/>
          </a:xfrm>
          <a:custGeom>
            <a:avLst/>
            <a:gdLst/>
            <a:ahLst/>
            <a:cxnLst/>
            <a:rect l="l" t="t" r="r" b="b"/>
            <a:pathLst>
              <a:path w="3705225" h="3619500">
                <a:moveTo>
                  <a:pt x="76190" y="0"/>
                </a:moveTo>
                <a:lnTo>
                  <a:pt x="3629035" y="0"/>
                </a:lnTo>
                <a:cubicBezTo>
                  <a:pt x="3671113" y="0"/>
                  <a:pt x="3705225" y="34112"/>
                  <a:pt x="3705225" y="76190"/>
                </a:cubicBezTo>
                <a:lnTo>
                  <a:pt x="3705225" y="3543310"/>
                </a:lnTo>
                <a:cubicBezTo>
                  <a:pt x="3705225" y="3585388"/>
                  <a:pt x="3671113" y="3619500"/>
                  <a:pt x="3629035" y="3619500"/>
                </a:cubicBezTo>
                <a:lnTo>
                  <a:pt x="76190" y="3619500"/>
                </a:lnTo>
                <a:cubicBezTo>
                  <a:pt x="34112" y="3619500"/>
                  <a:pt x="0" y="3585388"/>
                  <a:pt x="0" y="3543310"/>
                </a:cubicBezTo>
                <a:lnTo>
                  <a:pt x="0" y="76190"/>
                </a:lnTo>
                <a:cubicBezTo>
                  <a:pt x="0" y="34140"/>
                  <a:pt x="34140" y="0"/>
                  <a:pt x="76190" y="0"/>
                </a:cubicBezTo>
                <a:close/>
              </a:path>
            </a:pathLst>
          </a:custGeom>
          <a:solidFill>
            <a:srgbClr val="FFFFFF"/>
          </a:solidFill>
          <a:ln>
            <a:solidFill>
              <a:schemeClr val="tx1"/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5" name="Text 73"/>
          <p:cNvSpPr/>
          <p:nvPr/>
        </p:nvSpPr>
        <p:spPr>
          <a:xfrm>
            <a:off x="8212098" y="1295400"/>
            <a:ext cx="3486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Settings Overview</a:t>
            </a:r>
            <a:endParaRPr lang="en-US" sz="1600" dirty="0"/>
          </a:p>
        </p:txBody>
      </p:sp>
      <p:sp>
        <p:nvSpPr>
          <p:cNvPr id="76" name="Shape 74"/>
          <p:cNvSpPr/>
          <p:nvPr/>
        </p:nvSpPr>
        <p:spPr>
          <a:xfrm>
            <a:off x="8254961" y="1638300"/>
            <a:ext cx="3400425" cy="2971800"/>
          </a:xfrm>
          <a:custGeom>
            <a:avLst/>
            <a:gdLst/>
            <a:ahLst/>
            <a:cxnLst/>
            <a:rect l="l" t="t" r="r" b="b"/>
            <a:pathLst>
              <a:path w="3400425" h="2971800">
                <a:moveTo>
                  <a:pt x="76197" y="0"/>
                </a:moveTo>
                <a:lnTo>
                  <a:pt x="3324228" y="0"/>
                </a:lnTo>
                <a:cubicBezTo>
                  <a:pt x="3366310" y="0"/>
                  <a:pt x="3400425" y="34115"/>
                  <a:pt x="3400425" y="76197"/>
                </a:cubicBezTo>
                <a:lnTo>
                  <a:pt x="3400425" y="2895603"/>
                </a:lnTo>
                <a:cubicBezTo>
                  <a:pt x="3400425" y="2937685"/>
                  <a:pt x="3366310" y="2971800"/>
                  <a:pt x="3324228" y="2971800"/>
                </a:cubicBezTo>
                <a:lnTo>
                  <a:pt x="76197" y="2971800"/>
                </a:lnTo>
                <a:cubicBezTo>
                  <a:pt x="34115" y="2971800"/>
                  <a:pt x="0" y="2937685"/>
                  <a:pt x="0" y="28956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1E3A5F"/>
          </a:solidFill>
          <a:ln/>
        </p:spPr>
      </p:sp>
      <p:sp>
        <p:nvSpPr>
          <p:cNvPr id="77" name="Shape 75"/>
          <p:cNvSpPr/>
          <p:nvPr/>
        </p:nvSpPr>
        <p:spPr>
          <a:xfrm>
            <a:off x="9651921" y="17526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78" name="Text 76"/>
          <p:cNvSpPr/>
          <p:nvPr/>
        </p:nvSpPr>
        <p:spPr>
          <a:xfrm>
            <a:off x="9834801" y="1905000"/>
            <a:ext cx="2476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</a:t>
            </a:r>
            <a:endParaRPr lang="en-US" sz="1600" dirty="0"/>
          </a:p>
        </p:txBody>
      </p:sp>
      <p:sp>
        <p:nvSpPr>
          <p:cNvPr id="79" name="Text 77"/>
          <p:cNvSpPr/>
          <p:nvPr/>
        </p:nvSpPr>
        <p:spPr>
          <a:xfrm>
            <a:off x="8331161" y="2438400"/>
            <a:ext cx="3248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Suresh M</a:t>
            </a:r>
            <a:endParaRPr lang="en-US" sz="1600" dirty="0"/>
          </a:p>
        </p:txBody>
      </p:sp>
      <p:sp>
        <p:nvSpPr>
          <p:cNvPr id="80" name="Text 78"/>
          <p:cNvSpPr/>
          <p:nvPr/>
        </p:nvSpPr>
        <p:spPr>
          <a:xfrm>
            <a:off x="8340686" y="2667000"/>
            <a:ext cx="32289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F5F1E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Administrator</a:t>
            </a:r>
            <a:endParaRPr lang="en-US" sz="1600" dirty="0"/>
          </a:p>
        </p:txBody>
      </p:sp>
      <p:sp>
        <p:nvSpPr>
          <p:cNvPr id="81" name="Shape 79"/>
          <p:cNvSpPr/>
          <p:nvPr/>
        </p:nvSpPr>
        <p:spPr>
          <a:xfrm>
            <a:off x="8369261" y="2933588"/>
            <a:ext cx="3171825" cy="304800"/>
          </a:xfrm>
          <a:custGeom>
            <a:avLst/>
            <a:gdLst/>
            <a:ahLst/>
            <a:cxnLst/>
            <a:rect l="l" t="t" r="r" b="b"/>
            <a:pathLst>
              <a:path w="3171825" h="304800">
                <a:moveTo>
                  <a:pt x="38100" y="0"/>
                </a:moveTo>
                <a:lnTo>
                  <a:pt x="3133725" y="0"/>
                </a:lnTo>
                <a:cubicBezTo>
                  <a:pt x="3154753" y="0"/>
                  <a:pt x="3171825" y="17072"/>
                  <a:pt x="3171825" y="38100"/>
                </a:cubicBezTo>
                <a:lnTo>
                  <a:pt x="3171825" y="266700"/>
                </a:lnTo>
                <a:cubicBezTo>
                  <a:pt x="3171825" y="287728"/>
                  <a:pt x="3154753" y="304800"/>
                  <a:pt x="3133725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5F1EB">
              <a:alpha val="10196"/>
            </a:srgbClr>
          </a:solidFill>
          <a:ln/>
        </p:spPr>
      </p:sp>
      <p:sp>
        <p:nvSpPr>
          <p:cNvPr id="82" name="Text 80"/>
          <p:cNvSpPr/>
          <p:nvPr/>
        </p:nvSpPr>
        <p:spPr>
          <a:xfrm>
            <a:off x="8445461" y="3009788"/>
            <a:ext cx="11525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Ghost Hedge Protocol</a:t>
            </a:r>
            <a:endParaRPr lang="en-US" sz="1600" dirty="0"/>
          </a:p>
        </p:txBody>
      </p:sp>
      <p:sp>
        <p:nvSpPr>
          <p:cNvPr id="83" name="Shape 81"/>
          <p:cNvSpPr/>
          <p:nvPr/>
        </p:nvSpPr>
        <p:spPr>
          <a:xfrm>
            <a:off x="11163181" y="3009788"/>
            <a:ext cx="304800" cy="152400"/>
          </a:xfrm>
          <a:custGeom>
            <a:avLst/>
            <a:gdLst/>
            <a:ahLst/>
            <a:cxnLst/>
            <a:rect l="l" t="t" r="r" b="b"/>
            <a:pathLst>
              <a:path w="304800" h="1524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76200"/>
                </a:lnTo>
                <a:cubicBezTo>
                  <a:pt x="304800" y="118256"/>
                  <a:pt x="270656" y="152400"/>
                  <a:pt x="228600" y="152400"/>
                </a:cubicBezTo>
                <a:lnTo>
                  <a:pt x="76200" y="152400"/>
                </a:lnTo>
                <a:cubicBezTo>
                  <a:pt x="34144" y="152400"/>
                  <a:pt x="0" y="118256"/>
                  <a:pt x="0" y="762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84" name="Shape 82"/>
          <p:cNvSpPr/>
          <p:nvPr/>
        </p:nvSpPr>
        <p:spPr>
          <a:xfrm>
            <a:off x="11315581" y="300978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lnTo>
                  <a:pt x="76200" y="0"/>
                </a:lnTo>
                <a:cubicBezTo>
                  <a:pt x="118256" y="0"/>
                  <a:pt x="152400" y="34144"/>
                  <a:pt x="152400" y="76200"/>
                </a:cubicBezTo>
                <a:lnTo>
                  <a:pt x="152400" y="76200"/>
                </a:lnTo>
                <a:cubicBezTo>
                  <a:pt x="152400" y="118256"/>
                  <a:pt x="118256" y="152400"/>
                  <a:pt x="76200" y="152400"/>
                </a:cubicBezTo>
                <a:lnTo>
                  <a:pt x="76200" y="152400"/>
                </a:lnTo>
                <a:cubicBezTo>
                  <a:pt x="34144" y="152400"/>
                  <a:pt x="0" y="118256"/>
                  <a:pt x="0" y="762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5" name="Shape 83"/>
          <p:cNvSpPr/>
          <p:nvPr/>
        </p:nvSpPr>
        <p:spPr>
          <a:xfrm>
            <a:off x="8369261" y="3314588"/>
            <a:ext cx="3171825" cy="304800"/>
          </a:xfrm>
          <a:custGeom>
            <a:avLst/>
            <a:gdLst/>
            <a:ahLst/>
            <a:cxnLst/>
            <a:rect l="l" t="t" r="r" b="b"/>
            <a:pathLst>
              <a:path w="3171825" h="304800">
                <a:moveTo>
                  <a:pt x="38100" y="0"/>
                </a:moveTo>
                <a:lnTo>
                  <a:pt x="3133725" y="0"/>
                </a:lnTo>
                <a:cubicBezTo>
                  <a:pt x="3154753" y="0"/>
                  <a:pt x="3171825" y="17072"/>
                  <a:pt x="3171825" y="38100"/>
                </a:cubicBezTo>
                <a:lnTo>
                  <a:pt x="3171825" y="266700"/>
                </a:lnTo>
                <a:cubicBezTo>
                  <a:pt x="3171825" y="287728"/>
                  <a:pt x="3154753" y="304800"/>
                  <a:pt x="3133725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5F1EB">
              <a:alpha val="10196"/>
            </a:srgbClr>
          </a:solidFill>
          <a:ln/>
        </p:spPr>
      </p:sp>
      <p:sp>
        <p:nvSpPr>
          <p:cNvPr id="86" name="Text 84"/>
          <p:cNvSpPr/>
          <p:nvPr/>
        </p:nvSpPr>
        <p:spPr>
          <a:xfrm>
            <a:off x="8445461" y="3390788"/>
            <a:ext cx="10191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Auto-Profit Booking</a:t>
            </a:r>
            <a:endParaRPr lang="en-US" sz="1600" dirty="0"/>
          </a:p>
        </p:txBody>
      </p:sp>
      <p:sp>
        <p:nvSpPr>
          <p:cNvPr id="87" name="Shape 85"/>
          <p:cNvSpPr/>
          <p:nvPr/>
        </p:nvSpPr>
        <p:spPr>
          <a:xfrm>
            <a:off x="11163181" y="3390788"/>
            <a:ext cx="304800" cy="152400"/>
          </a:xfrm>
          <a:custGeom>
            <a:avLst/>
            <a:gdLst/>
            <a:ahLst/>
            <a:cxnLst/>
            <a:rect l="l" t="t" r="r" b="b"/>
            <a:pathLst>
              <a:path w="304800" h="1524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76200"/>
                </a:lnTo>
                <a:cubicBezTo>
                  <a:pt x="304800" y="118256"/>
                  <a:pt x="270656" y="152400"/>
                  <a:pt x="228600" y="152400"/>
                </a:cubicBezTo>
                <a:lnTo>
                  <a:pt x="76200" y="152400"/>
                </a:lnTo>
                <a:cubicBezTo>
                  <a:pt x="34144" y="152400"/>
                  <a:pt x="0" y="118256"/>
                  <a:pt x="0" y="762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88" name="Shape 86"/>
          <p:cNvSpPr/>
          <p:nvPr/>
        </p:nvSpPr>
        <p:spPr>
          <a:xfrm>
            <a:off x="11315581" y="339078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lnTo>
                  <a:pt x="76200" y="0"/>
                </a:lnTo>
                <a:cubicBezTo>
                  <a:pt x="118256" y="0"/>
                  <a:pt x="152400" y="34144"/>
                  <a:pt x="152400" y="76200"/>
                </a:cubicBezTo>
                <a:lnTo>
                  <a:pt x="152400" y="76200"/>
                </a:lnTo>
                <a:cubicBezTo>
                  <a:pt x="152400" y="118256"/>
                  <a:pt x="118256" y="152400"/>
                  <a:pt x="76200" y="152400"/>
                </a:cubicBezTo>
                <a:lnTo>
                  <a:pt x="76200" y="152400"/>
                </a:lnTo>
                <a:cubicBezTo>
                  <a:pt x="34144" y="152400"/>
                  <a:pt x="0" y="118256"/>
                  <a:pt x="0" y="762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9" name="Shape 87"/>
          <p:cNvSpPr/>
          <p:nvPr/>
        </p:nvSpPr>
        <p:spPr>
          <a:xfrm>
            <a:off x="8369261" y="3695588"/>
            <a:ext cx="3171825" cy="304800"/>
          </a:xfrm>
          <a:custGeom>
            <a:avLst/>
            <a:gdLst/>
            <a:ahLst/>
            <a:cxnLst/>
            <a:rect l="l" t="t" r="r" b="b"/>
            <a:pathLst>
              <a:path w="3171825" h="304800">
                <a:moveTo>
                  <a:pt x="38100" y="0"/>
                </a:moveTo>
                <a:lnTo>
                  <a:pt x="3133725" y="0"/>
                </a:lnTo>
                <a:cubicBezTo>
                  <a:pt x="3154753" y="0"/>
                  <a:pt x="3171825" y="17072"/>
                  <a:pt x="3171825" y="38100"/>
                </a:cubicBezTo>
                <a:lnTo>
                  <a:pt x="3171825" y="266700"/>
                </a:lnTo>
                <a:cubicBezTo>
                  <a:pt x="3171825" y="287728"/>
                  <a:pt x="3154753" y="304800"/>
                  <a:pt x="3133725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5F1EB">
              <a:alpha val="10196"/>
            </a:srgbClr>
          </a:solidFill>
          <a:ln/>
        </p:spPr>
      </p:sp>
      <p:sp>
        <p:nvSpPr>
          <p:cNvPr id="90" name="Text 88"/>
          <p:cNvSpPr/>
          <p:nvPr/>
        </p:nvSpPr>
        <p:spPr>
          <a:xfrm>
            <a:off x="8445461" y="3771788"/>
            <a:ext cx="9239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WhatsApp Alerts</a:t>
            </a:r>
            <a:endParaRPr lang="en-US" sz="1600" dirty="0"/>
          </a:p>
        </p:txBody>
      </p:sp>
      <p:sp>
        <p:nvSpPr>
          <p:cNvPr id="91" name="Shape 89"/>
          <p:cNvSpPr/>
          <p:nvPr/>
        </p:nvSpPr>
        <p:spPr>
          <a:xfrm>
            <a:off x="11163181" y="3771788"/>
            <a:ext cx="304800" cy="152400"/>
          </a:xfrm>
          <a:custGeom>
            <a:avLst/>
            <a:gdLst/>
            <a:ahLst/>
            <a:cxnLst/>
            <a:rect l="l" t="t" r="r" b="b"/>
            <a:pathLst>
              <a:path w="304800" h="1524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76200"/>
                </a:lnTo>
                <a:cubicBezTo>
                  <a:pt x="304800" y="118256"/>
                  <a:pt x="270656" y="152400"/>
                  <a:pt x="228600" y="152400"/>
                </a:cubicBezTo>
                <a:lnTo>
                  <a:pt x="76200" y="152400"/>
                </a:lnTo>
                <a:cubicBezTo>
                  <a:pt x="34144" y="152400"/>
                  <a:pt x="0" y="118256"/>
                  <a:pt x="0" y="762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92" name="Shape 90"/>
          <p:cNvSpPr/>
          <p:nvPr/>
        </p:nvSpPr>
        <p:spPr>
          <a:xfrm>
            <a:off x="11315581" y="377178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lnTo>
                  <a:pt x="76200" y="0"/>
                </a:lnTo>
                <a:cubicBezTo>
                  <a:pt x="118256" y="0"/>
                  <a:pt x="152400" y="34144"/>
                  <a:pt x="152400" y="76200"/>
                </a:cubicBezTo>
                <a:lnTo>
                  <a:pt x="152400" y="76200"/>
                </a:lnTo>
                <a:cubicBezTo>
                  <a:pt x="152400" y="118256"/>
                  <a:pt x="118256" y="152400"/>
                  <a:pt x="76200" y="152400"/>
                </a:cubicBezTo>
                <a:lnTo>
                  <a:pt x="76200" y="152400"/>
                </a:lnTo>
                <a:cubicBezTo>
                  <a:pt x="34144" y="152400"/>
                  <a:pt x="0" y="118256"/>
                  <a:pt x="0" y="762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3" name="Shape 91"/>
          <p:cNvSpPr/>
          <p:nvPr/>
        </p:nvSpPr>
        <p:spPr>
          <a:xfrm>
            <a:off x="8369261" y="4076588"/>
            <a:ext cx="3171825" cy="419100"/>
          </a:xfrm>
          <a:custGeom>
            <a:avLst/>
            <a:gdLst/>
            <a:ahLst/>
            <a:cxnLst/>
            <a:rect l="l" t="t" r="r" b="b"/>
            <a:pathLst>
              <a:path w="3171825" h="419100">
                <a:moveTo>
                  <a:pt x="38100" y="0"/>
                </a:moveTo>
                <a:lnTo>
                  <a:pt x="3133725" y="0"/>
                </a:lnTo>
                <a:cubicBezTo>
                  <a:pt x="3154767" y="0"/>
                  <a:pt x="3171825" y="17058"/>
                  <a:pt x="3171825" y="38100"/>
                </a:cubicBezTo>
                <a:lnTo>
                  <a:pt x="3171825" y="381000"/>
                </a:lnTo>
                <a:cubicBezTo>
                  <a:pt x="3171825" y="402042"/>
                  <a:pt x="3154767" y="419100"/>
                  <a:pt x="3133725" y="419100"/>
                </a:cubicBezTo>
                <a:lnTo>
                  <a:pt x="38100" y="419100"/>
                </a:lnTo>
                <a:cubicBezTo>
                  <a:pt x="17058" y="419100"/>
                  <a:pt x="0" y="402042"/>
                  <a:pt x="0" y="381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5F1EB">
              <a:alpha val="10196"/>
            </a:srgbClr>
          </a:solidFill>
          <a:ln/>
        </p:spPr>
      </p:sp>
      <p:sp>
        <p:nvSpPr>
          <p:cNvPr id="94" name="Text 92"/>
          <p:cNvSpPr/>
          <p:nvPr/>
        </p:nvSpPr>
        <p:spPr>
          <a:xfrm>
            <a:off x="8445461" y="4152788"/>
            <a:ext cx="30765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5F1E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Quantum Sensitivity</a:t>
            </a:r>
            <a:endParaRPr lang="en-US" sz="1600" dirty="0"/>
          </a:p>
        </p:txBody>
      </p:sp>
      <p:sp>
        <p:nvSpPr>
          <p:cNvPr id="95" name="Shape 93"/>
          <p:cNvSpPr/>
          <p:nvPr/>
        </p:nvSpPr>
        <p:spPr>
          <a:xfrm>
            <a:off x="8445461" y="4343158"/>
            <a:ext cx="3019425" cy="76200"/>
          </a:xfrm>
          <a:custGeom>
            <a:avLst/>
            <a:gdLst/>
            <a:ahLst/>
            <a:cxnLst/>
            <a:rect l="l" t="t" r="r" b="b"/>
            <a:pathLst>
              <a:path w="3019425" h="76200">
                <a:moveTo>
                  <a:pt x="38100" y="0"/>
                </a:moveTo>
                <a:lnTo>
                  <a:pt x="2981325" y="0"/>
                </a:lnTo>
                <a:cubicBezTo>
                  <a:pt x="3002353" y="0"/>
                  <a:pt x="3019425" y="17072"/>
                  <a:pt x="3019425" y="38100"/>
                </a:cubicBezTo>
                <a:lnTo>
                  <a:pt x="3019425" y="38100"/>
                </a:lnTo>
                <a:cubicBezTo>
                  <a:pt x="3019425" y="59128"/>
                  <a:pt x="3002353" y="76200"/>
                  <a:pt x="2981325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565"/>
          </a:solidFill>
          <a:ln/>
        </p:spPr>
      </p:sp>
      <p:sp>
        <p:nvSpPr>
          <p:cNvPr id="96" name="Shape 94"/>
          <p:cNvSpPr/>
          <p:nvPr/>
        </p:nvSpPr>
        <p:spPr>
          <a:xfrm>
            <a:off x="8445461" y="4343158"/>
            <a:ext cx="2571750" cy="76200"/>
          </a:xfrm>
          <a:custGeom>
            <a:avLst/>
            <a:gdLst/>
            <a:ahLst/>
            <a:cxnLst/>
            <a:rect l="l" t="t" r="r" b="b"/>
            <a:pathLst>
              <a:path w="2571750" h="76200">
                <a:moveTo>
                  <a:pt x="38100" y="0"/>
                </a:moveTo>
                <a:lnTo>
                  <a:pt x="2533650" y="0"/>
                </a:lnTo>
                <a:cubicBezTo>
                  <a:pt x="2554678" y="0"/>
                  <a:pt x="2571750" y="17072"/>
                  <a:pt x="2571750" y="38100"/>
                </a:cubicBezTo>
                <a:lnTo>
                  <a:pt x="2571750" y="38100"/>
                </a:lnTo>
                <a:cubicBezTo>
                  <a:pt x="2571750" y="59128"/>
                  <a:pt x="2554678" y="76200"/>
                  <a:pt x="253365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97" name="Shape 95"/>
          <p:cNvSpPr/>
          <p:nvPr/>
        </p:nvSpPr>
        <p:spPr>
          <a:xfrm>
            <a:off x="8102561" y="4876558"/>
            <a:ext cx="3705225" cy="1828800"/>
          </a:xfrm>
          <a:custGeom>
            <a:avLst/>
            <a:gdLst/>
            <a:ahLst/>
            <a:cxnLst/>
            <a:rect l="l" t="t" r="r" b="b"/>
            <a:pathLst>
              <a:path w="3705225" h="1828800">
                <a:moveTo>
                  <a:pt x="76206" y="0"/>
                </a:moveTo>
                <a:lnTo>
                  <a:pt x="3629019" y="0"/>
                </a:lnTo>
                <a:cubicBezTo>
                  <a:pt x="3671106" y="0"/>
                  <a:pt x="3705225" y="34119"/>
                  <a:pt x="3705225" y="76206"/>
                </a:cubicBezTo>
                <a:lnTo>
                  <a:pt x="3705225" y="1752594"/>
                </a:lnTo>
                <a:cubicBezTo>
                  <a:pt x="3705225" y="1794681"/>
                  <a:pt x="3671106" y="1828800"/>
                  <a:pt x="3629019" y="1828800"/>
                </a:cubicBezTo>
                <a:lnTo>
                  <a:pt x="76206" y="1828800"/>
                </a:lnTo>
                <a:cubicBezTo>
                  <a:pt x="34119" y="1828800"/>
                  <a:pt x="0" y="1794681"/>
                  <a:pt x="0" y="1752594"/>
                </a:cubicBezTo>
                <a:lnTo>
                  <a:pt x="0" y="76206"/>
                </a:lnTo>
                <a:cubicBezTo>
                  <a:pt x="0" y="34147"/>
                  <a:pt x="34147" y="0"/>
                  <a:pt x="76206" y="0"/>
                </a:cubicBezTo>
                <a:close/>
              </a:path>
            </a:pathLst>
          </a:custGeom>
          <a:solidFill>
            <a:srgbClr val="1E3A5F"/>
          </a:solidFill>
          <a:ln>
            <a:solidFill>
              <a:schemeClr val="tx1"/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</p:sp>
      <p:sp>
        <p:nvSpPr>
          <p:cNvPr id="98" name="Text 96"/>
          <p:cNvSpPr/>
          <p:nvPr/>
        </p:nvSpPr>
        <p:spPr>
          <a:xfrm>
            <a:off x="8254961" y="5028958"/>
            <a:ext cx="3486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Web Application</a:t>
            </a:r>
            <a:endParaRPr lang="en-US" sz="1600" dirty="0"/>
          </a:p>
        </p:txBody>
      </p:sp>
      <p:sp>
        <p:nvSpPr>
          <p:cNvPr id="99" name="Shape 97"/>
          <p:cNvSpPr/>
          <p:nvPr/>
        </p:nvSpPr>
        <p:spPr>
          <a:xfrm>
            <a:off x="8274011" y="5438533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91652" y="72926"/>
                </a:moveTo>
                <a:lnTo>
                  <a:pt x="41932" y="72926"/>
                </a:lnTo>
                <a:cubicBezTo>
                  <a:pt x="42688" y="89725"/>
                  <a:pt x="46412" y="105195"/>
                  <a:pt x="51699" y="116525"/>
                </a:cubicBezTo>
                <a:cubicBezTo>
                  <a:pt x="54668" y="122906"/>
                  <a:pt x="57872" y="127412"/>
                  <a:pt x="60841" y="130173"/>
                </a:cubicBezTo>
                <a:cubicBezTo>
                  <a:pt x="63758" y="132907"/>
                  <a:pt x="65763" y="133350"/>
                  <a:pt x="66805" y="133350"/>
                </a:cubicBezTo>
                <a:cubicBezTo>
                  <a:pt x="67847" y="133350"/>
                  <a:pt x="69852" y="132907"/>
                  <a:pt x="72770" y="130173"/>
                </a:cubicBezTo>
                <a:cubicBezTo>
                  <a:pt x="75739" y="127412"/>
                  <a:pt x="78942" y="122880"/>
                  <a:pt x="81911" y="116525"/>
                </a:cubicBezTo>
                <a:cubicBezTo>
                  <a:pt x="87198" y="105195"/>
                  <a:pt x="90923" y="89725"/>
                  <a:pt x="91678" y="72926"/>
                </a:cubicBezTo>
                <a:close/>
                <a:moveTo>
                  <a:pt x="41906" y="60424"/>
                </a:moveTo>
                <a:lnTo>
                  <a:pt x="91626" y="60424"/>
                </a:lnTo>
                <a:cubicBezTo>
                  <a:pt x="90897" y="43625"/>
                  <a:pt x="87172" y="28155"/>
                  <a:pt x="81885" y="16825"/>
                </a:cubicBezTo>
                <a:cubicBezTo>
                  <a:pt x="78916" y="10470"/>
                  <a:pt x="75713" y="5938"/>
                  <a:pt x="72743" y="3177"/>
                </a:cubicBezTo>
                <a:cubicBezTo>
                  <a:pt x="69826" y="443"/>
                  <a:pt x="67821" y="0"/>
                  <a:pt x="66779" y="0"/>
                </a:cubicBezTo>
                <a:cubicBezTo>
                  <a:pt x="65737" y="0"/>
                  <a:pt x="63732" y="443"/>
                  <a:pt x="60815" y="3177"/>
                </a:cubicBezTo>
                <a:cubicBezTo>
                  <a:pt x="57846" y="5938"/>
                  <a:pt x="54642" y="10470"/>
                  <a:pt x="51673" y="16825"/>
                </a:cubicBezTo>
                <a:cubicBezTo>
                  <a:pt x="46386" y="28155"/>
                  <a:pt x="42662" y="43625"/>
                  <a:pt x="41906" y="60424"/>
                </a:cubicBezTo>
                <a:close/>
                <a:moveTo>
                  <a:pt x="29405" y="60424"/>
                </a:moveTo>
                <a:cubicBezTo>
                  <a:pt x="30316" y="38130"/>
                  <a:pt x="36072" y="17424"/>
                  <a:pt x="44485" y="3829"/>
                </a:cubicBezTo>
                <a:cubicBezTo>
                  <a:pt x="20497" y="12319"/>
                  <a:pt x="2839" y="34171"/>
                  <a:pt x="391" y="60424"/>
                </a:cubicBezTo>
                <a:lnTo>
                  <a:pt x="29405" y="60424"/>
                </a:lnTo>
                <a:close/>
                <a:moveTo>
                  <a:pt x="391" y="72926"/>
                </a:moveTo>
                <a:cubicBezTo>
                  <a:pt x="2839" y="99179"/>
                  <a:pt x="20497" y="121031"/>
                  <a:pt x="44485" y="129521"/>
                </a:cubicBezTo>
                <a:cubicBezTo>
                  <a:pt x="36072" y="115926"/>
                  <a:pt x="30316" y="95220"/>
                  <a:pt x="29405" y="72926"/>
                </a:cubicBezTo>
                <a:lnTo>
                  <a:pt x="391" y="72926"/>
                </a:lnTo>
                <a:close/>
                <a:moveTo>
                  <a:pt x="104154" y="72926"/>
                </a:moveTo>
                <a:cubicBezTo>
                  <a:pt x="103242" y="95220"/>
                  <a:pt x="97486" y="115926"/>
                  <a:pt x="89074" y="129521"/>
                </a:cubicBezTo>
                <a:cubicBezTo>
                  <a:pt x="113061" y="121005"/>
                  <a:pt x="130719" y="99179"/>
                  <a:pt x="133168" y="72926"/>
                </a:cubicBezTo>
                <a:lnTo>
                  <a:pt x="104154" y="72926"/>
                </a:lnTo>
                <a:close/>
                <a:moveTo>
                  <a:pt x="133168" y="60424"/>
                </a:moveTo>
                <a:cubicBezTo>
                  <a:pt x="130719" y="34171"/>
                  <a:pt x="113061" y="12319"/>
                  <a:pt x="89074" y="3829"/>
                </a:cubicBezTo>
                <a:cubicBezTo>
                  <a:pt x="97486" y="17424"/>
                  <a:pt x="103242" y="38130"/>
                  <a:pt x="104154" y="60424"/>
                </a:cubicBezTo>
                <a:lnTo>
                  <a:pt x="133168" y="60424"/>
                </a:ln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100" name="Text 98"/>
          <p:cNvSpPr/>
          <p:nvPr/>
        </p:nvSpPr>
        <p:spPr>
          <a:xfrm>
            <a:off x="8497848" y="5409958"/>
            <a:ext cx="1743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quantumshield-xi.vercel.app</a:t>
            </a:r>
            <a:endParaRPr lang="en-US" sz="1600" dirty="0"/>
          </a:p>
        </p:txBody>
      </p:sp>
      <p:sp>
        <p:nvSpPr>
          <p:cNvPr id="101" name="Shape 99"/>
          <p:cNvSpPr/>
          <p:nvPr/>
        </p:nvSpPr>
        <p:spPr>
          <a:xfrm>
            <a:off x="8282345" y="5705233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58341" y="64591"/>
                </a:moveTo>
                <a:cubicBezTo>
                  <a:pt x="75590" y="64591"/>
                  <a:pt x="89595" y="50587"/>
                  <a:pt x="89595" y="33337"/>
                </a:cubicBezTo>
                <a:cubicBezTo>
                  <a:pt x="89595" y="16088"/>
                  <a:pt x="75590" y="2084"/>
                  <a:pt x="58341" y="2084"/>
                </a:cubicBezTo>
                <a:cubicBezTo>
                  <a:pt x="41091" y="2084"/>
                  <a:pt x="27087" y="16088"/>
                  <a:pt x="27087" y="33337"/>
                </a:cubicBezTo>
                <a:cubicBezTo>
                  <a:pt x="27087" y="50587"/>
                  <a:pt x="41091" y="64591"/>
                  <a:pt x="58341" y="64591"/>
                </a:cubicBezTo>
                <a:close/>
                <a:moveTo>
                  <a:pt x="50605" y="79177"/>
                </a:moveTo>
                <a:cubicBezTo>
                  <a:pt x="24951" y="79177"/>
                  <a:pt x="4167" y="99960"/>
                  <a:pt x="4167" y="125615"/>
                </a:cubicBezTo>
                <a:cubicBezTo>
                  <a:pt x="4167" y="129886"/>
                  <a:pt x="7631" y="133350"/>
                  <a:pt x="11903" y="133350"/>
                </a:cubicBezTo>
                <a:lnTo>
                  <a:pt x="104779" y="133350"/>
                </a:lnTo>
                <a:cubicBezTo>
                  <a:pt x="109050" y="133350"/>
                  <a:pt x="112514" y="129886"/>
                  <a:pt x="112514" y="125615"/>
                </a:cubicBezTo>
                <a:cubicBezTo>
                  <a:pt x="112514" y="99960"/>
                  <a:pt x="91730" y="79177"/>
                  <a:pt x="66076" y="79177"/>
                </a:cubicBezTo>
                <a:lnTo>
                  <a:pt x="50605" y="79177"/>
                </a:ln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102" name="Text 100"/>
          <p:cNvSpPr/>
          <p:nvPr/>
        </p:nvSpPr>
        <p:spPr>
          <a:xfrm>
            <a:off x="8497848" y="5676658"/>
            <a:ext cx="1114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Username: suresh</a:t>
            </a:r>
            <a:endParaRPr lang="en-US" sz="1600" dirty="0"/>
          </a:p>
        </p:txBody>
      </p:sp>
      <p:sp>
        <p:nvSpPr>
          <p:cNvPr id="103" name="Shape 101"/>
          <p:cNvSpPr/>
          <p:nvPr/>
        </p:nvSpPr>
        <p:spPr>
          <a:xfrm>
            <a:off x="8290679" y="5971933"/>
            <a:ext cx="100013" cy="133350"/>
          </a:xfrm>
          <a:custGeom>
            <a:avLst/>
            <a:gdLst/>
            <a:ahLst/>
            <a:cxnLst/>
            <a:rect l="l" t="t" r="r" b="b"/>
            <a:pathLst>
              <a:path w="100013" h="133350">
                <a:moveTo>
                  <a:pt x="33337" y="25003"/>
                </a:moveTo>
                <a:lnTo>
                  <a:pt x="33337" y="41672"/>
                </a:lnTo>
                <a:lnTo>
                  <a:pt x="66675" y="41672"/>
                </a:lnTo>
                <a:lnTo>
                  <a:pt x="66675" y="25003"/>
                </a:lnTo>
                <a:cubicBezTo>
                  <a:pt x="66675" y="15809"/>
                  <a:pt x="59200" y="8334"/>
                  <a:pt x="50006" y="8334"/>
                </a:cubicBezTo>
                <a:cubicBezTo>
                  <a:pt x="40812" y="8334"/>
                  <a:pt x="33337" y="15809"/>
                  <a:pt x="33337" y="25003"/>
                </a:cubicBezTo>
                <a:close/>
                <a:moveTo>
                  <a:pt x="16669" y="41672"/>
                </a:moveTo>
                <a:lnTo>
                  <a:pt x="16669" y="25003"/>
                </a:lnTo>
                <a:cubicBezTo>
                  <a:pt x="16669" y="6589"/>
                  <a:pt x="31592" y="-8334"/>
                  <a:pt x="50006" y="-8334"/>
                </a:cubicBezTo>
                <a:cubicBezTo>
                  <a:pt x="68420" y="-8334"/>
                  <a:pt x="83344" y="6589"/>
                  <a:pt x="83344" y="25003"/>
                </a:cubicBezTo>
                <a:lnTo>
                  <a:pt x="83344" y="41672"/>
                </a:lnTo>
                <a:cubicBezTo>
                  <a:pt x="92538" y="41672"/>
                  <a:pt x="100013" y="49147"/>
                  <a:pt x="100013" y="58341"/>
                </a:cubicBezTo>
                <a:lnTo>
                  <a:pt x="100013" y="116681"/>
                </a:lnTo>
                <a:cubicBezTo>
                  <a:pt x="100013" y="125875"/>
                  <a:pt x="92538" y="133350"/>
                  <a:pt x="83344" y="133350"/>
                </a:cubicBezTo>
                <a:lnTo>
                  <a:pt x="16669" y="133350"/>
                </a:lnTo>
                <a:cubicBezTo>
                  <a:pt x="7475" y="133350"/>
                  <a:pt x="0" y="125875"/>
                  <a:pt x="0" y="116681"/>
                </a:cubicBezTo>
                <a:lnTo>
                  <a:pt x="0" y="58341"/>
                </a:lnTo>
                <a:cubicBezTo>
                  <a:pt x="0" y="49147"/>
                  <a:pt x="7475" y="41672"/>
                  <a:pt x="16669" y="41672"/>
                </a:cubicBez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104" name="Text 102"/>
          <p:cNvSpPr/>
          <p:nvPr/>
        </p:nvSpPr>
        <p:spPr>
          <a:xfrm>
            <a:off x="8497848" y="5943358"/>
            <a:ext cx="895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Password: 123</a:t>
            </a:r>
            <a:endParaRPr lang="en-US" sz="1600" dirty="0"/>
          </a:p>
        </p:txBody>
      </p:sp>
      <p:sp>
        <p:nvSpPr>
          <p:cNvPr id="105" name="Shape 103"/>
          <p:cNvSpPr/>
          <p:nvPr/>
        </p:nvSpPr>
        <p:spPr>
          <a:xfrm>
            <a:off x="8254961" y="6248158"/>
            <a:ext cx="3400425" cy="304800"/>
          </a:xfrm>
          <a:custGeom>
            <a:avLst/>
            <a:gdLst/>
            <a:ahLst/>
            <a:cxnLst/>
            <a:rect l="l" t="t" r="r" b="b"/>
            <a:pathLst>
              <a:path w="3400425" h="304800">
                <a:moveTo>
                  <a:pt x="38100" y="0"/>
                </a:moveTo>
                <a:lnTo>
                  <a:pt x="3362325" y="0"/>
                </a:lnTo>
                <a:cubicBezTo>
                  <a:pt x="3383353" y="0"/>
                  <a:pt x="3400425" y="17072"/>
                  <a:pt x="3400425" y="38100"/>
                </a:cubicBezTo>
                <a:lnTo>
                  <a:pt x="3400425" y="266700"/>
                </a:lnTo>
                <a:cubicBezTo>
                  <a:pt x="3400425" y="287728"/>
                  <a:pt x="3383353" y="304800"/>
                  <a:pt x="3362325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5F1EB">
              <a:alpha val="10196"/>
            </a:srgbClr>
          </a:solidFill>
          <a:ln/>
        </p:spPr>
      </p:sp>
      <p:sp>
        <p:nvSpPr>
          <p:cNvPr id="106" name="Text 104"/>
          <p:cNvSpPr/>
          <p:nvPr/>
        </p:nvSpPr>
        <p:spPr>
          <a:xfrm>
            <a:off x="8302586" y="6324358"/>
            <a:ext cx="33051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Live Demo Available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76200" y="0"/>
                </a:moveTo>
                <a:lnTo>
                  <a:pt x="533400" y="0"/>
                </a:lnTo>
                <a:cubicBezTo>
                  <a:pt x="575456" y="0"/>
                  <a:pt x="609600" y="34144"/>
                  <a:pt x="609600" y="76200"/>
                </a:cubicBezTo>
                <a:lnTo>
                  <a:pt x="609600" y="533400"/>
                </a:lnTo>
                <a:cubicBezTo>
                  <a:pt x="609600" y="575456"/>
                  <a:pt x="575456" y="609600"/>
                  <a:pt x="53340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3" name="Text 1"/>
          <p:cNvSpPr/>
          <p:nvPr/>
        </p:nvSpPr>
        <p:spPr>
          <a:xfrm>
            <a:off x="541020" y="514350"/>
            <a:ext cx="4286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18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43000" y="400050"/>
            <a:ext cx="3343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C75B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CONCLUSION AND FUTURE SCOPE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590550"/>
            <a:ext cx="34480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Summary &amp; Roadmap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1000" y="1143000"/>
            <a:ext cx="5600700" cy="3752850"/>
          </a:xfrm>
          <a:custGeom>
            <a:avLst/>
            <a:gdLst/>
            <a:ahLst/>
            <a:cxnLst/>
            <a:rect l="l" t="t" r="r" b="b"/>
            <a:pathLst>
              <a:path w="5600700" h="3752850">
                <a:moveTo>
                  <a:pt x="76183" y="0"/>
                </a:moveTo>
                <a:lnTo>
                  <a:pt x="5524517" y="0"/>
                </a:lnTo>
                <a:cubicBezTo>
                  <a:pt x="5566564" y="0"/>
                  <a:pt x="5600700" y="34136"/>
                  <a:pt x="5600700" y="76183"/>
                </a:cubicBezTo>
                <a:lnTo>
                  <a:pt x="5600700" y="3676667"/>
                </a:lnTo>
                <a:cubicBezTo>
                  <a:pt x="5600700" y="3718742"/>
                  <a:pt x="5566592" y="3752850"/>
                  <a:pt x="5524517" y="3752850"/>
                </a:cubicBezTo>
                <a:lnTo>
                  <a:pt x="76183" y="3752850"/>
                </a:lnTo>
                <a:cubicBezTo>
                  <a:pt x="34136" y="3752850"/>
                  <a:pt x="0" y="3718714"/>
                  <a:pt x="0" y="3676667"/>
                </a:cubicBezTo>
                <a:lnTo>
                  <a:pt x="0" y="76183"/>
                </a:lnTo>
                <a:cubicBezTo>
                  <a:pt x="0" y="34136"/>
                  <a:pt x="34136" y="0"/>
                  <a:pt x="76183" y="0"/>
                </a:cubicBezTo>
                <a:close/>
              </a:path>
            </a:pathLst>
          </a:custGeom>
          <a:solidFill>
            <a:srgbClr val="1E3A5F"/>
          </a:solidFill>
          <a:ln>
            <a:solidFill>
              <a:schemeClr val="tx1"/>
            </a:solidFill>
          </a:ln>
          <a:effectLst>
            <a:glow rad="101600">
              <a:schemeClr val="accent5">
                <a:satMod val="175000"/>
                <a:alpha val="40000"/>
              </a:schemeClr>
            </a:glow>
          </a:effectLst>
        </p:spPr>
      </p:sp>
      <p:sp>
        <p:nvSpPr>
          <p:cNvPr id="7" name="Shape 5"/>
          <p:cNvSpPr/>
          <p:nvPr/>
        </p:nvSpPr>
        <p:spPr>
          <a:xfrm>
            <a:off x="600075" y="137148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51983" y="94967"/>
                </a:moveTo>
                <a:lnTo>
                  <a:pt x="116265" y="152117"/>
                </a:lnTo>
                <a:cubicBezTo>
                  <a:pt x="114389" y="155109"/>
                  <a:pt x="111175" y="156984"/>
                  <a:pt x="107647" y="157163"/>
                </a:cubicBezTo>
                <a:cubicBezTo>
                  <a:pt x="104120" y="157341"/>
                  <a:pt x="100727" y="155734"/>
                  <a:pt x="98628" y="152876"/>
                </a:cubicBezTo>
                <a:lnTo>
                  <a:pt x="77197" y="124301"/>
                </a:lnTo>
                <a:cubicBezTo>
                  <a:pt x="73625" y="119569"/>
                  <a:pt x="74608" y="112871"/>
                  <a:pt x="79340" y="109299"/>
                </a:cubicBezTo>
                <a:cubicBezTo>
                  <a:pt x="84073" y="105727"/>
                  <a:pt x="90770" y="106710"/>
                  <a:pt x="94342" y="111443"/>
                </a:cubicBezTo>
                <a:lnTo>
                  <a:pt x="106397" y="127516"/>
                </a:lnTo>
                <a:lnTo>
                  <a:pt x="133811" y="83627"/>
                </a:lnTo>
                <a:cubicBezTo>
                  <a:pt x="136937" y="78626"/>
                  <a:pt x="143545" y="77063"/>
                  <a:pt x="148590" y="80233"/>
                </a:cubicBezTo>
                <a:cubicBezTo>
                  <a:pt x="153635" y="83403"/>
                  <a:pt x="155153" y="89967"/>
                  <a:pt x="151983" y="95012"/>
                </a:cubicBez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8" name="Text 6"/>
          <p:cNvSpPr/>
          <p:nvPr/>
        </p:nvSpPr>
        <p:spPr>
          <a:xfrm>
            <a:off x="857250" y="1333500"/>
            <a:ext cx="5048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71500" y="1790588"/>
            <a:ext cx="52959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QuantShield successfully demonstrates that </a:t>
            </a:r>
            <a:r>
              <a:rPr lang="en-US" sz="1200" b="1" dirty="0">
                <a:solidFill>
                  <a:srgbClr val="C75B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autonomous AI-driven hedging</a:t>
            </a:r>
            <a:r>
              <a:rPr lang="en-US" sz="12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can significantly minimize drawdown and optimize portfolio growth in volatile market regimes.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95313" y="2724038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53690" y="0"/>
                </a:moveTo>
                <a:lnTo>
                  <a:pt x="137033" y="0"/>
                </a:lnTo>
                <a:cubicBezTo>
                  <a:pt x="146893" y="0"/>
                  <a:pt x="154930" y="8111"/>
                  <a:pt x="154558" y="17934"/>
                </a:cubicBezTo>
                <a:cubicBezTo>
                  <a:pt x="154484" y="19906"/>
                  <a:pt x="154409" y="21878"/>
                  <a:pt x="154298" y="23812"/>
                </a:cubicBezTo>
                <a:lnTo>
                  <a:pt x="172752" y="23812"/>
                </a:lnTo>
                <a:cubicBezTo>
                  <a:pt x="182463" y="23812"/>
                  <a:pt x="191021" y="31849"/>
                  <a:pt x="190277" y="42342"/>
                </a:cubicBezTo>
                <a:cubicBezTo>
                  <a:pt x="187486" y="80925"/>
                  <a:pt x="167767" y="102133"/>
                  <a:pt x="146372" y="113221"/>
                </a:cubicBezTo>
                <a:cubicBezTo>
                  <a:pt x="140494" y="116272"/>
                  <a:pt x="134503" y="118542"/>
                  <a:pt x="128811" y="120216"/>
                </a:cubicBezTo>
                <a:cubicBezTo>
                  <a:pt x="121295" y="130857"/>
                  <a:pt x="113481" y="136475"/>
                  <a:pt x="107268" y="139489"/>
                </a:cubicBezTo>
                <a:lnTo>
                  <a:pt x="107268" y="166688"/>
                </a:lnTo>
                <a:lnTo>
                  <a:pt x="131080" y="166688"/>
                </a:lnTo>
                <a:cubicBezTo>
                  <a:pt x="137666" y="166688"/>
                  <a:pt x="142987" y="172008"/>
                  <a:pt x="142987" y="178594"/>
                </a:cubicBezTo>
                <a:cubicBezTo>
                  <a:pt x="142987" y="185179"/>
                  <a:pt x="137666" y="190500"/>
                  <a:pt x="131080" y="190500"/>
                </a:cubicBezTo>
                <a:lnTo>
                  <a:pt x="59643" y="190500"/>
                </a:lnTo>
                <a:cubicBezTo>
                  <a:pt x="53057" y="190500"/>
                  <a:pt x="47737" y="185179"/>
                  <a:pt x="47737" y="178594"/>
                </a:cubicBezTo>
                <a:cubicBezTo>
                  <a:pt x="47737" y="172008"/>
                  <a:pt x="53057" y="166688"/>
                  <a:pt x="59643" y="166688"/>
                </a:cubicBezTo>
                <a:lnTo>
                  <a:pt x="83455" y="166688"/>
                </a:lnTo>
                <a:lnTo>
                  <a:pt x="83455" y="139489"/>
                </a:lnTo>
                <a:cubicBezTo>
                  <a:pt x="77502" y="136624"/>
                  <a:pt x="70098" y="131304"/>
                  <a:pt x="62880" y="121518"/>
                </a:cubicBezTo>
                <a:cubicBezTo>
                  <a:pt x="56034" y="119732"/>
                  <a:pt x="48592" y="117016"/>
                  <a:pt x="41337" y="112923"/>
                </a:cubicBezTo>
                <a:cubicBezTo>
                  <a:pt x="21208" y="101650"/>
                  <a:pt x="3051" y="80404"/>
                  <a:pt x="446" y="42267"/>
                </a:cubicBezTo>
                <a:cubicBezTo>
                  <a:pt x="-260" y="31812"/>
                  <a:pt x="8260" y="23775"/>
                  <a:pt x="17971" y="23775"/>
                </a:cubicBezTo>
                <a:lnTo>
                  <a:pt x="36426" y="23775"/>
                </a:lnTo>
                <a:cubicBezTo>
                  <a:pt x="36314" y="21841"/>
                  <a:pt x="36240" y="19906"/>
                  <a:pt x="36165" y="17897"/>
                </a:cubicBezTo>
                <a:cubicBezTo>
                  <a:pt x="35793" y="8037"/>
                  <a:pt x="43830" y="-37"/>
                  <a:pt x="53690" y="-37"/>
                </a:cubicBezTo>
                <a:close/>
                <a:moveTo>
                  <a:pt x="37765" y="41672"/>
                </a:moveTo>
                <a:lnTo>
                  <a:pt x="18269" y="41672"/>
                </a:lnTo>
                <a:cubicBezTo>
                  <a:pt x="20575" y="73186"/>
                  <a:pt x="35049" y="88962"/>
                  <a:pt x="49969" y="97334"/>
                </a:cubicBezTo>
                <a:cubicBezTo>
                  <a:pt x="44611" y="83455"/>
                  <a:pt x="40184" y="65336"/>
                  <a:pt x="37765" y="41672"/>
                </a:cubicBezTo>
                <a:close/>
                <a:moveTo>
                  <a:pt x="141387" y="95548"/>
                </a:moveTo>
                <a:cubicBezTo>
                  <a:pt x="156456" y="86692"/>
                  <a:pt x="170073" y="70954"/>
                  <a:pt x="172380" y="41672"/>
                </a:cubicBezTo>
                <a:lnTo>
                  <a:pt x="152921" y="41672"/>
                </a:lnTo>
                <a:cubicBezTo>
                  <a:pt x="150614" y="64331"/>
                  <a:pt x="146447" y="81930"/>
                  <a:pt x="141387" y="95548"/>
                </a:cubicBez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11" name="Text 9"/>
          <p:cNvSpPr/>
          <p:nvPr/>
        </p:nvSpPr>
        <p:spPr>
          <a:xfrm>
            <a:off x="923925" y="2685938"/>
            <a:ext cx="3057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Achieved 94.2% trend classification accuracy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23925" y="2914538"/>
            <a:ext cx="304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1E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Outperforms traditional and ML-based approaches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95313" y="3257438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96962" y="0"/>
                  <a:pt x="98673" y="372"/>
                  <a:pt x="100236" y="1079"/>
                </a:cubicBezTo>
                <a:lnTo>
                  <a:pt x="170334" y="30807"/>
                </a:lnTo>
                <a:cubicBezTo>
                  <a:pt x="178519" y="34268"/>
                  <a:pt x="184621" y="42342"/>
                  <a:pt x="184584" y="52090"/>
                </a:cubicBezTo>
                <a:cubicBezTo>
                  <a:pt x="184398" y="88999"/>
                  <a:pt x="169218" y="156530"/>
                  <a:pt x="105110" y="187226"/>
                </a:cubicBezTo>
                <a:cubicBezTo>
                  <a:pt x="98896" y="190202"/>
                  <a:pt x="91678" y="190202"/>
                  <a:pt x="85465" y="187226"/>
                </a:cubicBezTo>
                <a:cubicBezTo>
                  <a:pt x="21320" y="156530"/>
                  <a:pt x="6176" y="88999"/>
                  <a:pt x="5990" y="52090"/>
                </a:cubicBezTo>
                <a:cubicBezTo>
                  <a:pt x="5953" y="42342"/>
                  <a:pt x="12055" y="34268"/>
                  <a:pt x="20241" y="30807"/>
                </a:cubicBezTo>
                <a:lnTo>
                  <a:pt x="90301" y="1079"/>
                </a:lnTo>
                <a:cubicBezTo>
                  <a:pt x="91864" y="372"/>
                  <a:pt x="93538" y="0"/>
                  <a:pt x="95250" y="0"/>
                </a:cubicBezTo>
                <a:close/>
                <a:moveTo>
                  <a:pt x="95250" y="24854"/>
                </a:moveTo>
                <a:lnTo>
                  <a:pt x="95250" y="165534"/>
                </a:lnTo>
                <a:cubicBezTo>
                  <a:pt x="146596" y="140680"/>
                  <a:pt x="160400" y="85613"/>
                  <a:pt x="160734" y="52648"/>
                </a:cubicBezTo>
                <a:lnTo>
                  <a:pt x="95250" y="24892"/>
                </a:lnTo>
                <a:lnTo>
                  <a:pt x="95250" y="24892"/>
                </a:ln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14" name="Text 12"/>
          <p:cNvSpPr/>
          <p:nvPr/>
        </p:nvSpPr>
        <p:spPr>
          <a:xfrm>
            <a:off x="923925" y="3219338"/>
            <a:ext cx="350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Ghost Hedge Protocol proves effective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23925" y="3447938"/>
            <a:ext cx="3495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1E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4.5% profit booking and 10.0% stop-loss work as designed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95313" y="3790838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17" name="Text 15"/>
          <p:cNvSpPr/>
          <p:nvPr/>
        </p:nvSpPr>
        <p:spPr>
          <a:xfrm>
            <a:off x="923925" y="3752738"/>
            <a:ext cx="2952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5.4% ROI in 30 days with 82% success ratio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23925" y="3981338"/>
            <a:ext cx="2943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1E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Validates the hybrid AI engine approach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71500" y="4324238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19063" y="5953"/>
                </a:moveTo>
                <a:cubicBezTo>
                  <a:pt x="140419" y="5953"/>
                  <a:pt x="157758" y="23292"/>
                  <a:pt x="157758" y="44648"/>
                </a:cubicBezTo>
                <a:cubicBezTo>
                  <a:pt x="157758" y="66005"/>
                  <a:pt x="140419" y="83344"/>
                  <a:pt x="119063" y="83344"/>
                </a:cubicBezTo>
                <a:cubicBezTo>
                  <a:pt x="97706" y="83344"/>
                  <a:pt x="80367" y="66005"/>
                  <a:pt x="80367" y="44648"/>
                </a:cubicBezTo>
                <a:cubicBezTo>
                  <a:pt x="80367" y="23292"/>
                  <a:pt x="97706" y="5953"/>
                  <a:pt x="119063" y="5953"/>
                </a:cubicBezTo>
                <a:close/>
                <a:moveTo>
                  <a:pt x="35719" y="32742"/>
                </a:moveTo>
                <a:cubicBezTo>
                  <a:pt x="50504" y="32742"/>
                  <a:pt x="62508" y="44746"/>
                  <a:pt x="62508" y="59531"/>
                </a:cubicBezTo>
                <a:cubicBezTo>
                  <a:pt x="62508" y="74317"/>
                  <a:pt x="50504" y="86320"/>
                  <a:pt x="35719" y="86320"/>
                </a:cubicBezTo>
                <a:cubicBezTo>
                  <a:pt x="20933" y="86320"/>
                  <a:pt x="8930" y="74317"/>
                  <a:pt x="8930" y="59531"/>
                </a:cubicBezTo>
                <a:cubicBezTo>
                  <a:pt x="8930" y="44746"/>
                  <a:pt x="20933" y="32742"/>
                  <a:pt x="35719" y="32742"/>
                </a:cubicBezTo>
                <a:close/>
                <a:moveTo>
                  <a:pt x="0" y="154781"/>
                </a:moveTo>
                <a:cubicBezTo>
                  <a:pt x="0" y="128476"/>
                  <a:pt x="21320" y="107156"/>
                  <a:pt x="47625" y="107156"/>
                </a:cubicBezTo>
                <a:cubicBezTo>
                  <a:pt x="52388" y="107156"/>
                  <a:pt x="57001" y="107863"/>
                  <a:pt x="61354" y="109165"/>
                </a:cubicBezTo>
                <a:cubicBezTo>
                  <a:pt x="49113" y="122858"/>
                  <a:pt x="41672" y="140940"/>
                  <a:pt x="41672" y="160734"/>
                </a:cubicBezTo>
                <a:lnTo>
                  <a:pt x="41672" y="166688"/>
                </a:lnTo>
                <a:cubicBezTo>
                  <a:pt x="41672" y="170929"/>
                  <a:pt x="42565" y="174947"/>
                  <a:pt x="44165" y="178594"/>
                </a:cubicBezTo>
                <a:lnTo>
                  <a:pt x="11906" y="178594"/>
                </a:lnTo>
                <a:cubicBezTo>
                  <a:pt x="5321" y="178594"/>
                  <a:pt x="0" y="173273"/>
                  <a:pt x="0" y="166688"/>
                </a:cubicBezTo>
                <a:lnTo>
                  <a:pt x="0" y="154781"/>
                </a:lnTo>
                <a:close/>
                <a:moveTo>
                  <a:pt x="193960" y="178594"/>
                </a:moveTo>
                <a:cubicBezTo>
                  <a:pt x="195560" y="174947"/>
                  <a:pt x="196453" y="170929"/>
                  <a:pt x="196453" y="166688"/>
                </a:cubicBezTo>
                <a:lnTo>
                  <a:pt x="196453" y="160734"/>
                </a:lnTo>
                <a:cubicBezTo>
                  <a:pt x="196453" y="140940"/>
                  <a:pt x="189012" y="122858"/>
                  <a:pt x="176771" y="109165"/>
                </a:cubicBezTo>
                <a:cubicBezTo>
                  <a:pt x="181124" y="107863"/>
                  <a:pt x="185738" y="107156"/>
                  <a:pt x="190500" y="107156"/>
                </a:cubicBezTo>
                <a:cubicBezTo>
                  <a:pt x="216805" y="107156"/>
                  <a:pt x="238125" y="128476"/>
                  <a:pt x="238125" y="154781"/>
                </a:cubicBezTo>
                <a:lnTo>
                  <a:pt x="238125" y="166688"/>
                </a:lnTo>
                <a:cubicBezTo>
                  <a:pt x="238125" y="173273"/>
                  <a:pt x="232804" y="178594"/>
                  <a:pt x="226219" y="178594"/>
                </a:cubicBezTo>
                <a:lnTo>
                  <a:pt x="193960" y="178594"/>
                </a:lnTo>
                <a:close/>
                <a:moveTo>
                  <a:pt x="175617" y="59531"/>
                </a:moveTo>
                <a:cubicBezTo>
                  <a:pt x="175617" y="44746"/>
                  <a:pt x="187621" y="32742"/>
                  <a:pt x="202406" y="32742"/>
                </a:cubicBezTo>
                <a:cubicBezTo>
                  <a:pt x="217192" y="32742"/>
                  <a:pt x="229195" y="44746"/>
                  <a:pt x="229195" y="59531"/>
                </a:cubicBezTo>
                <a:cubicBezTo>
                  <a:pt x="229195" y="74317"/>
                  <a:pt x="217192" y="86320"/>
                  <a:pt x="202406" y="86320"/>
                </a:cubicBezTo>
                <a:cubicBezTo>
                  <a:pt x="187621" y="86320"/>
                  <a:pt x="175617" y="74317"/>
                  <a:pt x="175617" y="59531"/>
                </a:cubicBezTo>
                <a:close/>
                <a:moveTo>
                  <a:pt x="59531" y="160734"/>
                </a:moveTo>
                <a:cubicBezTo>
                  <a:pt x="59531" y="127843"/>
                  <a:pt x="86171" y="101203"/>
                  <a:pt x="119063" y="101203"/>
                </a:cubicBezTo>
                <a:cubicBezTo>
                  <a:pt x="151954" y="101203"/>
                  <a:pt x="178594" y="127843"/>
                  <a:pt x="178594" y="160734"/>
                </a:cubicBezTo>
                <a:lnTo>
                  <a:pt x="178594" y="166688"/>
                </a:lnTo>
                <a:cubicBezTo>
                  <a:pt x="178594" y="173273"/>
                  <a:pt x="173273" y="178594"/>
                  <a:pt x="166688" y="178594"/>
                </a:cubicBezTo>
                <a:lnTo>
                  <a:pt x="71438" y="178594"/>
                </a:lnTo>
                <a:cubicBezTo>
                  <a:pt x="64852" y="178594"/>
                  <a:pt x="59531" y="173273"/>
                  <a:pt x="59531" y="166688"/>
                </a:cubicBezTo>
                <a:lnTo>
                  <a:pt x="59531" y="160734"/>
                </a:ln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20" name="Text 18"/>
          <p:cNvSpPr/>
          <p:nvPr/>
        </p:nvSpPr>
        <p:spPr>
          <a:xfrm>
            <a:off x="923925" y="4286138"/>
            <a:ext cx="3752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Retail-focused design succeeds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23925" y="4514738"/>
            <a:ext cx="3743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1E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User-friendly interface with Quantum Verdict simplifies trading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10300" y="1143000"/>
            <a:ext cx="5600700" cy="4533900"/>
          </a:xfrm>
          <a:custGeom>
            <a:avLst/>
            <a:gdLst/>
            <a:ahLst/>
            <a:cxnLst/>
            <a:rect l="l" t="t" r="r" b="b"/>
            <a:pathLst>
              <a:path w="5600700" h="4533900">
                <a:moveTo>
                  <a:pt x="76215" y="0"/>
                </a:moveTo>
                <a:lnTo>
                  <a:pt x="5524485" y="0"/>
                </a:lnTo>
                <a:cubicBezTo>
                  <a:pt x="5566577" y="0"/>
                  <a:pt x="5600700" y="34123"/>
                  <a:pt x="5600700" y="76215"/>
                </a:cubicBezTo>
                <a:lnTo>
                  <a:pt x="5600700" y="4457685"/>
                </a:lnTo>
                <a:cubicBezTo>
                  <a:pt x="5600700" y="4499777"/>
                  <a:pt x="5566577" y="4533900"/>
                  <a:pt x="5524485" y="4533900"/>
                </a:cubicBezTo>
                <a:lnTo>
                  <a:pt x="76215" y="4533900"/>
                </a:lnTo>
                <a:cubicBezTo>
                  <a:pt x="34123" y="4533900"/>
                  <a:pt x="0" y="4499777"/>
                  <a:pt x="0" y="4457685"/>
                </a:cubicBezTo>
                <a:lnTo>
                  <a:pt x="0" y="76215"/>
                </a:lnTo>
                <a:cubicBezTo>
                  <a:pt x="0" y="34151"/>
                  <a:pt x="34151" y="0"/>
                  <a:pt x="76215" y="0"/>
                </a:cubicBezTo>
                <a:close/>
              </a:path>
            </a:pathLst>
          </a:custGeom>
          <a:solidFill>
            <a:srgbClr val="FFFFFF"/>
          </a:solidFill>
          <a:ln>
            <a:solidFill>
              <a:schemeClr val="tx1"/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29375" y="137148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7150" y="142875"/>
                </a:moveTo>
                <a:lnTo>
                  <a:pt x="10939" y="142875"/>
                </a:lnTo>
                <a:cubicBezTo>
                  <a:pt x="-179" y="142875"/>
                  <a:pt x="-7010" y="130775"/>
                  <a:pt x="-1295" y="121221"/>
                </a:cubicBezTo>
                <a:lnTo>
                  <a:pt x="22324" y="81841"/>
                </a:lnTo>
                <a:cubicBezTo>
                  <a:pt x="26209" y="75367"/>
                  <a:pt x="33174" y="71438"/>
                  <a:pt x="40719" y="71438"/>
                </a:cubicBezTo>
                <a:lnTo>
                  <a:pt x="83135" y="71438"/>
                </a:lnTo>
                <a:cubicBezTo>
                  <a:pt x="117113" y="13886"/>
                  <a:pt x="167789" y="10984"/>
                  <a:pt x="201677" y="15939"/>
                </a:cubicBezTo>
                <a:cubicBezTo>
                  <a:pt x="207392" y="16788"/>
                  <a:pt x="211857" y="21253"/>
                  <a:pt x="212661" y="26923"/>
                </a:cubicBezTo>
                <a:cubicBezTo>
                  <a:pt x="217616" y="60811"/>
                  <a:pt x="214714" y="111487"/>
                  <a:pt x="157163" y="145465"/>
                </a:cubicBezTo>
                <a:lnTo>
                  <a:pt x="157163" y="187881"/>
                </a:lnTo>
                <a:cubicBezTo>
                  <a:pt x="157163" y="195426"/>
                  <a:pt x="153233" y="202391"/>
                  <a:pt x="146759" y="206276"/>
                </a:cubicBezTo>
                <a:lnTo>
                  <a:pt x="107379" y="229895"/>
                </a:lnTo>
                <a:cubicBezTo>
                  <a:pt x="97869" y="235610"/>
                  <a:pt x="85725" y="228734"/>
                  <a:pt x="85725" y="217661"/>
                </a:cubicBezTo>
                <a:lnTo>
                  <a:pt x="85725" y="171450"/>
                </a:lnTo>
                <a:cubicBezTo>
                  <a:pt x="85725" y="155689"/>
                  <a:pt x="72911" y="142875"/>
                  <a:pt x="57150" y="142875"/>
                </a:cubicBezTo>
                <a:lnTo>
                  <a:pt x="57105" y="142875"/>
                </a:lnTo>
                <a:close/>
                <a:moveTo>
                  <a:pt x="178594" y="71438"/>
                </a:moveTo>
                <a:cubicBezTo>
                  <a:pt x="178594" y="59609"/>
                  <a:pt x="168991" y="50006"/>
                  <a:pt x="157163" y="50006"/>
                </a:cubicBezTo>
                <a:cubicBezTo>
                  <a:pt x="145334" y="50006"/>
                  <a:pt x="135731" y="59609"/>
                  <a:pt x="135731" y="71438"/>
                </a:cubicBezTo>
                <a:cubicBezTo>
                  <a:pt x="135731" y="83266"/>
                  <a:pt x="145334" y="92869"/>
                  <a:pt x="157163" y="92869"/>
                </a:cubicBezTo>
                <a:cubicBezTo>
                  <a:pt x="168991" y="92869"/>
                  <a:pt x="178594" y="83266"/>
                  <a:pt x="178594" y="71438"/>
                </a:cubicBezTo>
                <a:close/>
              </a:path>
            </a:pathLst>
          </a:custGeom>
          <a:solidFill>
            <a:srgbClr val="4A90A4"/>
          </a:solidFill>
          <a:ln/>
        </p:spPr>
      </p:sp>
      <p:sp>
        <p:nvSpPr>
          <p:cNvPr id="24" name="Text 22"/>
          <p:cNvSpPr/>
          <p:nvPr/>
        </p:nvSpPr>
        <p:spPr>
          <a:xfrm>
            <a:off x="6686550" y="1333500"/>
            <a:ext cx="5048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Future Scope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400800" y="1790588"/>
            <a:ext cx="5219700" cy="647700"/>
          </a:xfrm>
          <a:custGeom>
            <a:avLst/>
            <a:gdLst/>
            <a:ahLst/>
            <a:cxnLst/>
            <a:rect l="l" t="t" r="r" b="b"/>
            <a:pathLst>
              <a:path w="5219700" h="647700">
                <a:moveTo>
                  <a:pt x="76202" y="0"/>
                </a:moveTo>
                <a:lnTo>
                  <a:pt x="5143498" y="0"/>
                </a:lnTo>
                <a:cubicBezTo>
                  <a:pt x="5185583" y="0"/>
                  <a:pt x="5219700" y="34117"/>
                  <a:pt x="5219700" y="76202"/>
                </a:cubicBezTo>
                <a:lnTo>
                  <a:pt x="5219700" y="571498"/>
                </a:lnTo>
                <a:cubicBezTo>
                  <a:pt x="5219700" y="613583"/>
                  <a:pt x="5185583" y="647700"/>
                  <a:pt x="5143498" y="647700"/>
                </a:cubicBezTo>
                <a:lnTo>
                  <a:pt x="76202" y="647700"/>
                </a:lnTo>
                <a:cubicBezTo>
                  <a:pt x="34117" y="647700"/>
                  <a:pt x="0" y="613583"/>
                  <a:pt x="0" y="5714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1E3A5F">
              <a:alpha val="5098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6515100" y="1904888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1E3A5F"/>
          </a:solidFill>
          <a:ln/>
        </p:spPr>
      </p:sp>
      <p:sp>
        <p:nvSpPr>
          <p:cNvPr id="27" name="Text 25"/>
          <p:cNvSpPr/>
          <p:nvPr/>
        </p:nvSpPr>
        <p:spPr>
          <a:xfrm>
            <a:off x="6481763" y="1904888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934200" y="1904888"/>
            <a:ext cx="3486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Cryptocurrency Markets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934200" y="2133488"/>
            <a:ext cx="3476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Extend to Bitcoin, Ethereum, and altcoins with 24/7 trading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400800" y="2552588"/>
            <a:ext cx="5219700" cy="647700"/>
          </a:xfrm>
          <a:custGeom>
            <a:avLst/>
            <a:gdLst/>
            <a:ahLst/>
            <a:cxnLst/>
            <a:rect l="l" t="t" r="r" b="b"/>
            <a:pathLst>
              <a:path w="5219700" h="647700">
                <a:moveTo>
                  <a:pt x="76202" y="0"/>
                </a:moveTo>
                <a:lnTo>
                  <a:pt x="5143498" y="0"/>
                </a:lnTo>
                <a:cubicBezTo>
                  <a:pt x="5185583" y="0"/>
                  <a:pt x="5219700" y="34117"/>
                  <a:pt x="5219700" y="76202"/>
                </a:cubicBezTo>
                <a:lnTo>
                  <a:pt x="5219700" y="571498"/>
                </a:lnTo>
                <a:cubicBezTo>
                  <a:pt x="5219700" y="613583"/>
                  <a:pt x="5185583" y="647700"/>
                  <a:pt x="5143498" y="647700"/>
                </a:cubicBezTo>
                <a:lnTo>
                  <a:pt x="76202" y="647700"/>
                </a:lnTo>
                <a:cubicBezTo>
                  <a:pt x="34117" y="647700"/>
                  <a:pt x="0" y="613583"/>
                  <a:pt x="0" y="5714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C75B4A">
              <a:alpha val="5098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515100" y="2666888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32" name="Text 30"/>
          <p:cNvSpPr/>
          <p:nvPr/>
        </p:nvSpPr>
        <p:spPr>
          <a:xfrm>
            <a:off x="6481763" y="2666888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934200" y="2666888"/>
            <a:ext cx="3819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LLM Integration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934200" y="2895488"/>
            <a:ext cx="381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Incorporate Large Language Models for news sentiment analysis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400800" y="3314588"/>
            <a:ext cx="5219700" cy="647700"/>
          </a:xfrm>
          <a:custGeom>
            <a:avLst/>
            <a:gdLst/>
            <a:ahLst/>
            <a:cxnLst/>
            <a:rect l="l" t="t" r="r" b="b"/>
            <a:pathLst>
              <a:path w="5219700" h="647700">
                <a:moveTo>
                  <a:pt x="76202" y="0"/>
                </a:moveTo>
                <a:lnTo>
                  <a:pt x="5143498" y="0"/>
                </a:lnTo>
                <a:cubicBezTo>
                  <a:pt x="5185583" y="0"/>
                  <a:pt x="5219700" y="34117"/>
                  <a:pt x="5219700" y="76202"/>
                </a:cubicBezTo>
                <a:lnTo>
                  <a:pt x="5219700" y="571498"/>
                </a:lnTo>
                <a:cubicBezTo>
                  <a:pt x="5219700" y="613583"/>
                  <a:pt x="5185583" y="647700"/>
                  <a:pt x="5143498" y="647700"/>
                </a:cubicBezTo>
                <a:lnTo>
                  <a:pt x="76202" y="647700"/>
                </a:lnTo>
                <a:cubicBezTo>
                  <a:pt x="34117" y="647700"/>
                  <a:pt x="0" y="613583"/>
                  <a:pt x="0" y="5714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4A90A4">
              <a:alpha val="5098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6515100" y="3428888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4A90A4"/>
          </a:solidFill>
          <a:ln/>
        </p:spPr>
      </p:sp>
      <p:sp>
        <p:nvSpPr>
          <p:cNvPr id="37" name="Text 35"/>
          <p:cNvSpPr/>
          <p:nvPr/>
        </p:nvSpPr>
        <p:spPr>
          <a:xfrm>
            <a:off x="6481763" y="3428888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934200" y="3428888"/>
            <a:ext cx="3371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Mobile Application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934200" y="3657488"/>
            <a:ext cx="3362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Develop React Native app for iOS and Android platforms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400800" y="4076588"/>
            <a:ext cx="5219700" cy="647700"/>
          </a:xfrm>
          <a:custGeom>
            <a:avLst/>
            <a:gdLst/>
            <a:ahLst/>
            <a:cxnLst/>
            <a:rect l="l" t="t" r="r" b="b"/>
            <a:pathLst>
              <a:path w="5219700" h="647700">
                <a:moveTo>
                  <a:pt x="76202" y="0"/>
                </a:moveTo>
                <a:lnTo>
                  <a:pt x="5143498" y="0"/>
                </a:lnTo>
                <a:cubicBezTo>
                  <a:pt x="5185583" y="0"/>
                  <a:pt x="5219700" y="34117"/>
                  <a:pt x="5219700" y="76202"/>
                </a:cubicBezTo>
                <a:lnTo>
                  <a:pt x="5219700" y="571498"/>
                </a:lnTo>
                <a:cubicBezTo>
                  <a:pt x="5219700" y="613583"/>
                  <a:pt x="5185583" y="647700"/>
                  <a:pt x="5143498" y="647700"/>
                </a:cubicBezTo>
                <a:lnTo>
                  <a:pt x="76202" y="647700"/>
                </a:lnTo>
                <a:cubicBezTo>
                  <a:pt x="34117" y="647700"/>
                  <a:pt x="0" y="613583"/>
                  <a:pt x="0" y="5714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1E3A5F">
              <a:alpha val="5098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515100" y="4190888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1E3A5F"/>
          </a:solidFill>
          <a:ln/>
        </p:spPr>
      </p:sp>
      <p:sp>
        <p:nvSpPr>
          <p:cNvPr id="42" name="Text 40"/>
          <p:cNvSpPr/>
          <p:nvPr/>
        </p:nvSpPr>
        <p:spPr>
          <a:xfrm>
            <a:off x="6481763" y="4190888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934200" y="4190888"/>
            <a:ext cx="3143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Multi-Portfolio Management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934200" y="4419488"/>
            <a:ext cx="3133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Support multiple portfolios with different risk profiles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400800" y="4838588"/>
            <a:ext cx="5219700" cy="647700"/>
          </a:xfrm>
          <a:custGeom>
            <a:avLst/>
            <a:gdLst/>
            <a:ahLst/>
            <a:cxnLst/>
            <a:rect l="l" t="t" r="r" b="b"/>
            <a:pathLst>
              <a:path w="5219700" h="647700">
                <a:moveTo>
                  <a:pt x="76202" y="0"/>
                </a:moveTo>
                <a:lnTo>
                  <a:pt x="5143498" y="0"/>
                </a:lnTo>
                <a:cubicBezTo>
                  <a:pt x="5185583" y="0"/>
                  <a:pt x="5219700" y="34117"/>
                  <a:pt x="5219700" y="76202"/>
                </a:cubicBezTo>
                <a:lnTo>
                  <a:pt x="5219700" y="571498"/>
                </a:lnTo>
                <a:cubicBezTo>
                  <a:pt x="5219700" y="613583"/>
                  <a:pt x="5185583" y="647700"/>
                  <a:pt x="5143498" y="647700"/>
                </a:cubicBezTo>
                <a:lnTo>
                  <a:pt x="76202" y="647700"/>
                </a:lnTo>
                <a:cubicBezTo>
                  <a:pt x="34117" y="647700"/>
                  <a:pt x="0" y="613583"/>
                  <a:pt x="0" y="5714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C75B4A">
              <a:alpha val="5098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515100" y="4952888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47" name="Text 45"/>
          <p:cNvSpPr/>
          <p:nvPr/>
        </p:nvSpPr>
        <p:spPr>
          <a:xfrm>
            <a:off x="6481763" y="4952888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934200" y="4952888"/>
            <a:ext cx="3514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Advanced Risk Models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934200" y="5181488"/>
            <a:ext cx="3505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 CVaR, Expected Shortfall, and tail risk measures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76200" y="0"/>
                </a:moveTo>
                <a:lnTo>
                  <a:pt x="533400" y="0"/>
                </a:lnTo>
                <a:cubicBezTo>
                  <a:pt x="575456" y="0"/>
                  <a:pt x="609600" y="34144"/>
                  <a:pt x="609600" y="76200"/>
                </a:cubicBezTo>
                <a:lnTo>
                  <a:pt x="609600" y="533400"/>
                </a:lnTo>
                <a:cubicBezTo>
                  <a:pt x="609600" y="575456"/>
                  <a:pt x="575456" y="609600"/>
                  <a:pt x="53340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541020" y="514350"/>
            <a:ext cx="4286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19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43000" y="400050"/>
            <a:ext cx="3990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C75B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REFERENCES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590550"/>
            <a:ext cx="4095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IEEE Papers (2024-2025)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1000" y="1238250"/>
            <a:ext cx="11430000" cy="5334000"/>
          </a:xfrm>
          <a:custGeom>
            <a:avLst/>
            <a:gdLst/>
            <a:ahLst/>
            <a:cxnLst/>
            <a:rect l="l" t="t" r="r" b="b"/>
            <a:pathLst>
              <a:path w="11430000" h="5334000">
                <a:moveTo>
                  <a:pt x="76223" y="0"/>
                </a:moveTo>
                <a:lnTo>
                  <a:pt x="11353777" y="0"/>
                </a:lnTo>
                <a:cubicBezTo>
                  <a:pt x="11395874" y="0"/>
                  <a:pt x="11430000" y="34126"/>
                  <a:pt x="11430000" y="76223"/>
                </a:cubicBezTo>
                <a:lnTo>
                  <a:pt x="11430000" y="5257777"/>
                </a:lnTo>
                <a:cubicBezTo>
                  <a:pt x="11430000" y="5299874"/>
                  <a:pt x="11395874" y="5334000"/>
                  <a:pt x="11353777" y="5334000"/>
                </a:cubicBezTo>
                <a:lnTo>
                  <a:pt x="76223" y="5334000"/>
                </a:lnTo>
                <a:cubicBezTo>
                  <a:pt x="34126" y="5334000"/>
                  <a:pt x="0" y="5299874"/>
                  <a:pt x="0" y="5257777"/>
                </a:cubicBezTo>
                <a:lnTo>
                  <a:pt x="0" y="76223"/>
                </a:lnTo>
                <a:cubicBezTo>
                  <a:pt x="0" y="34154"/>
                  <a:pt x="34154" y="0"/>
                  <a:pt x="76223" y="0"/>
                </a:cubicBezTo>
                <a:close/>
              </a:path>
            </a:pathLst>
          </a:custGeom>
          <a:solidFill>
            <a:srgbClr val="FFFFFF"/>
          </a:solidFill>
          <a:ln>
            <a:solidFill>
              <a:schemeClr val="tx1"/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28650" y="1371600"/>
            <a:ext cx="10810875" cy="590550"/>
          </a:xfrm>
          <a:custGeom>
            <a:avLst/>
            <a:gdLst/>
            <a:ahLst/>
            <a:cxnLst/>
            <a:rect l="l" t="t" r="r" b="b"/>
            <a:pathLst>
              <a:path w="10810875" h="723900">
                <a:moveTo>
                  <a:pt x="38100" y="0"/>
                </a:moveTo>
                <a:lnTo>
                  <a:pt x="10734677" y="0"/>
                </a:lnTo>
                <a:cubicBezTo>
                  <a:pt x="10776732" y="0"/>
                  <a:pt x="10810875" y="34143"/>
                  <a:pt x="10810875" y="76198"/>
                </a:cubicBezTo>
                <a:lnTo>
                  <a:pt x="10810875" y="647702"/>
                </a:lnTo>
                <a:cubicBezTo>
                  <a:pt x="10810875" y="689757"/>
                  <a:pt x="10776732" y="723900"/>
                  <a:pt x="10734677" y="723900"/>
                </a:cubicBezTo>
                <a:lnTo>
                  <a:pt x="38100" y="723900"/>
                </a:lnTo>
                <a:cubicBezTo>
                  <a:pt x="17072" y="723900"/>
                  <a:pt x="0" y="706828"/>
                  <a:pt x="0" y="685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E3A5F">
              <a:alpha val="5098"/>
            </a:srgbClr>
          </a:solidFill>
          <a:ln>
            <a:solidFill>
              <a:schemeClr val="tx1"/>
            </a:solidFill>
          </a:ln>
          <a:effectLst/>
        </p:spPr>
      </p:sp>
      <p:sp>
        <p:nvSpPr>
          <p:cNvPr id="8" name="Shape 6"/>
          <p:cNvSpPr/>
          <p:nvPr/>
        </p:nvSpPr>
        <p:spPr>
          <a:xfrm>
            <a:off x="628650" y="1371600"/>
            <a:ext cx="38100" cy="723900"/>
          </a:xfrm>
          <a:custGeom>
            <a:avLst/>
            <a:gdLst/>
            <a:ahLst/>
            <a:cxnLst/>
            <a:rect l="l" t="t" r="r" b="b"/>
            <a:pathLst>
              <a:path w="38100" h="723900">
                <a:moveTo>
                  <a:pt x="38100" y="0"/>
                </a:moveTo>
                <a:lnTo>
                  <a:pt x="38100" y="0"/>
                </a:lnTo>
                <a:lnTo>
                  <a:pt x="38100" y="723900"/>
                </a:lnTo>
                <a:lnTo>
                  <a:pt x="38100" y="723900"/>
                </a:lnTo>
                <a:cubicBezTo>
                  <a:pt x="17072" y="723900"/>
                  <a:pt x="0" y="706828"/>
                  <a:pt x="0" y="685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E3A5F"/>
          </a:solidFill>
          <a:ln/>
        </p:spPr>
      </p:sp>
      <p:sp>
        <p:nvSpPr>
          <p:cNvPr id="9" name="Text 7"/>
          <p:cNvSpPr/>
          <p:nvPr/>
        </p:nvSpPr>
        <p:spPr>
          <a:xfrm>
            <a:off x="800100" y="1524000"/>
            <a:ext cx="10553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[1] A Comparative Analysis of Stochastic Models for Stock Price Forecasting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00100" y="1752600"/>
            <a:ext cx="10553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Aims Press, QFE Journal, 2025. GBM, Heston SV, Merton JD, SVJ models with MLE and Monte Carlo simulation.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8650" y="2247900"/>
            <a:ext cx="10810875" cy="723900"/>
          </a:xfrm>
          <a:custGeom>
            <a:avLst/>
            <a:gdLst/>
            <a:ahLst/>
            <a:cxnLst/>
            <a:rect l="l" t="t" r="r" b="b"/>
            <a:pathLst>
              <a:path w="10810875" h="723900">
                <a:moveTo>
                  <a:pt x="38100" y="0"/>
                </a:moveTo>
                <a:lnTo>
                  <a:pt x="10734677" y="0"/>
                </a:lnTo>
                <a:cubicBezTo>
                  <a:pt x="10776732" y="0"/>
                  <a:pt x="10810875" y="34143"/>
                  <a:pt x="10810875" y="76198"/>
                </a:cubicBezTo>
                <a:lnTo>
                  <a:pt x="10810875" y="647702"/>
                </a:lnTo>
                <a:cubicBezTo>
                  <a:pt x="10810875" y="689757"/>
                  <a:pt x="10776732" y="723900"/>
                  <a:pt x="10734677" y="723900"/>
                </a:cubicBezTo>
                <a:lnTo>
                  <a:pt x="38100" y="723900"/>
                </a:lnTo>
                <a:cubicBezTo>
                  <a:pt x="17072" y="723900"/>
                  <a:pt x="0" y="706828"/>
                  <a:pt x="0" y="685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75B4A">
              <a:alpha val="5098"/>
            </a:srgbClr>
          </a:solidFill>
          <a:ln>
            <a:solidFill>
              <a:schemeClr val="tx1"/>
            </a:solidFill>
          </a:ln>
        </p:spPr>
      </p:sp>
      <p:sp>
        <p:nvSpPr>
          <p:cNvPr id="12" name="Shape 10"/>
          <p:cNvSpPr/>
          <p:nvPr/>
        </p:nvSpPr>
        <p:spPr>
          <a:xfrm>
            <a:off x="628650" y="2247900"/>
            <a:ext cx="38100" cy="723900"/>
          </a:xfrm>
          <a:custGeom>
            <a:avLst/>
            <a:gdLst/>
            <a:ahLst/>
            <a:cxnLst/>
            <a:rect l="l" t="t" r="r" b="b"/>
            <a:pathLst>
              <a:path w="38100" h="723900">
                <a:moveTo>
                  <a:pt x="38100" y="0"/>
                </a:moveTo>
                <a:lnTo>
                  <a:pt x="38100" y="0"/>
                </a:lnTo>
                <a:lnTo>
                  <a:pt x="38100" y="723900"/>
                </a:lnTo>
                <a:lnTo>
                  <a:pt x="38100" y="723900"/>
                </a:lnTo>
                <a:cubicBezTo>
                  <a:pt x="17072" y="723900"/>
                  <a:pt x="0" y="706828"/>
                  <a:pt x="0" y="685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13" name="Text 11"/>
          <p:cNvSpPr/>
          <p:nvPr/>
        </p:nvSpPr>
        <p:spPr>
          <a:xfrm>
            <a:off x="800100" y="2400300"/>
            <a:ext cx="10553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[2] Applications of Deep Learning in Financial Time Series Forecasting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00100" y="2628900"/>
            <a:ext cx="10553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ACM Conference on Digital Economy and Information Systems, 2025. TCN-BNN hybrid model for financial forecasting.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28650" y="3124200"/>
            <a:ext cx="10810875" cy="723900"/>
          </a:xfrm>
          <a:custGeom>
            <a:avLst/>
            <a:gdLst/>
            <a:ahLst/>
            <a:cxnLst/>
            <a:rect l="l" t="t" r="r" b="b"/>
            <a:pathLst>
              <a:path w="10810875" h="723900">
                <a:moveTo>
                  <a:pt x="38100" y="0"/>
                </a:moveTo>
                <a:lnTo>
                  <a:pt x="10734677" y="0"/>
                </a:lnTo>
                <a:cubicBezTo>
                  <a:pt x="10776732" y="0"/>
                  <a:pt x="10810875" y="34143"/>
                  <a:pt x="10810875" y="76198"/>
                </a:cubicBezTo>
                <a:lnTo>
                  <a:pt x="10810875" y="647702"/>
                </a:lnTo>
                <a:cubicBezTo>
                  <a:pt x="10810875" y="689757"/>
                  <a:pt x="10776732" y="723900"/>
                  <a:pt x="10734677" y="723900"/>
                </a:cubicBezTo>
                <a:lnTo>
                  <a:pt x="38100" y="723900"/>
                </a:lnTo>
                <a:cubicBezTo>
                  <a:pt x="17072" y="723900"/>
                  <a:pt x="0" y="706828"/>
                  <a:pt x="0" y="685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90A4">
              <a:alpha val="5098"/>
            </a:srgbClr>
          </a:solidFill>
          <a:ln>
            <a:solidFill>
              <a:schemeClr val="tx1"/>
            </a:solidFill>
          </a:ln>
        </p:spPr>
      </p:sp>
      <p:sp>
        <p:nvSpPr>
          <p:cNvPr id="16" name="Shape 14"/>
          <p:cNvSpPr/>
          <p:nvPr/>
        </p:nvSpPr>
        <p:spPr>
          <a:xfrm>
            <a:off x="628650" y="3124200"/>
            <a:ext cx="38100" cy="723900"/>
          </a:xfrm>
          <a:custGeom>
            <a:avLst/>
            <a:gdLst/>
            <a:ahLst/>
            <a:cxnLst/>
            <a:rect l="l" t="t" r="r" b="b"/>
            <a:pathLst>
              <a:path w="38100" h="723900">
                <a:moveTo>
                  <a:pt x="38100" y="0"/>
                </a:moveTo>
                <a:lnTo>
                  <a:pt x="38100" y="0"/>
                </a:lnTo>
                <a:lnTo>
                  <a:pt x="38100" y="723900"/>
                </a:lnTo>
                <a:lnTo>
                  <a:pt x="38100" y="723900"/>
                </a:lnTo>
                <a:cubicBezTo>
                  <a:pt x="17072" y="723900"/>
                  <a:pt x="0" y="706828"/>
                  <a:pt x="0" y="685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90A4"/>
          </a:solidFill>
          <a:ln/>
        </p:spPr>
      </p:sp>
      <p:sp>
        <p:nvSpPr>
          <p:cNvPr id="17" name="Text 15"/>
          <p:cNvSpPr/>
          <p:nvPr/>
        </p:nvSpPr>
        <p:spPr>
          <a:xfrm>
            <a:off x="800100" y="3276600"/>
            <a:ext cx="10553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[3] Automated Stock Trading by Reinforcement Learning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00100" y="3505200"/>
            <a:ext cx="10553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ACM Conference, 2025. TD3 algorithm with 50+ technical indicators for automated trading.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8650" y="4000500"/>
            <a:ext cx="10810875" cy="723900"/>
          </a:xfrm>
          <a:custGeom>
            <a:avLst/>
            <a:gdLst/>
            <a:ahLst/>
            <a:cxnLst/>
            <a:rect l="l" t="t" r="r" b="b"/>
            <a:pathLst>
              <a:path w="10810875" h="723900">
                <a:moveTo>
                  <a:pt x="38100" y="0"/>
                </a:moveTo>
                <a:lnTo>
                  <a:pt x="10734677" y="0"/>
                </a:lnTo>
                <a:cubicBezTo>
                  <a:pt x="10776732" y="0"/>
                  <a:pt x="10810875" y="34143"/>
                  <a:pt x="10810875" y="76198"/>
                </a:cubicBezTo>
                <a:lnTo>
                  <a:pt x="10810875" y="647702"/>
                </a:lnTo>
                <a:cubicBezTo>
                  <a:pt x="10810875" y="689757"/>
                  <a:pt x="10776732" y="723900"/>
                  <a:pt x="10734677" y="723900"/>
                </a:cubicBezTo>
                <a:lnTo>
                  <a:pt x="38100" y="723900"/>
                </a:lnTo>
                <a:cubicBezTo>
                  <a:pt x="17072" y="723900"/>
                  <a:pt x="0" y="706828"/>
                  <a:pt x="0" y="685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E3A5F">
              <a:alpha val="5098"/>
            </a:srgbClr>
          </a:solidFill>
          <a:ln>
            <a:solidFill>
              <a:schemeClr val="tx1"/>
            </a:solidFill>
          </a:ln>
        </p:spPr>
      </p:sp>
      <p:sp>
        <p:nvSpPr>
          <p:cNvPr id="20" name="Shape 18"/>
          <p:cNvSpPr/>
          <p:nvPr/>
        </p:nvSpPr>
        <p:spPr>
          <a:xfrm>
            <a:off x="628650" y="4000500"/>
            <a:ext cx="38100" cy="723900"/>
          </a:xfrm>
          <a:custGeom>
            <a:avLst/>
            <a:gdLst/>
            <a:ahLst/>
            <a:cxnLst/>
            <a:rect l="l" t="t" r="r" b="b"/>
            <a:pathLst>
              <a:path w="38100" h="723900">
                <a:moveTo>
                  <a:pt x="38100" y="0"/>
                </a:moveTo>
                <a:lnTo>
                  <a:pt x="38100" y="0"/>
                </a:lnTo>
                <a:lnTo>
                  <a:pt x="38100" y="723900"/>
                </a:lnTo>
                <a:lnTo>
                  <a:pt x="38100" y="723900"/>
                </a:lnTo>
                <a:cubicBezTo>
                  <a:pt x="17072" y="723900"/>
                  <a:pt x="0" y="706828"/>
                  <a:pt x="0" y="685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E3A5F"/>
          </a:solidFill>
          <a:ln/>
        </p:spPr>
      </p:sp>
      <p:sp>
        <p:nvSpPr>
          <p:cNvPr id="21" name="Text 19"/>
          <p:cNvSpPr/>
          <p:nvPr/>
        </p:nvSpPr>
        <p:spPr>
          <a:xfrm>
            <a:off x="800100" y="4152900"/>
            <a:ext cx="10553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[4] Deep Learning for Time Series Forecasting: A Survey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00100" y="4381500"/>
            <a:ext cx="10553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Springer, 2025. Comprehensive review of CNN, LSTM, TCN, Transformer, GAN architectures for time series.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8650" y="4876800"/>
            <a:ext cx="10810875" cy="723900"/>
          </a:xfrm>
          <a:custGeom>
            <a:avLst/>
            <a:gdLst/>
            <a:ahLst/>
            <a:cxnLst/>
            <a:rect l="l" t="t" r="r" b="b"/>
            <a:pathLst>
              <a:path w="10810875" h="723900">
                <a:moveTo>
                  <a:pt x="38100" y="0"/>
                </a:moveTo>
                <a:lnTo>
                  <a:pt x="10734677" y="0"/>
                </a:lnTo>
                <a:cubicBezTo>
                  <a:pt x="10776732" y="0"/>
                  <a:pt x="10810875" y="34143"/>
                  <a:pt x="10810875" y="76198"/>
                </a:cubicBezTo>
                <a:lnTo>
                  <a:pt x="10810875" y="647702"/>
                </a:lnTo>
                <a:cubicBezTo>
                  <a:pt x="10810875" y="689757"/>
                  <a:pt x="10776732" y="723900"/>
                  <a:pt x="10734677" y="723900"/>
                </a:cubicBezTo>
                <a:lnTo>
                  <a:pt x="38100" y="723900"/>
                </a:lnTo>
                <a:cubicBezTo>
                  <a:pt x="17072" y="723900"/>
                  <a:pt x="0" y="706828"/>
                  <a:pt x="0" y="685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75B4A">
              <a:alpha val="5098"/>
            </a:srgbClr>
          </a:solidFill>
          <a:ln>
            <a:solidFill>
              <a:schemeClr val="tx1"/>
            </a:solidFill>
          </a:ln>
        </p:spPr>
      </p:sp>
      <p:sp>
        <p:nvSpPr>
          <p:cNvPr id="24" name="Shape 22"/>
          <p:cNvSpPr/>
          <p:nvPr/>
        </p:nvSpPr>
        <p:spPr>
          <a:xfrm>
            <a:off x="628650" y="4876800"/>
            <a:ext cx="38100" cy="723900"/>
          </a:xfrm>
          <a:custGeom>
            <a:avLst/>
            <a:gdLst/>
            <a:ahLst/>
            <a:cxnLst/>
            <a:rect l="l" t="t" r="r" b="b"/>
            <a:pathLst>
              <a:path w="38100" h="723900">
                <a:moveTo>
                  <a:pt x="38100" y="0"/>
                </a:moveTo>
                <a:lnTo>
                  <a:pt x="38100" y="0"/>
                </a:lnTo>
                <a:lnTo>
                  <a:pt x="38100" y="723900"/>
                </a:lnTo>
                <a:lnTo>
                  <a:pt x="38100" y="723900"/>
                </a:lnTo>
                <a:cubicBezTo>
                  <a:pt x="17072" y="723900"/>
                  <a:pt x="0" y="706828"/>
                  <a:pt x="0" y="685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25" name="Text 23"/>
          <p:cNvSpPr/>
          <p:nvPr/>
        </p:nvSpPr>
        <p:spPr>
          <a:xfrm>
            <a:off x="800100" y="5029200"/>
            <a:ext cx="10553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[5] Data-Driven Hedging with Generative Models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00100" y="5257800"/>
            <a:ext cx="10553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EDHEC, 2025. VoLGAN for implied volatility surfaces with local risk minimization.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28650" y="5753100"/>
            <a:ext cx="10810875" cy="723900"/>
          </a:xfrm>
          <a:custGeom>
            <a:avLst/>
            <a:gdLst/>
            <a:ahLst/>
            <a:cxnLst/>
            <a:rect l="l" t="t" r="r" b="b"/>
            <a:pathLst>
              <a:path w="10810875" h="723900">
                <a:moveTo>
                  <a:pt x="38100" y="0"/>
                </a:moveTo>
                <a:lnTo>
                  <a:pt x="10734677" y="0"/>
                </a:lnTo>
                <a:cubicBezTo>
                  <a:pt x="10776732" y="0"/>
                  <a:pt x="10810875" y="34143"/>
                  <a:pt x="10810875" y="76198"/>
                </a:cubicBezTo>
                <a:lnTo>
                  <a:pt x="10810875" y="647702"/>
                </a:lnTo>
                <a:cubicBezTo>
                  <a:pt x="10810875" y="689757"/>
                  <a:pt x="10776732" y="723900"/>
                  <a:pt x="10734677" y="723900"/>
                </a:cubicBezTo>
                <a:lnTo>
                  <a:pt x="38100" y="723900"/>
                </a:lnTo>
                <a:cubicBezTo>
                  <a:pt x="17072" y="723900"/>
                  <a:pt x="0" y="706828"/>
                  <a:pt x="0" y="685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90A4">
              <a:alpha val="5098"/>
            </a:srgbClr>
          </a:solidFill>
          <a:ln>
            <a:solidFill>
              <a:schemeClr val="tx1"/>
            </a:solidFill>
          </a:ln>
        </p:spPr>
      </p:sp>
      <p:sp>
        <p:nvSpPr>
          <p:cNvPr id="28" name="Shape 26"/>
          <p:cNvSpPr/>
          <p:nvPr/>
        </p:nvSpPr>
        <p:spPr>
          <a:xfrm>
            <a:off x="628650" y="5753100"/>
            <a:ext cx="38100" cy="723900"/>
          </a:xfrm>
          <a:custGeom>
            <a:avLst/>
            <a:gdLst/>
            <a:ahLst/>
            <a:cxnLst/>
            <a:rect l="l" t="t" r="r" b="b"/>
            <a:pathLst>
              <a:path w="38100" h="723900">
                <a:moveTo>
                  <a:pt x="38100" y="0"/>
                </a:moveTo>
                <a:lnTo>
                  <a:pt x="38100" y="0"/>
                </a:lnTo>
                <a:lnTo>
                  <a:pt x="38100" y="723900"/>
                </a:lnTo>
                <a:lnTo>
                  <a:pt x="38100" y="723900"/>
                </a:lnTo>
                <a:cubicBezTo>
                  <a:pt x="17072" y="723900"/>
                  <a:pt x="0" y="706828"/>
                  <a:pt x="0" y="685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90A4"/>
          </a:solidFill>
          <a:ln/>
        </p:spPr>
      </p:sp>
      <p:sp>
        <p:nvSpPr>
          <p:cNvPr id="29" name="Text 27"/>
          <p:cNvSpPr/>
          <p:nvPr/>
        </p:nvSpPr>
        <p:spPr>
          <a:xfrm>
            <a:off x="800100" y="5905500"/>
            <a:ext cx="10553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[6] Enhancing Deep Hedging of Options with IV Surface Feedback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00100" y="6134100"/>
            <a:ext cx="10553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arXiv/IEEE, 2024. Deep RL with LSTM and FFNN for multi-stage hedging.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00100" y="7010400"/>
            <a:ext cx="10553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28650" y="7505700"/>
            <a:ext cx="10810875" cy="723900"/>
          </a:xfrm>
          <a:custGeom>
            <a:avLst/>
            <a:gdLst/>
            <a:ahLst/>
            <a:cxnLst/>
            <a:rect l="l" t="t" r="r" b="b"/>
            <a:pathLst>
              <a:path w="10810875" h="723900">
                <a:moveTo>
                  <a:pt x="38100" y="0"/>
                </a:moveTo>
                <a:lnTo>
                  <a:pt x="10734677" y="0"/>
                </a:lnTo>
                <a:cubicBezTo>
                  <a:pt x="10776732" y="0"/>
                  <a:pt x="10810875" y="34143"/>
                  <a:pt x="10810875" y="76198"/>
                </a:cubicBezTo>
                <a:lnTo>
                  <a:pt x="10810875" y="647702"/>
                </a:lnTo>
                <a:cubicBezTo>
                  <a:pt x="10810875" y="689757"/>
                  <a:pt x="10776732" y="723900"/>
                  <a:pt x="10734677" y="723900"/>
                </a:cubicBezTo>
                <a:lnTo>
                  <a:pt x="38100" y="723900"/>
                </a:lnTo>
                <a:cubicBezTo>
                  <a:pt x="17072" y="723900"/>
                  <a:pt x="0" y="706828"/>
                  <a:pt x="0" y="685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75B4A">
              <a:alpha val="5098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628650" y="7505700"/>
            <a:ext cx="38100" cy="723900"/>
          </a:xfrm>
          <a:custGeom>
            <a:avLst/>
            <a:gdLst/>
            <a:ahLst/>
            <a:cxnLst/>
            <a:rect l="l" t="t" r="r" b="b"/>
            <a:pathLst>
              <a:path w="38100" h="723900">
                <a:moveTo>
                  <a:pt x="38100" y="0"/>
                </a:moveTo>
                <a:lnTo>
                  <a:pt x="38100" y="0"/>
                </a:lnTo>
                <a:lnTo>
                  <a:pt x="38100" y="723900"/>
                </a:lnTo>
                <a:lnTo>
                  <a:pt x="38100" y="723900"/>
                </a:lnTo>
                <a:cubicBezTo>
                  <a:pt x="17072" y="723900"/>
                  <a:pt x="0" y="706828"/>
                  <a:pt x="0" y="685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37" name="Text 35"/>
          <p:cNvSpPr/>
          <p:nvPr/>
        </p:nvSpPr>
        <p:spPr>
          <a:xfrm>
            <a:off x="800100" y="7658100"/>
            <a:ext cx="10553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[8] Predicting Stock Prices Based on Sentiment Analysis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00100" y="7886700"/>
            <a:ext cx="10553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IEOM Society, Oman Conference, 2024. NLP and ML integration for news sentiment analysis.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28650" y="8382000"/>
            <a:ext cx="10810875" cy="723900"/>
          </a:xfrm>
          <a:custGeom>
            <a:avLst/>
            <a:gdLst/>
            <a:ahLst/>
            <a:cxnLst/>
            <a:rect l="l" t="t" r="r" b="b"/>
            <a:pathLst>
              <a:path w="10810875" h="723900">
                <a:moveTo>
                  <a:pt x="38100" y="0"/>
                </a:moveTo>
                <a:lnTo>
                  <a:pt x="10734677" y="0"/>
                </a:lnTo>
                <a:cubicBezTo>
                  <a:pt x="10776732" y="0"/>
                  <a:pt x="10810875" y="34143"/>
                  <a:pt x="10810875" y="76198"/>
                </a:cubicBezTo>
                <a:lnTo>
                  <a:pt x="10810875" y="647702"/>
                </a:lnTo>
                <a:cubicBezTo>
                  <a:pt x="10810875" y="689757"/>
                  <a:pt x="10776732" y="723900"/>
                  <a:pt x="10734677" y="723900"/>
                </a:cubicBezTo>
                <a:lnTo>
                  <a:pt x="38100" y="723900"/>
                </a:lnTo>
                <a:cubicBezTo>
                  <a:pt x="17072" y="723900"/>
                  <a:pt x="0" y="706828"/>
                  <a:pt x="0" y="685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90A4">
              <a:alpha val="5098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628650" y="8382000"/>
            <a:ext cx="38100" cy="723900"/>
          </a:xfrm>
          <a:custGeom>
            <a:avLst/>
            <a:gdLst/>
            <a:ahLst/>
            <a:cxnLst/>
            <a:rect l="l" t="t" r="r" b="b"/>
            <a:pathLst>
              <a:path w="38100" h="723900">
                <a:moveTo>
                  <a:pt x="38100" y="0"/>
                </a:moveTo>
                <a:lnTo>
                  <a:pt x="38100" y="0"/>
                </a:lnTo>
                <a:lnTo>
                  <a:pt x="38100" y="723900"/>
                </a:lnTo>
                <a:lnTo>
                  <a:pt x="38100" y="723900"/>
                </a:lnTo>
                <a:cubicBezTo>
                  <a:pt x="17072" y="723900"/>
                  <a:pt x="0" y="706828"/>
                  <a:pt x="0" y="685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90A4"/>
          </a:solidFill>
          <a:ln/>
        </p:spPr>
      </p:sp>
      <p:sp>
        <p:nvSpPr>
          <p:cNvPr id="41" name="Text 39"/>
          <p:cNvSpPr/>
          <p:nvPr/>
        </p:nvSpPr>
        <p:spPr>
          <a:xfrm>
            <a:off x="800100" y="8534400"/>
            <a:ext cx="10553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[9] AI-Enhanced Metals Hedging Strategies: Risk Management for the Indian Market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00100" y="8763000"/>
            <a:ext cx="10553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IEEE, 2026. AI-based hedging methods for portfolio volatility reduction.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28650" y="9258300"/>
            <a:ext cx="10810875" cy="723900"/>
          </a:xfrm>
          <a:custGeom>
            <a:avLst/>
            <a:gdLst/>
            <a:ahLst/>
            <a:cxnLst/>
            <a:rect l="l" t="t" r="r" b="b"/>
            <a:pathLst>
              <a:path w="10810875" h="723900">
                <a:moveTo>
                  <a:pt x="38100" y="0"/>
                </a:moveTo>
                <a:lnTo>
                  <a:pt x="10734677" y="0"/>
                </a:lnTo>
                <a:cubicBezTo>
                  <a:pt x="10776732" y="0"/>
                  <a:pt x="10810875" y="34143"/>
                  <a:pt x="10810875" y="76198"/>
                </a:cubicBezTo>
                <a:lnTo>
                  <a:pt x="10810875" y="647702"/>
                </a:lnTo>
                <a:cubicBezTo>
                  <a:pt x="10810875" y="689757"/>
                  <a:pt x="10776732" y="723900"/>
                  <a:pt x="10734677" y="723900"/>
                </a:cubicBezTo>
                <a:lnTo>
                  <a:pt x="38100" y="723900"/>
                </a:lnTo>
                <a:cubicBezTo>
                  <a:pt x="17072" y="723900"/>
                  <a:pt x="0" y="706828"/>
                  <a:pt x="0" y="685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E3A5F">
              <a:alpha val="5098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28650" y="9258300"/>
            <a:ext cx="38100" cy="723900"/>
          </a:xfrm>
          <a:custGeom>
            <a:avLst/>
            <a:gdLst/>
            <a:ahLst/>
            <a:cxnLst/>
            <a:rect l="l" t="t" r="r" b="b"/>
            <a:pathLst>
              <a:path w="38100" h="723900">
                <a:moveTo>
                  <a:pt x="38100" y="0"/>
                </a:moveTo>
                <a:lnTo>
                  <a:pt x="38100" y="0"/>
                </a:lnTo>
                <a:lnTo>
                  <a:pt x="38100" y="723900"/>
                </a:lnTo>
                <a:lnTo>
                  <a:pt x="38100" y="723900"/>
                </a:lnTo>
                <a:cubicBezTo>
                  <a:pt x="17072" y="723900"/>
                  <a:pt x="0" y="706828"/>
                  <a:pt x="0" y="685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E3A5F"/>
          </a:solidFill>
          <a:ln/>
        </p:spPr>
      </p:sp>
      <p:sp>
        <p:nvSpPr>
          <p:cNvPr id="45" name="Text 43"/>
          <p:cNvSpPr/>
          <p:nvPr/>
        </p:nvSpPr>
        <p:spPr>
          <a:xfrm>
            <a:off x="800100" y="9410700"/>
            <a:ext cx="10553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[10] Multi-objective Genetic Programming-based Algorithmic Trading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00100" y="9639300"/>
            <a:ext cx="10553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Springer, 2026. MOO algorithms with directional changes and modified Sharpe ratio.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ages.presentationgo.com/158960f170bc5439a79da6ff92dc776529c3d4ff.jpg"/>
          <p:cNvPicPr>
            <a:picLocks noChangeAspect="1"/>
          </p:cNvPicPr>
          <p:nvPr/>
        </p:nvPicPr>
        <p:blipFill>
          <a:blip r:embed="rId3">
            <a:alphaModFix amt="20000"/>
          </a:blip>
          <a:srcRect l="195" r="195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4" name="Shape 1"/>
          <p:cNvSpPr/>
          <p:nvPr/>
        </p:nvSpPr>
        <p:spPr>
          <a:xfrm>
            <a:off x="5395726" y="2146396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457200" y="0"/>
                </a:moveTo>
                <a:lnTo>
                  <a:pt x="457200" y="0"/>
                </a:lnTo>
                <a:cubicBezTo>
                  <a:pt x="709536" y="0"/>
                  <a:pt x="914400" y="204864"/>
                  <a:pt x="914400" y="457200"/>
                </a:cubicBezTo>
                <a:lnTo>
                  <a:pt x="914400" y="457200"/>
                </a:lnTo>
                <a:cubicBezTo>
                  <a:pt x="914400" y="709536"/>
                  <a:pt x="709536" y="914400"/>
                  <a:pt x="457200" y="914400"/>
                </a:cubicBezTo>
                <a:lnTo>
                  <a:pt x="457200" y="914400"/>
                </a:lnTo>
                <a:cubicBezTo>
                  <a:pt x="204864" y="914400"/>
                  <a:pt x="0" y="709536"/>
                  <a:pt x="0" y="457200"/>
                </a:cubicBezTo>
                <a:lnTo>
                  <a:pt x="0" y="457200"/>
                </a:lnTo>
                <a:cubicBezTo>
                  <a:pt x="0" y="204864"/>
                  <a:pt x="204864" y="0"/>
                  <a:pt x="457200" y="0"/>
                </a:cubicBez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5" name="Shape 2"/>
          <p:cNvSpPr/>
          <p:nvPr/>
        </p:nvSpPr>
        <p:spPr>
          <a:xfrm>
            <a:off x="5624326" y="244167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cubicBezTo>
                  <a:pt x="232708" y="0"/>
                  <a:pt x="236815" y="893"/>
                  <a:pt x="240566" y="2590"/>
                </a:cubicBezTo>
                <a:lnTo>
                  <a:pt x="408801" y="73938"/>
                </a:lnTo>
                <a:cubicBezTo>
                  <a:pt x="428446" y="82242"/>
                  <a:pt x="443091" y="101620"/>
                  <a:pt x="443002" y="125016"/>
                </a:cubicBezTo>
                <a:cubicBezTo>
                  <a:pt x="442555" y="213598"/>
                  <a:pt x="406122" y="375672"/>
                  <a:pt x="252264" y="449342"/>
                </a:cubicBezTo>
                <a:cubicBezTo>
                  <a:pt x="237351" y="456486"/>
                  <a:pt x="220028" y="456486"/>
                  <a:pt x="205115" y="449342"/>
                </a:cubicBezTo>
                <a:cubicBezTo>
                  <a:pt x="51167" y="375672"/>
                  <a:pt x="14823" y="213598"/>
                  <a:pt x="14377" y="125016"/>
                </a:cubicBezTo>
                <a:cubicBezTo>
                  <a:pt x="14287" y="101620"/>
                  <a:pt x="28932" y="82242"/>
                  <a:pt x="48577" y="73938"/>
                </a:cubicBezTo>
                <a:lnTo>
                  <a:pt x="216724" y="2590"/>
                </a:lnTo>
                <a:cubicBezTo>
                  <a:pt x="220474" y="893"/>
                  <a:pt x="224492" y="0"/>
                  <a:pt x="228600" y="0"/>
                </a:cubicBezTo>
                <a:close/>
                <a:moveTo>
                  <a:pt x="228600" y="59650"/>
                </a:moveTo>
                <a:lnTo>
                  <a:pt x="228600" y="397282"/>
                </a:lnTo>
                <a:cubicBezTo>
                  <a:pt x="351830" y="337631"/>
                  <a:pt x="384959" y="205472"/>
                  <a:pt x="385763" y="126355"/>
                </a:cubicBezTo>
                <a:lnTo>
                  <a:pt x="228600" y="59740"/>
                </a:lnTo>
                <a:lnTo>
                  <a:pt x="228600" y="59740"/>
                </a:lnTo>
                <a:close/>
              </a:path>
            </a:pathLst>
          </a:custGeom>
          <a:solidFill>
            <a:srgbClr val="F5F1EB"/>
          </a:solidFill>
          <a:ln/>
        </p:spPr>
      </p:sp>
      <p:sp>
        <p:nvSpPr>
          <p:cNvPr id="6" name="Text 3"/>
          <p:cNvSpPr/>
          <p:nvPr/>
        </p:nvSpPr>
        <p:spPr>
          <a:xfrm>
            <a:off x="4421112" y="3429000"/>
            <a:ext cx="29337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500" b="1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92562" y="4358654"/>
            <a:ext cx="2762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F5F1E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970020" y="3867150"/>
            <a:ext cx="2057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3898583" y="5589277"/>
            <a:ext cx="4391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5F1EB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QuantShield: Financial Portfolio Optimization and Risk Forecasting System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3903345" y="5817877"/>
            <a:ext cx="4381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F5F1EB">
                    <a:alpha val="4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© 2026 Alpha College of Engineering. All rights reserved.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3927</Words>
  <Application>Microsoft Office PowerPoint</Application>
  <PresentationFormat>Widescreen</PresentationFormat>
  <Paragraphs>924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3" baseType="lpstr">
      <vt:lpstr>Quattrocento Sans</vt:lpstr>
      <vt:lpstr>微软雅黑</vt:lpstr>
      <vt:lpstr>MiSans</vt:lpstr>
      <vt:lpstr>Liter</vt:lpstr>
      <vt:lpstr>Times New Roman</vt:lpstr>
      <vt:lpstr>Sorts Mill Goudy</vt:lpstr>
      <vt:lpstr>Arial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QuantShield: Financial Portfolio Optimization and Risk Forecasting System</dc:title>
  <dc:subject>QuantShield: Financial Portfolio Optimization and Risk Forecasting System</dc:subject>
  <dc:creator>Kimi</dc:creator>
  <cp:lastModifiedBy>sureshraj</cp:lastModifiedBy>
  <cp:revision>2</cp:revision>
  <dcterms:created xsi:type="dcterms:W3CDTF">2026-03-22T19:37:04Z</dcterms:created>
  <dcterms:modified xsi:type="dcterms:W3CDTF">2026-03-22T21:24:17Z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{"Label":"QuantShield: Financial Portfolio Optimization and Risk Forecasting System","ContentProducer":"001191110108MACG2KBH8F10000","ProduceID":"19d15a44-1652-8fc4-8000-0000bb3f2119","ReservedCode1":"","ContentPropagator":"001191110108MACG2KBH8F20000","PropagateID":"19d15a44-1652-8fc4-8000-0000bb3f2119","ReservedCode2":""}</vt:lpwstr>
  </property>
</Properties>
</file>