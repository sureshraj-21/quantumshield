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5474" r:id="rId1"/>
  </p:sldMasterIdLst>
  <p:notesMasterIdLst>
    <p:notesMasterId r:id="rId28"/>
  </p:notesMasterIdLst>
  <p:sldIdLst>
    <p:sldId id="256" r:id="rId2"/>
    <p:sldId id="374" r:id="rId3"/>
    <p:sldId id="280" r:id="rId4"/>
    <p:sldId id="350" r:id="rId5"/>
    <p:sldId id="414" r:id="rId6"/>
    <p:sldId id="413" r:id="rId7"/>
    <p:sldId id="400" r:id="rId8"/>
    <p:sldId id="467" r:id="rId9"/>
    <p:sldId id="479" r:id="rId10"/>
    <p:sldId id="464" r:id="rId11"/>
    <p:sldId id="469" r:id="rId12"/>
    <p:sldId id="480" r:id="rId13"/>
    <p:sldId id="460" r:id="rId14"/>
    <p:sldId id="465" r:id="rId15"/>
    <p:sldId id="461" r:id="rId16"/>
    <p:sldId id="471" r:id="rId17"/>
    <p:sldId id="481" r:id="rId18"/>
    <p:sldId id="470" r:id="rId19"/>
    <p:sldId id="462" r:id="rId20"/>
    <p:sldId id="466" r:id="rId21"/>
    <p:sldId id="477" r:id="rId22"/>
    <p:sldId id="478" r:id="rId23"/>
    <p:sldId id="476" r:id="rId24"/>
    <p:sldId id="482" r:id="rId25"/>
    <p:sldId id="287" r:id="rId26"/>
    <p:sldId id="289" r:id="rId2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  <p15:guide id="3" pos="3931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9900"/>
    <a:srgbClr val="FF006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318" autoAdjust="0"/>
    <p:restoredTop sz="73562" autoAdjust="0"/>
  </p:normalViewPr>
  <p:slideViewPr>
    <p:cSldViewPr>
      <p:cViewPr varScale="1">
        <p:scale>
          <a:sx n="82" d="100"/>
          <a:sy n="82" d="100"/>
        </p:scale>
        <p:origin x="658" y="96"/>
      </p:cViewPr>
      <p:guideLst>
        <p:guide orient="horz" pos="2160"/>
        <p:guide pos="3840"/>
        <p:guide pos="3931"/>
      </p:guideLst>
    </p:cSldViewPr>
  </p:slideViewPr>
  <p:outlineViewPr>
    <p:cViewPr>
      <p:scale>
        <a:sx n="33" d="100"/>
        <a:sy n="33" d="100"/>
      </p:scale>
      <p:origin x="0" y="888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>
              <a:defRPr/>
            </a:pPr>
            <a:fld id="{46D3E42B-74D2-4FA6-BEF8-77597D7CDFF3}" type="datetimeFigureOut">
              <a:rPr lang="en-US"/>
              <a:pPr>
                <a:defRPr/>
              </a:pPr>
              <a:t>3/23/2026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US" noProof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>
              <a:defRPr/>
            </a:pPr>
            <a:fld id="{9FE9ADFD-8699-4C91-B224-D518C6FAF8C8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986" name="Slide Image Placeholder 1"/>
          <p:cNvSpPr>
            <a:spLocks noGrp="1" noRot="1" noChangeAspect="1" noTextEdi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41987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41988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 wrap="square" numCol="1" anchorCtr="0" compatLnSpc="1">
            <a:prstTxWarp prst="textNoShape">
              <a:avLst/>
            </a:prstTxWarp>
          </a:bodyPr>
          <a:lstStyle/>
          <a:p>
            <a:fld id="{7C110499-4C04-4CA3-994C-0E339EBE0FE2}" type="slidenum">
              <a:rPr lang="en-US" smtClean="0"/>
              <a:pPr/>
              <a:t>1</a:t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B877F1-585B-A965-CB8E-14F0D502497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2376E38-CB13-5100-E446-15B08EECE85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66CF4DA-6B28-7035-047C-00D262C10A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806D0AB1-9544-441B-AF13-0B5FB481C713}" type="datetime1">
              <a:rPr lang="en-US" smtClean="0"/>
              <a:pPr>
                <a:defRPr/>
              </a:pPr>
              <a:t>3/23/2026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F230B41-189E-ED87-8607-DC06F92510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0DB38BE-4BF1-0B1B-30DB-4DA196B1C2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D6AEFE58-A3A6-44F0-96D4-CF821268F24A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013462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FB7314-08E9-6010-D6DF-71C189442B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236F895-4434-6644-D47F-31C7AC4F182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3DCDD22-72A9-9851-AE6A-DC3C3F4237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3144B369-27EA-4C2D-9540-DC72314171BE}" type="datetime1">
              <a:rPr lang="en-US" smtClean="0"/>
              <a:pPr>
                <a:defRPr/>
              </a:pPr>
              <a:t>3/23/2026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25D384A-547D-B8B8-A575-68E938EBBD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5D43122-A653-52B6-1993-EB6B7BB6CA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561DEE20-C919-4C9D-873F-4C18D1E8D478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1993304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D0517F-BB8F-3A92-CC06-10B7A30CB8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9335219-EDA6-727B-7C51-7AB34EA011E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A9623B6-FDCC-9032-09F1-0826FF950A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637D2788-B0F3-4F61-8E12-7BE2E85436BF}" type="datetime1">
              <a:rPr lang="en-US" smtClean="0"/>
              <a:pPr>
                <a:defRPr/>
              </a:pPr>
              <a:t>3/23/2026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3622A3D-7F84-B958-CA4A-D70AAAF34B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CC3B497-B911-C850-1F78-B504787E7D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035E4D9-D563-4FA8-8F4C-9DCBE217E3D5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980358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989ED0-03D5-0615-38E4-3157FAC3F8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0A9DAA3-E2CB-692E-BA66-A9F2C6179A1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A9C7CE8-245F-1C63-3ECF-4A79258884F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ABF2C2F-62CC-B924-EA4E-29502D002D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8B13D443-80C8-4183-87A5-A994F452EFDF}" type="datetime1">
              <a:rPr lang="en-US" smtClean="0"/>
              <a:pPr>
                <a:defRPr/>
              </a:pPr>
              <a:t>3/23/2026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B9CE3BE-FB64-69F3-EA45-67C6C5E5B3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E84A8E0-4F65-3BC9-1754-37A4FAD054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1EA71F1A-D1EC-4092-91BE-B6153D613F65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8336322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3508F3-9C8A-AEF5-DC51-E9BA2EABDE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9993092-703B-3F71-6369-83D5788D3F2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026C1DB-24AF-BE72-0AC0-59530900568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72B3434-F395-9D8B-52CF-521BA3F46AA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D9EDD36-6D27-88B5-809D-C5AC5704C77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FCE6CB4-0DEE-D87B-465A-97CD40A96C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E9EDCBF6-791A-4306-A1DE-5732D4609A30}" type="datetime1">
              <a:rPr lang="en-US" smtClean="0"/>
              <a:pPr>
                <a:defRPr/>
              </a:pPr>
              <a:t>3/23/2026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27A7164-52C4-F285-187F-FCAF823CD2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9252A0B-C4BC-6F04-DB8C-C79511CB2F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6F3C0804-EF0A-42CB-BF60-CC56E5CFE1E4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1553839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5016F4-CEDF-A6C0-12A4-5327E069F3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1B4C579-E025-A23A-DFED-8D3B292D42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C4561698-6F33-42F4-BC5B-3A779EA6A9EE}" type="datetime1">
              <a:rPr lang="en-US" smtClean="0"/>
              <a:pPr>
                <a:defRPr/>
              </a:pPr>
              <a:t>3/23/2026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926588E-DFCF-80FB-1C5C-B1E79291C2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CC32036-28CC-7284-9E06-76889FD360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4BE296BD-05C4-4A05-A2A2-F2B166B1246F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117769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19ED1FF-77D5-0D8C-9D9B-C1C8FE3405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47C04162-C17F-4146-87FE-B6ED3503DA1F}" type="datetime1">
              <a:rPr lang="en-US" smtClean="0"/>
              <a:pPr>
                <a:defRPr/>
              </a:pPr>
              <a:t>3/23/2026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5DF9D53-7741-61D4-9538-E96DE699EB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8ED78D4-8AE8-8DA2-FC01-9D02C23DD0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E0A6F4E7-D08D-4417-9BC2-53B4F02D7AC4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0446736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1F71A2-2CA6-5597-68CB-36FA263D43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49905F-4C28-1EC7-A40F-8221FE037C7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73E2894-393B-4766-AEE6-844DCA3CE09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1FD0649-5356-34DA-6510-CDEDFCEE3B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9556B1C7-6F91-4F11-95C5-B04C5365C76D}" type="datetime1">
              <a:rPr lang="en-US" smtClean="0"/>
              <a:pPr>
                <a:defRPr/>
              </a:pPr>
              <a:t>3/23/2026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B2FDB9E-D45E-1363-A3C1-6AA807E33C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5148EAE-FD4D-E475-4E01-2A733661E0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5B05DD41-8909-40E7-883F-06A0BD9F0005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747889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EA309E-ACAB-A491-4608-48316500DA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6575809-B537-32F5-CBCA-9F43DA78FA3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C2B34B4-3C31-748B-CA18-5502D0B9269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EAAF9D2-2F6B-31F2-2240-77790E98ED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BB30EA55-A808-4F00-A7B4-C0CEE335BE79}" type="datetime1">
              <a:rPr lang="en-US" smtClean="0"/>
              <a:pPr>
                <a:defRPr/>
              </a:pPr>
              <a:t>3/23/2026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1B96A1E-535D-6D3C-6856-9F7FF341F6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4849A0D-011F-DBDD-8BBC-6B053B8384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B70BB344-1952-43B8-B15D-C974FC74F5D8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455710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AA3538-A92F-5618-C5D1-9074BA6D6A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66A6646-969E-42F9-48AA-3CCF826741D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515F7FE-7B9F-3D34-70AE-AD43D8BA9F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A55A87A7-6849-4249-B79C-1BD1D0196E78}" type="datetime1">
              <a:rPr lang="en-US" smtClean="0"/>
              <a:pPr>
                <a:defRPr/>
              </a:pPr>
              <a:t>3/23/2026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2A443C2-C546-FFCA-5F68-33E668132F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20DBAEE-3F16-D9D8-C1F8-EC3FB22257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B51EA288-B396-4957-83CB-BF8B8660C220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478353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79A9869-B247-19AF-82EB-EFCAB8E7F70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B7DA2E2-88B0-E11D-45DD-8FB6DD84FC8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F98AB73-6CC1-33C4-BABF-5080FCA204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4EED5124-8C00-49A7-A0FD-4AF29ECE5475}" type="datetime1">
              <a:rPr lang="en-US" smtClean="0"/>
              <a:pPr>
                <a:defRPr/>
              </a:pPr>
              <a:t>3/23/2026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88F9829-C214-E6E1-74C7-51FBA18264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E856680-53D8-786E-6529-4C5988E737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099A9600-3D9E-4BEC-817B-5CF5A34B7647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3897253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7EC84F3-548C-5438-A263-17BC6800FB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433500F-40C3-E4BC-090C-F87E57063C7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373B9EE-C9E6-52D0-C000-8928EC89F77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pPr>
              <a:defRPr/>
            </a:pPr>
            <a:fld id="{FDCF93A9-0F85-40B9-8710-C102AA934F6E}" type="datetime1">
              <a:rPr lang="en-US" smtClean="0"/>
              <a:pPr>
                <a:defRPr/>
              </a:pPr>
              <a:t>3/23/2026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943B91E-D9A7-D043-DF08-D0D16D37FCC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3F221D1-5ECC-FD7E-3FE6-B1413742F73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pPr>
              <a:defRPr/>
            </a:pPr>
            <a:fld id="{475A5770-E2C5-47D6-BB9A-6EBA4E104712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638795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5475" r:id="rId1"/>
    <p:sldLayoutId id="2147485476" r:id="rId2"/>
    <p:sldLayoutId id="2147485477" r:id="rId3"/>
    <p:sldLayoutId id="2147485478" r:id="rId4"/>
    <p:sldLayoutId id="2147485479" r:id="rId5"/>
    <p:sldLayoutId id="2147485480" r:id="rId6"/>
    <p:sldLayoutId id="2147485481" r:id="rId7"/>
    <p:sldLayoutId id="2147485482" r:id="rId8"/>
    <p:sldLayoutId id="2147485483" r:id="rId9"/>
    <p:sldLayoutId id="2147485484" r:id="rId10"/>
    <p:sldLayoutId id="2147485485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4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rtlCol="0">
            <a:normAutofit fontScale="90000"/>
          </a:bodyPr>
          <a:lstStyle/>
          <a:p>
            <a:pPr algn="ctr" eaLnBrk="1" fontAlgn="auto" hangingPunct="1">
              <a:lnSpc>
                <a:spcPct val="150000"/>
              </a:lnSpc>
              <a:spcAft>
                <a:spcPts val="0"/>
              </a:spcAft>
              <a:defRPr/>
            </a:pPr>
            <a:br>
              <a:rPr lang="en-US" sz="2700" b="1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br>
              <a:rPr lang="en-US" sz="2700" b="1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endParaRPr lang="en-US" sz="2700" b="1" dirty="0">
              <a:solidFill>
                <a:srgbClr val="0070C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9B8F7658-CF00-B17A-1B34-0E582CF65FA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51384" y="4683949"/>
            <a:ext cx="4955776" cy="2062503"/>
          </a:xfrm>
        </p:spPr>
        <p:txBody>
          <a:bodyPr>
            <a:normAutofit fontScale="55000" lnSpcReduction="20000"/>
          </a:bodyPr>
          <a:lstStyle/>
          <a:p>
            <a:pPr marL="0" indent="0">
              <a:buNone/>
            </a:pPr>
            <a:r>
              <a:rPr lang="en-US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Project supervisor,</a:t>
            </a:r>
          </a:p>
          <a:p>
            <a:pPr marL="0" indent="0">
              <a:buNone/>
            </a:pPr>
            <a:r>
              <a:rPr lang="en-US" sz="29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Ms.A.Deepa</a:t>
            </a:r>
            <a:endParaRPr lang="en-US" sz="29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endParaRPr lang="en-US" sz="29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r>
              <a:rPr lang="en-US" sz="3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Assistant Professor,</a:t>
            </a:r>
          </a:p>
          <a:p>
            <a:pPr marL="0" indent="0">
              <a:buNone/>
            </a:pPr>
            <a:r>
              <a:rPr lang="en-US" sz="3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Department of</a:t>
            </a:r>
          </a:p>
          <a:p>
            <a:pPr marL="0" indent="0">
              <a:buNone/>
            </a:pPr>
            <a:r>
              <a:rPr lang="en-IN" sz="3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Alpha college of engineering</a:t>
            </a:r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56C1231E-073A-3542-8E8E-66249714C23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7232848" y="4658971"/>
            <a:ext cx="4377410" cy="2062504"/>
          </a:xfrm>
        </p:spPr>
        <p:txBody>
          <a:bodyPr>
            <a:normAutofit fontScale="55000" lnSpcReduction="20000"/>
          </a:bodyPr>
          <a:lstStyle/>
          <a:p>
            <a:pPr marL="0" indent="0">
              <a:buNone/>
            </a:pPr>
            <a:r>
              <a:rPr lang="en-US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Student Name and Register Number</a:t>
            </a:r>
            <a:r>
              <a:rPr lang="en-US" dirty="0"/>
              <a:t>,</a:t>
            </a:r>
          </a:p>
          <a:p>
            <a:pPr marL="0" indent="0">
              <a:buNone/>
            </a:pP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1.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Sureshraj J – (210122104901)</a:t>
            </a:r>
          </a:p>
          <a:p>
            <a:pPr marL="0" indent="0">
              <a:buNone/>
            </a:pP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2.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Adithya Yadav  R – (210122104002)</a:t>
            </a:r>
          </a:p>
          <a:p>
            <a:pPr marL="0" indent="0">
              <a:buNone/>
            </a:pP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3.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Hariharan – (210122104902)</a:t>
            </a:r>
          </a:p>
          <a:p>
            <a:pPr marL="0" indent="0">
              <a:buNone/>
            </a:pPr>
            <a:r>
              <a:rPr lang="en-US" sz="33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Department of Computer science and Engineering</a:t>
            </a:r>
          </a:p>
          <a:p>
            <a:pPr marL="0" indent="0">
              <a:buNone/>
            </a:pPr>
            <a:r>
              <a:rPr lang="en-IN" sz="33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Alpha college of engineering</a:t>
            </a:r>
          </a:p>
          <a:p>
            <a:pPr marL="0" indent="0">
              <a:buNone/>
            </a:pPr>
            <a:endParaRPr lang="en-IN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3A3DCE3C-4340-4758-88C7-48F10387E72A}" type="slidenum">
              <a:rPr lang="en-US"/>
              <a:pPr>
                <a:defRPr/>
              </a:pPr>
              <a:t>1</a:t>
            </a:fld>
            <a:endParaRPr lang="en-US" dirty="0"/>
          </a:p>
        </p:txBody>
      </p:sp>
      <p:pic>
        <p:nvPicPr>
          <p:cNvPr id="1028" name="Picture 4" descr="Alpha College of Engineering - Wikipedia">
            <a:extLst>
              <a:ext uri="{FF2B5EF4-FFF2-40B4-BE49-F238E27FC236}">
                <a16:creationId xmlns:a16="http://schemas.microsoft.com/office/drawing/2014/main" id="{672C8839-4DBA-FAEA-2FFD-771CAE82F19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9976" y="476672"/>
            <a:ext cx="1535486" cy="155930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DB396878-BED1-AD61-94F7-80CA117C2AC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20213389"/>
              </p:ext>
            </p:extLst>
          </p:nvPr>
        </p:nvGraphicFramePr>
        <p:xfrm>
          <a:off x="2150638" y="476672"/>
          <a:ext cx="9581386" cy="1559308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9581386">
                  <a:extLst>
                    <a:ext uri="{9D8B030D-6E8A-4147-A177-3AD203B41FA5}">
                      <a16:colId xmlns:a16="http://schemas.microsoft.com/office/drawing/2014/main" val="2363940955"/>
                    </a:ext>
                  </a:extLst>
                </a:gridCol>
              </a:tblGrid>
              <a:tr h="1559308">
                <a:tc>
                  <a:txBody>
                    <a:bodyPr/>
                    <a:lstStyle/>
                    <a:p>
                      <a:pPr algn="ctr"/>
                      <a:r>
                        <a:rPr lang="en-GB" sz="4000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ALPHA COLLEGE OF ENGINEERING</a:t>
                      </a:r>
                    </a:p>
                    <a:p>
                      <a:pPr algn="ctr"/>
                      <a:r>
                        <a:rPr lang="en-GB" sz="1400" b="1" i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34, </a:t>
                      </a:r>
                      <a:r>
                        <a:rPr lang="en-GB" sz="1400" b="1" i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Udayavar</a:t>
                      </a:r>
                      <a:r>
                        <a:rPr lang="en-GB" sz="1400" b="1" i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, </a:t>
                      </a:r>
                      <a:r>
                        <a:rPr lang="en-GB" sz="1400" b="1" i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Thirumazhisai</a:t>
                      </a:r>
                      <a:r>
                        <a:rPr lang="en-GB" sz="1400" b="1" i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, Koil St, </a:t>
                      </a:r>
                      <a:r>
                        <a:rPr lang="en-GB" sz="1400" b="1" i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Poonamallee</a:t>
                      </a:r>
                      <a:r>
                        <a:rPr lang="en-GB" sz="1400" b="1" i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, Chennai, Tamil Nadu 600124</a:t>
                      </a:r>
                    </a:p>
                    <a:p>
                      <a:pPr algn="ctr"/>
                      <a:endParaRPr lang="en-GB" sz="1400" b="1" i="0" kern="12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+mn-ea"/>
                        <a:cs typeface="Times New Roman" panose="02020603050405020304" pitchFamily="18" charset="0"/>
                      </a:endParaRPr>
                    </a:p>
                    <a:p>
                      <a:pPr algn="ctr"/>
                      <a:r>
                        <a:rPr lang="en-GB" sz="1400" b="1" i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(Approved by AICTE and Affiliated to Anna University) </a:t>
                      </a:r>
                      <a:endParaRPr lang="en-GB" sz="1400" b="1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52209701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F27DE3A8-9371-5631-CB38-8B76190F4F63}"/>
              </a:ext>
            </a:extLst>
          </p:cNvPr>
          <p:cNvSpPr txBox="1"/>
          <p:nvPr/>
        </p:nvSpPr>
        <p:spPr>
          <a:xfrm>
            <a:off x="2150638" y="2048150"/>
            <a:ext cx="7632848" cy="243143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Project Title </a:t>
            </a:r>
          </a:p>
          <a:p>
            <a:pPr algn="ctr"/>
            <a:endParaRPr lang="en-GB" sz="12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r>
              <a:rPr lang="en-GB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AI BASED COMPLETE FINACIAL PORTFOLIO OPTIMIZER &amp; RISK FORECASTER</a:t>
            </a:r>
          </a:p>
          <a:p>
            <a:pPr algn="ctr"/>
            <a:endParaRPr lang="en-GB" sz="12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r>
              <a:rPr lang="en-GB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Review No: 02</a:t>
            </a:r>
          </a:p>
          <a:p>
            <a:pPr algn="ctr"/>
            <a:r>
              <a:rPr lang="en-GB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Date : 24/02/2026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4" name="Title 1"/>
          <p:cNvSpPr>
            <a:spLocks noGrp="1"/>
          </p:cNvSpPr>
          <p:nvPr>
            <p:ph type="title"/>
          </p:nvPr>
        </p:nvSpPr>
        <p:spPr>
          <a:xfrm>
            <a:off x="533400" y="457200"/>
            <a:ext cx="8229600" cy="457200"/>
          </a:xfrm>
        </p:spPr>
        <p:txBody>
          <a:bodyPr>
            <a:noAutofit/>
          </a:bodyPr>
          <a:lstStyle/>
          <a:p>
            <a:pPr eaLnBrk="1" fontAlgn="auto" hangingPunct="1">
              <a:spcAft>
                <a:spcPts val="0"/>
              </a:spcAft>
              <a:defRPr/>
            </a:pPr>
            <a:r>
              <a:rPr lang="en-US" sz="3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Introduction</a:t>
            </a:r>
          </a:p>
        </p:txBody>
      </p:sp>
      <p:sp>
        <p:nvSpPr>
          <p:cNvPr id="8195" name="Content Placeholder 2"/>
          <p:cNvSpPr>
            <a:spLocks noGrp="1"/>
          </p:cNvSpPr>
          <p:nvPr>
            <p:ph idx="1"/>
          </p:nvPr>
        </p:nvSpPr>
        <p:spPr>
          <a:xfrm>
            <a:off x="533400" y="1143000"/>
            <a:ext cx="11277600" cy="4800600"/>
          </a:xfrm>
        </p:spPr>
        <p:txBody>
          <a:bodyPr/>
          <a:lstStyle/>
          <a:p>
            <a:pPr marL="274320" indent="-274320" algn="just" eaLnBrk="1" fontAlgn="auto" hangingPunct="1">
              <a:spcBef>
                <a:spcPct val="0"/>
              </a:spcBef>
              <a:spcAft>
                <a:spcPts val="0"/>
              </a:spcAft>
              <a:buClr>
                <a:schemeClr val="tx1"/>
              </a:buClr>
              <a:buFont typeface="Wingdings 2"/>
              <a:buChar char=""/>
              <a:defRPr/>
            </a:pPr>
            <a:endParaRPr lang="en-US" sz="1400" dirty="0">
              <a:latin typeface="Bookman Old Style" pitchFamily="18" charset="0"/>
              <a:cs typeface="Times New Roman" pitchFamily="18" charset="0"/>
            </a:endParaRPr>
          </a:p>
          <a:p>
            <a:pPr algn="just" eaLnBrk="1" hangingPunct="1"/>
            <a:endParaRPr lang="en-US" sz="16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>
            <a:normAutofit/>
          </a:bodyPr>
          <a:lstStyle/>
          <a:p>
            <a:pPr>
              <a:defRPr/>
            </a:pPr>
            <a:fld id="{887AB597-56E8-40F6-8086-7A8C01F650F4}" type="slidenum">
              <a:rPr lang="en-US"/>
              <a:pPr>
                <a:defRPr/>
              </a:pPr>
              <a:t>2</a:t>
            </a:fld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7E9189F-4FB8-8FF2-F261-21F6CC090723}"/>
              </a:ext>
            </a:extLst>
          </p:cNvPr>
          <p:cNvSpPr txBox="1"/>
          <p:nvPr/>
        </p:nvSpPr>
        <p:spPr>
          <a:xfrm>
            <a:off x="839416" y="1268760"/>
            <a:ext cx="8306916" cy="39703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stock market is highly volatile and influenced by economic, political, and financial factors.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Investors often face challenges in selecting optimal stocks and managing risk effectively.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Traditional investment approaches rely on manual analysis and static allocation strategies, which fail to adapt to real-time market conditions.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 overcome these limitations, an AI-Based Portfolio Optimization and Risk Forecasting System is developed.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system integrates historical prediction with real-time market data to provide intelligent investment decision support.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Title 1"/>
          <p:cNvSpPr>
            <a:spLocks noGrp="1"/>
          </p:cNvSpPr>
          <p:nvPr>
            <p:ph type="title"/>
          </p:nvPr>
        </p:nvSpPr>
        <p:spPr>
          <a:xfrm>
            <a:off x="457200" y="448540"/>
            <a:ext cx="8229600" cy="457200"/>
          </a:xfrm>
        </p:spPr>
        <p:txBody>
          <a:bodyPr>
            <a:normAutofit fontScale="90000"/>
          </a:bodyPr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Abstract</a:t>
            </a:r>
          </a:p>
        </p:txBody>
      </p:sp>
      <p:sp>
        <p:nvSpPr>
          <p:cNvPr id="6147" name="Content Placeholder 2"/>
          <p:cNvSpPr>
            <a:spLocks noGrp="1"/>
          </p:cNvSpPr>
          <p:nvPr>
            <p:ph idx="1"/>
          </p:nvPr>
        </p:nvSpPr>
        <p:spPr>
          <a:xfrm>
            <a:off x="457200" y="1066800"/>
            <a:ext cx="11277600" cy="4648200"/>
          </a:xfrm>
        </p:spPr>
        <p:txBody>
          <a:bodyPr>
            <a:normAutofit/>
          </a:bodyPr>
          <a:lstStyle/>
          <a:p>
            <a:pPr marL="274320" indent="-274320" algn="just" eaLnBrk="1" fontAlgn="auto" hangingPunct="1">
              <a:spcBef>
                <a:spcPct val="0"/>
              </a:spcBef>
              <a:spcAft>
                <a:spcPts val="0"/>
              </a:spcAft>
              <a:buClrTx/>
              <a:buFont typeface="Wingdings 2"/>
              <a:buChar char=""/>
              <a:defRPr/>
            </a:pPr>
            <a:endParaRPr lang="en-US" sz="1400" dirty="0">
              <a:latin typeface="Bookman Old Style" pitchFamily="18" charset="0"/>
              <a:cs typeface="Times New Roman" pitchFamily="18" charset="0"/>
            </a:endParaRPr>
          </a:p>
          <a:p>
            <a:pPr marL="274320" indent="-274320" algn="just" eaLnBrk="1" fontAlgn="auto" hangingPunct="1">
              <a:spcBef>
                <a:spcPct val="0"/>
              </a:spcBef>
              <a:spcAft>
                <a:spcPts val="0"/>
              </a:spcAft>
              <a:buClrTx/>
              <a:buFont typeface="Wingdings 2"/>
              <a:buChar char=""/>
              <a:defRPr/>
            </a:pPr>
            <a:endParaRPr lang="en-US" sz="1600" dirty="0">
              <a:cs typeface="Times New Roman" pitchFamily="18" charset="0"/>
            </a:endParaRPr>
          </a:p>
          <a:p>
            <a:pPr marL="274320" indent="-274320" algn="just" eaLnBrk="1" fontAlgn="auto" hangingPunct="1">
              <a:spcBef>
                <a:spcPct val="0"/>
              </a:spcBef>
              <a:spcAft>
                <a:spcPts val="0"/>
              </a:spcAft>
              <a:buClrTx/>
              <a:buFont typeface="Wingdings 2"/>
              <a:buChar char=""/>
              <a:defRPr/>
            </a:pPr>
            <a:endParaRPr lang="en-US" sz="1600" dirty="0">
              <a:cs typeface="Times New Roman" pitchFamily="18" charset="0"/>
            </a:endParaRPr>
          </a:p>
          <a:p>
            <a:pPr marL="274320" indent="-274320" algn="just" eaLnBrk="1" fontAlgn="auto" hangingPunct="1">
              <a:spcBef>
                <a:spcPct val="0"/>
              </a:spcBef>
              <a:spcAft>
                <a:spcPts val="0"/>
              </a:spcAft>
              <a:buClr>
                <a:schemeClr val="tx1"/>
              </a:buClr>
              <a:buFont typeface="Wingdings 2"/>
              <a:buChar char=""/>
              <a:defRPr/>
            </a:pPr>
            <a:endParaRPr lang="en-US" sz="1800" dirty="0">
              <a:cs typeface="Times New Roman" pitchFamily="18" charset="0"/>
            </a:endParaRPr>
          </a:p>
          <a:p>
            <a:pPr marL="274320" indent="-274320" algn="just" eaLnBrk="1" fontAlgn="auto" hangingPunct="1">
              <a:spcBef>
                <a:spcPct val="0"/>
              </a:spcBef>
              <a:spcAft>
                <a:spcPts val="0"/>
              </a:spcAft>
              <a:buClrTx/>
              <a:buFont typeface="Wingdings 2"/>
              <a:buChar char=""/>
              <a:defRPr/>
            </a:pPr>
            <a:endParaRPr lang="en-US" sz="1800" dirty="0">
              <a:cs typeface="Times New Roman" pitchFamily="18" charset="0"/>
            </a:endParaRPr>
          </a:p>
          <a:p>
            <a:pPr marL="274320" indent="-274320" algn="just" eaLnBrk="1" fontAlgn="auto" hangingPunct="1">
              <a:spcBef>
                <a:spcPct val="0"/>
              </a:spcBef>
              <a:spcAft>
                <a:spcPts val="0"/>
              </a:spcAft>
              <a:buClrTx/>
              <a:buNone/>
              <a:defRPr/>
            </a:pPr>
            <a:endParaRPr lang="en-US" sz="1800" dirty="0">
              <a:cs typeface="Times New Roman" pitchFamily="18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>
            <a:normAutofit/>
          </a:bodyPr>
          <a:lstStyle/>
          <a:p>
            <a:pPr>
              <a:defRPr/>
            </a:pPr>
            <a:fld id="{43E05783-DD7C-48E1-90EB-A33481680AA0}" type="slidenum">
              <a:rPr lang="en-US"/>
              <a:pPr>
                <a:defRPr/>
              </a:pPr>
              <a:t>3</a:t>
            </a:fld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E5384DC-752B-E5A1-6AC6-1527706B3E01}"/>
              </a:ext>
            </a:extLst>
          </p:cNvPr>
          <p:cNvSpPr txBox="1"/>
          <p:nvPr/>
        </p:nvSpPr>
        <p:spPr>
          <a:xfrm>
            <a:off x="767408" y="1166843"/>
            <a:ext cx="8378924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This project presents an AI-Based Portfolio Optimization and Risk Forecasting System designed to enhance investment decision-making.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Historical stock data is used to estimate expected returns, while real-time market data is integrated for dynamic portfolio optimization.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Key financial metrics such as volatility and Sharpe ratio are computed for risk-adjusted evaluation.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system introduces innovative features including Buy Strength Index (BSI), Capital Protection Score (CPS), and a Ghost System for hidden risk detection.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Monte Carlo simulation is implemented to analyze multiple future scenarios.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system is developed using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FastAPI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(backend) and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Steamlit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(frontend), providing an interactive decision-support dashboard.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8" name="Title 1"/>
          <p:cNvSpPr>
            <a:spLocks noGrp="1"/>
          </p:cNvSpPr>
          <p:nvPr>
            <p:ph type="title"/>
          </p:nvPr>
        </p:nvSpPr>
        <p:spPr>
          <a:xfrm>
            <a:off x="533400" y="368221"/>
            <a:ext cx="8229600" cy="590550"/>
          </a:xfrm>
        </p:spPr>
        <p:txBody>
          <a:bodyPr>
            <a:noAutofit/>
          </a:bodyPr>
          <a:lstStyle/>
          <a:p>
            <a:pPr eaLnBrk="1" fontAlgn="auto" hangingPunct="1">
              <a:spcAft>
                <a:spcPts val="0"/>
              </a:spcAft>
              <a:defRPr/>
            </a:pPr>
            <a:r>
              <a:rPr lang="en-US" sz="3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Literature Survey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>
            <a:normAutofit/>
          </a:bodyPr>
          <a:lstStyle/>
          <a:p>
            <a:pPr>
              <a:defRPr/>
            </a:pPr>
            <a:fld id="{F18FC8D2-A8AE-4858-8BEA-AD75CC90CA04}" type="slidenum">
              <a:rPr lang="en-US"/>
              <a:pPr>
                <a:defRPr/>
              </a:pPr>
              <a:t>4</a:t>
            </a:fld>
            <a:endParaRPr lang="en-US"/>
          </a:p>
        </p:txBody>
      </p:sp>
      <p:graphicFrame>
        <p:nvGraphicFramePr>
          <p:cNvPr id="8" name="Content Placeholder 7">
            <a:extLst>
              <a:ext uri="{FF2B5EF4-FFF2-40B4-BE49-F238E27FC236}">
                <a16:creationId xmlns:a16="http://schemas.microsoft.com/office/drawing/2014/main" id="{8904A7CE-4DD0-4760-7608-B1C7B63C59D6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523127708"/>
              </p:ext>
            </p:extLst>
          </p:nvPr>
        </p:nvGraphicFramePr>
        <p:xfrm>
          <a:off x="479375" y="1484784"/>
          <a:ext cx="11233249" cy="4512232"/>
        </p:xfrm>
        <a:graphic>
          <a:graphicData uri="http://schemas.openxmlformats.org/drawingml/2006/table">
            <a:tbl>
              <a:tblPr firstRow="1" bandRow="1"/>
              <a:tblGrid>
                <a:gridCol w="847444">
                  <a:extLst>
                    <a:ext uri="{9D8B030D-6E8A-4147-A177-3AD203B41FA5}">
                      <a16:colId xmlns:a16="http://schemas.microsoft.com/office/drawing/2014/main" val="1085741934"/>
                    </a:ext>
                  </a:extLst>
                </a:gridCol>
                <a:gridCol w="1692290">
                  <a:extLst>
                    <a:ext uri="{9D8B030D-6E8A-4147-A177-3AD203B41FA5}">
                      <a16:colId xmlns:a16="http://schemas.microsoft.com/office/drawing/2014/main" val="2830426106"/>
                    </a:ext>
                  </a:extLst>
                </a:gridCol>
                <a:gridCol w="1538445">
                  <a:extLst>
                    <a:ext uri="{9D8B030D-6E8A-4147-A177-3AD203B41FA5}">
                      <a16:colId xmlns:a16="http://schemas.microsoft.com/office/drawing/2014/main" val="2442539787"/>
                    </a:ext>
                  </a:extLst>
                </a:gridCol>
                <a:gridCol w="1153834">
                  <a:extLst>
                    <a:ext uri="{9D8B030D-6E8A-4147-A177-3AD203B41FA5}">
                      <a16:colId xmlns:a16="http://schemas.microsoft.com/office/drawing/2014/main" val="283402072"/>
                    </a:ext>
                  </a:extLst>
                </a:gridCol>
                <a:gridCol w="1538445">
                  <a:extLst>
                    <a:ext uri="{9D8B030D-6E8A-4147-A177-3AD203B41FA5}">
                      <a16:colId xmlns:a16="http://schemas.microsoft.com/office/drawing/2014/main" val="258097547"/>
                    </a:ext>
                  </a:extLst>
                </a:gridCol>
                <a:gridCol w="1384601">
                  <a:extLst>
                    <a:ext uri="{9D8B030D-6E8A-4147-A177-3AD203B41FA5}">
                      <a16:colId xmlns:a16="http://schemas.microsoft.com/office/drawing/2014/main" val="2502597176"/>
                    </a:ext>
                  </a:extLst>
                </a:gridCol>
                <a:gridCol w="1307679">
                  <a:extLst>
                    <a:ext uri="{9D8B030D-6E8A-4147-A177-3AD203B41FA5}">
                      <a16:colId xmlns:a16="http://schemas.microsoft.com/office/drawing/2014/main" val="998352072"/>
                    </a:ext>
                  </a:extLst>
                </a:gridCol>
                <a:gridCol w="1770511">
                  <a:extLst>
                    <a:ext uri="{9D8B030D-6E8A-4147-A177-3AD203B41FA5}">
                      <a16:colId xmlns:a16="http://schemas.microsoft.com/office/drawing/2014/main" val="654715143"/>
                    </a:ext>
                  </a:extLst>
                </a:gridCol>
              </a:tblGrid>
              <a:tr h="877438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400" b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Sl.No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400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Title and Authors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Name of the Journal &amp; Year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400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Architecture, Algorithm, Techniques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400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Datasets Used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400" b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Results Obtained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400" b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Drawbacks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400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Difference from My Project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87352843"/>
                  </a:ext>
                </a:extLst>
              </a:tr>
              <a:tr h="944175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400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Stock Market Prediction using DL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IEEE Access, 2024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LSTM / GRU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Historical Stock Data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High prediction accuracy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Overfitting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My project integrates prediction with portfolio &amp; risk modules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14437421"/>
                  </a:ext>
                </a:extLst>
              </a:tr>
              <a:tr h="896638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400" b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AI-Based Portfolio Optimization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IEEE Conference, 2024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DNN + Mean-Variance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Financial Data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Improved Sharpe ratio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No real-time integration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My system uses real-time data dynamically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047575323"/>
                  </a:ext>
                </a:extLst>
              </a:tr>
              <a:tr h="896638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400" b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Financial Risk Forecasting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IEEE Transactions, 2025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Volatility Modeling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Market Index Data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Accurate risk classification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No allocation engine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My project integrates risk + allocation + prediction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89385007"/>
                  </a:ext>
                </a:extLst>
              </a:tr>
              <a:tr h="896638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400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Monte Carlo Risk Analysis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IEEE Conference, 2025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Probabilistic Simulation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Historical Returns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Effective risk distribution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No predictive module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My system integrates Monte Carlo with portfolio engine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6595334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0" name="Title 1"/>
          <p:cNvSpPr>
            <a:spLocks noGrp="1"/>
          </p:cNvSpPr>
          <p:nvPr>
            <p:ph type="title"/>
          </p:nvPr>
        </p:nvSpPr>
        <p:spPr>
          <a:xfrm>
            <a:off x="686636" y="548680"/>
            <a:ext cx="8229600" cy="432048"/>
          </a:xfrm>
        </p:spPr>
        <p:txBody>
          <a:bodyPr>
            <a:noAutofit/>
          </a:bodyPr>
          <a:lstStyle/>
          <a:p>
            <a:pPr eaLnBrk="1" fontAlgn="auto" hangingPunct="1">
              <a:spcAft>
                <a:spcPts val="0"/>
              </a:spcAft>
              <a:defRPr/>
            </a:pPr>
            <a:r>
              <a:rPr lang="en-US" sz="3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Research Gaps</a:t>
            </a:r>
          </a:p>
        </p:txBody>
      </p:sp>
      <p:sp>
        <p:nvSpPr>
          <p:cNvPr id="18435" name="Content Placeholder 2"/>
          <p:cNvSpPr>
            <a:spLocks noGrp="1"/>
          </p:cNvSpPr>
          <p:nvPr>
            <p:ph idx="1"/>
          </p:nvPr>
        </p:nvSpPr>
        <p:spPr>
          <a:xfrm>
            <a:off x="685800" y="1295400"/>
            <a:ext cx="10972800" cy="3856038"/>
          </a:xfrm>
        </p:spPr>
        <p:txBody>
          <a:bodyPr/>
          <a:lstStyle/>
          <a:p>
            <a:pPr algn="just" eaLnBrk="1" hangingPunct="1"/>
            <a:endParaRPr lang="en-US" sz="1400" dirty="0">
              <a:latin typeface="Bookman Old Style" pitchFamily="18" charset="0"/>
            </a:endParaRPr>
          </a:p>
          <a:p>
            <a:pPr algn="just" eaLnBrk="1" hangingPunct="1"/>
            <a:endParaRPr lang="en-US" sz="1400" dirty="0">
              <a:latin typeface="Bookman Old Style" pitchFamily="18" charset="0"/>
            </a:endParaRPr>
          </a:p>
          <a:p>
            <a:pPr algn="just" eaLnBrk="1" hangingPunct="1"/>
            <a:endParaRPr lang="en-US" sz="1400" dirty="0">
              <a:latin typeface="Bookman Old Style" pitchFamily="18" charset="0"/>
            </a:endParaRPr>
          </a:p>
          <a:p>
            <a:pPr algn="just" eaLnBrk="1" hangingPunct="1"/>
            <a:endParaRPr lang="en-US" sz="1400" dirty="0">
              <a:latin typeface="Bookman Old Style" pitchFamily="18" charset="0"/>
            </a:endParaRPr>
          </a:p>
          <a:p>
            <a:pPr algn="just" eaLnBrk="1" hangingPunct="1"/>
            <a:endParaRPr lang="en-US" sz="1400" dirty="0">
              <a:latin typeface="Bookman Old Style" pitchFamily="18" charset="0"/>
            </a:endParaRPr>
          </a:p>
          <a:p>
            <a:pPr algn="just" eaLnBrk="1" hangingPunct="1"/>
            <a:endParaRPr lang="en-US" sz="1400" dirty="0">
              <a:latin typeface="Bookman Old Style" pitchFamily="18" charset="0"/>
            </a:endParaRPr>
          </a:p>
          <a:p>
            <a:pPr algn="just" eaLnBrk="1" hangingPunct="1"/>
            <a:endParaRPr lang="en-US" sz="1400" dirty="0">
              <a:latin typeface="Bookman Old Style" pitchFamily="18" charset="0"/>
            </a:endParaRPr>
          </a:p>
          <a:p>
            <a:pPr algn="just" eaLnBrk="1" hangingPunct="1"/>
            <a:endParaRPr lang="en-US" sz="1400" dirty="0">
              <a:latin typeface="Bookman Old Style" pitchFamily="18" charset="0"/>
            </a:endParaRPr>
          </a:p>
          <a:p>
            <a:pPr algn="just" eaLnBrk="1" hangingPunct="1"/>
            <a:endParaRPr lang="en-US" sz="1400" dirty="0">
              <a:latin typeface="Bookman Old Style" pitchFamily="18" charset="0"/>
            </a:endParaRPr>
          </a:p>
          <a:p>
            <a:pPr algn="just" eaLnBrk="1" hangingPunct="1"/>
            <a:endParaRPr lang="en-US" sz="1400" dirty="0">
              <a:latin typeface="Bookman Old Style" pitchFamily="18" charset="0"/>
            </a:endParaRPr>
          </a:p>
          <a:p>
            <a:pPr algn="just" eaLnBrk="1" hangingPunct="1"/>
            <a:endParaRPr lang="en-US" sz="1400" dirty="0">
              <a:latin typeface="Bookman Old Style" pitchFamily="18" charset="0"/>
            </a:endParaRPr>
          </a:p>
          <a:p>
            <a:pPr algn="just" eaLnBrk="1" hangingPunct="1"/>
            <a:endParaRPr lang="en-US" sz="1400" dirty="0">
              <a:latin typeface="Bookman Old Style" pitchFamily="18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A9E8F87-40C0-4AB6-9F1C-7B8E01711413}" type="slidenum">
              <a:rPr lang="en-US"/>
              <a:pPr>
                <a:defRPr/>
              </a:pPr>
              <a:t>5</a:t>
            </a:fld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3191B1C-5519-ACC2-A3B7-609BBF5E7FBB}"/>
              </a:ext>
            </a:extLst>
          </p:cNvPr>
          <p:cNvSpPr txBox="1"/>
          <p:nvPr/>
        </p:nvSpPr>
        <p:spPr>
          <a:xfrm>
            <a:off x="767408" y="1268828"/>
            <a:ext cx="8234908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Most existing systems focus only on prediction.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b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Portfolio optimization models are static and not real-time adaptive.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b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Risk forecasting is implemented independently.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b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Monte Carlo simulation is not integrated with allocation models.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b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Lack of unified AI framework combining prediction, optimization, and risk intelligence.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b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No innovative composite risk scoring mechanisms like BSI and CPS.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6" name="Title 1"/>
          <p:cNvSpPr>
            <a:spLocks noGrp="1"/>
          </p:cNvSpPr>
          <p:nvPr>
            <p:ph type="title"/>
          </p:nvPr>
        </p:nvSpPr>
        <p:spPr>
          <a:xfrm>
            <a:off x="533400" y="457200"/>
            <a:ext cx="8229600" cy="457200"/>
          </a:xfrm>
        </p:spPr>
        <p:txBody>
          <a:bodyPr>
            <a:noAutofit/>
          </a:bodyPr>
          <a:lstStyle/>
          <a:p>
            <a:pPr eaLnBrk="1" fontAlgn="auto" hangingPunct="1">
              <a:spcAft>
                <a:spcPts val="0"/>
              </a:spcAft>
              <a:defRPr/>
            </a:pPr>
            <a:r>
              <a:rPr lang="en-US" sz="3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Problems Identified</a:t>
            </a:r>
          </a:p>
        </p:txBody>
      </p:sp>
      <p:sp>
        <p:nvSpPr>
          <p:cNvPr id="21507" name="Content Placeholder 2"/>
          <p:cNvSpPr>
            <a:spLocks noGrp="1"/>
          </p:cNvSpPr>
          <p:nvPr>
            <p:ph idx="1"/>
          </p:nvPr>
        </p:nvSpPr>
        <p:spPr>
          <a:xfrm>
            <a:off x="1969655" y="990600"/>
            <a:ext cx="8229600" cy="5257800"/>
          </a:xfrm>
        </p:spPr>
        <p:txBody>
          <a:bodyPr>
            <a:normAutofit/>
          </a:bodyPr>
          <a:lstStyle/>
          <a:p>
            <a:pPr marL="274320" indent="-274320" eaLnBrk="1" fontAlgn="auto" hangingPunct="1">
              <a:spcBef>
                <a:spcPct val="0"/>
              </a:spcBef>
              <a:spcAft>
                <a:spcPts val="0"/>
              </a:spcAft>
              <a:buClr>
                <a:schemeClr val="accent3"/>
              </a:buClr>
              <a:buFont typeface="Wingdings 2"/>
              <a:buChar char=""/>
              <a:defRPr/>
            </a:pPr>
            <a:endParaRPr lang="en-US" sz="2000" dirty="0">
              <a:latin typeface="Bookman Old Style" pitchFamily="18" charset="0"/>
            </a:endParaRPr>
          </a:p>
          <a:p>
            <a:pPr marL="274320" indent="-274320" eaLnBrk="1" fontAlgn="auto" hangingPunct="1">
              <a:spcBef>
                <a:spcPct val="0"/>
              </a:spcBef>
              <a:spcAft>
                <a:spcPts val="0"/>
              </a:spcAft>
              <a:buClr>
                <a:schemeClr val="accent3"/>
              </a:buClr>
              <a:buFont typeface="Wingdings 2"/>
              <a:buChar char=""/>
              <a:defRPr/>
            </a:pPr>
            <a:endParaRPr lang="en-US" sz="1400" dirty="0">
              <a:latin typeface="Bookman Old Style" pitchFamily="18" charset="0"/>
            </a:endParaRPr>
          </a:p>
          <a:p>
            <a:pPr marL="274320" indent="-274320" eaLnBrk="1" fontAlgn="auto" hangingPunct="1">
              <a:spcBef>
                <a:spcPct val="0"/>
              </a:spcBef>
              <a:spcAft>
                <a:spcPts val="0"/>
              </a:spcAft>
              <a:buClr>
                <a:schemeClr val="accent3"/>
              </a:buClr>
              <a:buFont typeface="Wingdings 2"/>
              <a:buChar char=""/>
              <a:defRPr/>
            </a:pPr>
            <a:endParaRPr lang="en-US" sz="1600" dirty="0"/>
          </a:p>
          <a:p>
            <a:pPr marL="274320" indent="-274320" eaLnBrk="1" fontAlgn="auto" hangingPunct="1">
              <a:spcBef>
                <a:spcPct val="0"/>
              </a:spcBef>
              <a:spcAft>
                <a:spcPts val="0"/>
              </a:spcAft>
              <a:buClr>
                <a:schemeClr val="accent3"/>
              </a:buClr>
              <a:buNone/>
              <a:defRPr/>
            </a:pPr>
            <a:r>
              <a:rPr lang="en-US" sz="1800" dirty="0"/>
              <a:t> </a:t>
            </a:r>
          </a:p>
          <a:p>
            <a:pPr marL="274320" indent="-274320" eaLnBrk="1" fontAlgn="auto" hangingPunct="1">
              <a:spcAft>
                <a:spcPts val="0"/>
              </a:spcAft>
              <a:buClr>
                <a:schemeClr val="accent3"/>
              </a:buClr>
              <a:buFont typeface="Wingdings 2"/>
              <a:buChar char=""/>
              <a:defRPr/>
            </a:pPr>
            <a:endParaRPr lang="en-US" sz="24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D92466F5-04BD-4128-87AB-08C68F81CED7}" type="slidenum">
              <a:rPr lang="en-US"/>
              <a:pPr>
                <a:defRPr/>
              </a:pPr>
              <a:t>6</a:t>
            </a:fld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4A3145A-B3C8-D1D7-8C93-C93D5AD0BDD1}"/>
              </a:ext>
            </a:extLst>
          </p:cNvPr>
          <p:cNvSpPr txBox="1"/>
          <p:nvPr/>
        </p:nvSpPr>
        <p:spPr>
          <a:xfrm>
            <a:off x="549492" y="1268760"/>
            <a:ext cx="6097554" cy="42473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Investors rely on guesswork and manual analysis.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b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Difficulty in analyzing multiple stocks simultaneously.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Static allocation models do not respond to market volatility.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b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No integrated system combining prediction + portfolio + risk forecasting.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b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Hidden risks are not detected early.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b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No structured capital protection evaluation mechanism.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b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Absence of simulation-based future risk analysis in most platforms.</a:t>
            </a:r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Title 1"/>
          <p:cNvSpPr>
            <a:spLocks noGrp="1"/>
          </p:cNvSpPr>
          <p:nvPr>
            <p:ph type="title"/>
          </p:nvPr>
        </p:nvSpPr>
        <p:spPr>
          <a:xfrm>
            <a:off x="542924" y="533400"/>
            <a:ext cx="11191875" cy="514350"/>
          </a:xfrm>
        </p:spPr>
        <p:txBody>
          <a:bodyPr>
            <a:noAutofit/>
          </a:bodyPr>
          <a:lstStyle/>
          <a:p>
            <a:pPr eaLnBrk="1" fontAlgn="auto" hangingPunct="1">
              <a:spcAft>
                <a:spcPts val="0"/>
              </a:spcAft>
              <a:defRPr/>
            </a:pPr>
            <a:r>
              <a:rPr lang="en-US" sz="3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Objective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7FC94795-55A8-4977-AB91-7A0F3EA2B8E8}" type="slidenum">
              <a:rPr lang="en-US"/>
              <a:pPr>
                <a:defRPr/>
              </a:pPr>
              <a:t>7</a:t>
            </a:fld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CFFDBBC-33EE-D3DB-0814-A94BC678B075}"/>
              </a:ext>
            </a:extLst>
          </p:cNvPr>
          <p:cNvSpPr txBox="1"/>
          <p:nvPr/>
        </p:nvSpPr>
        <p:spPr>
          <a:xfrm>
            <a:off x="838200" y="1196752"/>
            <a:ext cx="8018884" cy="54476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objective of this project is to develop an AI-Based Portfolio Optimization and Risk Forecasting System with innovative risk intelligence features.</a:t>
            </a:r>
          </a:p>
          <a:p>
            <a:pPr>
              <a:buNone/>
            </a:pPr>
            <a:endParaRPr lang="en-IN" sz="1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None/>
            </a:pPr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Specific Objectives:</a:t>
            </a:r>
          </a:p>
          <a:p>
            <a:pPr>
              <a:buNone/>
            </a:pPr>
            <a:endParaRPr lang="en-IN" sz="1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Predict expected returns using historical time-series data.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b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Integrate real-time market data for dynamic portfolio allocation.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b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Calculate volatility and Sharpe ratio for risk-adjusted analysis.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b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Design Buy Strength Index (BSI) to measure investment strength.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b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Develop Capital Protection Score (CPS) to evaluate downside protection.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b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Implement Ghost System for hidden risk and abnormal volatility detection.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b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Detect market regime conditions (Calm / Volatile).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b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Perform Monte Carlo simulation for future scenario analysis.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b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Provide an interactive decision-support dashboard.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54" name="Title 1"/>
          <p:cNvSpPr>
            <a:spLocks noGrp="1"/>
          </p:cNvSpPr>
          <p:nvPr>
            <p:ph type="title"/>
          </p:nvPr>
        </p:nvSpPr>
        <p:spPr>
          <a:xfrm>
            <a:off x="457200" y="348099"/>
            <a:ext cx="11325224" cy="425967"/>
          </a:xfrm>
        </p:spPr>
        <p:txBody>
          <a:bodyPr>
            <a:noAutofit/>
          </a:bodyPr>
          <a:lstStyle/>
          <a:p>
            <a:pPr eaLnBrk="1" fontAlgn="auto" hangingPunct="1">
              <a:spcAft>
                <a:spcPts val="0"/>
              </a:spcAft>
              <a:defRPr/>
            </a:pPr>
            <a:r>
              <a:rPr lang="en-US" sz="3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Dataset &amp; Description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8E12F201-A61D-4865-9F77-8B938AE73A09}" type="slidenum">
              <a:rPr lang="en-US"/>
              <a:pPr>
                <a:defRPr/>
              </a:pPr>
              <a:t>8</a:t>
            </a:fld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C4D0911-4667-9AFE-03A0-7DA5497C7DAC}"/>
              </a:ext>
            </a:extLst>
          </p:cNvPr>
          <p:cNvSpPr txBox="1"/>
          <p:nvPr/>
        </p:nvSpPr>
        <p:spPr>
          <a:xfrm>
            <a:off x="838200" y="1086372"/>
            <a:ext cx="6097554" cy="54322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Historical Stock Data (For Prediction Module)</a:t>
            </a:r>
          </a:p>
          <a:p>
            <a:pPr>
              <a:buNone/>
            </a:pPr>
            <a:endParaRPr lang="en-US" sz="5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Open Price</a:t>
            </a:r>
          </a:p>
          <a:p>
            <a:pPr>
              <a:buFont typeface="Arial" panose="020B0604020202020204" pitchFamily="34" charset="0"/>
              <a:buChar char="•"/>
            </a:pPr>
            <a:endParaRPr lang="en-US" sz="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High Price</a:t>
            </a:r>
          </a:p>
          <a:p>
            <a:pPr>
              <a:buFont typeface="Arial" panose="020B0604020202020204" pitchFamily="34" charset="0"/>
              <a:buChar char="•"/>
            </a:pPr>
            <a:endParaRPr lang="en-US" sz="5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Low Price</a:t>
            </a:r>
          </a:p>
          <a:p>
            <a:pPr>
              <a:buFont typeface="Arial" panose="020B0604020202020204" pitchFamily="34" charset="0"/>
              <a:buChar char="•"/>
            </a:pPr>
            <a:endParaRPr lang="en-US" sz="5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Close Price</a:t>
            </a:r>
          </a:p>
          <a:p>
            <a:pPr>
              <a:buFont typeface="Arial" panose="020B0604020202020204" pitchFamily="34" charset="0"/>
              <a:buChar char="•"/>
            </a:pPr>
            <a:endParaRPr lang="en-US" sz="5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Volume</a:t>
            </a:r>
          </a:p>
          <a:p>
            <a:pPr>
              <a:buFont typeface="Arial" panose="020B0604020202020204" pitchFamily="34" charset="0"/>
              <a:buChar char="•"/>
            </a:pPr>
            <a:endParaRPr lang="en-US" sz="5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Daily Return</a:t>
            </a:r>
          </a:p>
          <a:p>
            <a:pPr>
              <a:buFont typeface="Arial" panose="020B0604020202020204" pitchFamily="34" charset="0"/>
              <a:buChar char="•"/>
            </a:pPr>
            <a:endParaRPr lang="en-US" sz="5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None/>
            </a:pP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Purpose:</a:t>
            </a:r>
          </a:p>
          <a:p>
            <a:pPr>
              <a:buNone/>
            </a:pPr>
            <a:br>
              <a:rPr lang="en-US" sz="5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Used for calculating expected return and modeling stock performance using time-series analysis.</a:t>
            </a:r>
          </a:p>
          <a:p>
            <a:pPr>
              <a:buNone/>
            </a:pPr>
            <a:endParaRPr lang="en-US" sz="5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None/>
            </a:pP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Processing Steps:</a:t>
            </a:r>
          </a:p>
          <a:p>
            <a:pPr>
              <a:buNone/>
            </a:pPr>
            <a:endParaRPr lang="en-US" sz="5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 cleaning</a:t>
            </a:r>
          </a:p>
          <a:p>
            <a:pPr>
              <a:buFont typeface="Arial" panose="020B0604020202020204" pitchFamily="34" charset="0"/>
              <a:buChar char="•"/>
            </a:pPr>
            <a:endParaRPr lang="en-US" sz="5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Handling missing values</a:t>
            </a:r>
          </a:p>
          <a:p>
            <a:pPr>
              <a:buFont typeface="Arial" panose="020B0604020202020204" pitchFamily="34" charset="0"/>
              <a:buChar char="•"/>
            </a:pPr>
            <a:endParaRPr lang="en-US" sz="5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Return calculation</a:t>
            </a:r>
          </a:p>
          <a:p>
            <a:pPr>
              <a:buFont typeface="Arial" panose="020B0604020202020204" pitchFamily="34" charset="0"/>
              <a:buChar char="•"/>
            </a:pPr>
            <a:endParaRPr lang="en-US" sz="5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Rolling window analysis</a:t>
            </a:r>
          </a:p>
        </p:txBody>
      </p:sp>
    </p:spTree>
    <p:extLst>
      <p:ext uri="{BB962C8B-B14F-4D97-AF65-F5344CB8AC3E}">
        <p14:creationId xmlns:p14="http://schemas.microsoft.com/office/powerpoint/2010/main" val="385743707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087D956-E5FF-6386-0280-72CED9740D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561DEE20-C919-4C9D-873F-4C18D1E8D478}" type="slidenum">
              <a:rPr lang="en-US" smtClean="0"/>
              <a:pPr>
                <a:defRPr/>
              </a:pPr>
              <a:t>9</a:t>
            </a:fld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A98771C-D783-AAE3-26B9-DDD5CC0C27FE}"/>
              </a:ext>
            </a:extLst>
          </p:cNvPr>
          <p:cNvSpPr txBox="1"/>
          <p:nvPr/>
        </p:nvSpPr>
        <p:spPr>
          <a:xfrm>
            <a:off x="983432" y="307078"/>
            <a:ext cx="6097554" cy="65864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Real-Time Market Data (For Portfolio &amp; Risk Module)</a:t>
            </a:r>
          </a:p>
          <a:p>
            <a:pPr>
              <a:buNone/>
            </a:pPr>
            <a:r>
              <a:rPr lang="en-IN" sz="7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Live Current Price</a:t>
            </a:r>
          </a:p>
          <a:p>
            <a:pPr>
              <a:buFont typeface="Arial" panose="020B0604020202020204" pitchFamily="34" charset="0"/>
              <a:buChar char="•"/>
            </a:pPr>
            <a:endParaRPr lang="en-IN" sz="7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Font typeface="Arial" panose="020B0604020202020204" pitchFamily="34" charset="0"/>
              <a:buChar char="•"/>
            </a:pP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Real-Time Price Movement</a:t>
            </a:r>
          </a:p>
          <a:p>
            <a:pPr>
              <a:buFont typeface="Arial" panose="020B0604020202020204" pitchFamily="34" charset="0"/>
              <a:buChar char="•"/>
            </a:pPr>
            <a:endParaRPr lang="en-IN" sz="7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Font typeface="Arial" panose="020B0604020202020204" pitchFamily="34" charset="0"/>
              <a:buChar char="•"/>
            </a:pP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Intraday Volatility</a:t>
            </a:r>
          </a:p>
          <a:p>
            <a:pPr>
              <a:buFont typeface="Arial" panose="020B0604020202020204" pitchFamily="34" charset="0"/>
              <a:buChar char="•"/>
            </a:pPr>
            <a:endParaRPr lang="en-IN" sz="7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None/>
            </a:pPr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Purpose:</a:t>
            </a:r>
          </a:p>
          <a:p>
            <a:pPr>
              <a:buNone/>
            </a:pPr>
            <a:br>
              <a:rPr lang="en-IN" sz="7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Used for dynamic portfolio allocation, risk forecasting, regime detection, and Monte Carlo simulation.</a:t>
            </a:r>
          </a:p>
          <a:p>
            <a:pPr>
              <a:buNone/>
            </a:pPr>
            <a:endParaRPr lang="en-IN" sz="7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None/>
            </a:pPr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Financial Metrics Computed:</a:t>
            </a:r>
          </a:p>
          <a:p>
            <a:pPr>
              <a:buNone/>
            </a:pPr>
            <a:endParaRPr lang="en-IN" sz="7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Font typeface="Arial" panose="020B0604020202020204" pitchFamily="34" charset="0"/>
              <a:buChar char="•"/>
            </a:pP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Expected Return</a:t>
            </a:r>
          </a:p>
          <a:p>
            <a:pPr>
              <a:buFont typeface="Arial" panose="020B0604020202020204" pitchFamily="34" charset="0"/>
              <a:buChar char="•"/>
            </a:pPr>
            <a:endParaRPr lang="en-IN" sz="7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Font typeface="Arial" panose="020B0604020202020204" pitchFamily="34" charset="0"/>
              <a:buChar char="•"/>
            </a:pP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Volatility (Standard Deviation)</a:t>
            </a:r>
          </a:p>
          <a:p>
            <a:pPr>
              <a:buFont typeface="Arial" panose="020B0604020202020204" pitchFamily="34" charset="0"/>
              <a:buChar char="•"/>
            </a:pPr>
            <a:endParaRPr lang="en-IN" sz="7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Font typeface="Arial" panose="020B0604020202020204" pitchFamily="34" charset="0"/>
              <a:buChar char="•"/>
            </a:pP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Sharpe Ratio</a:t>
            </a:r>
          </a:p>
          <a:p>
            <a:pPr>
              <a:buFont typeface="Arial" panose="020B0604020202020204" pitchFamily="34" charset="0"/>
              <a:buChar char="•"/>
            </a:pPr>
            <a:endParaRPr lang="en-IN" sz="7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Font typeface="Arial" panose="020B0604020202020204" pitchFamily="34" charset="0"/>
              <a:buChar char="•"/>
            </a:pP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Buy Strength Index (BSI)</a:t>
            </a:r>
          </a:p>
          <a:p>
            <a:pPr>
              <a:buFont typeface="Arial" panose="020B0604020202020204" pitchFamily="34" charset="0"/>
              <a:buChar char="•"/>
            </a:pPr>
            <a:endParaRPr lang="en-IN" sz="7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Font typeface="Arial" panose="020B0604020202020204" pitchFamily="34" charset="0"/>
              <a:buChar char="•"/>
            </a:pP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Capital Protection Score (CPS)</a:t>
            </a:r>
            <a:b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endParaRPr lang="en-IN" sz="7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None/>
            </a:pPr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Risk Intelligence Features:</a:t>
            </a:r>
          </a:p>
          <a:p>
            <a:pPr>
              <a:buNone/>
            </a:pPr>
            <a:endParaRPr lang="en-IN" sz="7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Font typeface="Arial" panose="020B0604020202020204" pitchFamily="34" charset="0"/>
              <a:buChar char="•"/>
            </a:pP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Market Regime Detection (Calm / Volatile)</a:t>
            </a:r>
          </a:p>
          <a:p>
            <a:pPr>
              <a:buFont typeface="Arial" panose="020B0604020202020204" pitchFamily="34" charset="0"/>
              <a:buChar char="•"/>
            </a:pPr>
            <a:endParaRPr lang="en-IN" sz="7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Font typeface="Arial" panose="020B0604020202020204" pitchFamily="34" charset="0"/>
              <a:buChar char="•"/>
            </a:pP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Ghost System for Hidden Risk Detection</a:t>
            </a:r>
          </a:p>
          <a:p>
            <a:pPr>
              <a:buFont typeface="Arial" panose="020B0604020202020204" pitchFamily="34" charset="0"/>
              <a:buChar char="•"/>
            </a:pPr>
            <a:endParaRPr lang="en-IN" sz="7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Font typeface="Arial" panose="020B0604020202020204" pitchFamily="34" charset="0"/>
              <a:buChar char="•"/>
            </a:pP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Monte Carlo Simulation for future return distribution</a:t>
            </a:r>
          </a:p>
        </p:txBody>
      </p:sp>
    </p:spTree>
    <p:extLst>
      <p:ext uri="{BB962C8B-B14F-4D97-AF65-F5344CB8AC3E}">
        <p14:creationId xmlns:p14="http://schemas.microsoft.com/office/powerpoint/2010/main" val="257587647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26" name="Title 1"/>
          <p:cNvSpPr>
            <a:spLocks noGrp="1"/>
          </p:cNvSpPr>
          <p:nvPr>
            <p:ph type="title"/>
          </p:nvPr>
        </p:nvSpPr>
        <p:spPr>
          <a:xfrm>
            <a:off x="479376" y="332656"/>
            <a:ext cx="8229600" cy="590550"/>
          </a:xfrm>
        </p:spPr>
        <p:txBody>
          <a:bodyPr>
            <a:noAutofit/>
          </a:bodyPr>
          <a:lstStyle/>
          <a:p>
            <a:pPr eaLnBrk="1" fontAlgn="auto" hangingPunct="1">
              <a:spcAft>
                <a:spcPts val="0"/>
              </a:spcAft>
              <a:defRPr/>
            </a:pPr>
            <a:r>
              <a:rPr lang="en-US" sz="3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Proposed Method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669AC613-D7BC-457F-B6BC-821AAEEF75AB}" type="slidenum">
              <a:rPr lang="en-US"/>
              <a:pPr>
                <a:defRPr/>
              </a:pPr>
              <a:t>10</a:t>
            </a:fld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E7737A6-296E-C6DC-C2F3-D6BB0FE66739}"/>
              </a:ext>
            </a:extLst>
          </p:cNvPr>
          <p:cNvSpPr txBox="1"/>
          <p:nvPr/>
        </p:nvSpPr>
        <p:spPr>
          <a:xfrm>
            <a:off x="838200" y="1013950"/>
            <a:ext cx="6097554" cy="58785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Proposed Method</a:t>
            </a:r>
          </a:p>
          <a:p>
            <a:pPr>
              <a:buNone/>
            </a:pP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proposed system follows a hybrid approach combining historical modeling and real-time risk intelligence.</a:t>
            </a:r>
            <a:b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endParaRPr lang="en-US" sz="7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None/>
            </a:pPr>
            <a:r>
              <a:rPr lang="en-US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Step 1: Historical Data Collection</a:t>
            </a:r>
          </a:p>
          <a:p>
            <a:pPr>
              <a:buNone/>
            </a:pP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Historical stock data (Open, High, Low, Close, Volume) is collected and preprocessed.</a:t>
            </a:r>
            <a:b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endParaRPr lang="en-US" sz="7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None/>
            </a:pPr>
            <a:r>
              <a:rPr lang="en-US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Step 2: Return Prediction</a:t>
            </a:r>
          </a:p>
          <a:p>
            <a:pPr>
              <a:buNone/>
            </a:pP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Daily returns are calculated and expected return is estimated using time-series modeling.</a:t>
            </a:r>
            <a:b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endParaRPr lang="en-US" sz="7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None/>
            </a:pPr>
            <a:r>
              <a:rPr lang="en-US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Step 3: Real-Time Data Integration</a:t>
            </a:r>
          </a:p>
          <a:p>
            <a:pPr>
              <a:buNone/>
            </a:pP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Live market prices are fetched and integrated into the system for dynamic analysis.</a:t>
            </a:r>
            <a:b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endParaRPr lang="en-US" sz="7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None/>
            </a:pPr>
            <a:r>
              <a:rPr lang="en-US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Step 4: Financial Metric Calculation</a:t>
            </a:r>
          </a:p>
          <a:p>
            <a:pPr>
              <a:buNone/>
            </a:pP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following metrics are computed:</a:t>
            </a:r>
          </a:p>
          <a:p>
            <a:pPr>
              <a:buNone/>
            </a:pPr>
            <a:endParaRPr lang="en-US" sz="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Font typeface="Arial" panose="020B0604020202020204" pitchFamily="34" charset="0"/>
              <a:buChar char="•"/>
            </a:pP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Volatility (Standard Deviation)</a:t>
            </a:r>
          </a:p>
          <a:p>
            <a:pPr>
              <a:buFont typeface="Arial" panose="020B0604020202020204" pitchFamily="34" charset="0"/>
              <a:buChar char="•"/>
            </a:pPr>
            <a:endParaRPr lang="en-US" sz="7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Font typeface="Arial" panose="020B0604020202020204" pitchFamily="34" charset="0"/>
              <a:buChar char="•"/>
            </a:pP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Sharpe Ratio</a:t>
            </a:r>
          </a:p>
          <a:p>
            <a:pPr>
              <a:buFont typeface="Arial" panose="020B0604020202020204" pitchFamily="34" charset="0"/>
              <a:buChar char="•"/>
            </a:pPr>
            <a:endParaRPr lang="en-US" sz="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Font typeface="Arial" panose="020B0604020202020204" pitchFamily="34" charset="0"/>
              <a:buChar char="•"/>
            </a:pP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Buy Strength Index (BSI)</a:t>
            </a:r>
          </a:p>
          <a:p>
            <a:pPr>
              <a:buFont typeface="Arial" panose="020B0604020202020204" pitchFamily="34" charset="0"/>
              <a:buChar char="•"/>
            </a:pPr>
            <a:endParaRPr lang="en-US" sz="7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Font typeface="Arial" panose="020B0604020202020204" pitchFamily="34" charset="0"/>
              <a:buChar char="•"/>
            </a:pP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Capital Protection Score (CPS)</a:t>
            </a:r>
          </a:p>
          <a:p>
            <a:pPr>
              <a:buNone/>
            </a:pPr>
            <a:b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709237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669AC613-D7BC-457F-B6BC-821AAEEF75AB}" type="slidenum">
              <a:rPr lang="en-US"/>
              <a:pPr>
                <a:defRPr/>
              </a:pPr>
              <a:t>11</a:t>
            </a:fld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1442679-FC5D-349E-7976-691E189D6651}"/>
              </a:ext>
            </a:extLst>
          </p:cNvPr>
          <p:cNvSpPr txBox="1"/>
          <p:nvPr/>
        </p:nvSpPr>
        <p:spPr>
          <a:xfrm>
            <a:off x="1127448" y="980728"/>
            <a:ext cx="6097554" cy="52014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Step 5: Portfolio Optimization</a:t>
            </a:r>
          </a:p>
          <a:p>
            <a:pPr>
              <a:buNone/>
            </a:pPr>
            <a:endParaRPr lang="en-US" sz="8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None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Mean-Variance based optimization is applied to allocate optimal weights among selected stocks.</a:t>
            </a:r>
          </a:p>
          <a:p>
            <a:pPr>
              <a:buNone/>
            </a:pPr>
            <a:br>
              <a:rPr lang="en-US" sz="5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endParaRPr lang="en-US" sz="5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None/>
            </a:pP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Step 6: Risk Forecasting</a:t>
            </a:r>
          </a:p>
          <a:p>
            <a:pPr>
              <a:buNone/>
            </a:pPr>
            <a:endParaRPr lang="en-US" sz="8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Market Regime Detection (Calm / Volatile)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Ghost System for hidden risk monitoring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Worst-case loss estimation</a:t>
            </a:r>
          </a:p>
          <a:p>
            <a:pPr>
              <a:buNone/>
            </a:pPr>
            <a:br>
              <a:rPr lang="en-US" sz="5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endParaRPr lang="en-US" sz="5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None/>
            </a:pP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Step 7: Monte Carlo Simulation</a:t>
            </a:r>
          </a:p>
          <a:p>
            <a:pPr>
              <a:buNone/>
            </a:pPr>
            <a:endParaRPr lang="en-US" sz="8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None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Multiple future scenarios are simulated to estimate return distribution and downside risk.</a:t>
            </a:r>
          </a:p>
          <a:p>
            <a:pPr>
              <a:buNone/>
            </a:pPr>
            <a:br>
              <a:rPr lang="en-US" sz="5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endParaRPr lang="en-US" sz="5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None/>
            </a:pP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Step 8: Dashboard Visualization</a:t>
            </a:r>
          </a:p>
          <a:p>
            <a:pPr>
              <a:buNone/>
            </a:pPr>
            <a:endParaRPr lang="en-US" sz="8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None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Results are displayed in an interactive web dashboard using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steamlit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frontend and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FastAPI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backend.</a:t>
            </a:r>
          </a:p>
          <a:p>
            <a:pPr>
              <a:buNone/>
            </a:pPr>
            <a:b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8594277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787E898-0CBD-E432-1485-CAA0CB4B28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561DEE20-C919-4C9D-873F-4C18D1E8D478}" type="slidenum">
              <a:rPr lang="en-US" smtClean="0"/>
              <a:pPr>
                <a:defRPr/>
              </a:pPr>
              <a:t>12</a:t>
            </a:fld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E82ABD8-FC38-821F-7A30-031A1A51D8C5}"/>
              </a:ext>
            </a:extLst>
          </p:cNvPr>
          <p:cNvSpPr txBox="1"/>
          <p:nvPr/>
        </p:nvSpPr>
        <p:spPr>
          <a:xfrm>
            <a:off x="587388" y="625164"/>
            <a:ext cx="5508612" cy="57708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I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Return Prediction Module                                   </a:t>
            </a:r>
          </a:p>
          <a:p>
            <a:pPr>
              <a:buNone/>
            </a:pPr>
            <a:endParaRPr lang="en-IN" sz="7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Font typeface="Arial" panose="020B0604020202020204" pitchFamily="34" charset="0"/>
              <a:buChar char="•"/>
            </a:pP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Uses historical time-series data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Calculates daily returns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Estimates expected future return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Forms base input for portfolio optimization</a:t>
            </a:r>
          </a:p>
          <a:p>
            <a:pPr>
              <a:buNone/>
            </a:pPr>
            <a:endParaRPr lang="en-IN" sz="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None/>
            </a:pPr>
            <a:endParaRPr lang="en-IN" sz="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None/>
            </a:pPr>
            <a:endParaRPr lang="en-IN" sz="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None/>
            </a:pPr>
            <a:endParaRPr lang="en-IN" sz="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None/>
            </a:pPr>
            <a:r>
              <a:rPr lang="en-I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Real-Time Integration Module</a:t>
            </a:r>
          </a:p>
          <a:p>
            <a:pPr>
              <a:buNone/>
            </a:pPr>
            <a:endParaRPr lang="en-IN" sz="7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Font typeface="Arial" panose="020B0604020202020204" pitchFamily="34" charset="0"/>
              <a:buChar char="•"/>
            </a:pP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Fetches live stock prices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Updates portfolio metrics dynamically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Enables adaptive investment decisions</a:t>
            </a:r>
          </a:p>
          <a:p>
            <a:pPr>
              <a:buNone/>
            </a:pPr>
            <a:endParaRPr lang="en-IN" sz="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None/>
            </a:pPr>
            <a:endParaRPr lang="en-IN" sz="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None/>
            </a:pPr>
            <a:endParaRPr lang="en-IN" sz="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None/>
            </a:pPr>
            <a:br>
              <a:rPr lang="en-IN" sz="4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endParaRPr lang="en-IN" sz="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None/>
            </a:pPr>
            <a:r>
              <a:rPr lang="en-I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Portfolio Optimization Engine</a:t>
            </a:r>
          </a:p>
          <a:p>
            <a:pPr>
              <a:buNone/>
            </a:pPr>
            <a:endParaRPr lang="en-IN" sz="7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Font typeface="Arial" panose="020B0604020202020204" pitchFamily="34" charset="0"/>
              <a:buChar char="•"/>
            </a:pP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Applies Mean-Variance approach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Minimizes risk for given return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Allocates optimal stock weights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Maximizes risk-adjusted performance</a:t>
            </a:r>
          </a:p>
          <a:p>
            <a:pPr>
              <a:buNone/>
            </a:pPr>
            <a:br>
              <a:rPr lang="en-IN" sz="300" dirty="0"/>
            </a:br>
            <a:endParaRPr lang="en-IN" sz="300" dirty="0"/>
          </a:p>
          <a:p>
            <a:pPr>
              <a:buNone/>
            </a:pPr>
            <a:endParaRPr lang="en-IN" sz="1600" dirty="0"/>
          </a:p>
          <a:p>
            <a:pPr>
              <a:buNone/>
            </a:pPr>
            <a:br>
              <a:rPr lang="en-IN" sz="300" dirty="0"/>
            </a:br>
            <a:endParaRPr lang="en-IN" sz="300" dirty="0"/>
          </a:p>
          <a:p>
            <a:pPr>
              <a:buNone/>
            </a:pPr>
            <a:endParaRPr lang="en-IN" b="1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7DC8C86-6CCF-AA97-E8A7-CAE65B44F581}"/>
              </a:ext>
            </a:extLst>
          </p:cNvPr>
          <p:cNvSpPr txBox="1"/>
          <p:nvPr/>
        </p:nvSpPr>
        <p:spPr>
          <a:xfrm>
            <a:off x="5879976" y="625164"/>
            <a:ext cx="6097554" cy="253915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Risk Intelligence Module</a:t>
            </a:r>
          </a:p>
          <a:p>
            <a:pPr>
              <a:buNone/>
            </a:pPr>
            <a:endParaRPr lang="en-IN" sz="7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None/>
            </a:pPr>
            <a:r>
              <a:rPr lang="en-IN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Includes innovative components:</a:t>
            </a:r>
          </a:p>
          <a:p>
            <a:pPr>
              <a:buNone/>
            </a:pPr>
            <a:r>
              <a:rPr lang="en-IN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✔ Buy Strength Index (BSI)</a:t>
            </a:r>
            <a:br>
              <a:rPr lang="en-IN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IN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→ Measures investment strength and buying momentum</a:t>
            </a:r>
          </a:p>
          <a:p>
            <a:pPr>
              <a:buNone/>
            </a:pPr>
            <a:r>
              <a:rPr lang="en-IN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✔ Capital Protection Score (CPS)</a:t>
            </a:r>
            <a:br>
              <a:rPr lang="en-IN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IN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→ Evaluates downside risk protection capability</a:t>
            </a:r>
          </a:p>
          <a:p>
            <a:pPr>
              <a:buNone/>
            </a:pPr>
            <a:r>
              <a:rPr lang="en-IN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✔ Ghost System</a:t>
            </a:r>
            <a:br>
              <a:rPr lang="en-IN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IN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→ Detects hidden volatility and abnormal market </a:t>
            </a:r>
            <a:r>
              <a:rPr lang="en-IN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behavior</a:t>
            </a:r>
            <a:endParaRPr lang="en-IN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None/>
            </a:pPr>
            <a:br>
              <a:rPr lang="en-IN" sz="400" dirty="0"/>
            </a:br>
            <a:endParaRPr lang="en-IN" sz="4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A26BEB1-E6A1-A972-C991-B26162EF450A}"/>
              </a:ext>
            </a:extLst>
          </p:cNvPr>
          <p:cNvSpPr txBox="1"/>
          <p:nvPr/>
        </p:nvSpPr>
        <p:spPr>
          <a:xfrm>
            <a:off x="5879976" y="3964539"/>
            <a:ext cx="6097554" cy="129266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Monte Carlo Simulation Engine</a:t>
            </a:r>
          </a:p>
          <a:p>
            <a:pPr>
              <a:buNone/>
            </a:pPr>
            <a:endParaRPr lang="en-US" sz="6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Simulates multiple future scenarios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Estimates return distribution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Predicts worst-case loss probability</a:t>
            </a:r>
          </a:p>
        </p:txBody>
      </p:sp>
    </p:spTree>
    <p:extLst>
      <p:ext uri="{BB962C8B-B14F-4D97-AF65-F5344CB8AC3E}">
        <p14:creationId xmlns:p14="http://schemas.microsoft.com/office/powerpoint/2010/main" val="140417006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26" name="Title 1"/>
          <p:cNvSpPr>
            <a:spLocks noGrp="1"/>
          </p:cNvSpPr>
          <p:nvPr>
            <p:ph type="title"/>
          </p:nvPr>
        </p:nvSpPr>
        <p:spPr>
          <a:xfrm>
            <a:off x="533400" y="479424"/>
            <a:ext cx="8229600" cy="492126"/>
          </a:xfrm>
        </p:spPr>
        <p:txBody>
          <a:bodyPr>
            <a:noAutofit/>
          </a:bodyPr>
          <a:lstStyle/>
          <a:p>
            <a:pPr eaLnBrk="1" fontAlgn="auto" hangingPunct="1">
              <a:spcAft>
                <a:spcPts val="0"/>
              </a:spcAft>
              <a:defRPr/>
            </a:pPr>
            <a:r>
              <a:rPr lang="en-US" sz="3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Learning Methods</a:t>
            </a:r>
          </a:p>
        </p:txBody>
      </p:sp>
      <p:sp>
        <p:nvSpPr>
          <p:cNvPr id="8195" name="Content Placeholder 2"/>
          <p:cNvSpPr>
            <a:spLocks noGrp="1"/>
          </p:cNvSpPr>
          <p:nvPr>
            <p:ph idx="1"/>
          </p:nvPr>
        </p:nvSpPr>
        <p:spPr>
          <a:xfrm>
            <a:off x="1981200" y="1714500"/>
            <a:ext cx="8229600" cy="3873500"/>
          </a:xfrm>
        </p:spPr>
        <p:txBody>
          <a:bodyPr>
            <a:normAutofit/>
          </a:bodyPr>
          <a:lstStyle/>
          <a:p>
            <a:pPr marL="285750" indent="-285750" algn="just">
              <a:spcBef>
                <a:spcPts val="0"/>
              </a:spcBef>
              <a:buClrTx/>
              <a:buFont typeface="Arial" charset="0"/>
              <a:buChar char="•"/>
              <a:defRPr/>
            </a:pPr>
            <a:endParaRPr lang="en-US" sz="1400" dirty="0">
              <a:latin typeface="Bookman Old Style" pitchFamily="18" charset="0"/>
            </a:endParaRPr>
          </a:p>
          <a:p>
            <a:pPr marL="285750" indent="-285750" algn="just">
              <a:spcBef>
                <a:spcPts val="0"/>
              </a:spcBef>
              <a:buClrTx/>
              <a:buFont typeface="Arial" charset="0"/>
              <a:buChar char="•"/>
              <a:defRPr/>
            </a:pPr>
            <a:endParaRPr lang="en-US" sz="1400" dirty="0">
              <a:latin typeface="Bookman Old Style" pitchFamily="18" charset="0"/>
            </a:endParaRPr>
          </a:p>
          <a:p>
            <a:pPr marL="285750" indent="-285750" algn="just">
              <a:spcBef>
                <a:spcPts val="0"/>
              </a:spcBef>
              <a:buClrTx/>
              <a:buFont typeface="Arial" charset="0"/>
              <a:buChar char="•"/>
              <a:defRPr/>
            </a:pPr>
            <a:endParaRPr lang="en-US" sz="1400" dirty="0">
              <a:latin typeface="Bookman Old Style" pitchFamily="18" charset="0"/>
            </a:endParaRPr>
          </a:p>
          <a:p>
            <a:pPr marL="274320" indent="-274320">
              <a:buClr>
                <a:schemeClr val="accent3"/>
              </a:buClr>
              <a:buFont typeface="Wingdings 2"/>
              <a:buChar char=""/>
              <a:defRPr/>
            </a:pP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669AC613-D7BC-457F-B6BC-821AAEEF75AB}" type="slidenum">
              <a:rPr lang="en-US"/>
              <a:pPr>
                <a:defRPr/>
              </a:pPr>
              <a:t>13</a:t>
            </a:fld>
            <a:endParaRPr lang="en-US"/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68446C31-0F84-F5A0-FF08-A78A3A0036F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15472498"/>
              </p:ext>
            </p:extLst>
          </p:nvPr>
        </p:nvGraphicFramePr>
        <p:xfrm>
          <a:off x="731850" y="1714500"/>
          <a:ext cx="11017225" cy="4365484"/>
        </p:xfrm>
        <a:graphic>
          <a:graphicData uri="http://schemas.openxmlformats.org/drawingml/2006/table">
            <a:tbl>
              <a:tblPr firstRow="1" bandRow="1"/>
              <a:tblGrid>
                <a:gridCol w="2203445">
                  <a:extLst>
                    <a:ext uri="{9D8B030D-6E8A-4147-A177-3AD203B41FA5}">
                      <a16:colId xmlns:a16="http://schemas.microsoft.com/office/drawing/2014/main" val="2672465337"/>
                    </a:ext>
                  </a:extLst>
                </a:gridCol>
                <a:gridCol w="2203445">
                  <a:extLst>
                    <a:ext uri="{9D8B030D-6E8A-4147-A177-3AD203B41FA5}">
                      <a16:colId xmlns:a16="http://schemas.microsoft.com/office/drawing/2014/main" val="1230779275"/>
                    </a:ext>
                  </a:extLst>
                </a:gridCol>
                <a:gridCol w="2203445">
                  <a:extLst>
                    <a:ext uri="{9D8B030D-6E8A-4147-A177-3AD203B41FA5}">
                      <a16:colId xmlns:a16="http://schemas.microsoft.com/office/drawing/2014/main" val="1854044592"/>
                    </a:ext>
                  </a:extLst>
                </a:gridCol>
                <a:gridCol w="1958617">
                  <a:extLst>
                    <a:ext uri="{9D8B030D-6E8A-4147-A177-3AD203B41FA5}">
                      <a16:colId xmlns:a16="http://schemas.microsoft.com/office/drawing/2014/main" val="2644642279"/>
                    </a:ext>
                  </a:extLst>
                </a:gridCol>
                <a:gridCol w="2448273">
                  <a:extLst>
                    <a:ext uri="{9D8B030D-6E8A-4147-A177-3AD203B41FA5}">
                      <a16:colId xmlns:a16="http://schemas.microsoft.com/office/drawing/2014/main" val="2385744292"/>
                    </a:ext>
                  </a:extLst>
                </a:gridCol>
              </a:tblGrid>
              <a:tr h="76396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b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Machine Learning (ML)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b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Drawback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b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Deep Learning (DL)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b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Drawback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Proposed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14045322"/>
                  </a:ext>
                </a:extLst>
              </a:tr>
              <a:tr h="141878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Linear Regression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Cannot capture complex market volatility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LSTM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High computational cost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AI-Based Integrated Portfolio Optimization &amp; Risk Forecasting System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21376360"/>
                  </a:ext>
                </a:extLst>
              </a:tr>
              <a:tr h="109137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ARIMA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Works only for stationary data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GRU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Requires large training dataset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Hybrid Historical + Real-Time Modeling Framework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61383076"/>
                  </a:ext>
                </a:extLst>
              </a:tr>
              <a:tr h="109137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Mean-Variance Optimization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Static allocation model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Basic Neural Network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Risk of overfitting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Includes BSI, CPS, Ghost System &amp; Monte Carlo Simulation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91249557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70109756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54" name="Title 1"/>
          <p:cNvSpPr>
            <a:spLocks noGrp="1"/>
          </p:cNvSpPr>
          <p:nvPr>
            <p:ph type="title"/>
          </p:nvPr>
        </p:nvSpPr>
        <p:spPr>
          <a:xfrm>
            <a:off x="466724" y="609600"/>
            <a:ext cx="8229600" cy="492126"/>
          </a:xfrm>
        </p:spPr>
        <p:txBody>
          <a:bodyPr>
            <a:noAutofit/>
          </a:bodyPr>
          <a:lstStyle/>
          <a:p>
            <a:pPr eaLnBrk="1" fontAlgn="auto" hangingPunct="1">
              <a:spcAft>
                <a:spcPts val="0"/>
              </a:spcAft>
              <a:defRPr/>
            </a:pPr>
            <a:r>
              <a:rPr lang="en-US" sz="3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Architecture Models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8E12F201-A61D-4865-9F77-8B938AE73A09}" type="slidenum">
              <a:rPr lang="en-US"/>
              <a:pPr>
                <a:defRPr/>
              </a:pPr>
              <a:t>14</a:t>
            </a:fld>
            <a:endParaRPr lang="en-US"/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AD3F17E5-D702-09A2-C7DC-9990F4ED0C8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95529678"/>
              </p:ext>
            </p:extLst>
          </p:nvPr>
        </p:nvGraphicFramePr>
        <p:xfrm>
          <a:off x="838200" y="1556792"/>
          <a:ext cx="10658400" cy="4900205"/>
        </p:xfrm>
        <a:graphic>
          <a:graphicData uri="http://schemas.openxmlformats.org/drawingml/2006/table">
            <a:tbl>
              <a:tblPr firstRow="1" bandRow="1"/>
              <a:tblGrid>
                <a:gridCol w="2131680">
                  <a:extLst>
                    <a:ext uri="{9D8B030D-6E8A-4147-A177-3AD203B41FA5}">
                      <a16:colId xmlns:a16="http://schemas.microsoft.com/office/drawing/2014/main" val="2543021287"/>
                    </a:ext>
                  </a:extLst>
                </a:gridCol>
                <a:gridCol w="2131680">
                  <a:extLst>
                    <a:ext uri="{9D8B030D-6E8A-4147-A177-3AD203B41FA5}">
                      <a16:colId xmlns:a16="http://schemas.microsoft.com/office/drawing/2014/main" val="2509608621"/>
                    </a:ext>
                  </a:extLst>
                </a:gridCol>
                <a:gridCol w="2131680">
                  <a:extLst>
                    <a:ext uri="{9D8B030D-6E8A-4147-A177-3AD203B41FA5}">
                      <a16:colId xmlns:a16="http://schemas.microsoft.com/office/drawing/2014/main" val="4102621863"/>
                    </a:ext>
                  </a:extLst>
                </a:gridCol>
                <a:gridCol w="2131680">
                  <a:extLst>
                    <a:ext uri="{9D8B030D-6E8A-4147-A177-3AD203B41FA5}">
                      <a16:colId xmlns:a16="http://schemas.microsoft.com/office/drawing/2014/main" val="694883641"/>
                    </a:ext>
                  </a:extLst>
                </a:gridCol>
                <a:gridCol w="2131680">
                  <a:extLst>
                    <a:ext uri="{9D8B030D-6E8A-4147-A177-3AD203B41FA5}">
                      <a16:colId xmlns:a16="http://schemas.microsoft.com/office/drawing/2014/main" val="2653379460"/>
                    </a:ext>
                  </a:extLst>
                </a:gridCol>
              </a:tblGrid>
              <a:tr h="43150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b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Architecture Name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b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Drawback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b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Architecture Name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b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Drawback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Proposed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68049329"/>
                  </a:ext>
                </a:extLst>
              </a:tr>
              <a:tr h="170236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Traditional Stock Prediction Architecture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Only performs price prediction. No portfolio allocation or risk integration.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Basic Portfolio Optimization Architecture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Static allocation model. Does not adapt to market changes.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AI-Based Integrated Portfolio Optimization &amp; Risk Forecasting Architecture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89888973"/>
                  </a:ext>
                </a:extLst>
              </a:tr>
              <a:tr h="138317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Uses only historical data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Cannot detect real-time volatility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Uses only statistical allocation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No prediction module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Combines historical prediction with real-time data integration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178081488"/>
                  </a:ext>
                </a:extLst>
              </a:tr>
              <a:tr h="138317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No simulation or risk intelligence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No regime detection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No dynamic risk scoring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No hidden risk detection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Includes BSI, CPS, Ghost System &amp; Monte Carlo Simulation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6466680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08444926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54" name="Title 1"/>
          <p:cNvSpPr>
            <a:spLocks noGrp="1"/>
          </p:cNvSpPr>
          <p:nvPr>
            <p:ph type="title"/>
          </p:nvPr>
        </p:nvSpPr>
        <p:spPr>
          <a:xfrm>
            <a:off x="381000" y="260648"/>
            <a:ext cx="8229600" cy="469773"/>
          </a:xfrm>
        </p:spPr>
        <p:txBody>
          <a:bodyPr>
            <a:noAutofit/>
          </a:bodyPr>
          <a:lstStyle/>
          <a:p>
            <a:pPr eaLnBrk="1" fontAlgn="auto" hangingPunct="1">
              <a:spcAft>
                <a:spcPts val="0"/>
              </a:spcAft>
              <a:defRPr/>
            </a:pPr>
            <a:r>
              <a:rPr lang="en-US" sz="3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Proposed Architecture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8E12F201-A61D-4865-9F77-8B938AE73A09}" type="slidenum">
              <a:rPr lang="en-US"/>
              <a:pPr>
                <a:defRPr/>
              </a:pPr>
              <a:t>15</a:t>
            </a:fld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194B06D-8268-871B-7B42-523975E50457}"/>
              </a:ext>
            </a:extLst>
          </p:cNvPr>
          <p:cNvSpPr txBox="1"/>
          <p:nvPr/>
        </p:nvSpPr>
        <p:spPr>
          <a:xfrm>
            <a:off x="838200" y="850773"/>
            <a:ext cx="9311918" cy="59093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proposed architecture integrates historical prediction, real-time market data processing, portfolio optimization, and advanced risk intelligence into a unified AI-based framework.</a:t>
            </a:r>
          </a:p>
          <a:p>
            <a:pPr>
              <a:buNone/>
            </a:pPr>
            <a:br>
              <a:rPr lang="en-IN" sz="9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endParaRPr lang="en-IN" sz="9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>
              <a:buNone/>
            </a:pPr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System Flow</a:t>
            </a:r>
          </a:p>
          <a:p>
            <a:pPr algn="ctr">
              <a:buNone/>
            </a:pP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Historical Stock Data</a:t>
            </a:r>
            <a:b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↓</a:t>
            </a:r>
            <a:b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Return Prediction Module</a:t>
            </a:r>
            <a:b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↓</a:t>
            </a:r>
            <a:b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Real-Time Market Data Integration</a:t>
            </a:r>
            <a:b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↓</a:t>
            </a:r>
            <a:b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Financial Metrics Engine</a:t>
            </a:r>
            <a:b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(Volatility, Sharpe Ratio, BSI, CPS)</a:t>
            </a:r>
            <a:b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↓</a:t>
            </a:r>
            <a:b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Portfolio Optimization Engine</a:t>
            </a:r>
            <a:b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↓</a:t>
            </a:r>
            <a:b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Risk Intelligence Module</a:t>
            </a:r>
            <a:b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(Ghost System + Regime Detection)</a:t>
            </a:r>
            <a:b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↓</a:t>
            </a:r>
            <a:b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Monte Carlo Simulation Engine</a:t>
            </a:r>
            <a:b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↓</a:t>
            </a:r>
            <a:b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Interactive Dashboard (</a:t>
            </a:r>
            <a:r>
              <a:rPr lang="en-IN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Steamlit</a:t>
            </a: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+ </a:t>
            </a:r>
            <a:r>
              <a:rPr lang="en-IN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FastAPI</a:t>
            </a: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339338767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8E12F201-A61D-4865-9F77-8B938AE73A09}" type="slidenum">
              <a:rPr lang="en-US"/>
              <a:pPr>
                <a:defRPr/>
              </a:pPr>
              <a:t>16</a:t>
            </a:fld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501B2A6-8C43-6754-CAAE-EF8E7239E2FB}"/>
              </a:ext>
            </a:extLst>
          </p:cNvPr>
          <p:cNvSpPr txBox="1"/>
          <p:nvPr/>
        </p:nvSpPr>
        <p:spPr>
          <a:xfrm>
            <a:off x="911424" y="523578"/>
            <a:ext cx="6097554" cy="58323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Module Description</a:t>
            </a:r>
          </a:p>
          <a:p>
            <a:pPr>
              <a:buNone/>
            </a:pPr>
            <a:endParaRPr lang="en-IN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None/>
            </a:pPr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Return Prediction Module</a:t>
            </a:r>
          </a:p>
          <a:p>
            <a:pPr>
              <a:buNone/>
            </a:pPr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Font typeface="Arial" panose="020B0604020202020204" pitchFamily="34" charset="0"/>
              <a:buChar char="•"/>
            </a:pP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Uses historical time-series data</a:t>
            </a:r>
          </a:p>
          <a:p>
            <a:pPr>
              <a:buFont typeface="Arial" panose="020B0604020202020204" pitchFamily="34" charset="0"/>
              <a:buChar char="•"/>
            </a:pPr>
            <a:endParaRPr lang="en-IN" sz="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Font typeface="Arial" panose="020B0604020202020204" pitchFamily="34" charset="0"/>
              <a:buChar char="•"/>
            </a:pP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Estimates expected returns</a:t>
            </a:r>
          </a:p>
          <a:p>
            <a:pPr>
              <a:buFont typeface="Arial" panose="020B0604020202020204" pitchFamily="34" charset="0"/>
              <a:buChar char="•"/>
            </a:pPr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None/>
            </a:pPr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Real-Time Data Engine</a:t>
            </a:r>
          </a:p>
          <a:p>
            <a:pPr>
              <a:buNone/>
            </a:pPr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Font typeface="Arial" panose="020B0604020202020204" pitchFamily="34" charset="0"/>
              <a:buChar char="•"/>
            </a:pP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Fetches live stock prices</a:t>
            </a:r>
          </a:p>
          <a:p>
            <a:pPr>
              <a:buFont typeface="Arial" panose="020B0604020202020204" pitchFamily="34" charset="0"/>
              <a:buChar char="•"/>
            </a:pPr>
            <a:endParaRPr lang="en-IN" sz="7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Font typeface="Arial" panose="020B0604020202020204" pitchFamily="34" charset="0"/>
              <a:buChar char="•"/>
            </a:pP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Updates portfolio metrics dynamically</a:t>
            </a:r>
          </a:p>
          <a:p>
            <a:pPr>
              <a:buFont typeface="Arial" panose="020B0604020202020204" pitchFamily="34" charset="0"/>
              <a:buChar char="•"/>
            </a:pPr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None/>
            </a:pPr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Financial Metrics Engine</a:t>
            </a:r>
          </a:p>
          <a:p>
            <a:pPr>
              <a:buNone/>
            </a:pPr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Font typeface="Arial" panose="020B0604020202020204" pitchFamily="34" charset="0"/>
              <a:buChar char="•"/>
            </a:pP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Calculates volatility</a:t>
            </a:r>
          </a:p>
          <a:p>
            <a:pPr>
              <a:buFont typeface="Arial" panose="020B0604020202020204" pitchFamily="34" charset="0"/>
              <a:buChar char="•"/>
            </a:pPr>
            <a:endParaRPr lang="en-IN" sz="9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Font typeface="Arial" panose="020B0604020202020204" pitchFamily="34" charset="0"/>
              <a:buChar char="•"/>
            </a:pP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Computes Sharpe ratio</a:t>
            </a:r>
          </a:p>
          <a:p>
            <a:pPr>
              <a:buFont typeface="Arial" panose="020B0604020202020204" pitchFamily="34" charset="0"/>
              <a:buChar char="•"/>
            </a:pPr>
            <a:endParaRPr lang="en-IN" sz="9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Font typeface="Arial" panose="020B0604020202020204" pitchFamily="34" charset="0"/>
              <a:buChar char="•"/>
            </a:pP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Generates Buy Strength Index (BSI)</a:t>
            </a:r>
          </a:p>
          <a:p>
            <a:pPr>
              <a:buFont typeface="Arial" panose="020B0604020202020204" pitchFamily="34" charset="0"/>
              <a:buChar char="•"/>
            </a:pPr>
            <a:endParaRPr lang="en-IN" sz="9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Font typeface="Arial" panose="020B0604020202020204" pitchFamily="34" charset="0"/>
              <a:buChar char="•"/>
            </a:pP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Computes Capital Protection Score (CPS)</a:t>
            </a:r>
          </a:p>
        </p:txBody>
      </p:sp>
    </p:spTree>
    <p:extLst>
      <p:ext uri="{BB962C8B-B14F-4D97-AF65-F5344CB8AC3E}">
        <p14:creationId xmlns:p14="http://schemas.microsoft.com/office/powerpoint/2010/main" val="43519586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248237A-BC75-C26C-A8AC-5C2123B424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561DEE20-C919-4C9D-873F-4C18D1E8D478}" type="slidenum">
              <a:rPr lang="en-US" smtClean="0"/>
              <a:pPr>
                <a:defRPr/>
              </a:pPr>
              <a:t>17</a:t>
            </a:fld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639563F-A968-DD16-3799-2BE9B912D9A3}"/>
              </a:ext>
            </a:extLst>
          </p:cNvPr>
          <p:cNvSpPr txBox="1"/>
          <p:nvPr/>
        </p:nvSpPr>
        <p:spPr>
          <a:xfrm>
            <a:off x="1055440" y="501697"/>
            <a:ext cx="6097554" cy="57708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Portfolio Optimization Engine</a:t>
            </a:r>
          </a:p>
          <a:p>
            <a:pPr>
              <a:buNone/>
            </a:pPr>
            <a:endParaRPr lang="en-IN" sz="9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Font typeface="Arial" panose="020B0604020202020204" pitchFamily="34" charset="0"/>
              <a:buChar char="•"/>
            </a:pP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Applies Mean-Variance model</a:t>
            </a:r>
          </a:p>
          <a:p>
            <a:pPr>
              <a:buFont typeface="Arial" panose="020B0604020202020204" pitchFamily="34" charset="0"/>
              <a:buChar char="•"/>
            </a:pPr>
            <a:endParaRPr lang="en-IN" sz="9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Font typeface="Arial" panose="020B0604020202020204" pitchFamily="34" charset="0"/>
              <a:buChar char="•"/>
            </a:pP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Allocates optimal asset weights</a:t>
            </a:r>
          </a:p>
          <a:p>
            <a:pPr>
              <a:buFont typeface="Arial" panose="020B0604020202020204" pitchFamily="34" charset="0"/>
              <a:buChar char="•"/>
            </a:pPr>
            <a:endParaRPr lang="en-IN" sz="9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Font typeface="Arial" panose="020B0604020202020204" pitchFamily="34" charset="0"/>
              <a:buChar char="•"/>
            </a:pP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Maximizes risk-adjusted performance</a:t>
            </a:r>
          </a:p>
          <a:p>
            <a:pPr>
              <a:buFont typeface="Arial" panose="020B0604020202020204" pitchFamily="34" charset="0"/>
              <a:buChar char="•"/>
            </a:pPr>
            <a:endParaRPr lang="en-IN" sz="9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None/>
            </a:pPr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Risk Intelligence Module</a:t>
            </a:r>
          </a:p>
          <a:p>
            <a:pPr>
              <a:buNone/>
            </a:pPr>
            <a:endParaRPr lang="en-IN" sz="9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Font typeface="Arial" panose="020B0604020202020204" pitchFamily="34" charset="0"/>
              <a:buChar char="•"/>
            </a:pP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Detects market regime (Calm / Volatile)</a:t>
            </a:r>
          </a:p>
          <a:p>
            <a:pPr>
              <a:buFont typeface="Arial" panose="020B0604020202020204" pitchFamily="34" charset="0"/>
              <a:buChar char="•"/>
            </a:pPr>
            <a:endParaRPr lang="en-IN" sz="9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Font typeface="Arial" panose="020B0604020202020204" pitchFamily="34" charset="0"/>
              <a:buChar char="•"/>
            </a:pP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Ghost System monitors hidden risk</a:t>
            </a:r>
          </a:p>
          <a:p>
            <a:pPr>
              <a:buFont typeface="Arial" panose="020B0604020202020204" pitchFamily="34" charset="0"/>
              <a:buChar char="•"/>
            </a:pPr>
            <a:endParaRPr lang="en-IN" sz="9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Font typeface="Arial" panose="020B0604020202020204" pitchFamily="34" charset="0"/>
              <a:buChar char="•"/>
            </a:pP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Estimates worst-case loss</a:t>
            </a:r>
          </a:p>
          <a:p>
            <a:pPr>
              <a:buFont typeface="Arial" panose="020B0604020202020204" pitchFamily="34" charset="0"/>
              <a:buChar char="•"/>
            </a:pPr>
            <a:endParaRPr lang="en-IN" sz="9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None/>
            </a:pPr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Monte Carlo Simulation Engine</a:t>
            </a:r>
          </a:p>
          <a:p>
            <a:pPr>
              <a:buNone/>
            </a:pPr>
            <a:endParaRPr lang="en-IN" sz="9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Font typeface="Arial" panose="020B0604020202020204" pitchFamily="34" charset="0"/>
              <a:buChar char="•"/>
            </a:pP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Simulates multiple future return paths</a:t>
            </a:r>
          </a:p>
          <a:p>
            <a:pPr>
              <a:buFont typeface="Arial" panose="020B0604020202020204" pitchFamily="34" charset="0"/>
              <a:buChar char="•"/>
            </a:pPr>
            <a:endParaRPr lang="en-IN" sz="9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Font typeface="Arial" panose="020B0604020202020204" pitchFamily="34" charset="0"/>
              <a:buChar char="•"/>
            </a:pP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Generates probability distribution of returns</a:t>
            </a:r>
          </a:p>
          <a:p>
            <a:pPr>
              <a:buFont typeface="Arial" panose="020B0604020202020204" pitchFamily="34" charset="0"/>
              <a:buChar char="•"/>
            </a:pPr>
            <a:endParaRPr lang="en-IN" sz="9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None/>
            </a:pPr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Web Dashboard</a:t>
            </a:r>
          </a:p>
          <a:p>
            <a:pPr>
              <a:buNone/>
            </a:pPr>
            <a:endParaRPr lang="en-IN" sz="9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Font typeface="Arial" panose="020B0604020202020204" pitchFamily="34" charset="0"/>
              <a:buChar char="•"/>
            </a:pP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Displays price, expected return, volatility</a:t>
            </a:r>
          </a:p>
          <a:p>
            <a:pPr>
              <a:buFont typeface="Arial" panose="020B0604020202020204" pitchFamily="34" charset="0"/>
              <a:buChar char="•"/>
            </a:pPr>
            <a:endParaRPr lang="en-IN" sz="9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Font typeface="Arial" panose="020B0604020202020204" pitchFamily="34" charset="0"/>
              <a:buChar char="•"/>
            </a:pP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Shows allocation %, risk level, simulation output</a:t>
            </a:r>
          </a:p>
        </p:txBody>
      </p:sp>
    </p:spTree>
    <p:extLst>
      <p:ext uri="{BB962C8B-B14F-4D97-AF65-F5344CB8AC3E}">
        <p14:creationId xmlns:p14="http://schemas.microsoft.com/office/powerpoint/2010/main" val="240909647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8E12F201-A61D-4865-9F77-8B938AE73A09}" type="slidenum">
              <a:rPr lang="en-US"/>
              <a:pPr>
                <a:defRPr/>
              </a:pPr>
              <a:t>18</a:t>
            </a:fld>
            <a:endParaRPr lang="en-US"/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5B3FE151-0E2A-1921-4946-5640F92A10B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56114757"/>
              </p:ext>
            </p:extLst>
          </p:nvPr>
        </p:nvGraphicFramePr>
        <p:xfrm>
          <a:off x="2032000" y="908720"/>
          <a:ext cx="8128000" cy="5447632"/>
        </p:xfrm>
        <a:graphic>
          <a:graphicData uri="http://schemas.openxmlformats.org/drawingml/2006/table">
            <a:tbl>
              <a:tblPr firstRow="1" bandRow="1"/>
              <a:tblGrid>
                <a:gridCol w="4064000">
                  <a:extLst>
                    <a:ext uri="{9D8B030D-6E8A-4147-A177-3AD203B41FA5}">
                      <a16:colId xmlns:a16="http://schemas.microsoft.com/office/drawing/2014/main" val="970817227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913004231"/>
                    </a:ext>
                  </a:extLst>
                </a:gridCol>
              </a:tblGrid>
              <a:tr h="50788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IN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Parameter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IN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Value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98323586"/>
                  </a:ext>
                </a:extLst>
              </a:tr>
              <a:tr h="50788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IN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Train – Test Split Ratio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IN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Training Set – 80% / Testing Set – 20%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577580131"/>
                  </a:ext>
                </a:extLst>
              </a:tr>
              <a:tr h="50788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IN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Learning Rate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IN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0.001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620704505"/>
                  </a:ext>
                </a:extLst>
              </a:tr>
              <a:tr h="50788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IN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Momentum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IN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0.9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166444458"/>
                  </a:ext>
                </a:extLst>
              </a:tr>
              <a:tr h="50788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IN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Optimizer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IN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Adam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50698123"/>
                  </a:ext>
                </a:extLst>
              </a:tr>
              <a:tr h="50788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IN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Activation Function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IN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ReLU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28155563"/>
                  </a:ext>
                </a:extLst>
              </a:tr>
              <a:tr h="50788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IN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Optimization Algorithm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IN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Mean-Variance Based Optimization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432817534"/>
                  </a:ext>
                </a:extLst>
              </a:tr>
              <a:tr h="50788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IN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Algorithm Method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IN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Hybrid Historical + Real-Time Modeling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40260902"/>
                  </a:ext>
                </a:extLst>
              </a:tr>
              <a:tr h="876631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IN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Modelling the Dataset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Time-Series Financial Modeling with Rolling Window Analysis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12167851"/>
                  </a:ext>
                </a:extLst>
              </a:tr>
              <a:tr h="50788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IN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No. of Epochs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IN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100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47246851"/>
                  </a:ext>
                </a:extLst>
              </a:tr>
            </a:tbl>
          </a:graphicData>
        </a:graphic>
      </p:graphicFrame>
      <p:sp>
        <p:nvSpPr>
          <p:cNvPr id="10" name="TextBox 9">
            <a:extLst>
              <a:ext uri="{FF2B5EF4-FFF2-40B4-BE49-F238E27FC236}">
                <a16:creationId xmlns:a16="http://schemas.microsoft.com/office/drawing/2014/main" id="{539C0466-6AC0-7B97-7159-194A05F80C0C}"/>
              </a:ext>
            </a:extLst>
          </p:cNvPr>
          <p:cNvSpPr txBox="1"/>
          <p:nvPr/>
        </p:nvSpPr>
        <p:spPr>
          <a:xfrm>
            <a:off x="2483603" y="312764"/>
            <a:ext cx="722479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Optimal Hyper-Parameters of the Proposed Model</a:t>
            </a:r>
            <a:endParaRPr lang="en-IN" sz="24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0344892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54" name="Title 1"/>
          <p:cNvSpPr>
            <a:spLocks noGrp="1"/>
          </p:cNvSpPr>
          <p:nvPr>
            <p:ph type="title"/>
          </p:nvPr>
        </p:nvSpPr>
        <p:spPr>
          <a:xfrm>
            <a:off x="381000" y="207568"/>
            <a:ext cx="8229600" cy="492126"/>
          </a:xfrm>
        </p:spPr>
        <p:txBody>
          <a:bodyPr>
            <a:noAutofit/>
          </a:bodyPr>
          <a:lstStyle/>
          <a:p>
            <a:pPr eaLnBrk="1" fontAlgn="auto" hangingPunct="1">
              <a:spcAft>
                <a:spcPts val="0"/>
              </a:spcAft>
              <a:defRPr/>
            </a:pPr>
            <a:r>
              <a:rPr lang="en-US" sz="3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Proposed Optimizer Algorithm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8E12F201-A61D-4865-9F77-8B938AE73A09}" type="slidenum">
              <a:rPr lang="en-US"/>
              <a:pPr>
                <a:defRPr/>
              </a:pPr>
              <a:t>19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CA8C4580-BC3D-7583-6141-D3293D47F75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43899149"/>
              </p:ext>
            </p:extLst>
          </p:nvPr>
        </p:nvGraphicFramePr>
        <p:xfrm>
          <a:off x="430190" y="960755"/>
          <a:ext cx="11331620" cy="5499659"/>
        </p:xfrm>
        <a:graphic>
          <a:graphicData uri="http://schemas.openxmlformats.org/drawingml/2006/table">
            <a:tbl>
              <a:tblPr firstRow="1" bandRow="1"/>
              <a:tblGrid>
                <a:gridCol w="2266324">
                  <a:extLst>
                    <a:ext uri="{9D8B030D-6E8A-4147-A177-3AD203B41FA5}">
                      <a16:colId xmlns:a16="http://schemas.microsoft.com/office/drawing/2014/main" val="2411226155"/>
                    </a:ext>
                  </a:extLst>
                </a:gridCol>
                <a:gridCol w="2266324">
                  <a:extLst>
                    <a:ext uri="{9D8B030D-6E8A-4147-A177-3AD203B41FA5}">
                      <a16:colId xmlns:a16="http://schemas.microsoft.com/office/drawing/2014/main" val="3385201892"/>
                    </a:ext>
                  </a:extLst>
                </a:gridCol>
                <a:gridCol w="2266324">
                  <a:extLst>
                    <a:ext uri="{9D8B030D-6E8A-4147-A177-3AD203B41FA5}">
                      <a16:colId xmlns:a16="http://schemas.microsoft.com/office/drawing/2014/main" val="2851355451"/>
                    </a:ext>
                  </a:extLst>
                </a:gridCol>
                <a:gridCol w="2266324">
                  <a:extLst>
                    <a:ext uri="{9D8B030D-6E8A-4147-A177-3AD203B41FA5}">
                      <a16:colId xmlns:a16="http://schemas.microsoft.com/office/drawing/2014/main" val="915357097"/>
                    </a:ext>
                  </a:extLst>
                </a:gridCol>
                <a:gridCol w="2266324">
                  <a:extLst>
                    <a:ext uri="{9D8B030D-6E8A-4147-A177-3AD203B41FA5}">
                      <a16:colId xmlns:a16="http://schemas.microsoft.com/office/drawing/2014/main" val="1311361972"/>
                    </a:ext>
                  </a:extLst>
                </a:gridCol>
              </a:tblGrid>
              <a:tr h="611073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600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Optimization Algorithm 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600" b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Drawback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600" b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Optimization Algorithm 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600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Drawback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600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Proposed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865553316"/>
                  </a:ext>
                </a:extLst>
              </a:tr>
              <a:tr h="113485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Equal Weight Allocation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Assigns equal weights without considering risk or return differences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Random Allocation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No optimization logic, unstable performance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AI-Based Risk-Adjusted Portfolio Optimization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116452430"/>
                  </a:ext>
                </a:extLst>
              </a:tr>
              <a:tr h="87296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Static Mean-Variance Model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Does not update dynamically with real-time data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Basic Sharpe Maximization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Ignores hidden downside risk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Dynamic Mean-Variance with Real-Time Integration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521100205"/>
                  </a:ext>
                </a:extLst>
              </a:tr>
              <a:tr h="87296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Traditional Risk Models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Focus only on volatility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Fixed Threshold Allocation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Cannot adapt to market regime changes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Volatility-Based Adaptive Allocation Engine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87369663"/>
                  </a:ext>
                </a:extLst>
              </a:tr>
              <a:tr h="87296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Manual Portfolio Selection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Depends on investor intuition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Rule-Based Allocation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Lacks predictive intelligence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AI-Driven Allocation using Predicted Returns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39189280"/>
                  </a:ext>
                </a:extLst>
              </a:tr>
              <a:tr h="113485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No Simulation-Based Optimization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Cannot forecast future return distribution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No Downside Protection Logic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No capital safety evaluation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Integrated BSI, CPS, Ghost System &amp; Monte Carlo Simulation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8350160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91933683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0" name="Title 1"/>
          <p:cNvSpPr>
            <a:spLocks noGrp="1"/>
          </p:cNvSpPr>
          <p:nvPr>
            <p:ph type="title"/>
          </p:nvPr>
        </p:nvSpPr>
        <p:spPr>
          <a:xfrm>
            <a:off x="381000" y="457200"/>
            <a:ext cx="8229600" cy="381000"/>
          </a:xfrm>
        </p:spPr>
        <p:txBody>
          <a:bodyPr>
            <a:noAutofit/>
          </a:bodyPr>
          <a:lstStyle/>
          <a:p>
            <a:pPr eaLnBrk="1" fontAlgn="auto" hangingPunct="1">
              <a:spcAft>
                <a:spcPts val="0"/>
              </a:spcAft>
              <a:defRPr/>
            </a:pPr>
            <a:r>
              <a:rPr lang="en-US" sz="3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Environmental Setup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A9E8F87-40C0-4AB6-9F1C-7B8E01711413}" type="slidenum">
              <a:rPr lang="en-US"/>
              <a:pPr>
                <a:defRPr/>
              </a:pPr>
              <a:t>20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D8E32364-C344-C0E8-7C2B-55FD7B04643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88355650"/>
              </p:ext>
            </p:extLst>
          </p:nvPr>
        </p:nvGraphicFramePr>
        <p:xfrm>
          <a:off x="2032000" y="1196752"/>
          <a:ext cx="8128000" cy="5040570"/>
        </p:xfrm>
        <a:graphic>
          <a:graphicData uri="http://schemas.openxmlformats.org/drawingml/2006/table">
            <a:tbl>
              <a:tblPr firstRow="1" bandRow="1"/>
              <a:tblGrid>
                <a:gridCol w="4064000">
                  <a:extLst>
                    <a:ext uri="{9D8B030D-6E8A-4147-A177-3AD203B41FA5}">
                      <a16:colId xmlns:a16="http://schemas.microsoft.com/office/drawing/2014/main" val="3631663395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173573412"/>
                    </a:ext>
                  </a:extLst>
                </a:gridCol>
              </a:tblGrid>
              <a:tr h="504057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Name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Description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469326973"/>
                  </a:ext>
                </a:extLst>
              </a:tr>
              <a:tr h="504057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Operating System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Windows 10 (64-bit)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402672590"/>
                  </a:ext>
                </a:extLst>
              </a:tr>
              <a:tr h="504057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Tools Used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Python, </a:t>
                      </a:r>
                      <a:r>
                        <a:rPr lang="en-IN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FastAPI</a:t>
                      </a:r>
                      <a:r>
                        <a:rPr lang="en-IN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, </a:t>
                      </a:r>
                      <a:r>
                        <a:rPr lang="en-IN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steamlit</a:t>
                      </a:r>
                      <a:r>
                        <a:rPr lang="en-IN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, MySQL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78407458"/>
                  </a:ext>
                </a:extLst>
              </a:tr>
              <a:tr h="504057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Processor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Intel Core i5 / i7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254003407"/>
                  </a:ext>
                </a:extLst>
              </a:tr>
              <a:tr h="504057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Memory &amp; Clock Speed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2.4 GHz and above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84683064"/>
                  </a:ext>
                </a:extLst>
              </a:tr>
              <a:tr h="504057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RAM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8 GB / 16 GB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228108693"/>
                  </a:ext>
                </a:extLst>
              </a:tr>
              <a:tr h="504057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GPU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Not Required (CPU-based Execution)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56957791"/>
                  </a:ext>
                </a:extLst>
              </a:tr>
              <a:tr h="504057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Name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Description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439904780"/>
                  </a:ext>
                </a:extLst>
              </a:tr>
              <a:tr h="504057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Operating System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Windows 10 (64-bit)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90669221"/>
                  </a:ext>
                </a:extLst>
              </a:tr>
              <a:tr h="504057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Tools Used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Python, </a:t>
                      </a:r>
                      <a:r>
                        <a:rPr lang="en-IN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FastAPI</a:t>
                      </a:r>
                      <a:r>
                        <a:rPr lang="en-IN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, </a:t>
                      </a:r>
                      <a:r>
                        <a:rPr lang="en-IN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steamlit</a:t>
                      </a:r>
                      <a:r>
                        <a:rPr lang="en-IN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, MySQL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2159436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69456842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0" name="Title 1"/>
          <p:cNvSpPr>
            <a:spLocks noGrp="1"/>
          </p:cNvSpPr>
          <p:nvPr>
            <p:ph type="title"/>
          </p:nvPr>
        </p:nvSpPr>
        <p:spPr>
          <a:xfrm>
            <a:off x="381000" y="457200"/>
            <a:ext cx="8229600" cy="381000"/>
          </a:xfrm>
        </p:spPr>
        <p:txBody>
          <a:bodyPr>
            <a:noAutofit/>
          </a:bodyPr>
          <a:lstStyle/>
          <a:p>
            <a:pPr eaLnBrk="1" fontAlgn="auto" hangingPunct="1">
              <a:spcAft>
                <a:spcPts val="0"/>
              </a:spcAft>
              <a:defRPr/>
            </a:pPr>
            <a:r>
              <a:rPr lang="en-US" sz="3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Experimental Results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A9E8F87-40C0-4AB6-9F1C-7B8E01711413}" type="slidenum">
              <a:rPr lang="en-US"/>
              <a:pPr>
                <a:defRPr/>
              </a:pPr>
              <a:t>21</a:t>
            </a:fld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A5C6871-2F1D-CEE5-18DE-EAB2E4885825}"/>
              </a:ext>
            </a:extLst>
          </p:cNvPr>
          <p:cNvSpPr txBox="1"/>
          <p:nvPr/>
        </p:nvSpPr>
        <p:spPr>
          <a:xfrm>
            <a:off x="695400" y="1196752"/>
            <a:ext cx="10513168" cy="46551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proposed AI-Based Portfolio Optimization and Risk Forecasting System was evaluated using multiple stocks with both historical and real-time market data.</a:t>
            </a:r>
          </a:p>
          <a:p>
            <a:pPr>
              <a:buNone/>
            </a:pPr>
            <a:endParaRPr lang="en-US" sz="105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None/>
            </a:pP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following performance metrics were analyzed:</a:t>
            </a:r>
          </a:p>
          <a:p>
            <a:pPr>
              <a:buNone/>
            </a:pPr>
            <a:endParaRPr lang="en-US" sz="1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Expected Return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br>
              <a:rPr lang="en-US" sz="10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Volatility (Standard Deviation)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br>
              <a:rPr lang="en-US" sz="10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Sharpe Ratio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br>
              <a:rPr lang="en-US" sz="10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Buy Strength Index (BSI)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br>
              <a:rPr lang="en-US" sz="10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Capital Protection Score (CPS)</a:t>
            </a: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en-IN" sz="1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Ghost System for Hidden Risk Detection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br>
              <a:rPr lang="en-US" sz="10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Market Regime Classification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br>
              <a:rPr lang="en-US" sz="10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Monte Carlo Simulation Outcomes</a:t>
            </a:r>
          </a:p>
        </p:txBody>
      </p:sp>
    </p:spTree>
    <p:extLst>
      <p:ext uri="{BB962C8B-B14F-4D97-AF65-F5344CB8AC3E}">
        <p14:creationId xmlns:p14="http://schemas.microsoft.com/office/powerpoint/2010/main" val="384324675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A9E8F87-40C0-4AB6-9F1C-7B8E01711413}" type="slidenum">
              <a:rPr lang="en-US"/>
              <a:pPr>
                <a:defRPr/>
              </a:pPr>
              <a:t>22</a:t>
            </a:fld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0DFA9D8-89C5-4B55-EC0C-C47E3A915CCC}"/>
              </a:ext>
            </a:extLst>
          </p:cNvPr>
          <p:cNvSpPr txBox="1"/>
          <p:nvPr/>
        </p:nvSpPr>
        <p:spPr>
          <a:xfrm>
            <a:off x="551384" y="404664"/>
            <a:ext cx="8738964" cy="56323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Observations:</a:t>
            </a:r>
          </a:p>
          <a:p>
            <a:pPr>
              <a:buNone/>
            </a:pPr>
            <a:endParaRPr lang="en-IN" sz="6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The optimized portfolio showed improved Sharpe ratio compared to equal-weight allocation.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IN" sz="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Real-time integration allowed dynamic adjustment of portfolio weights.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IN" sz="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BSI successfully identified strong investment opportunities.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IN" sz="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CPS provided clear downside risk protection measurement.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IN" sz="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Ghost System detected abnormal volatility conditions.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IN" sz="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Monte Carlo simulation generated reliable future return distributions and worst-case loss estimation.</a:t>
            </a:r>
          </a:p>
          <a:p>
            <a:pPr>
              <a:buNone/>
            </a:pPr>
            <a:br>
              <a:rPr lang="en-IN" sz="6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endParaRPr lang="en-IN" sz="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None/>
            </a:pPr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Visualization Outputs:</a:t>
            </a:r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None/>
            </a:pPr>
            <a:br>
              <a:rPr lang="en-IN" sz="6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Risk Level Classification</a:t>
            </a:r>
          </a:p>
          <a:p>
            <a:pPr>
              <a:buNone/>
            </a:pPr>
            <a:br>
              <a:rPr lang="en-IN" sz="6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Expected Return vs Volatility </a:t>
            </a:r>
          </a:p>
          <a:p>
            <a:pPr>
              <a:buNone/>
            </a:pPr>
            <a:br>
              <a:rPr lang="en-IN" sz="6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Monte Carlo Simulation Distribution</a:t>
            </a:r>
          </a:p>
          <a:p>
            <a:pPr>
              <a:buNone/>
            </a:pPr>
            <a:br>
              <a:rPr lang="en-IN" sz="6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Worst-Case Loss </a:t>
            </a:r>
            <a:r>
              <a:rPr lang="en-IN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Estimatio</a:t>
            </a:r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Final AI verdict(</a:t>
            </a:r>
            <a:r>
              <a:rPr lang="en-IN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Buy,Hold,Avoid</a:t>
            </a: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  <a:b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2296365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0" name="Title 1"/>
          <p:cNvSpPr>
            <a:spLocks noGrp="1"/>
          </p:cNvSpPr>
          <p:nvPr>
            <p:ph type="title"/>
          </p:nvPr>
        </p:nvSpPr>
        <p:spPr>
          <a:xfrm>
            <a:off x="381000" y="457200"/>
            <a:ext cx="8229600" cy="381000"/>
          </a:xfrm>
        </p:spPr>
        <p:txBody>
          <a:bodyPr>
            <a:noAutofit/>
          </a:bodyPr>
          <a:lstStyle/>
          <a:p>
            <a:pPr eaLnBrk="1" fontAlgn="auto" hangingPunct="1">
              <a:spcAft>
                <a:spcPts val="0"/>
              </a:spcAft>
              <a:defRPr/>
            </a:pPr>
            <a:r>
              <a:rPr lang="en-US" sz="3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Conclusion and Future Scope</a:t>
            </a:r>
          </a:p>
        </p:txBody>
      </p:sp>
      <p:sp>
        <p:nvSpPr>
          <p:cNvPr id="18435" name="Content Placeholder 2"/>
          <p:cNvSpPr>
            <a:spLocks noGrp="1"/>
          </p:cNvSpPr>
          <p:nvPr>
            <p:ph idx="1"/>
          </p:nvPr>
        </p:nvSpPr>
        <p:spPr>
          <a:xfrm>
            <a:off x="400050" y="1098551"/>
            <a:ext cx="11430000" cy="5257800"/>
          </a:xfrm>
        </p:spPr>
        <p:txBody>
          <a:bodyPr/>
          <a:lstStyle/>
          <a:p>
            <a:pPr algn="just" eaLnBrk="1" hangingPunct="1"/>
            <a:endParaRPr lang="en-US" sz="1400" dirty="0">
              <a:latin typeface="Bookman Old Style" panose="02050604050505020204" pitchFamily="18" charset="0"/>
            </a:endParaRPr>
          </a:p>
          <a:p>
            <a:pPr algn="just" eaLnBrk="1" hangingPunct="1"/>
            <a:endParaRPr lang="en-US" sz="1400" dirty="0">
              <a:latin typeface="Bookman Old Style" panose="02050604050505020204" pitchFamily="18" charset="0"/>
            </a:endParaRPr>
          </a:p>
          <a:p>
            <a:pPr algn="just" eaLnBrk="1" hangingPunct="1"/>
            <a:endParaRPr lang="en-US" sz="1400" dirty="0">
              <a:latin typeface="Bookman Old Style" panose="02050604050505020204" pitchFamily="18" charset="0"/>
            </a:endParaRPr>
          </a:p>
          <a:p>
            <a:pPr algn="just" eaLnBrk="1" hangingPunct="1"/>
            <a:endParaRPr lang="en-US" sz="1400" dirty="0">
              <a:latin typeface="Bookman Old Style" panose="02050604050505020204" pitchFamily="18" charset="0"/>
            </a:endParaRPr>
          </a:p>
          <a:p>
            <a:pPr algn="just" eaLnBrk="1" hangingPunct="1"/>
            <a:endParaRPr lang="en-US" sz="1400" dirty="0">
              <a:latin typeface="Bookman Old Style" panose="02050604050505020204" pitchFamily="18" charset="0"/>
            </a:endParaRPr>
          </a:p>
          <a:p>
            <a:pPr algn="just" eaLnBrk="1" hangingPunct="1"/>
            <a:endParaRPr lang="en-US" sz="1400" dirty="0">
              <a:latin typeface="Bookman Old Style" panose="02050604050505020204" pitchFamily="18" charset="0"/>
            </a:endParaRPr>
          </a:p>
          <a:p>
            <a:pPr algn="just" eaLnBrk="1" hangingPunct="1"/>
            <a:endParaRPr lang="en-US" sz="1400" dirty="0">
              <a:latin typeface="Bookman Old Style" panose="02050604050505020204" pitchFamily="18" charset="0"/>
            </a:endParaRPr>
          </a:p>
          <a:p>
            <a:pPr algn="just" eaLnBrk="1" hangingPunct="1"/>
            <a:endParaRPr lang="en-US" sz="1400" dirty="0">
              <a:latin typeface="Bookman Old Style" panose="02050604050505020204" pitchFamily="18" charset="0"/>
            </a:endParaRPr>
          </a:p>
          <a:p>
            <a:pPr algn="just" eaLnBrk="1" hangingPunct="1"/>
            <a:endParaRPr lang="en-US" sz="1400" dirty="0">
              <a:latin typeface="Bookman Old Style" panose="02050604050505020204" pitchFamily="18" charset="0"/>
            </a:endParaRPr>
          </a:p>
          <a:p>
            <a:pPr algn="just" eaLnBrk="1" hangingPunct="1"/>
            <a:endParaRPr lang="en-US" sz="1400" dirty="0">
              <a:latin typeface="Bookman Old Style" panose="02050604050505020204" pitchFamily="18" charset="0"/>
            </a:endParaRPr>
          </a:p>
          <a:p>
            <a:pPr algn="just" eaLnBrk="1" hangingPunct="1"/>
            <a:endParaRPr lang="en-US" sz="1400" dirty="0">
              <a:latin typeface="Bookman Old Style" panose="02050604050505020204" pitchFamily="18" charset="0"/>
            </a:endParaRPr>
          </a:p>
          <a:p>
            <a:pPr algn="just" eaLnBrk="1" hangingPunct="1"/>
            <a:endParaRPr lang="en-US" sz="1400" dirty="0">
              <a:latin typeface="Bookman Old Style" panose="02050604050505020204" pitchFamily="18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A9E8F87-40C0-4AB6-9F1C-7B8E01711413}" type="slidenum">
              <a:rPr lang="en-US"/>
              <a:pPr>
                <a:defRPr/>
              </a:pPr>
              <a:t>23</a:t>
            </a:fld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E851844-72F4-90C9-4A18-83FEE106A4F7}"/>
              </a:ext>
            </a:extLst>
          </p:cNvPr>
          <p:cNvSpPr txBox="1"/>
          <p:nvPr/>
        </p:nvSpPr>
        <p:spPr>
          <a:xfrm>
            <a:off x="911424" y="1305341"/>
            <a:ext cx="7583726" cy="42473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Conclusion</a:t>
            </a:r>
          </a:p>
          <a:p>
            <a:pPr>
              <a:buNone/>
            </a:pPr>
            <a:endParaRPr 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This project successfully developed an AI-Based Portfolio Optimization and Risk Forecasting System integrating historical prediction with real-time market analysis.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system calculates expected return, volatility, Sharpe ratio, and generates innovative metrics such as Buy Strength Index (BSI), Capital Protection Score (CPS), and Ghost System risk detection.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Monte Carlo simulation is used to estimate future return distribution and worst-case loss scenarios.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system provides an intelligent decision-support platform for stock investment analysis.</a:t>
            </a:r>
          </a:p>
        </p:txBody>
      </p:sp>
    </p:spTree>
    <p:extLst>
      <p:ext uri="{BB962C8B-B14F-4D97-AF65-F5344CB8AC3E}">
        <p14:creationId xmlns:p14="http://schemas.microsoft.com/office/powerpoint/2010/main" val="228620568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C81316D-6C5E-2AD8-CA02-345ECCB0B3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561DEE20-C919-4C9D-873F-4C18D1E8D478}" type="slidenum">
              <a:rPr lang="en-US" smtClean="0"/>
              <a:pPr>
                <a:defRPr/>
              </a:pPr>
              <a:t>24</a:t>
            </a:fld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A409606-4EAE-3CC0-D24B-3B731805FBA0}"/>
              </a:ext>
            </a:extLst>
          </p:cNvPr>
          <p:cNvSpPr txBox="1"/>
          <p:nvPr/>
        </p:nvSpPr>
        <p:spPr>
          <a:xfrm>
            <a:off x="911424" y="381278"/>
            <a:ext cx="8856984" cy="52322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Future Scope</a:t>
            </a:r>
          </a:p>
          <a:p>
            <a:pPr>
              <a:buNone/>
            </a:pPr>
            <a:endParaRPr 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Currently, the system supports 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single stock analysis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at a time.</a:t>
            </a:r>
            <a:b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 future, it will be extended to support 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multi-stock</a:t>
            </a:r>
          </a:p>
          <a:p>
            <a:endParaRPr lang="en-US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Portfolio Analysis (up to 10 stocks simultaneously)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Implementation of advanced multi-asset portfolio optimization with dynamic weight allocation.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Integration of real-time automated portfolio rebalancing.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Addition of news sentiment and macroeconomic indicators for improved prediction accuracy.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Deployment as a scalable cloud-based financial analytics platform.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Development of mobile application interface for wider accessibility.</a:t>
            </a:r>
          </a:p>
        </p:txBody>
      </p:sp>
    </p:spTree>
    <p:extLst>
      <p:ext uri="{BB962C8B-B14F-4D97-AF65-F5344CB8AC3E}">
        <p14:creationId xmlns:p14="http://schemas.microsoft.com/office/powerpoint/2010/main" val="235516933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42" name="Title 1"/>
          <p:cNvSpPr>
            <a:spLocks noGrp="1"/>
          </p:cNvSpPr>
          <p:nvPr>
            <p:ph type="title"/>
          </p:nvPr>
        </p:nvSpPr>
        <p:spPr>
          <a:xfrm>
            <a:off x="400050" y="425449"/>
            <a:ext cx="11334750" cy="488951"/>
          </a:xfrm>
        </p:spPr>
        <p:txBody>
          <a:bodyPr>
            <a:normAutofit fontScale="90000"/>
          </a:bodyPr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Segoe UI Emoji" pitchFamily="34" charset="0"/>
                <a:cs typeface="Times New Roman" panose="02020603050405020304" pitchFamily="18" charset="0"/>
              </a:rPr>
              <a:t>References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6EF70A54-4673-486A-A761-68D88FA0027A}" type="slidenum">
              <a:rPr lang="en-US"/>
              <a:pPr>
                <a:defRPr/>
              </a:pPr>
              <a:t>25</a:t>
            </a:fld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D626992-DF11-7CD7-A345-8570ECF9454A}"/>
              </a:ext>
            </a:extLst>
          </p:cNvPr>
          <p:cNvSpPr txBox="1"/>
          <p:nvPr/>
        </p:nvSpPr>
        <p:spPr>
          <a:xfrm>
            <a:off x="767408" y="1089164"/>
            <a:ext cx="9433048" cy="56323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Y. Ma, R. Han, and W. Wang, “Portfolio Optimization with Return Prediction Using Deep Learning and Machine Learning,” </a:t>
            </a:r>
            <a:r>
              <a:rPr lang="en-IN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IEEE Access</a:t>
            </a: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vol. 8, pp. 115393–115405, 2024.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Z. Zhang, S. </a:t>
            </a:r>
            <a:r>
              <a:rPr lang="en-IN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Zohren</a:t>
            </a: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and S. Roberts, “Deep Learning for Portfolio Optimization,” </a:t>
            </a:r>
            <a:r>
              <a:rPr lang="en-IN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IEEE Transactions on Computational Finance</a:t>
            </a: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2024.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H. Cao and B. Nguyen, “Deep Neural Network Based Portfolio Optimization,” </a:t>
            </a:r>
            <a:r>
              <a:rPr lang="en-IN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IEEE International Conference on Intelligent Systems</a:t>
            </a: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2024.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S. Mukherjee et al., “Stock Market Prediction Using Deep Learning Algorithms,” </a:t>
            </a:r>
            <a:r>
              <a:rPr lang="en-IN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IEEE Access</a:t>
            </a: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2024.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G. Mu et al., “Investor Sentiment and Optimized Deep Learning for Stock Prediction,” </a:t>
            </a:r>
            <a:r>
              <a:rPr lang="en-IN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IEEE Access</a:t>
            </a: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2025.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M. </a:t>
            </a:r>
            <a:r>
              <a:rPr lang="en-IN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Costola</a:t>
            </a: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et al., “Machine Learning Sentiment Analysis and Stock Market Reactions,” </a:t>
            </a:r>
            <a:r>
              <a:rPr lang="en-IN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IEEE Transactions on Financial Technology</a:t>
            </a: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2025.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J. Wu et al., “CNN-LSTM Based Stock Price Prediction Model,” </a:t>
            </a:r>
            <a:r>
              <a:rPr lang="en-IN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IEEE Conference Proceedings</a:t>
            </a: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2024.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78" name="Title 1"/>
          <p:cNvSpPr>
            <a:spLocks noGrp="1"/>
          </p:cNvSpPr>
          <p:nvPr>
            <p:ph type="title"/>
          </p:nvPr>
        </p:nvSpPr>
        <p:spPr>
          <a:xfrm>
            <a:off x="289248" y="3009900"/>
            <a:ext cx="11049000" cy="838200"/>
          </a:xfrm>
        </p:spPr>
        <p:txBody>
          <a:bodyPr/>
          <a:lstStyle/>
          <a:p>
            <a:pPr algn="ctr" eaLnBrk="1" fontAlgn="auto" hangingPunct="1">
              <a:spcAft>
                <a:spcPts val="0"/>
              </a:spcAft>
              <a:defRPr/>
            </a:pP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Thank You 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3FA6B5F0-8C2B-467D-BC4B-4E22DB962E23}" type="slidenum">
              <a:rPr lang="en-US"/>
              <a:pPr>
                <a:defRPr/>
              </a:pPr>
              <a:t>26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12638</TotalTime>
  <Words>2365</Words>
  <Application>Microsoft Office PowerPoint</Application>
  <PresentationFormat>Widescreen</PresentationFormat>
  <Paragraphs>552</Paragraphs>
  <Slides>26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34" baseType="lpstr">
      <vt:lpstr>Aptos</vt:lpstr>
      <vt:lpstr>Aptos Display</vt:lpstr>
      <vt:lpstr>Arial</vt:lpstr>
      <vt:lpstr>Bookman Old Style</vt:lpstr>
      <vt:lpstr>Calibri</vt:lpstr>
      <vt:lpstr>Times New Roman</vt:lpstr>
      <vt:lpstr>Wingdings 2</vt:lpstr>
      <vt:lpstr>Office Theme</vt:lpstr>
      <vt:lpstr>  </vt:lpstr>
      <vt:lpstr>Introduction</vt:lpstr>
      <vt:lpstr>Abstract</vt:lpstr>
      <vt:lpstr>Literature Survey</vt:lpstr>
      <vt:lpstr>Research Gaps</vt:lpstr>
      <vt:lpstr>Problems Identified</vt:lpstr>
      <vt:lpstr>Objective</vt:lpstr>
      <vt:lpstr>Dataset &amp; Description</vt:lpstr>
      <vt:lpstr>PowerPoint Presentation</vt:lpstr>
      <vt:lpstr>Proposed Method</vt:lpstr>
      <vt:lpstr>PowerPoint Presentation</vt:lpstr>
      <vt:lpstr>PowerPoint Presentation</vt:lpstr>
      <vt:lpstr>Learning Methods</vt:lpstr>
      <vt:lpstr>Architecture Models</vt:lpstr>
      <vt:lpstr>Proposed Architecture</vt:lpstr>
      <vt:lpstr>PowerPoint Presentation</vt:lpstr>
      <vt:lpstr>PowerPoint Presentation</vt:lpstr>
      <vt:lpstr>PowerPoint Presentation</vt:lpstr>
      <vt:lpstr>Proposed Optimizer Algorithm</vt:lpstr>
      <vt:lpstr>Environmental Setup</vt:lpstr>
      <vt:lpstr>Experimental Results</vt:lpstr>
      <vt:lpstr>PowerPoint Presentation</vt:lpstr>
      <vt:lpstr>Conclusion and Future Scope</vt:lpstr>
      <vt:lpstr>PowerPoint Presentation</vt:lpstr>
      <vt:lpstr>References</vt:lpstr>
      <vt:lpstr>Thank You 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Department of ECE</dc:title>
  <dc:creator>Admin</dc:creator>
  <cp:lastModifiedBy>sureshraj</cp:lastModifiedBy>
  <cp:revision>2968</cp:revision>
  <dcterms:created xsi:type="dcterms:W3CDTF">2006-08-16T00:00:00Z</dcterms:created>
  <dcterms:modified xsi:type="dcterms:W3CDTF">2026-03-22T21:26:46Z</dcterms:modified>
</cp:coreProperties>
</file>