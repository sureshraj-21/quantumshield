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474" r:id="rId1"/>
  </p:sldMasterIdLst>
  <p:notesMasterIdLst>
    <p:notesMasterId r:id="rId29"/>
  </p:notesMasterIdLst>
  <p:sldIdLst>
    <p:sldId id="256" r:id="rId2"/>
    <p:sldId id="374" r:id="rId3"/>
    <p:sldId id="280" r:id="rId4"/>
    <p:sldId id="350" r:id="rId5"/>
    <p:sldId id="414" r:id="rId6"/>
    <p:sldId id="413" r:id="rId7"/>
    <p:sldId id="400" r:id="rId8"/>
    <p:sldId id="467" r:id="rId9"/>
    <p:sldId id="479" r:id="rId10"/>
    <p:sldId id="464" r:id="rId11"/>
    <p:sldId id="469" r:id="rId12"/>
    <p:sldId id="480" r:id="rId13"/>
    <p:sldId id="460" r:id="rId14"/>
    <p:sldId id="465" r:id="rId15"/>
    <p:sldId id="461" r:id="rId16"/>
    <p:sldId id="471" r:id="rId17"/>
    <p:sldId id="481" r:id="rId18"/>
    <p:sldId id="470" r:id="rId19"/>
    <p:sldId id="462" r:id="rId20"/>
    <p:sldId id="463" r:id="rId21"/>
    <p:sldId id="466" r:id="rId22"/>
    <p:sldId id="477" r:id="rId23"/>
    <p:sldId id="478" r:id="rId24"/>
    <p:sldId id="476" r:id="rId25"/>
    <p:sldId id="482" r:id="rId26"/>
    <p:sldId id="287" r:id="rId27"/>
    <p:sldId id="28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8" autoAdjust="0"/>
    <p:restoredTop sz="73562" autoAdjust="0"/>
  </p:normalViewPr>
  <p:slideViewPr>
    <p:cSldViewPr>
      <p:cViewPr varScale="1">
        <p:scale>
          <a:sx n="82" d="100"/>
          <a:sy n="82" d="100"/>
        </p:scale>
        <p:origin x="658" y="72"/>
      </p:cViewPr>
      <p:guideLst>
        <p:guide orient="horz" pos="2160"/>
        <p:guide pos="3840"/>
        <p:guide pos="3931"/>
      </p:guideLst>
    </p:cSldViewPr>
  </p:slideViewPr>
  <p:outlineViewPr>
    <p:cViewPr>
      <p:scale>
        <a:sx n="33" d="100"/>
        <a:sy n="33" d="100"/>
      </p:scale>
      <p:origin x="0" y="8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6D3E42B-74D2-4FA6-BEF8-77597D7CDFF3}" type="datetimeFigureOut">
              <a:rPr lang="en-US"/>
              <a:pPr>
                <a:defRPr/>
              </a:pPr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FE9ADFD-8699-4C91-B224-D518C6FAF8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C110499-4C04-4CA3-994C-0E339EBE0FE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77F1-585B-A965-CB8E-14F0D5024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76E38-CB13-5100-E446-15B08EECE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CF4DA-6B28-7035-047C-00D262C1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6D0AB1-9544-441B-AF13-0B5FB481C713}" type="datetime1">
              <a:rPr lang="en-US" smtClean="0"/>
              <a:pPr>
                <a:defRPr/>
              </a:pPr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30B41-189E-ED87-8607-DC06F925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B38BE-4BF1-0B1B-30DB-4DA196B1C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EFE58-A3A6-44F0-96D4-CF821268F2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34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B7314-08E9-6010-D6DF-71C189442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6F895-4434-6644-D47F-31C7AC4F1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CDD22-72A9-9851-AE6A-DC3C3F423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44B369-27EA-4C2D-9540-DC72314171BE}" type="datetime1">
              <a:rPr lang="en-US" smtClean="0"/>
              <a:pPr>
                <a:defRPr/>
              </a:pPr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D384A-547D-B8B8-A575-68E938EB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43122-A653-52B6-1993-EB6B7BB6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DEE20-C919-4C9D-873F-4C18D1E8D4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3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0517F-BB8F-3A92-CC06-10B7A30C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35219-EDA6-727B-7C51-7AB34EA01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623B6-FDCC-9032-09F1-0826FF950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7D2788-B0F3-4F61-8E12-7BE2E85436BF}" type="datetime1">
              <a:rPr lang="en-US" smtClean="0"/>
              <a:pPr>
                <a:defRPr/>
              </a:pPr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22A3D-7F84-B958-CA4A-D70AAAF3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3B497-B911-C850-1F78-B504787E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35E4D9-D563-4FA8-8F4C-9DCBE217E3D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0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9ED0-03D5-0615-38E4-3157FAC3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9DAA3-E2CB-692E-BA66-A9F2C6179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C7CE8-245F-1C63-3ECF-4A7925888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F2C2F-62CC-B924-EA4E-29502D002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3D443-80C8-4183-87A5-A994F452EFDF}" type="datetime1">
              <a:rPr lang="en-US" smtClean="0"/>
              <a:pPr>
                <a:defRPr/>
              </a:pPr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CE3BE-FB64-69F3-EA45-67C6C5E5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4A8E0-4F65-3BC9-1754-37A4FAD05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A71F1A-D1EC-4092-91BE-B6153D613F6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63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508F3-9C8A-AEF5-DC51-E9BA2EABD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93092-703B-3F71-6369-83D5788D3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6C1DB-24AF-BE72-0AC0-595309005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2B3434-F395-9D8B-52CF-521BA3F46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EDD36-6D27-88B5-809D-C5AC5704C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E6CB4-0DEE-D87B-465A-97CD40A96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EDCBF6-791A-4306-A1DE-5732D4609A30}" type="datetime1">
              <a:rPr lang="en-US" smtClean="0"/>
              <a:pPr>
                <a:defRPr/>
              </a:pPr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A7164-52C4-F285-187F-FCAF823C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252A0B-C4BC-6F04-DB8C-C79511CB2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3C0804-EF0A-42CB-BF60-CC56E5CFE1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3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16F4-CEDF-A6C0-12A4-5327E069F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4C579-E025-A23A-DFED-8D3B292D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561698-6F33-42F4-BC5B-3A779EA6A9EE}" type="datetime1">
              <a:rPr lang="en-US" smtClean="0"/>
              <a:pPr>
                <a:defRPr/>
              </a:pPr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6588E-DFCF-80FB-1C5C-B1E79291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32036-28CC-7284-9E06-76889FD36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E296BD-05C4-4A05-A2A2-F2B166B1246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77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ED1FF-77D5-0D8C-9D9B-C1C8FE34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C04162-C17F-4146-87FE-B6ED3503DA1F}" type="datetime1">
              <a:rPr lang="en-US" smtClean="0"/>
              <a:pPr>
                <a:defRPr/>
              </a:pPr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F9D53-7741-61D4-9538-E96DE699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D78D4-8AE8-8DA2-FC01-9D02C23D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A6F4E7-D08D-4417-9BC2-53B4F02D7AC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6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71A2-2CA6-5597-68CB-36FA263D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9905F-4C28-1EC7-A40F-8221FE03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E2894-393B-4766-AEE6-844DCA3CE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D0649-5356-34DA-6510-CDEDFCEE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56B1C7-6F91-4F11-95C5-B04C5365C76D}" type="datetime1">
              <a:rPr lang="en-US" smtClean="0"/>
              <a:pPr>
                <a:defRPr/>
              </a:pPr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FDB9E-D45E-1363-A3C1-6AA807E3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48EAE-FD4D-E475-4E01-2A733661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05DD41-8909-40E7-883F-06A0BD9F000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7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A309E-ACAB-A491-4608-48316500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575809-B537-32F5-CBCA-9F43DA78F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B34B4-3C31-748B-CA18-5502D0B92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AF9D2-2F6B-31F2-2240-77790E98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30EA55-A808-4F00-A7B4-C0CEE335BE79}" type="datetime1">
              <a:rPr lang="en-US" smtClean="0"/>
              <a:pPr>
                <a:defRPr/>
              </a:pPr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96A1E-535D-6D3C-6856-9F7FF341F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49A0D-011F-DBDD-8BBC-6B053B83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0BB344-1952-43B8-B15D-C974FC74F5D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5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A3538-A92F-5618-C5D1-9074BA6D6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A6646-969E-42F9-48AA-3CCF82674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5F7FE-7B9F-3D34-70AE-AD43D8BA9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5A87A7-6849-4249-B79C-1BD1D0196E78}" type="datetime1">
              <a:rPr lang="en-US" smtClean="0"/>
              <a:pPr>
                <a:defRPr/>
              </a:pPr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443C2-C546-FFCA-5F68-33E668132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DBAEE-3F16-D9D8-C1F8-EC3FB2225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1EA288-B396-4957-83CB-BF8B8660C2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83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9A9869-B247-19AF-82EB-EFCAB8E7F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DA2E2-88B0-E11D-45DD-8FB6DD84F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AB73-6CC1-33C4-BABF-5080FCA20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ED5124-8C00-49A7-A0FD-4AF29ECE5475}" type="datetime1">
              <a:rPr lang="en-US" smtClean="0"/>
              <a:pPr>
                <a:defRPr/>
              </a:pPr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F9829-C214-E6E1-74C7-51FBA1826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56680-53D8-786E-6529-4C5988E73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9A9600-3D9E-4BEC-817B-5CF5A34B76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7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C84F3-548C-5438-A263-17BC6800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3500F-40C3-E4BC-090C-F87E57063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3B9EE-C9E6-52D0-C000-8928EC89F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FDCF93A9-0F85-40B9-8710-C102AA934F6E}" type="datetime1">
              <a:rPr lang="en-US" smtClean="0"/>
              <a:pPr>
                <a:defRPr/>
              </a:pPr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3B91E-D9A7-D043-DF08-D0D16D37F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221D1-5ECC-FD7E-3FE6-B1413742F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475A5770-E2C5-47D6-BB9A-6EBA4E1047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8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75" r:id="rId1"/>
    <p:sldLayoutId id="2147485476" r:id="rId2"/>
    <p:sldLayoutId id="2147485477" r:id="rId3"/>
    <p:sldLayoutId id="2147485478" r:id="rId4"/>
    <p:sldLayoutId id="2147485479" r:id="rId5"/>
    <p:sldLayoutId id="2147485480" r:id="rId6"/>
    <p:sldLayoutId id="2147485481" r:id="rId7"/>
    <p:sldLayoutId id="2147485482" r:id="rId8"/>
    <p:sldLayoutId id="2147485483" r:id="rId9"/>
    <p:sldLayoutId id="2147485484" r:id="rId10"/>
    <p:sldLayoutId id="214748548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7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8F7658-CF00-B17A-1B34-0E582CF65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4683949"/>
            <a:ext cx="4955776" cy="206250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supervisor,</a:t>
            </a:r>
          </a:p>
          <a:p>
            <a:pPr marL="0" indent="0">
              <a:buNone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Ms.A.Deepa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pPr marL="0" indent="0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</a:p>
          <a:p>
            <a:pPr marL="0" indent="0">
              <a:buNone/>
            </a:pP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college of engineering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6C1231E-073A-3542-8E8E-66249714C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2848" y="4658971"/>
            <a:ext cx="4377410" cy="206250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and Register Number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Sureshraj J – (210122104901)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Yadav  R – (210122104002)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Hariharan – (210122104902)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college of engineering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3DCE3C-4340-4758-88C7-48F10387E72A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pic>
        <p:nvPicPr>
          <p:cNvPr id="1028" name="Picture 4" descr="Alpha College of Engineering - Wikipedia">
            <a:extLst>
              <a:ext uri="{FF2B5EF4-FFF2-40B4-BE49-F238E27FC236}">
                <a16:creationId xmlns:a16="http://schemas.microsoft.com/office/drawing/2014/main" id="{672C8839-4DBA-FAEA-2FFD-771CAE82F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76" y="476672"/>
            <a:ext cx="1535486" cy="155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396878-BED1-AD61-94F7-80CA117C2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362998"/>
              </p:ext>
            </p:extLst>
          </p:nvPr>
        </p:nvGraphicFramePr>
        <p:xfrm>
          <a:off x="2150638" y="476672"/>
          <a:ext cx="9581386" cy="15593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81386">
                  <a:extLst>
                    <a:ext uri="{9D8B030D-6E8A-4147-A177-3AD203B41FA5}">
                      <a16:colId xmlns:a16="http://schemas.microsoft.com/office/drawing/2014/main" val="2363940955"/>
                    </a:ext>
                  </a:extLst>
                </a:gridCol>
              </a:tblGrid>
              <a:tr h="1559308">
                <a:tc>
                  <a:txBody>
                    <a:bodyPr/>
                    <a:lstStyle/>
                    <a:p>
                      <a:pPr algn="ctr"/>
                      <a:r>
                        <a:rPr lang="en-GB" sz="4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ALPHA COLLEGE OF ENGINEERING</a:t>
                      </a:r>
                    </a:p>
                    <a:p>
                      <a:pPr algn="ctr"/>
                      <a:r>
                        <a:rPr lang="en-GB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34, </a:t>
                      </a:r>
                      <a:r>
                        <a:rPr lang="en-GB" sz="14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Udayavar</a:t>
                      </a:r>
                      <a:r>
                        <a:rPr lang="en-GB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14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Thirumazhisai</a:t>
                      </a:r>
                      <a:r>
                        <a:rPr lang="en-GB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Koil St, </a:t>
                      </a:r>
                      <a:r>
                        <a:rPr lang="en-GB" sz="14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Poonamallee</a:t>
                      </a:r>
                      <a:r>
                        <a:rPr lang="en-GB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Chennai, Tamil Nadu 600124</a:t>
                      </a:r>
                    </a:p>
                    <a:p>
                      <a:pPr algn="ctr"/>
                      <a:endParaRPr lang="en-GB" sz="1400" b="1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(Approved by AICTE and Affiliated to Anna University) </a:t>
                      </a:r>
                      <a:endParaRPr lang="en-GB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2097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27DE3A8-9371-5631-CB38-8B76190F4F63}"/>
              </a:ext>
            </a:extLst>
          </p:cNvPr>
          <p:cNvSpPr txBox="1"/>
          <p:nvPr/>
        </p:nvSpPr>
        <p:spPr>
          <a:xfrm>
            <a:off x="2150638" y="2048150"/>
            <a:ext cx="763284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</a:t>
            </a:r>
          </a:p>
          <a:p>
            <a:pPr algn="ctr"/>
            <a:endParaRPr lang="en-GB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FINACIAL COMPLETE PORTFOLIO OPTIMIZER &amp; RISK FORECASTER</a:t>
            </a:r>
          </a:p>
          <a:p>
            <a:pPr algn="ctr"/>
            <a:endParaRPr lang="en-GB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No: 02</a:t>
            </a:r>
          </a:p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24/02/2026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4572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11277600" cy="4800600"/>
          </a:xfrm>
        </p:spPr>
        <p:txBody>
          <a:bodyPr/>
          <a:lstStyle/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Font typeface="Wingdings 2"/>
              <a:buChar char=""/>
              <a:defRPr/>
            </a:pPr>
            <a:endParaRPr lang="en-US" sz="1400" dirty="0">
              <a:latin typeface="Bookman Old Style" pitchFamily="18" charset="0"/>
              <a:cs typeface="Times New Roman" pitchFamily="18" charset="0"/>
            </a:endParaRPr>
          </a:p>
          <a:p>
            <a:pPr algn="just" eaLnBrk="1" hangingPunct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87AB597-56E8-40F6-8086-7A8C01F650F4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9189F-4FB8-8FF2-F261-21F6CC090723}"/>
              </a:ext>
            </a:extLst>
          </p:cNvPr>
          <p:cNvSpPr txBox="1"/>
          <p:nvPr/>
        </p:nvSpPr>
        <p:spPr>
          <a:xfrm>
            <a:off x="839416" y="1268760"/>
            <a:ext cx="83069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stock market is highly volatile and influenced by economic, political, and financial 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Investors often face challenges in selecting optimal stocks and managing risk effectively.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investment approaches rely on manual analysis and static allocation strategies, which fail to adapt to real-time market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limitations, an AI-Based Portfolio Optimization and Risk Forecasting System is developed.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historical prediction with real-time market data to provide intelligent investment decision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448540"/>
            <a:ext cx="8229600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11277600" cy="4648200"/>
          </a:xfrm>
        </p:spPr>
        <p:txBody>
          <a:bodyPr>
            <a:normAutofit/>
          </a:bodyPr>
          <a:lstStyle/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Tx/>
              <a:buFont typeface="Wingdings 2"/>
              <a:buChar char=""/>
              <a:defRPr/>
            </a:pPr>
            <a:endParaRPr lang="en-US" sz="1400" dirty="0">
              <a:latin typeface="Bookman Old Style" pitchFamily="18" charset="0"/>
              <a:cs typeface="Times New Roman" pitchFamily="18" charset="0"/>
            </a:endParaRPr>
          </a:p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Tx/>
              <a:buFont typeface="Wingdings 2"/>
              <a:buChar char=""/>
              <a:defRPr/>
            </a:pPr>
            <a:endParaRPr lang="en-US" sz="1600" dirty="0">
              <a:cs typeface="Times New Roman" pitchFamily="18" charset="0"/>
            </a:endParaRPr>
          </a:p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Tx/>
              <a:buFont typeface="Wingdings 2"/>
              <a:buChar char=""/>
              <a:defRPr/>
            </a:pPr>
            <a:endParaRPr lang="en-US" sz="1600" dirty="0">
              <a:cs typeface="Times New Roman" pitchFamily="18" charset="0"/>
            </a:endParaRPr>
          </a:p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Font typeface="Wingdings 2"/>
              <a:buChar char=""/>
              <a:defRPr/>
            </a:pPr>
            <a:endParaRPr lang="en-US" sz="1800" dirty="0">
              <a:cs typeface="Times New Roman" pitchFamily="18" charset="0"/>
            </a:endParaRPr>
          </a:p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Tx/>
              <a:buFont typeface="Wingdings 2"/>
              <a:buChar char=""/>
              <a:defRPr/>
            </a:pPr>
            <a:endParaRPr lang="en-US" sz="1800" dirty="0">
              <a:cs typeface="Times New Roman" pitchFamily="18" charset="0"/>
            </a:endParaRPr>
          </a:p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Tx/>
              <a:buNone/>
              <a:defRPr/>
            </a:pPr>
            <a:endParaRPr lang="en-US" sz="1800" dirty="0"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43E05783-DD7C-48E1-90EB-A33481680AA0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5384DC-752B-E5A1-6AC6-1527706B3E01}"/>
              </a:ext>
            </a:extLst>
          </p:cNvPr>
          <p:cNvSpPr txBox="1"/>
          <p:nvPr/>
        </p:nvSpPr>
        <p:spPr>
          <a:xfrm>
            <a:off x="767408" y="1166843"/>
            <a:ext cx="83789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AI-Based Portfolio Optimization and Risk Forecasting System designed to enhance investment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stock data is used to estimate expected returns, while real-time market data is integrated for dynamic portfolio optimization.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financial metrics such as volatility and Sharpe ratio are computed for risk-adjusted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introduces innovative features including Buy Strength Index (BSI), Capital Protection Score (CPS), and a Ghost System for hidden risk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is implemented to analyze multiple future scenarios.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developed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(backend) and React (frontend), providing an interactive decision-support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33400" y="368221"/>
            <a:ext cx="8229600" cy="59055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F18FC8D2-A8AE-4858-8BEA-AD75CC90CA04}" type="slidenum">
              <a:rPr lang="en-US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904A7CE-4DD0-4760-7608-B1C7B63C59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3127708"/>
              </p:ext>
            </p:extLst>
          </p:nvPr>
        </p:nvGraphicFramePr>
        <p:xfrm>
          <a:off x="479375" y="1484784"/>
          <a:ext cx="11233249" cy="4512232"/>
        </p:xfrm>
        <a:graphic>
          <a:graphicData uri="http://schemas.openxmlformats.org/drawingml/2006/table">
            <a:tbl>
              <a:tblPr firstRow="1" bandRow="1"/>
              <a:tblGrid>
                <a:gridCol w="847444">
                  <a:extLst>
                    <a:ext uri="{9D8B030D-6E8A-4147-A177-3AD203B41FA5}">
                      <a16:colId xmlns:a16="http://schemas.microsoft.com/office/drawing/2014/main" val="1085741934"/>
                    </a:ext>
                  </a:extLst>
                </a:gridCol>
                <a:gridCol w="1692290">
                  <a:extLst>
                    <a:ext uri="{9D8B030D-6E8A-4147-A177-3AD203B41FA5}">
                      <a16:colId xmlns:a16="http://schemas.microsoft.com/office/drawing/2014/main" val="2830426106"/>
                    </a:ext>
                  </a:extLst>
                </a:gridCol>
                <a:gridCol w="1538445">
                  <a:extLst>
                    <a:ext uri="{9D8B030D-6E8A-4147-A177-3AD203B41FA5}">
                      <a16:colId xmlns:a16="http://schemas.microsoft.com/office/drawing/2014/main" val="2442539787"/>
                    </a:ext>
                  </a:extLst>
                </a:gridCol>
                <a:gridCol w="1153834">
                  <a:extLst>
                    <a:ext uri="{9D8B030D-6E8A-4147-A177-3AD203B41FA5}">
                      <a16:colId xmlns:a16="http://schemas.microsoft.com/office/drawing/2014/main" val="283402072"/>
                    </a:ext>
                  </a:extLst>
                </a:gridCol>
                <a:gridCol w="1538445">
                  <a:extLst>
                    <a:ext uri="{9D8B030D-6E8A-4147-A177-3AD203B41FA5}">
                      <a16:colId xmlns:a16="http://schemas.microsoft.com/office/drawing/2014/main" val="258097547"/>
                    </a:ext>
                  </a:extLst>
                </a:gridCol>
                <a:gridCol w="1384601">
                  <a:extLst>
                    <a:ext uri="{9D8B030D-6E8A-4147-A177-3AD203B41FA5}">
                      <a16:colId xmlns:a16="http://schemas.microsoft.com/office/drawing/2014/main" val="2502597176"/>
                    </a:ext>
                  </a:extLst>
                </a:gridCol>
                <a:gridCol w="1307679">
                  <a:extLst>
                    <a:ext uri="{9D8B030D-6E8A-4147-A177-3AD203B41FA5}">
                      <a16:colId xmlns:a16="http://schemas.microsoft.com/office/drawing/2014/main" val="998352072"/>
                    </a:ext>
                  </a:extLst>
                </a:gridCol>
                <a:gridCol w="1770511">
                  <a:extLst>
                    <a:ext uri="{9D8B030D-6E8A-4147-A177-3AD203B41FA5}">
                      <a16:colId xmlns:a16="http://schemas.microsoft.com/office/drawing/2014/main" val="654715143"/>
                    </a:ext>
                  </a:extLst>
                </a:gridCol>
              </a:tblGrid>
              <a:tr h="8774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and 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Journal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Architecture, Algorithm,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Obtained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Difference from My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352843"/>
                  </a:ext>
                </a:extLst>
              </a:tr>
              <a:tr h="94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Stock Market Prediction using DL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/ 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 Stock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prediction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 project integrates prediction with portfolio &amp; risk modules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437421"/>
                  </a:ext>
                </a:extLst>
              </a:tr>
              <a:tr h="8966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Portfolio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Conference,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DNN + Mean-Variance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Sharpe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real-time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 system uses real-time data dynamically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575323"/>
                  </a:ext>
                </a:extLst>
              </a:tr>
              <a:tr h="8966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Risk 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Volatility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Index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risk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allocation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 project integrates risk + allocation +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385007"/>
                  </a:ext>
                </a:extLst>
              </a:tr>
              <a:tr h="8966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Monte Carlo Risk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Conference,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Probabilistic Simulation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 Returns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risk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predictive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 system integrates Monte Carlo with portfolio 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9533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686636" y="548680"/>
            <a:ext cx="8229600" cy="432048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10972800" cy="3856038"/>
          </a:xfrm>
        </p:spPr>
        <p:txBody>
          <a:bodyPr/>
          <a:lstStyle/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  <a:p>
            <a:pPr algn="just" eaLnBrk="1" hangingPunct="1"/>
            <a:endParaRPr lang="en-US" sz="1400" dirty="0">
              <a:latin typeface="Bookman Old Style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9E8F87-40C0-4AB6-9F1C-7B8E01711413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91B1C-5519-ACC2-A3B7-609BBF5E7FBB}"/>
              </a:ext>
            </a:extLst>
          </p:cNvPr>
          <p:cNvSpPr txBox="1"/>
          <p:nvPr/>
        </p:nvSpPr>
        <p:spPr>
          <a:xfrm>
            <a:off x="767408" y="1268828"/>
            <a:ext cx="82349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existing systems focus only on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optimization models are static and not real-time adaptive.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forecasting is implemented independently.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Monte Carlo simulation is not integrated with allocation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unified AI framework combining prediction, optimization, and risk intelligence.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innovative composite risk scoring mechanisms like BSI and CPS.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4572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Identified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1969655" y="990600"/>
            <a:ext cx="8229600" cy="52578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2000" dirty="0">
              <a:latin typeface="Bookman Old Style" pitchFamily="18" charset="0"/>
            </a:endParaRPr>
          </a:p>
          <a:p>
            <a:pPr marL="274320" indent="-274320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1400" dirty="0">
              <a:latin typeface="Bookman Old Style" pitchFamily="18" charset="0"/>
            </a:endParaRPr>
          </a:p>
          <a:p>
            <a:pPr marL="274320" indent="-274320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1600" dirty="0"/>
          </a:p>
          <a:p>
            <a:pPr marL="274320" indent="-274320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sz="1800" dirty="0"/>
              <a:t>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466F5-04BD-4128-87AB-08C68F81CED7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A3145A-B3C8-D1D7-8C93-C93D5AD0BDD1}"/>
              </a:ext>
            </a:extLst>
          </p:cNvPr>
          <p:cNvSpPr txBox="1"/>
          <p:nvPr/>
        </p:nvSpPr>
        <p:spPr>
          <a:xfrm>
            <a:off x="549492" y="1268760"/>
            <a:ext cx="609755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Investors rely on guesswork and manual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analyzing multiple stocks simultaneously.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Static allocation models do not respond to market volatility.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integrated system combining prediction + portfolio + risk forecasting.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Hidden risks are not detected early.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structured capital protection evaluation mechanism.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Absence of simulation-based future risk analysis in most platforms.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542924" y="533400"/>
            <a:ext cx="11191875" cy="51435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C94795-55A8-4977-AB91-7A0F3EA2B8E8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FFDBBC-33EE-D3DB-0814-A94BC678B075}"/>
              </a:ext>
            </a:extLst>
          </p:cNvPr>
          <p:cNvSpPr txBox="1"/>
          <p:nvPr/>
        </p:nvSpPr>
        <p:spPr>
          <a:xfrm>
            <a:off x="838200" y="1196752"/>
            <a:ext cx="801888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develop an AI-Based Portfolio Optimization and Risk Forecasting System with innovative risk intelligence features.</a:t>
            </a:r>
          </a:p>
          <a:p>
            <a:pPr>
              <a:buNone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Objectives:</a:t>
            </a:r>
          </a:p>
          <a:p>
            <a:pPr>
              <a:buNone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expected returns using historical time-series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real-time market data for dynamic portfolio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 volatility and Sharpe ratio for risk-adjusted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Buy Strength Index (BSI) to measure investment strength.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Capital Protection Score (CPS) to evaluate downside protection.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Ghost System for hidden risk and abnormal volatility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market regime conditions (Calm / Volatile).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Monte Carlo simulation for future scenario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an interactive decision-support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348099"/>
            <a:ext cx="11325224" cy="425967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Description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2F201-A61D-4865-9F77-8B938AE73A09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D0911-4667-9AFE-03A0-7DA5497C7DAC}"/>
              </a:ext>
            </a:extLst>
          </p:cNvPr>
          <p:cNvSpPr txBox="1"/>
          <p:nvPr/>
        </p:nvSpPr>
        <p:spPr>
          <a:xfrm>
            <a:off x="838200" y="1086372"/>
            <a:ext cx="6097554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Stock Data (For Prediction Module)</a:t>
            </a:r>
          </a:p>
          <a:p>
            <a:pPr>
              <a:buNone/>
            </a:pPr>
            <a:endParaRPr 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Price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Price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Price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Price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Return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>
              <a:buNone/>
            </a:pPr>
            <a:br>
              <a:rPr lang="en-US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calculating expected return and modeling stock performance using time-series analysis.</a:t>
            </a:r>
          </a:p>
          <a:p>
            <a:pPr>
              <a:buNone/>
            </a:pPr>
            <a:endParaRPr 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Steps:</a:t>
            </a:r>
          </a:p>
          <a:p>
            <a:pPr>
              <a:buNone/>
            </a:pPr>
            <a:endParaRPr 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calculation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window analysis</a:t>
            </a:r>
          </a:p>
        </p:txBody>
      </p:sp>
    </p:spTree>
    <p:extLst>
      <p:ext uri="{BB962C8B-B14F-4D97-AF65-F5344CB8AC3E}">
        <p14:creationId xmlns:p14="http://schemas.microsoft.com/office/powerpoint/2010/main" val="3857437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7D956-E5FF-6386-0280-72CED9740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DEE20-C919-4C9D-873F-4C18D1E8D47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8771C-D783-AAE3-26B9-DDD5CC0C27FE}"/>
              </a:ext>
            </a:extLst>
          </p:cNvPr>
          <p:cNvSpPr txBox="1"/>
          <p:nvPr/>
        </p:nvSpPr>
        <p:spPr>
          <a:xfrm>
            <a:off x="983432" y="307078"/>
            <a:ext cx="6097554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Market Data (For Portfolio &amp; Risk Module)</a:t>
            </a:r>
          </a:p>
          <a:p>
            <a:pPr>
              <a:buNone/>
            </a:pPr>
            <a:r>
              <a:rPr lang="en-I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Current Price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Price Movement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Intraday Volatility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>
              <a:buNone/>
            </a:pPr>
            <a:br>
              <a:rPr lang="en-I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dynamic portfolio allocation, risk forecasting, regime detection, and Monte Carlo simulation.</a:t>
            </a:r>
          </a:p>
          <a:p>
            <a:pPr>
              <a:buNone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Metrics Computed:</a:t>
            </a:r>
          </a:p>
          <a:p>
            <a:pPr>
              <a:buNone/>
            </a:pPr>
            <a:endParaRPr lang="en-IN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Return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(Standard Deviation)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Strength Index (BSI)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Protection Score (CPS)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Intelligence Features:</a:t>
            </a:r>
          </a:p>
          <a:p>
            <a:pPr>
              <a:buNone/>
            </a:pPr>
            <a:endParaRPr lang="en-IN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Regime Detection (Calm / Volatile)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Ghost System for Hidden Risk Detection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for future return distribution</a:t>
            </a:r>
          </a:p>
        </p:txBody>
      </p:sp>
    </p:spTree>
    <p:extLst>
      <p:ext uri="{BB962C8B-B14F-4D97-AF65-F5344CB8AC3E}">
        <p14:creationId xmlns:p14="http://schemas.microsoft.com/office/powerpoint/2010/main" val="2575876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79376" y="332656"/>
            <a:ext cx="8229600" cy="59055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AC613-D7BC-457F-B6BC-821AAEEF75AB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737A6-296E-C6DC-C2F3-D6BB0FE66739}"/>
              </a:ext>
            </a:extLst>
          </p:cNvPr>
          <p:cNvSpPr txBox="1"/>
          <p:nvPr/>
        </p:nvSpPr>
        <p:spPr>
          <a:xfrm>
            <a:off x="838200" y="1013950"/>
            <a:ext cx="6097554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follows a hybrid approach combining historical modeling and real-time risk intelligence.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Historical Data Collection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stock data (Open, High, Low, Close, Volume) is collected and preprocessed.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Return Prediction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returns are calculated and expected return is estimated using time-series modeling.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Real-Time Data Integration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market prices are fetched and integrated into the system for dynamic analysis.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Financial Metric Calculation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metrics are computed:</a:t>
            </a:r>
          </a:p>
          <a:p>
            <a:pPr>
              <a:buNone/>
            </a:pP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(Standard Deviation)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Strength Index (BSI)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Protection Score (CPS)</a:t>
            </a:r>
          </a:p>
          <a:p>
            <a:pPr>
              <a:buNone/>
            </a:pP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92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AC613-D7BC-457F-B6BC-821AAEEF75AB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42679-FC5D-349E-7976-691E189D6651}"/>
              </a:ext>
            </a:extLst>
          </p:cNvPr>
          <p:cNvSpPr txBox="1"/>
          <p:nvPr/>
        </p:nvSpPr>
        <p:spPr>
          <a:xfrm>
            <a:off x="1127448" y="980728"/>
            <a:ext cx="6097554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Portfolio Optimization</a:t>
            </a:r>
          </a:p>
          <a:p>
            <a:pPr>
              <a:buNone/>
            </a:pP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Mean-Variance based optimization is applied to allocate optimal weights among selected stocks.</a:t>
            </a:r>
          </a:p>
          <a:p>
            <a:pPr>
              <a:buNone/>
            </a:pPr>
            <a:br>
              <a:rPr lang="en-US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Risk Forecasting</a:t>
            </a:r>
          </a:p>
          <a:p>
            <a:pPr>
              <a:buNone/>
            </a:pP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Regime Detection (Calm / Volatile)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Ghost System for hidden risk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Worst-case loss estimation</a:t>
            </a:r>
          </a:p>
          <a:p>
            <a:pPr>
              <a:buNone/>
            </a:pPr>
            <a:br>
              <a:rPr lang="en-US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Monte Carlo Simulation</a:t>
            </a:r>
          </a:p>
          <a:p>
            <a:pPr>
              <a:buNone/>
            </a:pP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future scenarios are simulated to estimate return distribution and downside risk.</a:t>
            </a:r>
          </a:p>
          <a:p>
            <a:pPr>
              <a:buNone/>
            </a:pPr>
            <a:br>
              <a:rPr lang="en-US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 Dashboard Visualization</a:t>
            </a:r>
          </a:p>
          <a:p>
            <a:pPr>
              <a:buNone/>
            </a:pP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displayed in an interactive web dashboard using React frontend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backend.</a:t>
            </a:r>
          </a:p>
          <a:p>
            <a:pPr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942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7E898-0CBD-E432-1485-CAA0CB4B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DEE20-C919-4C9D-873F-4C18D1E8D47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82ABD8-FC38-821F-7A30-031A1A51D8C5}"/>
              </a:ext>
            </a:extLst>
          </p:cNvPr>
          <p:cNvSpPr txBox="1"/>
          <p:nvPr/>
        </p:nvSpPr>
        <p:spPr>
          <a:xfrm>
            <a:off x="587388" y="625164"/>
            <a:ext cx="5508612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Prediction Module                                   </a:t>
            </a:r>
          </a:p>
          <a:p>
            <a:pPr>
              <a:buNone/>
            </a:pPr>
            <a:endParaRPr lang="en-IN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historical time-series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daily returns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expected future return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base input for portfolio optimization</a:t>
            </a: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Integration Module</a:t>
            </a:r>
          </a:p>
          <a:p>
            <a:pPr>
              <a:buNone/>
            </a:pPr>
            <a:endParaRPr lang="en-IN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live stock prices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portfolio metrics dynamically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adaptive investment decisions</a:t>
            </a: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sz="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Optimization Engine</a:t>
            </a:r>
          </a:p>
          <a:p>
            <a:pPr>
              <a:buNone/>
            </a:pPr>
            <a:endParaRPr lang="en-IN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Mean-Variance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risk for given return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optimal stock weights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Maximizes risk-adjusted performance</a:t>
            </a:r>
          </a:p>
          <a:p>
            <a:pPr>
              <a:buNone/>
            </a:pPr>
            <a:br>
              <a:rPr lang="en-IN" sz="300" dirty="0"/>
            </a:br>
            <a:endParaRPr lang="en-IN" sz="300" dirty="0"/>
          </a:p>
          <a:p>
            <a:pPr>
              <a:buNone/>
            </a:pPr>
            <a:endParaRPr lang="en-IN" sz="1600" dirty="0"/>
          </a:p>
          <a:p>
            <a:pPr>
              <a:buNone/>
            </a:pPr>
            <a:br>
              <a:rPr lang="en-IN" sz="300" dirty="0"/>
            </a:br>
            <a:endParaRPr lang="en-IN" sz="300" dirty="0"/>
          </a:p>
          <a:p>
            <a:pPr>
              <a:buNone/>
            </a:pP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DC8C86-6CCF-AA97-E8A7-CAE65B44F581}"/>
              </a:ext>
            </a:extLst>
          </p:cNvPr>
          <p:cNvSpPr txBox="1"/>
          <p:nvPr/>
        </p:nvSpPr>
        <p:spPr>
          <a:xfrm>
            <a:off x="5879976" y="625164"/>
            <a:ext cx="6097554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Intelligence Module</a:t>
            </a:r>
          </a:p>
          <a:p>
            <a:pPr>
              <a:buNone/>
            </a:pPr>
            <a:endParaRPr lang="en-IN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innovative components:</a:t>
            </a:r>
          </a:p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Buy Strength Index (BSI)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Measures investment strength and buying momentum</a:t>
            </a:r>
          </a:p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Capital Protection Score (CPS)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Evaluates downside risk protection capability</a:t>
            </a:r>
          </a:p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Ghost System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Detects hidden volatility and abnormal market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sz="400" dirty="0"/>
            </a:br>
            <a:endParaRPr lang="en-IN" sz="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26BEB1-E6A1-A972-C991-B26162EF450A}"/>
              </a:ext>
            </a:extLst>
          </p:cNvPr>
          <p:cNvSpPr txBox="1"/>
          <p:nvPr/>
        </p:nvSpPr>
        <p:spPr>
          <a:xfrm>
            <a:off x="5879976" y="3964539"/>
            <a:ext cx="609755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Engine</a:t>
            </a:r>
          </a:p>
          <a:p>
            <a:pPr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multiple future scenarios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return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worst-case loss probability</a:t>
            </a:r>
          </a:p>
        </p:txBody>
      </p:sp>
    </p:spTree>
    <p:extLst>
      <p:ext uri="{BB962C8B-B14F-4D97-AF65-F5344CB8AC3E}">
        <p14:creationId xmlns:p14="http://schemas.microsoft.com/office/powerpoint/2010/main" val="1404170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533400" y="479424"/>
            <a:ext cx="8229600" cy="492126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1981200" y="1714500"/>
            <a:ext cx="8229600" cy="3873500"/>
          </a:xfrm>
        </p:spPr>
        <p:txBody>
          <a:bodyPr>
            <a:normAutofit/>
          </a:bodyPr>
          <a:lstStyle/>
          <a:p>
            <a:pPr marL="285750" indent="-285750" algn="just">
              <a:spcBef>
                <a:spcPts val="0"/>
              </a:spcBef>
              <a:buClrTx/>
              <a:buFont typeface="Arial" charset="0"/>
              <a:buChar char="•"/>
              <a:defRPr/>
            </a:pPr>
            <a:endParaRPr lang="en-US" sz="1400" dirty="0">
              <a:latin typeface="Bookman Old Style" pitchFamily="18" charset="0"/>
            </a:endParaRPr>
          </a:p>
          <a:p>
            <a:pPr marL="285750" indent="-285750" algn="just">
              <a:spcBef>
                <a:spcPts val="0"/>
              </a:spcBef>
              <a:buClrTx/>
              <a:buFont typeface="Arial" charset="0"/>
              <a:buChar char="•"/>
              <a:defRPr/>
            </a:pPr>
            <a:endParaRPr lang="en-US" sz="1400" dirty="0">
              <a:latin typeface="Bookman Old Style" pitchFamily="18" charset="0"/>
            </a:endParaRPr>
          </a:p>
          <a:p>
            <a:pPr marL="285750" indent="-285750" algn="just">
              <a:spcBef>
                <a:spcPts val="0"/>
              </a:spcBef>
              <a:buClrTx/>
              <a:buFont typeface="Arial" charset="0"/>
              <a:buChar char="•"/>
              <a:defRPr/>
            </a:pPr>
            <a:endParaRPr lang="en-US" sz="1400" dirty="0">
              <a:latin typeface="Bookman Old Style" pitchFamily="18" charset="0"/>
            </a:endParaRPr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9AC613-D7BC-457F-B6BC-821AAEEF75AB}" type="slidenum">
              <a:rPr lang="en-US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446C31-0F84-F5A0-FF08-A78A3A003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472498"/>
              </p:ext>
            </p:extLst>
          </p:nvPr>
        </p:nvGraphicFramePr>
        <p:xfrm>
          <a:off x="731850" y="1714500"/>
          <a:ext cx="11017225" cy="4365484"/>
        </p:xfrm>
        <a:graphic>
          <a:graphicData uri="http://schemas.openxmlformats.org/drawingml/2006/table">
            <a:tbl>
              <a:tblPr firstRow="1" bandRow="1"/>
              <a:tblGrid>
                <a:gridCol w="2203445">
                  <a:extLst>
                    <a:ext uri="{9D8B030D-6E8A-4147-A177-3AD203B41FA5}">
                      <a16:colId xmlns:a16="http://schemas.microsoft.com/office/drawing/2014/main" val="2672465337"/>
                    </a:ext>
                  </a:extLst>
                </a:gridCol>
                <a:gridCol w="2203445">
                  <a:extLst>
                    <a:ext uri="{9D8B030D-6E8A-4147-A177-3AD203B41FA5}">
                      <a16:colId xmlns:a16="http://schemas.microsoft.com/office/drawing/2014/main" val="1230779275"/>
                    </a:ext>
                  </a:extLst>
                </a:gridCol>
                <a:gridCol w="2203445">
                  <a:extLst>
                    <a:ext uri="{9D8B030D-6E8A-4147-A177-3AD203B41FA5}">
                      <a16:colId xmlns:a16="http://schemas.microsoft.com/office/drawing/2014/main" val="1854044592"/>
                    </a:ext>
                  </a:extLst>
                </a:gridCol>
                <a:gridCol w="1958617">
                  <a:extLst>
                    <a:ext uri="{9D8B030D-6E8A-4147-A177-3AD203B41FA5}">
                      <a16:colId xmlns:a16="http://schemas.microsoft.com/office/drawing/2014/main" val="2644642279"/>
                    </a:ext>
                  </a:extLst>
                </a:gridCol>
                <a:gridCol w="2448273">
                  <a:extLst>
                    <a:ext uri="{9D8B030D-6E8A-4147-A177-3AD203B41FA5}">
                      <a16:colId xmlns:a16="http://schemas.microsoft.com/office/drawing/2014/main" val="2385744292"/>
                    </a:ext>
                  </a:extLst>
                </a:gridCol>
              </a:tblGrid>
              <a:tr h="763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(ML)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(DL)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045322"/>
                  </a:ext>
                </a:extLst>
              </a:tr>
              <a:tr h="1418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capture complex market volatility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Integrated Portfolio Optimization &amp; Risk Forecasting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1376360"/>
                  </a:ext>
                </a:extLst>
              </a:tr>
              <a:tr h="109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only for stationary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training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Historical + Real-Time Modeling Framework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83076"/>
                  </a:ext>
                </a:extLst>
              </a:tr>
              <a:tr h="109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Mean-Variance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allocation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Neural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of 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BSI, CPS, Ghost System &amp; Monte Carlo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495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097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66724" y="609600"/>
            <a:ext cx="8229600" cy="492126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Models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2F201-A61D-4865-9F77-8B938AE73A09}" type="slidenum">
              <a:rPr lang="en-US"/>
              <a:pPr>
                <a:defRPr/>
              </a:pPr>
              <a:t>14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3F17E5-D702-09A2-C7DC-9990F4ED0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529678"/>
              </p:ext>
            </p:extLst>
          </p:nvPr>
        </p:nvGraphicFramePr>
        <p:xfrm>
          <a:off x="838200" y="1556792"/>
          <a:ext cx="10658400" cy="4900205"/>
        </p:xfrm>
        <a:graphic>
          <a:graphicData uri="http://schemas.openxmlformats.org/drawingml/2006/table">
            <a:tbl>
              <a:tblPr firstRow="1" bandRow="1"/>
              <a:tblGrid>
                <a:gridCol w="2131680">
                  <a:extLst>
                    <a:ext uri="{9D8B030D-6E8A-4147-A177-3AD203B41FA5}">
                      <a16:colId xmlns:a16="http://schemas.microsoft.com/office/drawing/2014/main" val="2543021287"/>
                    </a:ext>
                  </a:extLst>
                </a:gridCol>
                <a:gridCol w="2131680">
                  <a:extLst>
                    <a:ext uri="{9D8B030D-6E8A-4147-A177-3AD203B41FA5}">
                      <a16:colId xmlns:a16="http://schemas.microsoft.com/office/drawing/2014/main" val="2509608621"/>
                    </a:ext>
                  </a:extLst>
                </a:gridCol>
                <a:gridCol w="2131680">
                  <a:extLst>
                    <a:ext uri="{9D8B030D-6E8A-4147-A177-3AD203B41FA5}">
                      <a16:colId xmlns:a16="http://schemas.microsoft.com/office/drawing/2014/main" val="4102621863"/>
                    </a:ext>
                  </a:extLst>
                </a:gridCol>
                <a:gridCol w="2131680">
                  <a:extLst>
                    <a:ext uri="{9D8B030D-6E8A-4147-A177-3AD203B41FA5}">
                      <a16:colId xmlns:a16="http://schemas.microsoft.com/office/drawing/2014/main" val="694883641"/>
                    </a:ext>
                  </a:extLst>
                </a:gridCol>
                <a:gridCol w="2131680">
                  <a:extLst>
                    <a:ext uri="{9D8B030D-6E8A-4147-A177-3AD203B41FA5}">
                      <a16:colId xmlns:a16="http://schemas.microsoft.com/office/drawing/2014/main" val="2653379460"/>
                    </a:ext>
                  </a:extLst>
                </a:gridCol>
              </a:tblGrid>
              <a:tr h="431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049329"/>
                  </a:ext>
                </a:extLst>
              </a:tr>
              <a:tr h="1702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Stock Prediction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performs price prediction. No portfolio allocation or risk integration.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Portfolio Optimization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allocation model. Does not adapt to market changes.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Integrated Portfolio Optimization &amp; Risk Forecasting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888973"/>
                  </a:ext>
                </a:extLst>
              </a:tr>
              <a:tr h="1383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only historical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detect real-time volatility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only statistical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prediction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historical prediction with real-time data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081488"/>
                  </a:ext>
                </a:extLst>
              </a:tr>
              <a:tr h="1383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simulation or risk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regime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dynamic risk scoring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hidden risk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BSI, CPS, Ghost System &amp; Monte Carlo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666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449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381000" y="260648"/>
            <a:ext cx="8229600" cy="469773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2F201-A61D-4865-9F77-8B938AE73A09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94B06D-8268-871B-7B42-523975E50457}"/>
              </a:ext>
            </a:extLst>
          </p:cNvPr>
          <p:cNvSpPr txBox="1"/>
          <p:nvPr/>
        </p:nvSpPr>
        <p:spPr>
          <a:xfrm>
            <a:off x="838200" y="850773"/>
            <a:ext cx="931191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architecture integrates historical prediction, real-time market data processing, portfolio optimization, and advanced risk intelligence into a unified AI-based framework.</a:t>
            </a:r>
          </a:p>
          <a:p>
            <a:pPr>
              <a:buNone/>
            </a:pP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</a:t>
            </a:r>
          </a:p>
          <a:p>
            <a:pPr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Stock Data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Prediction Module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Market Data Integration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Metrics Engine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(Volatility, Sharpe Ratio, BSI, CPS)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Optimization Engine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Intelligence Module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(Ghost System + Regime Detection)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Engine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93387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2F201-A61D-4865-9F77-8B938AE73A09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1B2A6-8C43-6754-CAAE-EF8E7239E2FB}"/>
              </a:ext>
            </a:extLst>
          </p:cNvPr>
          <p:cNvSpPr txBox="1"/>
          <p:nvPr/>
        </p:nvSpPr>
        <p:spPr>
          <a:xfrm>
            <a:off x="911424" y="523578"/>
            <a:ext cx="6097554" cy="583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Prediction Module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historical time-series data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expected returns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Engine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live stock prices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portfolio metrics dynamically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Metrics Engine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volatility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Sharpe ratio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Buy Strength Index (BSI)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Capital Protection Score (CPS)</a:t>
            </a:r>
          </a:p>
        </p:txBody>
      </p:sp>
    </p:spTree>
    <p:extLst>
      <p:ext uri="{BB962C8B-B14F-4D97-AF65-F5344CB8AC3E}">
        <p14:creationId xmlns:p14="http://schemas.microsoft.com/office/powerpoint/2010/main" val="435195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8237A-BC75-C26C-A8AC-5C2123B42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DEE20-C919-4C9D-873F-4C18D1E8D47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9563F-A968-DD16-3799-2BE9B912D9A3}"/>
              </a:ext>
            </a:extLst>
          </p:cNvPr>
          <p:cNvSpPr txBox="1"/>
          <p:nvPr/>
        </p:nvSpPr>
        <p:spPr>
          <a:xfrm>
            <a:off x="1055440" y="501697"/>
            <a:ext cx="6097554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Optimization Engine</a:t>
            </a:r>
          </a:p>
          <a:p>
            <a:pPr>
              <a:buNone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Mean-Variance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optimal asset weights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Maximizes risk-adjusted performance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Intelligence Module</a:t>
            </a:r>
          </a:p>
          <a:p>
            <a:pPr>
              <a:buNone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market regime (Calm / Volatile)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Ghost System monitors hidden risk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worst-case loss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Engine</a:t>
            </a:r>
          </a:p>
          <a:p>
            <a:pPr>
              <a:buNone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multiple future return paths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probability distribution of returns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</a:t>
            </a:r>
          </a:p>
          <a:p>
            <a:pPr>
              <a:buNone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price, expected return, volatility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allocation %, risk level, simulation output</a:t>
            </a:r>
          </a:p>
        </p:txBody>
      </p:sp>
    </p:spTree>
    <p:extLst>
      <p:ext uri="{BB962C8B-B14F-4D97-AF65-F5344CB8AC3E}">
        <p14:creationId xmlns:p14="http://schemas.microsoft.com/office/powerpoint/2010/main" val="2409096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2F201-A61D-4865-9F77-8B938AE73A09}" type="slidenum">
              <a:rPr lang="en-US"/>
              <a:pPr>
                <a:defRPr/>
              </a:pPr>
              <a:t>18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B3FE151-0E2A-1921-4946-5640F92A1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114757"/>
              </p:ext>
            </p:extLst>
          </p:nvPr>
        </p:nvGraphicFramePr>
        <p:xfrm>
          <a:off x="2032000" y="908720"/>
          <a:ext cx="8128000" cy="5447632"/>
        </p:xfrm>
        <a:graphic>
          <a:graphicData uri="http://schemas.openxmlformats.org/drawingml/2006/table">
            <a:tbl>
              <a:tblPr firstRow="1" bandRow="1"/>
              <a:tblGrid>
                <a:gridCol w="4064000">
                  <a:extLst>
                    <a:ext uri="{9D8B030D-6E8A-4147-A177-3AD203B41FA5}">
                      <a16:colId xmlns:a16="http://schemas.microsoft.com/office/drawing/2014/main" val="97081722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13004231"/>
                    </a:ext>
                  </a:extLst>
                </a:gridCol>
              </a:tblGrid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323586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– Test Split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Set – 80% / Testing Set – 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7580131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704505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Momentum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444458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698123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5563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Mean-Variance Based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817534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Historical + Real-Time Modeling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260902"/>
                  </a:ext>
                </a:extLst>
              </a:tr>
              <a:tr h="8766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Modelling the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Time-Series Financial Modeling with Rolling Window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167851"/>
                  </a:ext>
                </a:extLst>
              </a:tr>
              <a:tr h="5078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4685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39C0466-6AC0-7B97-7159-194A05F80C0C}"/>
              </a:ext>
            </a:extLst>
          </p:cNvPr>
          <p:cNvSpPr txBox="1"/>
          <p:nvPr/>
        </p:nvSpPr>
        <p:spPr>
          <a:xfrm>
            <a:off x="2483603" y="312764"/>
            <a:ext cx="7224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Hyper-Parameters of the Proposed Model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448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381000" y="207568"/>
            <a:ext cx="8229600" cy="492126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Optimizer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2F201-A61D-4865-9F77-8B938AE73A09}" type="slidenum">
              <a:rPr lang="en-US"/>
              <a:pPr>
                <a:defRPr/>
              </a:pPr>
              <a:t>19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A8C4580-BC3D-7583-6141-D3293D47F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899149"/>
              </p:ext>
            </p:extLst>
          </p:nvPr>
        </p:nvGraphicFramePr>
        <p:xfrm>
          <a:off x="430190" y="960755"/>
          <a:ext cx="11331620" cy="5499659"/>
        </p:xfrm>
        <a:graphic>
          <a:graphicData uri="http://schemas.openxmlformats.org/drawingml/2006/table">
            <a:tbl>
              <a:tblPr firstRow="1" bandRow="1"/>
              <a:tblGrid>
                <a:gridCol w="2266324">
                  <a:extLst>
                    <a:ext uri="{9D8B030D-6E8A-4147-A177-3AD203B41FA5}">
                      <a16:colId xmlns:a16="http://schemas.microsoft.com/office/drawing/2014/main" val="2411226155"/>
                    </a:ext>
                  </a:extLst>
                </a:gridCol>
                <a:gridCol w="2266324">
                  <a:extLst>
                    <a:ext uri="{9D8B030D-6E8A-4147-A177-3AD203B41FA5}">
                      <a16:colId xmlns:a16="http://schemas.microsoft.com/office/drawing/2014/main" val="3385201892"/>
                    </a:ext>
                  </a:extLst>
                </a:gridCol>
                <a:gridCol w="2266324">
                  <a:extLst>
                    <a:ext uri="{9D8B030D-6E8A-4147-A177-3AD203B41FA5}">
                      <a16:colId xmlns:a16="http://schemas.microsoft.com/office/drawing/2014/main" val="2851355451"/>
                    </a:ext>
                  </a:extLst>
                </a:gridCol>
                <a:gridCol w="2266324">
                  <a:extLst>
                    <a:ext uri="{9D8B030D-6E8A-4147-A177-3AD203B41FA5}">
                      <a16:colId xmlns:a16="http://schemas.microsoft.com/office/drawing/2014/main" val="915357097"/>
                    </a:ext>
                  </a:extLst>
                </a:gridCol>
                <a:gridCol w="2266324">
                  <a:extLst>
                    <a:ext uri="{9D8B030D-6E8A-4147-A177-3AD203B41FA5}">
                      <a16:colId xmlns:a16="http://schemas.microsoft.com/office/drawing/2014/main" val="1311361972"/>
                    </a:ext>
                  </a:extLst>
                </a:gridCol>
              </a:tblGrid>
              <a:tr h="6110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 Algorithm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 Algorithm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5553316"/>
                  </a:ext>
                </a:extLst>
              </a:tr>
              <a:tr h="1134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 Weight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Assigns equal weights without considering risk or return differences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optimization logic, unstable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Risk-Adjusted Portfolio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452430"/>
                  </a:ext>
                </a:extLst>
              </a:tr>
              <a:tr h="87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Mean-Variance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update dynamically with real-time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Sharpe Maximization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Ignores hidden downside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Mean-Variance with Real-Time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1100205"/>
                  </a:ext>
                </a:extLst>
              </a:tr>
              <a:tr h="87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Risk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only on volatility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Threshold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adapt to market regime changes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Volatility-Based Adaptive Allocation 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7369663"/>
                  </a:ext>
                </a:extLst>
              </a:tr>
              <a:tr h="87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Portfolio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investor intuition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predictive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Allocation using Predicted Returns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9189280"/>
                  </a:ext>
                </a:extLst>
              </a:tr>
              <a:tr h="1134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Simulation-Based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forecast future return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Downside Protection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capital safety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BSI, CPS, Ghost System &amp; Monte Carlo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501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336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07368" y="476672"/>
            <a:ext cx="8229600" cy="492126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Classifier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8888953"/>
              </p:ext>
            </p:extLst>
          </p:nvPr>
        </p:nvGraphicFramePr>
        <p:xfrm>
          <a:off x="1199456" y="1412776"/>
          <a:ext cx="9145016" cy="40904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2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Classifier 1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Classifier 2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532604"/>
                  </a:ext>
                </a:extLst>
              </a:tr>
              <a:tr h="98933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Classification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Regime Classifier</a:t>
                      </a:r>
                      <a:endParaRPr lang="en-US" sz="2000" b="1" i="0" u="non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buFontTx/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Multi-Class Classification</a:t>
                      </a:r>
                    </a:p>
                    <a:p>
                      <a:pPr marL="0" indent="0" algn="ctr" rtl="0">
                        <a:buFontTx/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Intelligence Score Classifier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07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indent="-28575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Calm Market</a:t>
                      </a:r>
                    </a:p>
                    <a:p>
                      <a:pPr marL="285750" marR="0" indent="-28575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800" b="0" i="0" u="none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indent="-28575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Volatile Market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ctr" rtl="0">
                        <a:buFont typeface="Arial" panose="020B0604020202020204" pitchFamily="34" charset="0"/>
                        <a:buChar char="•"/>
                      </a:pPr>
                      <a:endParaRPr lang="en-US" sz="1800" b="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marL="285750" indent="-285750" algn="ctr" rtl="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Low Risk</a:t>
                      </a:r>
                    </a:p>
                    <a:p>
                      <a:pPr marL="285750" indent="-285750" algn="ctr" rtl="0">
                        <a:buFont typeface="Arial" panose="020B0604020202020204" pitchFamily="34" charset="0"/>
                        <a:buChar char="•"/>
                      </a:pPr>
                      <a:endParaRPr lang="en-US" sz="1800" b="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marL="285750" indent="-285750" algn="ctr" rtl="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Moderate Risk</a:t>
                      </a:r>
                    </a:p>
                    <a:p>
                      <a:pPr marL="285750" indent="-285750" algn="ctr" rtl="0">
                        <a:buFont typeface="Arial" panose="020B0604020202020204" pitchFamily="34" charset="0"/>
                        <a:buChar char="•"/>
                      </a:pPr>
                      <a:endParaRPr lang="en-US" sz="1800" b="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marL="285750" indent="-285750" algn="ctr" rtl="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High Risk</a:t>
                      </a:r>
                    </a:p>
                    <a:p>
                      <a:pPr marL="285750" indent="-285750" algn="ctr" rtl="0">
                        <a:buFont typeface="Arial" panose="020B0604020202020204" pitchFamily="34" charset="0"/>
                        <a:buChar char="•"/>
                      </a:pPr>
                      <a:endParaRPr lang="en-US" sz="1800" b="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marL="285750" indent="-285750" algn="ctr" rtl="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Critical Risk</a:t>
                      </a:r>
                    </a:p>
                    <a:p>
                      <a:pPr marL="285750" indent="-285750" algn="ctr" rtl="0">
                        <a:buFont typeface="Arial" panose="020B0604020202020204" pitchFamily="34" charset="0"/>
                        <a:buChar char="•"/>
                      </a:pPr>
                      <a:endParaRPr lang="en-US" sz="1800" b="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97890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2F201-A61D-4865-9F77-8B938AE73A09}" type="slidenum">
              <a:rPr lang="en-US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71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3810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Setup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9E8F87-40C0-4AB6-9F1C-7B8E01711413}" type="slidenum">
              <a:rPr lang="en-US"/>
              <a:pPr>
                <a:defRPr/>
              </a:pPr>
              <a:t>21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E32364-C344-C0E8-7C2B-55FD7B046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55671"/>
              </p:ext>
            </p:extLst>
          </p:nvPr>
        </p:nvGraphicFramePr>
        <p:xfrm>
          <a:off x="2032000" y="1196752"/>
          <a:ext cx="8128000" cy="5040570"/>
        </p:xfrm>
        <a:graphic>
          <a:graphicData uri="http://schemas.openxmlformats.org/drawingml/2006/table">
            <a:tbl>
              <a:tblPr firstRow="1" bandRow="1"/>
              <a:tblGrid>
                <a:gridCol w="4064000">
                  <a:extLst>
                    <a:ext uri="{9D8B030D-6E8A-4147-A177-3AD203B41FA5}">
                      <a16:colId xmlns:a16="http://schemas.microsoft.com/office/drawing/2014/main" val="363166339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3573412"/>
                    </a:ext>
                  </a:extLst>
                </a:gridCol>
              </a:tblGrid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9326973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 (64-bit)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672590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FastAPI, ReactJS, MySQL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407458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Core i5 / i7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003407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&amp; Clock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 GHz and above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4683064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GB / 16 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108693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Required (CPU-based Execution)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957791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904780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 (64-bit)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669221"/>
                  </a:ext>
                </a:extLst>
              </a:tr>
              <a:tr h="5040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ReactJS, MySQL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594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568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3810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9E8F87-40C0-4AB6-9F1C-7B8E01711413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5C6871-2F1D-CEE5-18DE-EAB2E4885825}"/>
              </a:ext>
            </a:extLst>
          </p:cNvPr>
          <p:cNvSpPr txBox="1"/>
          <p:nvPr/>
        </p:nvSpPr>
        <p:spPr>
          <a:xfrm>
            <a:off x="695400" y="1196752"/>
            <a:ext cx="10513168" cy="465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AI-Based Portfolio Optimization and Risk Forecasting System was evaluated using multiple stocks with both historical and real-time market data.</a:t>
            </a:r>
          </a:p>
          <a:p>
            <a:pPr>
              <a:buNone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performance metrics were analyzed:</a:t>
            </a:r>
          </a:p>
          <a:p>
            <a:pPr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Return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(Standard Deviation)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Strength Index (BSI)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Protection Score (CPS)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Ghost System for Hidden Risk 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Regime Classification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Outcomes</a:t>
            </a:r>
          </a:p>
        </p:txBody>
      </p:sp>
    </p:spTree>
    <p:extLst>
      <p:ext uri="{BB962C8B-B14F-4D97-AF65-F5344CB8AC3E}">
        <p14:creationId xmlns:p14="http://schemas.microsoft.com/office/powerpoint/2010/main" val="3843246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9E8F87-40C0-4AB6-9F1C-7B8E01711413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DFA9D8-89C5-4B55-EC0C-C47E3A915CCC}"/>
              </a:ext>
            </a:extLst>
          </p:cNvPr>
          <p:cNvSpPr txBox="1"/>
          <p:nvPr/>
        </p:nvSpPr>
        <p:spPr>
          <a:xfrm>
            <a:off x="551384" y="404664"/>
            <a:ext cx="873896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>
              <a:buNone/>
            </a:pPr>
            <a:endParaRPr lang="en-IN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optimized portfolio showed improved Sharpe ratio compared to equal-weight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integration allowed dynamic adjustment of portfolio weights.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BSI successfully identified strong investment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CPS provided clear downside risk protection measurement.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Ghost System detected abnormal volatility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Monte Carlo simulation generated reliable future return distributions and worst-case loss estimation.</a:t>
            </a:r>
          </a:p>
          <a:p>
            <a:pPr>
              <a:buNone/>
            </a:pPr>
            <a:br>
              <a:rPr lang="en-I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Outputs:</a:t>
            </a:r>
          </a:p>
          <a:p>
            <a:pPr>
              <a:buNone/>
            </a:pPr>
            <a:endParaRPr lang="en-IN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Portfolio Allocation Percentage (Pie Chart)</a:t>
            </a:r>
          </a:p>
          <a:p>
            <a:pPr>
              <a:buNone/>
            </a:pPr>
            <a:br>
              <a:rPr lang="en-I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Risk Level Classification</a:t>
            </a:r>
          </a:p>
          <a:p>
            <a:pPr>
              <a:buNone/>
            </a:pPr>
            <a:br>
              <a:rPr lang="en-I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Expected Return vs Volatility Graph</a:t>
            </a:r>
          </a:p>
          <a:p>
            <a:pPr>
              <a:buNone/>
            </a:pPr>
            <a:br>
              <a:rPr lang="en-I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Monte Carlo Simulation Distribution Curve</a:t>
            </a:r>
          </a:p>
          <a:p>
            <a:pPr>
              <a:buNone/>
            </a:pPr>
            <a:br>
              <a:rPr lang="en-I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Worst-Case Loss Estimation</a:t>
            </a:r>
          </a:p>
          <a:p>
            <a:pPr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963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3810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00050" y="1098551"/>
            <a:ext cx="11430000" cy="5257800"/>
          </a:xfrm>
        </p:spPr>
        <p:txBody>
          <a:bodyPr/>
          <a:lstStyle/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  <a:p>
            <a:pPr algn="just" eaLnBrk="1" hangingPunct="1"/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9E8F87-40C0-4AB6-9F1C-7B8E01711413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51844-72F4-90C9-4A18-83FEE106A4F7}"/>
              </a:ext>
            </a:extLst>
          </p:cNvPr>
          <p:cNvSpPr txBox="1"/>
          <p:nvPr/>
        </p:nvSpPr>
        <p:spPr>
          <a:xfrm>
            <a:off x="911424" y="1305341"/>
            <a:ext cx="758372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developed an AI-Based Portfolio Optimization and Risk Forecasting System integrating historical prediction with real-time market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calculates expected return, volatility, Sharpe ratio, and generates innovative metrics such as Buy Strength Index (BSI), Capital Protection Score (CPS), and Ghost System risk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is used to estimate future return distribution and worst-case loss scenarios.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intelligent decision-support platform for stock investment analysis.</a:t>
            </a:r>
          </a:p>
        </p:txBody>
      </p:sp>
    </p:spTree>
    <p:extLst>
      <p:ext uri="{BB962C8B-B14F-4D97-AF65-F5344CB8AC3E}">
        <p14:creationId xmlns:p14="http://schemas.microsoft.com/office/powerpoint/2010/main" val="2286205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1316D-6C5E-2AD8-CA02-345ECCB0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DEE20-C919-4C9D-873F-4C18D1E8D47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409606-4EAE-3CC0-D24B-3B731805FBA0}"/>
              </a:ext>
            </a:extLst>
          </p:cNvPr>
          <p:cNvSpPr txBox="1"/>
          <p:nvPr/>
        </p:nvSpPr>
        <p:spPr>
          <a:xfrm>
            <a:off x="911424" y="381278"/>
            <a:ext cx="8856984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Currently, the system supports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stock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 time.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future, it will be extended to support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multi-stock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Analysis (up to 10 stocks simultaneously)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of advanced multi-asset portfolio optimization with dynamic weight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of real-time automated portfolio rebalancing.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 of news sentiment and macroeconomic indicators for improved prediction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 as a scalable cloud-based financial analytics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of mobile application interface for wider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2355169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400050" y="425449"/>
            <a:ext cx="11334750" cy="48895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Segoe UI Emoji" pitchFamily="34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F70A54-4673-486A-A761-68D88FA0027A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626992-DF11-7CD7-A345-8570ECF9454A}"/>
              </a:ext>
            </a:extLst>
          </p:cNvPr>
          <p:cNvSpPr txBox="1"/>
          <p:nvPr/>
        </p:nvSpPr>
        <p:spPr>
          <a:xfrm>
            <a:off x="767408" y="1089164"/>
            <a:ext cx="943304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Ma, R. Han, and W. Wang, “Portfolio Optimization with Return Prediction Using Deep Learning and Machine Learning,”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pp. 115393–115405,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Z. Zhang, 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Zohren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Roberts, “Deep Learning for Portfolio Optimization,”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Computational Finance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Cao and B. Nguyen, “Deep Neural Network Based Portfolio Optimization,”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International Conference on Intelligent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Mukherjee et al., “Stock Market Prediction Using Deep Learning Algorithms,”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G. Mu et al., “Investor Sentiment and Optimized Deep Learning for Stock Prediction,”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Costola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“Machine Learning Sentiment Analysis and Stock Market Reactions,”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Financial Technology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Wu et al., “CNN-LSTM Based Stock Price Prediction Model,”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Proceedings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289248" y="3009900"/>
            <a:ext cx="11049000" cy="8382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A6B5F0-8C2B-467D-BC4B-4E22DB962E23}" type="slidenum">
              <a:rPr lang="en-US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12577</TotalTime>
  <Words>2389</Words>
  <Application>Microsoft Office PowerPoint</Application>
  <PresentationFormat>Widescreen</PresentationFormat>
  <Paragraphs>573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Aptos Display</vt:lpstr>
      <vt:lpstr>Arial</vt:lpstr>
      <vt:lpstr>Bookman Old Style</vt:lpstr>
      <vt:lpstr>Calibri</vt:lpstr>
      <vt:lpstr>Times New Roman</vt:lpstr>
      <vt:lpstr>Wingdings 2</vt:lpstr>
      <vt:lpstr>Office Theme</vt:lpstr>
      <vt:lpstr>  </vt:lpstr>
      <vt:lpstr>Introduction</vt:lpstr>
      <vt:lpstr>Abstract</vt:lpstr>
      <vt:lpstr>Literature Survey</vt:lpstr>
      <vt:lpstr>Research Gaps</vt:lpstr>
      <vt:lpstr>Problems Identified</vt:lpstr>
      <vt:lpstr>Objective</vt:lpstr>
      <vt:lpstr>Dataset &amp; Description</vt:lpstr>
      <vt:lpstr>PowerPoint Presentation</vt:lpstr>
      <vt:lpstr>Proposed Method</vt:lpstr>
      <vt:lpstr>PowerPoint Presentation</vt:lpstr>
      <vt:lpstr>PowerPoint Presentation</vt:lpstr>
      <vt:lpstr>Learning Methods</vt:lpstr>
      <vt:lpstr>Architecture Models</vt:lpstr>
      <vt:lpstr>Proposed Architecture</vt:lpstr>
      <vt:lpstr>PowerPoint Presentation</vt:lpstr>
      <vt:lpstr>PowerPoint Presentation</vt:lpstr>
      <vt:lpstr>PowerPoint Presentation</vt:lpstr>
      <vt:lpstr>Proposed Optimizer Algorithm</vt:lpstr>
      <vt:lpstr>Proposed Classifier</vt:lpstr>
      <vt:lpstr>Environmental Setup</vt:lpstr>
      <vt:lpstr>Experimental Results</vt:lpstr>
      <vt:lpstr>PowerPoint Presentation</vt:lpstr>
      <vt:lpstr>Conclusion and Future Scope</vt:lpstr>
      <vt:lpstr>PowerPoint Presentation</vt:lpstr>
      <vt:lpstr>References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ECE</dc:title>
  <dc:creator>Admin</dc:creator>
  <cp:lastModifiedBy>sureshraj</cp:lastModifiedBy>
  <cp:revision>2960</cp:revision>
  <dcterms:created xsi:type="dcterms:W3CDTF">2006-08-16T00:00:00Z</dcterms:created>
  <dcterms:modified xsi:type="dcterms:W3CDTF">2026-02-22T15:32:58Z</dcterms:modified>
</cp:coreProperties>
</file>